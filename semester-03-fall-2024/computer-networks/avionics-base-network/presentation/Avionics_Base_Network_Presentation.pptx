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68" r:id="rId3"/>
    <p:sldId id="269" r:id="rId4"/>
    <p:sldId id="271" r:id="rId5"/>
    <p:sldId id="270" r:id="rId6"/>
    <p:sldId id="272" r:id="rId7"/>
    <p:sldId id="273" r:id="rId8"/>
    <p:sldId id="274" r:id="rId9"/>
    <p:sldId id="275" r:id="rId10"/>
    <p:sldId id="279" r:id="rId11"/>
    <p:sldId id="277" r:id="rId12"/>
    <p:sldId id="278" r:id="rId13"/>
    <p:sldId id="276" r:id="rId14"/>
    <p:sldId id="280" r:id="rId15"/>
    <p:sldId id="281" r:id="rId16"/>
    <p:sldId id="282" r:id="rId17"/>
    <p:sldId id="284" r:id="rId18"/>
    <p:sldId id="285" r:id="rId19"/>
    <p:sldId id="265" r:id="rId20"/>
  </p:sldIdLst>
  <p:sldSz cx="18288000" cy="10287000"/>
  <p:notesSz cx="6858000" cy="9144000"/>
  <p:embeddedFontLst>
    <p:embeddedFont>
      <p:font typeface="Anton" pitchFamily="2" charset="0"/>
      <p:regular r:id="rId22"/>
    </p:embeddedFont>
    <p:embeddedFont>
      <p:font typeface="Open Sans" pitchFamily="2" charset="0"/>
      <p:regular r:id="rId23"/>
      <p:bold r:id="rId24"/>
    </p:embeddedFont>
    <p:embeddedFont>
      <p:font typeface="Space Mono" panose="020B0604020202020204" charset="0"/>
      <p:regular r:id="rId25"/>
      <p:bold r:id="rId26"/>
      <p:italic r:id="rId27"/>
      <p:boldItalic r:id="rId28"/>
    </p:embeddedFont>
    <p:embeddedFont>
      <p:font typeface="Squada One" panose="020B0604020202020204" charset="0"/>
      <p:regular r:id="rId29"/>
    </p:embeddedFont>
    <p:embeddedFont>
      <p:font typeface="Varela Round" panose="00000500000000000000" pitchFamily="2" charset="-79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F2FF"/>
    <a:srgbClr val="06172C"/>
    <a:srgbClr val="385D8A"/>
    <a:srgbClr val="0D2D53"/>
    <a:srgbClr val="051022"/>
    <a:srgbClr val="0C2C53"/>
    <a:srgbClr val="530C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6" autoAdjust="0"/>
    <p:restoredTop sz="94622" autoAdjust="0"/>
  </p:normalViewPr>
  <p:slideViewPr>
    <p:cSldViewPr>
      <p:cViewPr varScale="1">
        <p:scale>
          <a:sx n="52" d="100"/>
          <a:sy n="52" d="100"/>
        </p:scale>
        <p:origin x="835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C48E4C-F01D-4808-8E3E-B3974377962F}" type="datetimeFigureOut">
              <a:rPr lang="en-PK" smtClean="0"/>
              <a:t>24/05/2026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0D43A-8030-405F-8B5C-70095DEA81B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78497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0D43A-8030-405F-8B5C-70095DEA81B9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201210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0D43A-8030-405F-8B5C-70095DEA81B9}" type="slidenum">
              <a:rPr lang="en-PK" smtClean="0"/>
              <a:t>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73619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0D43A-8030-405F-8B5C-70095DEA81B9}" type="slidenum">
              <a:rPr lang="en-PK" smtClean="0"/>
              <a:t>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946581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0D43A-8030-405F-8B5C-70095DEA81B9}" type="slidenum">
              <a:rPr lang="en-PK" smtClean="0"/>
              <a:t>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22211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0D43A-8030-405F-8B5C-70095DEA81B9}" type="slidenum">
              <a:rPr lang="en-PK" smtClean="0"/>
              <a:t>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595484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0D43A-8030-405F-8B5C-70095DEA81B9}" type="slidenum">
              <a:rPr lang="en-PK" smtClean="0"/>
              <a:t>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146143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0D43A-8030-405F-8B5C-70095DEA81B9}" type="slidenum">
              <a:rPr lang="en-PK" smtClean="0"/>
              <a:t>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603113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0D43A-8030-405F-8B5C-70095DEA81B9}" type="slidenum">
              <a:rPr lang="en-PK" smtClean="0"/>
              <a:t>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235716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0D43A-8030-405F-8B5C-70095DEA81B9}" type="slidenum">
              <a:rPr lang="en-PK" smtClean="0"/>
              <a:t>10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834122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0D43A-8030-405F-8B5C-70095DEA81B9}" type="slidenum">
              <a:rPr lang="en-PK" smtClean="0"/>
              <a:t>11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779161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0D43A-8030-405F-8B5C-70095DEA81B9}" type="slidenum">
              <a:rPr lang="en-PK" smtClean="0"/>
              <a:t>12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669889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0D43A-8030-405F-8B5C-70095DEA81B9}" type="slidenum">
              <a:rPr lang="en-PK" smtClean="0"/>
              <a:t>13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99676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0D43A-8030-405F-8B5C-70095DEA81B9}" type="slidenum">
              <a:rPr lang="en-PK" smtClean="0"/>
              <a:t>14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768711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0D43A-8030-405F-8B5C-70095DEA81B9}" type="slidenum">
              <a:rPr lang="en-PK" smtClean="0"/>
              <a:t>15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304565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0D43A-8030-405F-8B5C-70095DEA81B9}" type="slidenum">
              <a:rPr lang="en-PK" smtClean="0"/>
              <a:t>16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071338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0D43A-8030-405F-8B5C-70095DEA81B9}" type="slidenum">
              <a:rPr lang="en-PK" smtClean="0"/>
              <a:t>17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928651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0D43A-8030-405F-8B5C-70095DEA81B9}" type="slidenum">
              <a:rPr lang="en-PK" smtClean="0"/>
              <a:t>18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2227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2C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ac.org.pk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hyperlink" Target="https://en.wikipedia.org/wiki/PAF_Base_Minhas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13169" y="1775326"/>
            <a:ext cx="9718133" cy="4208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49"/>
              </a:lnSpc>
            </a:pPr>
            <a:r>
              <a:rPr lang="en-US" sz="13800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AVIONICS BASE NETWORK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9258300"/>
            <a:ext cx="16230600" cy="2254975"/>
            <a:chOff x="0" y="0"/>
            <a:chExt cx="4274726" cy="593903"/>
          </a:xfrm>
          <a:solidFill>
            <a:srgbClr val="06172C"/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74726" cy="593903"/>
            </a:xfrm>
            <a:custGeom>
              <a:avLst/>
              <a:gdLst/>
              <a:ahLst/>
              <a:cxnLst/>
              <a:rect l="l" t="t" r="r" b="b"/>
              <a:pathLst>
                <a:path w="4274726" h="593903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570053"/>
                  </a:lnTo>
                  <a:cubicBezTo>
                    <a:pt x="4274726" y="576379"/>
                    <a:pt x="4272213" y="582445"/>
                    <a:pt x="4267741" y="586918"/>
                  </a:cubicBezTo>
                  <a:cubicBezTo>
                    <a:pt x="4263268" y="591390"/>
                    <a:pt x="4257201" y="593903"/>
                    <a:pt x="4250876" y="593903"/>
                  </a:cubicBezTo>
                  <a:lnTo>
                    <a:pt x="23850" y="593903"/>
                  </a:lnTo>
                  <a:cubicBezTo>
                    <a:pt x="17524" y="593903"/>
                    <a:pt x="11458" y="591390"/>
                    <a:pt x="6985" y="586918"/>
                  </a:cubicBezTo>
                  <a:cubicBezTo>
                    <a:pt x="2513" y="582445"/>
                    <a:pt x="0" y="576379"/>
                    <a:pt x="0" y="57005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grpFill/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274726" cy="6320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731129" y="7029856"/>
            <a:ext cx="1490161" cy="9558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447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800394" y="7281479"/>
            <a:ext cx="600293" cy="6349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1713169" y="7077566"/>
            <a:ext cx="8747026" cy="1077384"/>
          </a:xfrm>
          <a:custGeom>
            <a:avLst/>
            <a:gdLst/>
            <a:ahLst/>
            <a:cxnLst/>
            <a:rect l="l" t="t" r="r" b="b"/>
            <a:pathLst>
              <a:path w="2303743" h="283756">
                <a:moveTo>
                  <a:pt x="88509" y="0"/>
                </a:moveTo>
                <a:lnTo>
                  <a:pt x="2215234" y="0"/>
                </a:lnTo>
                <a:cubicBezTo>
                  <a:pt x="2238709" y="0"/>
                  <a:pt x="2261221" y="9325"/>
                  <a:pt x="2277820" y="25924"/>
                </a:cubicBezTo>
                <a:cubicBezTo>
                  <a:pt x="2294418" y="42522"/>
                  <a:pt x="2303743" y="65035"/>
                  <a:pt x="2303743" y="88509"/>
                </a:cubicBezTo>
                <a:lnTo>
                  <a:pt x="2303743" y="195246"/>
                </a:lnTo>
                <a:cubicBezTo>
                  <a:pt x="2303743" y="218720"/>
                  <a:pt x="2294418" y="241233"/>
                  <a:pt x="2277820" y="257832"/>
                </a:cubicBezTo>
                <a:cubicBezTo>
                  <a:pt x="2261221" y="274431"/>
                  <a:pt x="2238709" y="283756"/>
                  <a:pt x="2215234" y="283756"/>
                </a:cubicBezTo>
                <a:lnTo>
                  <a:pt x="88509" y="283756"/>
                </a:lnTo>
                <a:cubicBezTo>
                  <a:pt x="65035" y="283756"/>
                  <a:pt x="42522" y="274431"/>
                  <a:pt x="25924" y="257832"/>
                </a:cubicBezTo>
                <a:cubicBezTo>
                  <a:pt x="9325" y="241233"/>
                  <a:pt x="0" y="218720"/>
                  <a:pt x="0" y="195246"/>
                </a:cubicBezTo>
                <a:lnTo>
                  <a:pt x="0" y="88509"/>
                </a:lnTo>
                <a:cubicBezTo>
                  <a:pt x="0" y="65035"/>
                  <a:pt x="9325" y="42522"/>
                  <a:pt x="25924" y="25924"/>
                </a:cubicBezTo>
                <a:cubicBezTo>
                  <a:pt x="42522" y="9325"/>
                  <a:pt x="65035" y="0"/>
                  <a:pt x="88509" y="0"/>
                </a:cubicBezTo>
                <a:close/>
              </a:path>
            </a:pathLst>
          </a:custGeom>
          <a:solidFill>
            <a:srgbClr val="06172C"/>
          </a:solidFill>
        </p:spPr>
      </p:sp>
      <p:sp>
        <p:nvSpPr>
          <p:cNvPr id="13" name="Freeform 13"/>
          <p:cNvSpPr/>
          <p:nvPr/>
        </p:nvSpPr>
        <p:spPr>
          <a:xfrm>
            <a:off x="8731129" y="7246847"/>
            <a:ext cx="1490161" cy="738822"/>
          </a:xfrm>
          <a:custGeom>
            <a:avLst/>
            <a:gdLst/>
            <a:ahLst/>
            <a:cxnLst/>
            <a:rect l="l" t="t" r="r" b="b"/>
            <a:pathLst>
              <a:path w="392470" h="194587">
                <a:moveTo>
                  <a:pt x="97293" y="0"/>
                </a:moveTo>
                <a:lnTo>
                  <a:pt x="295177" y="0"/>
                </a:lnTo>
                <a:cubicBezTo>
                  <a:pt x="348911" y="0"/>
                  <a:pt x="392470" y="43560"/>
                  <a:pt x="392470" y="97293"/>
                </a:cubicBezTo>
                <a:lnTo>
                  <a:pt x="392470" y="97293"/>
                </a:lnTo>
                <a:cubicBezTo>
                  <a:pt x="392470" y="151027"/>
                  <a:pt x="348911" y="194587"/>
                  <a:pt x="295177" y="194587"/>
                </a:cubicBezTo>
                <a:lnTo>
                  <a:pt x="97293" y="194587"/>
                </a:lnTo>
                <a:cubicBezTo>
                  <a:pt x="43560" y="194587"/>
                  <a:pt x="0" y="151027"/>
                  <a:pt x="0" y="97293"/>
                </a:cubicBezTo>
                <a:lnTo>
                  <a:pt x="0" y="97293"/>
                </a:lnTo>
                <a:cubicBezTo>
                  <a:pt x="0" y="43560"/>
                  <a:pt x="43560" y="0"/>
                  <a:pt x="9729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/>
          <a:lstStyle/>
          <a:p>
            <a:endParaRPr lang="en-PK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280F578-17FA-4B43-A48A-1D5F383B8246}"/>
              </a:ext>
            </a:extLst>
          </p:cNvPr>
          <p:cNvSpPr/>
          <p:nvPr/>
        </p:nvSpPr>
        <p:spPr>
          <a:xfrm>
            <a:off x="8760495" y="7280804"/>
            <a:ext cx="738000" cy="670909"/>
          </a:xfrm>
          <a:prstGeom prst="ellipse">
            <a:avLst/>
          </a:prstGeom>
          <a:solidFill>
            <a:srgbClr val="0D2D5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20" name="TextBox 20"/>
          <p:cNvSpPr txBox="1"/>
          <p:nvPr/>
        </p:nvSpPr>
        <p:spPr>
          <a:xfrm>
            <a:off x="2267780" y="7341375"/>
            <a:ext cx="6021928" cy="549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Inspired By PAC Kamra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F8F6E40-E072-4B56-BE6B-E2E6F3888401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9400" y="214500"/>
            <a:ext cx="3807992" cy="30240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4B2FCEBF-9ABE-4D0C-B857-F60824391A5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7392" y="4310185"/>
            <a:ext cx="6840000" cy="3844765"/>
          </a:xfrm>
          <a:prstGeom prst="rect">
            <a:avLst/>
          </a:prstGeom>
          <a:effectLst/>
          <a:scene3d>
            <a:camera prst="orthographicFront"/>
            <a:lightRig rig="threePt" dir="t"/>
          </a:scene3d>
          <a:sp3d>
            <a:bevelT prst="angle"/>
          </a:sp3d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8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63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99 -0.00016 L 0.0368 -0.00016 " pathEditMode="fixed" rAng="0" ptsTypes="AA">
                                      <p:cBhvr>
                                        <p:cTn id="3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41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85D8A"/>
                                      </p:to>
                                    </p:animClr>
                                    <p:set>
                                      <p:cBhvr>
                                        <p:cTn id="3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 animBg="1"/>
      <p:bldP spid="45" grpId="0" animBg="1"/>
      <p:bldP spid="45" grpId="1" animBg="1"/>
      <p:bldP spid="2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2062" y="495300"/>
            <a:ext cx="15564738" cy="1958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049"/>
              </a:lnSpc>
            </a:pPr>
            <a:r>
              <a:rPr lang="en-US" sz="9600" dirty="0">
                <a:solidFill>
                  <a:srgbClr val="FFFFFF"/>
                </a:solidFill>
                <a:latin typeface="Anton" pitchFamily="2" charset="0"/>
                <a:ea typeface="Squada One"/>
                <a:cs typeface="Squada One"/>
                <a:sym typeface="Squada One"/>
              </a:rPr>
              <a:t>Project Details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9258300"/>
            <a:ext cx="16230600" cy="2254975"/>
            <a:chOff x="0" y="0"/>
            <a:chExt cx="4274726" cy="593903"/>
          </a:xfrm>
          <a:solidFill>
            <a:srgbClr val="06172C"/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74726" cy="593903"/>
            </a:xfrm>
            <a:custGeom>
              <a:avLst/>
              <a:gdLst/>
              <a:ahLst/>
              <a:cxnLst/>
              <a:rect l="l" t="t" r="r" b="b"/>
              <a:pathLst>
                <a:path w="4274726" h="593903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570053"/>
                  </a:lnTo>
                  <a:cubicBezTo>
                    <a:pt x="4274726" y="576379"/>
                    <a:pt x="4272213" y="582445"/>
                    <a:pt x="4267741" y="586918"/>
                  </a:cubicBezTo>
                  <a:cubicBezTo>
                    <a:pt x="4263268" y="591390"/>
                    <a:pt x="4257201" y="593903"/>
                    <a:pt x="4250876" y="593903"/>
                  </a:cubicBezTo>
                  <a:lnTo>
                    <a:pt x="23850" y="593903"/>
                  </a:lnTo>
                  <a:cubicBezTo>
                    <a:pt x="17524" y="593903"/>
                    <a:pt x="11458" y="591390"/>
                    <a:pt x="6985" y="586918"/>
                  </a:cubicBezTo>
                  <a:cubicBezTo>
                    <a:pt x="2513" y="582445"/>
                    <a:pt x="0" y="576379"/>
                    <a:pt x="0" y="57005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grpFill/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274726" cy="6320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731129" y="7029856"/>
            <a:ext cx="1490161" cy="9558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447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800394" y="7281479"/>
            <a:ext cx="600293" cy="6349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028700" y="2774695"/>
            <a:ext cx="10475330" cy="4274183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fi-FI" sz="3600" b="1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Course: </a:t>
            </a:r>
            <a:r>
              <a:rPr lang="fi-FI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Computer Networks Lab 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fi-FI" sz="3600" b="1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Code: </a:t>
            </a:r>
            <a:r>
              <a:rPr lang="fi-FI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CS260L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fi-FI" sz="3600" b="1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Instructor: </a:t>
            </a:r>
            <a:r>
              <a:rPr lang="fi-FI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Mohsin Sarfraz</a:t>
            </a:r>
          </a:p>
          <a:p>
            <a:pPr>
              <a:lnSpc>
                <a:spcPct val="200000"/>
              </a:lnSpc>
              <a:spcBef>
                <a:spcPct val="0"/>
              </a:spcBef>
            </a:pPr>
            <a:r>
              <a:rPr lang="fi-FI" sz="3600" b="1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Date:</a:t>
            </a:r>
            <a:r>
              <a:rPr lang="fi-FI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 15</a:t>
            </a:r>
            <a:r>
              <a:rPr lang="fi-FI" sz="3600" baseline="300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th</a:t>
            </a:r>
            <a:r>
              <a:rPr lang="fi-FI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 December, 2024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F8F6E40-E072-4B56-BE6B-E2E6F38884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6800" y="495300"/>
            <a:ext cx="1598192" cy="126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72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2062" y="495300"/>
            <a:ext cx="15564738" cy="1958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049"/>
              </a:lnSpc>
            </a:pPr>
            <a:r>
              <a:rPr lang="en-US" sz="9600" dirty="0">
                <a:solidFill>
                  <a:srgbClr val="FFFFFF"/>
                </a:solidFill>
                <a:latin typeface="Anton" pitchFamily="2" charset="0"/>
                <a:ea typeface="Squada One"/>
                <a:cs typeface="Squada One"/>
                <a:sym typeface="Squada One"/>
              </a:rPr>
              <a:t>Team Members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9258300"/>
            <a:ext cx="16230600" cy="2254975"/>
            <a:chOff x="0" y="0"/>
            <a:chExt cx="4274726" cy="593903"/>
          </a:xfrm>
          <a:solidFill>
            <a:srgbClr val="06172C"/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74726" cy="593903"/>
            </a:xfrm>
            <a:custGeom>
              <a:avLst/>
              <a:gdLst/>
              <a:ahLst/>
              <a:cxnLst/>
              <a:rect l="l" t="t" r="r" b="b"/>
              <a:pathLst>
                <a:path w="4274726" h="593903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570053"/>
                  </a:lnTo>
                  <a:cubicBezTo>
                    <a:pt x="4274726" y="576379"/>
                    <a:pt x="4272213" y="582445"/>
                    <a:pt x="4267741" y="586918"/>
                  </a:cubicBezTo>
                  <a:cubicBezTo>
                    <a:pt x="4263268" y="591390"/>
                    <a:pt x="4257201" y="593903"/>
                    <a:pt x="4250876" y="593903"/>
                  </a:cubicBezTo>
                  <a:lnTo>
                    <a:pt x="23850" y="593903"/>
                  </a:lnTo>
                  <a:cubicBezTo>
                    <a:pt x="17524" y="593903"/>
                    <a:pt x="11458" y="591390"/>
                    <a:pt x="6985" y="586918"/>
                  </a:cubicBezTo>
                  <a:cubicBezTo>
                    <a:pt x="2513" y="582445"/>
                    <a:pt x="0" y="576379"/>
                    <a:pt x="0" y="57005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grpFill/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274726" cy="6320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731129" y="7029856"/>
            <a:ext cx="1490161" cy="9558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447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800394" y="7281479"/>
            <a:ext cx="600293" cy="6349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028700" y="2775812"/>
            <a:ext cx="10475330" cy="1829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fi-FI" sz="32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Hussain Ali (232095)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fi-FI" sz="32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Ahmad Ali (232147)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F8F6E40-E072-4B56-BE6B-E2E6F38884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6800" y="495300"/>
            <a:ext cx="1598192" cy="126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61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2062" y="495300"/>
            <a:ext cx="15564738" cy="1958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049"/>
              </a:lnSpc>
            </a:pPr>
            <a:r>
              <a:rPr lang="en-US" sz="9600" dirty="0">
                <a:solidFill>
                  <a:srgbClr val="FFFFFF"/>
                </a:solidFill>
                <a:latin typeface="Anton" pitchFamily="2" charset="0"/>
                <a:ea typeface="Squada One"/>
                <a:cs typeface="Squada One"/>
                <a:sym typeface="Squada One"/>
              </a:rPr>
              <a:t>Table of Contents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9258300"/>
            <a:ext cx="16230600" cy="2254975"/>
            <a:chOff x="0" y="0"/>
            <a:chExt cx="4274726" cy="593903"/>
          </a:xfrm>
          <a:solidFill>
            <a:srgbClr val="06172C"/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74726" cy="593903"/>
            </a:xfrm>
            <a:custGeom>
              <a:avLst/>
              <a:gdLst/>
              <a:ahLst/>
              <a:cxnLst/>
              <a:rect l="l" t="t" r="r" b="b"/>
              <a:pathLst>
                <a:path w="4274726" h="593903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570053"/>
                  </a:lnTo>
                  <a:cubicBezTo>
                    <a:pt x="4274726" y="576379"/>
                    <a:pt x="4272213" y="582445"/>
                    <a:pt x="4267741" y="586918"/>
                  </a:cubicBezTo>
                  <a:cubicBezTo>
                    <a:pt x="4263268" y="591390"/>
                    <a:pt x="4257201" y="593903"/>
                    <a:pt x="4250876" y="593903"/>
                  </a:cubicBezTo>
                  <a:lnTo>
                    <a:pt x="23850" y="593903"/>
                  </a:lnTo>
                  <a:cubicBezTo>
                    <a:pt x="17524" y="593903"/>
                    <a:pt x="11458" y="591390"/>
                    <a:pt x="6985" y="586918"/>
                  </a:cubicBezTo>
                  <a:cubicBezTo>
                    <a:pt x="2513" y="582445"/>
                    <a:pt x="0" y="576379"/>
                    <a:pt x="0" y="57005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grpFill/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274726" cy="6320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731129" y="7029856"/>
            <a:ext cx="1490161" cy="9558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447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800394" y="7281479"/>
            <a:ext cx="600293" cy="6349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028700" y="2668850"/>
            <a:ext cx="16230600" cy="6278642"/>
          </a:xfrm>
          <a:prstGeom prst="rect">
            <a:avLst/>
          </a:prstGeom>
        </p:spPr>
        <p:txBody>
          <a:bodyPr wrap="square" lIns="0" tIns="0" rIns="0" bIns="0" numCol="2" rtlCol="0" anchor="t">
            <a:spAutoFit/>
          </a:bodyPr>
          <a:lstStyle/>
          <a:p>
            <a:pPr marL="514350" indent="-514350">
              <a:lnSpc>
                <a:spcPct val="2000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fi-FI" sz="34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Project Introduction</a:t>
            </a:r>
          </a:p>
          <a:p>
            <a:pPr marL="514350" indent="-514350">
              <a:lnSpc>
                <a:spcPct val="2000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fi-FI" sz="34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Network Design Objectives</a:t>
            </a:r>
          </a:p>
          <a:p>
            <a:pPr marL="514350" indent="-514350">
              <a:lnSpc>
                <a:spcPct val="2000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fi-FI" sz="34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Network Topology Overview</a:t>
            </a:r>
          </a:p>
          <a:p>
            <a:pPr marL="514350" indent="-514350">
              <a:lnSpc>
                <a:spcPct val="2000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fi-FI" sz="34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Topology Diagram</a:t>
            </a:r>
          </a:p>
          <a:p>
            <a:pPr marL="514350" indent="-514350">
              <a:lnSpc>
                <a:spcPct val="2000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sz="34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IP Allocation Table</a:t>
            </a:r>
          </a:p>
          <a:p>
            <a:pPr marL="514350" indent="-514350">
              <a:lnSpc>
                <a:spcPct val="2000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sz="34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VLAN Assignment Scheme</a:t>
            </a:r>
          </a:p>
          <a:p>
            <a:pPr marL="514350" indent="-514350">
              <a:lnSpc>
                <a:spcPct val="2000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sz="34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Router Configuration</a:t>
            </a:r>
          </a:p>
          <a:p>
            <a:pPr marL="514350" indent="-514350">
              <a:lnSpc>
                <a:spcPct val="2000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sz="34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Switch Configuration</a:t>
            </a:r>
          </a:p>
          <a:p>
            <a:pPr marL="514350" indent="-514350">
              <a:lnSpc>
                <a:spcPct val="2000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fi-FI" sz="34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Security Features</a:t>
            </a:r>
          </a:p>
          <a:p>
            <a:pPr marL="514350" indent="-514350">
              <a:lnSpc>
                <a:spcPct val="2000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fi-FI" sz="34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Testing and Validation</a:t>
            </a:r>
          </a:p>
          <a:p>
            <a:pPr marL="514350" indent="-514350">
              <a:lnSpc>
                <a:spcPct val="2000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fi-FI" sz="34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Team Contributions</a:t>
            </a:r>
          </a:p>
          <a:p>
            <a:pPr marL="514350" indent="-514350">
              <a:lnSpc>
                <a:spcPct val="200000"/>
              </a:lnSpc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fi-FI" sz="34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Conclusion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F8F6E40-E072-4B56-BE6B-E2E6F38884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6800" y="495300"/>
            <a:ext cx="1598192" cy="126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587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2062" y="495300"/>
            <a:ext cx="15564738" cy="1958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049"/>
              </a:lnSpc>
            </a:pPr>
            <a:r>
              <a:rPr lang="en-US" sz="9600" dirty="0">
                <a:solidFill>
                  <a:srgbClr val="FFFFFF"/>
                </a:solidFill>
                <a:latin typeface="Anton" pitchFamily="2" charset="0"/>
                <a:ea typeface="Squada One"/>
                <a:cs typeface="Squada One"/>
                <a:sym typeface="Squada One"/>
              </a:rPr>
              <a:t>Project Introduction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9258300"/>
            <a:ext cx="16230600" cy="2254975"/>
            <a:chOff x="0" y="0"/>
            <a:chExt cx="4274726" cy="593903"/>
          </a:xfrm>
          <a:solidFill>
            <a:srgbClr val="06172C"/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74726" cy="593903"/>
            </a:xfrm>
            <a:custGeom>
              <a:avLst/>
              <a:gdLst/>
              <a:ahLst/>
              <a:cxnLst/>
              <a:rect l="l" t="t" r="r" b="b"/>
              <a:pathLst>
                <a:path w="4274726" h="593903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570053"/>
                  </a:lnTo>
                  <a:cubicBezTo>
                    <a:pt x="4274726" y="576379"/>
                    <a:pt x="4272213" y="582445"/>
                    <a:pt x="4267741" y="586918"/>
                  </a:cubicBezTo>
                  <a:cubicBezTo>
                    <a:pt x="4263268" y="591390"/>
                    <a:pt x="4257201" y="593903"/>
                    <a:pt x="4250876" y="593903"/>
                  </a:cubicBezTo>
                  <a:lnTo>
                    <a:pt x="23850" y="593903"/>
                  </a:lnTo>
                  <a:cubicBezTo>
                    <a:pt x="17524" y="593903"/>
                    <a:pt x="11458" y="591390"/>
                    <a:pt x="6985" y="586918"/>
                  </a:cubicBezTo>
                  <a:cubicBezTo>
                    <a:pt x="2513" y="582445"/>
                    <a:pt x="0" y="576379"/>
                    <a:pt x="0" y="57005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grpFill/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274726" cy="6320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731129" y="7029856"/>
            <a:ext cx="1490161" cy="9558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447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800394" y="7281479"/>
            <a:ext cx="600293" cy="6349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028700" y="2447894"/>
            <a:ext cx="16230600" cy="42741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Simulating the network architecture for a military aviation base.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Based on operational needs of facilities like PAF Base Minhas, Kamra.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Goals: Scalable, secure, robust networking for aviation and military departments.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F8F6E40-E072-4B56-BE6B-E2E6F38884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6800" y="495300"/>
            <a:ext cx="1598192" cy="126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046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2062" y="495300"/>
            <a:ext cx="17317338" cy="1958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049"/>
              </a:lnSpc>
            </a:pPr>
            <a:r>
              <a:rPr lang="en-US" sz="9600" dirty="0">
                <a:solidFill>
                  <a:srgbClr val="FFFFFF"/>
                </a:solidFill>
                <a:latin typeface="Anton" pitchFamily="2" charset="0"/>
                <a:ea typeface="Squada One"/>
                <a:cs typeface="Squada One"/>
                <a:sym typeface="Squada One"/>
              </a:rPr>
              <a:t>Objectives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9258300"/>
            <a:ext cx="16230600" cy="2254975"/>
            <a:chOff x="0" y="0"/>
            <a:chExt cx="4274726" cy="593903"/>
          </a:xfrm>
          <a:solidFill>
            <a:srgbClr val="06172C"/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74726" cy="593903"/>
            </a:xfrm>
            <a:custGeom>
              <a:avLst/>
              <a:gdLst/>
              <a:ahLst/>
              <a:cxnLst/>
              <a:rect l="l" t="t" r="r" b="b"/>
              <a:pathLst>
                <a:path w="4274726" h="593903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570053"/>
                  </a:lnTo>
                  <a:cubicBezTo>
                    <a:pt x="4274726" y="576379"/>
                    <a:pt x="4272213" y="582445"/>
                    <a:pt x="4267741" y="586918"/>
                  </a:cubicBezTo>
                  <a:cubicBezTo>
                    <a:pt x="4263268" y="591390"/>
                    <a:pt x="4257201" y="593903"/>
                    <a:pt x="4250876" y="593903"/>
                  </a:cubicBezTo>
                  <a:lnTo>
                    <a:pt x="23850" y="593903"/>
                  </a:lnTo>
                  <a:cubicBezTo>
                    <a:pt x="17524" y="593903"/>
                    <a:pt x="11458" y="591390"/>
                    <a:pt x="6985" y="586918"/>
                  </a:cubicBezTo>
                  <a:cubicBezTo>
                    <a:pt x="2513" y="582445"/>
                    <a:pt x="0" y="576379"/>
                    <a:pt x="0" y="57005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grpFill/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274726" cy="6320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731129" y="7029856"/>
            <a:ext cx="1490161" cy="9558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447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800394" y="7281479"/>
            <a:ext cx="600293" cy="6349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028700" y="2775812"/>
            <a:ext cx="16230600" cy="42741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Establish a secure and scalable network.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Ensure inter-departmental communication.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Simulate redundancy for mission-critical systems.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Provide centralized services (DNS, FTP, Mail).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F8F6E40-E072-4B56-BE6B-E2E6F38884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6800" y="495300"/>
            <a:ext cx="1598192" cy="126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381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2062" y="495300"/>
            <a:ext cx="15564738" cy="1958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049"/>
              </a:lnSpc>
            </a:pPr>
            <a:r>
              <a:rPr lang="en-US" sz="9600" dirty="0">
                <a:solidFill>
                  <a:srgbClr val="FFFFFF"/>
                </a:solidFill>
                <a:latin typeface="Anton" pitchFamily="2" charset="0"/>
                <a:ea typeface="Squada One"/>
                <a:cs typeface="Squada One"/>
                <a:sym typeface="Squada One"/>
              </a:rPr>
              <a:t>Design Overview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9258300"/>
            <a:ext cx="16230600" cy="2254975"/>
            <a:chOff x="0" y="0"/>
            <a:chExt cx="4274726" cy="593903"/>
          </a:xfrm>
          <a:solidFill>
            <a:srgbClr val="06172C"/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74726" cy="593903"/>
            </a:xfrm>
            <a:custGeom>
              <a:avLst/>
              <a:gdLst/>
              <a:ahLst/>
              <a:cxnLst/>
              <a:rect l="l" t="t" r="r" b="b"/>
              <a:pathLst>
                <a:path w="4274726" h="593903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570053"/>
                  </a:lnTo>
                  <a:cubicBezTo>
                    <a:pt x="4274726" y="576379"/>
                    <a:pt x="4272213" y="582445"/>
                    <a:pt x="4267741" y="586918"/>
                  </a:cubicBezTo>
                  <a:cubicBezTo>
                    <a:pt x="4263268" y="591390"/>
                    <a:pt x="4257201" y="593903"/>
                    <a:pt x="4250876" y="593903"/>
                  </a:cubicBezTo>
                  <a:lnTo>
                    <a:pt x="23850" y="593903"/>
                  </a:lnTo>
                  <a:cubicBezTo>
                    <a:pt x="17524" y="593903"/>
                    <a:pt x="11458" y="591390"/>
                    <a:pt x="6985" y="586918"/>
                  </a:cubicBezTo>
                  <a:cubicBezTo>
                    <a:pt x="2513" y="582445"/>
                    <a:pt x="0" y="576379"/>
                    <a:pt x="0" y="57005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grpFill/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274726" cy="6320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731129" y="7029856"/>
            <a:ext cx="1490161" cy="9558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447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800394" y="7281479"/>
            <a:ext cx="600293" cy="6349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838200" y="2475108"/>
            <a:ext cx="16421100" cy="5382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b="1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PAC HQ Core Infrastructure: </a:t>
            </a: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Firewall, Main Router, Distribution Switch.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b="1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Factory Locations: </a:t>
            </a: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AMF, APF, ARF, MRF with distinct departmental divisions.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b="1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Connectivity: </a:t>
            </a: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Point-to-point links between HQ and factories using Serial Communication.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F8F6E40-E072-4B56-BE6B-E2E6F38884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6800" y="495300"/>
            <a:ext cx="1598192" cy="126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376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2062" y="495300"/>
            <a:ext cx="15564738" cy="1958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049"/>
              </a:lnSpc>
            </a:pPr>
            <a:r>
              <a:rPr lang="en-US" sz="9600" dirty="0">
                <a:solidFill>
                  <a:srgbClr val="FFFFFF"/>
                </a:solidFill>
                <a:latin typeface="Anton" pitchFamily="2" charset="0"/>
                <a:ea typeface="Squada One"/>
                <a:cs typeface="Squada One"/>
                <a:sym typeface="Squada One"/>
              </a:rPr>
              <a:t>Network Topology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9258300"/>
            <a:ext cx="16230600" cy="2254975"/>
            <a:chOff x="0" y="0"/>
            <a:chExt cx="4274726" cy="593903"/>
          </a:xfrm>
          <a:solidFill>
            <a:srgbClr val="06172C"/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74726" cy="593903"/>
            </a:xfrm>
            <a:custGeom>
              <a:avLst/>
              <a:gdLst/>
              <a:ahLst/>
              <a:cxnLst/>
              <a:rect l="l" t="t" r="r" b="b"/>
              <a:pathLst>
                <a:path w="4274726" h="593903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570053"/>
                  </a:lnTo>
                  <a:cubicBezTo>
                    <a:pt x="4274726" y="576379"/>
                    <a:pt x="4272213" y="582445"/>
                    <a:pt x="4267741" y="586918"/>
                  </a:cubicBezTo>
                  <a:cubicBezTo>
                    <a:pt x="4263268" y="591390"/>
                    <a:pt x="4257201" y="593903"/>
                    <a:pt x="4250876" y="593903"/>
                  </a:cubicBezTo>
                  <a:lnTo>
                    <a:pt x="23850" y="593903"/>
                  </a:lnTo>
                  <a:cubicBezTo>
                    <a:pt x="17524" y="593903"/>
                    <a:pt x="11458" y="591390"/>
                    <a:pt x="6985" y="586918"/>
                  </a:cubicBezTo>
                  <a:cubicBezTo>
                    <a:pt x="2513" y="582445"/>
                    <a:pt x="0" y="576379"/>
                    <a:pt x="0" y="57005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grpFill/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274726" cy="6320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731129" y="7029856"/>
            <a:ext cx="1490161" cy="9558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447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800394" y="7281479"/>
            <a:ext cx="600293" cy="6349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F8F6E40-E072-4B56-BE6B-E2E6F38884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6800" y="495300"/>
            <a:ext cx="1598192" cy="1269155"/>
          </a:xfrm>
          <a:prstGeom prst="rect">
            <a:avLst/>
          </a:prstGeom>
        </p:spPr>
      </p:pic>
      <p:sp>
        <p:nvSpPr>
          <p:cNvPr id="12" name="TextBox 20">
            <a:extLst>
              <a:ext uri="{FF2B5EF4-FFF2-40B4-BE49-F238E27FC236}">
                <a16:creationId xmlns:a16="http://schemas.microsoft.com/office/drawing/2014/main" id="{D5D59B86-1EC8-4BAA-BDB9-E34AECE2891B}"/>
              </a:ext>
            </a:extLst>
          </p:cNvPr>
          <p:cNvSpPr txBox="1"/>
          <p:nvPr/>
        </p:nvSpPr>
        <p:spPr>
          <a:xfrm>
            <a:off x="1012370" y="2453337"/>
            <a:ext cx="16246929" cy="5382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Hierarchical Network Topology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Connectivity Design: </a:t>
            </a:r>
          </a:p>
          <a:p>
            <a:pPr lvl="1">
              <a:lnSpc>
                <a:spcPct val="200000"/>
              </a:lnSpc>
              <a:spcBef>
                <a:spcPct val="0"/>
              </a:spcBef>
            </a:pP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- </a:t>
            </a:r>
            <a:r>
              <a:rPr lang="en-US" sz="3600" b="1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Star topology: </a:t>
            </a: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Within HQ and factories for departmental connections</a:t>
            </a:r>
          </a:p>
          <a:p>
            <a:pPr lvl="1">
              <a:lnSpc>
                <a:spcPct val="200000"/>
              </a:lnSpc>
              <a:spcBef>
                <a:spcPct val="0"/>
              </a:spcBef>
            </a:pP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- </a:t>
            </a:r>
            <a:r>
              <a:rPr lang="en-US" sz="3600" b="1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Point-to-Point Links: </a:t>
            </a: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Efficient interconnectivity between HQ and factories using OSPF.</a:t>
            </a:r>
          </a:p>
        </p:txBody>
      </p:sp>
    </p:spTree>
    <p:extLst>
      <p:ext uri="{BB962C8B-B14F-4D97-AF65-F5344CB8AC3E}">
        <p14:creationId xmlns:p14="http://schemas.microsoft.com/office/powerpoint/2010/main" val="265873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CA0A80E-E510-4349-999D-A9AB76B361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/>
          <a:stretch/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71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2062" y="495300"/>
            <a:ext cx="15564738" cy="1958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049"/>
              </a:lnSpc>
            </a:pPr>
            <a:r>
              <a:rPr lang="en-US" sz="9600" dirty="0">
                <a:solidFill>
                  <a:srgbClr val="FFFFFF"/>
                </a:solidFill>
                <a:latin typeface="Anton" pitchFamily="2" charset="0"/>
                <a:ea typeface="Squada One"/>
                <a:cs typeface="Squada One"/>
                <a:sym typeface="Squada One"/>
              </a:rPr>
              <a:t>IP Allocation Scheme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9258300"/>
            <a:ext cx="16230600" cy="2254975"/>
            <a:chOff x="0" y="0"/>
            <a:chExt cx="4274726" cy="593903"/>
          </a:xfrm>
          <a:solidFill>
            <a:srgbClr val="06172C"/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74726" cy="593903"/>
            </a:xfrm>
            <a:custGeom>
              <a:avLst/>
              <a:gdLst/>
              <a:ahLst/>
              <a:cxnLst/>
              <a:rect l="l" t="t" r="r" b="b"/>
              <a:pathLst>
                <a:path w="4274726" h="593903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570053"/>
                  </a:lnTo>
                  <a:cubicBezTo>
                    <a:pt x="4274726" y="576379"/>
                    <a:pt x="4272213" y="582445"/>
                    <a:pt x="4267741" y="586918"/>
                  </a:cubicBezTo>
                  <a:cubicBezTo>
                    <a:pt x="4263268" y="591390"/>
                    <a:pt x="4257201" y="593903"/>
                    <a:pt x="4250876" y="593903"/>
                  </a:cubicBezTo>
                  <a:lnTo>
                    <a:pt x="23850" y="593903"/>
                  </a:lnTo>
                  <a:cubicBezTo>
                    <a:pt x="17524" y="593903"/>
                    <a:pt x="11458" y="591390"/>
                    <a:pt x="6985" y="586918"/>
                  </a:cubicBezTo>
                  <a:cubicBezTo>
                    <a:pt x="2513" y="582445"/>
                    <a:pt x="0" y="576379"/>
                    <a:pt x="0" y="57005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grpFill/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274726" cy="6320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731129" y="7029856"/>
            <a:ext cx="1490161" cy="9558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447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800394" y="7281479"/>
            <a:ext cx="600293" cy="6349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024002" y="2775812"/>
            <a:ext cx="16230600" cy="42631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b="1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Class C private </a:t>
            </a: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addresses are used for VLANs, with a /24 subnet mask to accommodate up to 254 devices per VLAN.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b="1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Class A</a:t>
            </a: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 private IP addresses are used for point-to-point links, with a /30 subnet mask for efficient use of IP addresses (2 usable IPs per subnet).</a:t>
            </a:r>
            <a:endParaRPr lang="fi-FI" sz="3600" dirty="0">
              <a:solidFill>
                <a:srgbClr val="FFFFFF"/>
              </a:solidFill>
              <a:latin typeface="Open Sans" pitchFamily="2" charset="0"/>
              <a:ea typeface="Open Sans" pitchFamily="2" charset="0"/>
              <a:cs typeface="Open Sans" pitchFamily="2" charset="0"/>
              <a:sym typeface="Varela Round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F8F6E40-E072-4B56-BE6B-E2E6F38884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6800" y="495300"/>
            <a:ext cx="1598192" cy="126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742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2062" y="495300"/>
            <a:ext cx="15564738" cy="1958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049"/>
              </a:lnSpc>
            </a:pPr>
            <a:r>
              <a:rPr lang="en-US" sz="9600" dirty="0">
                <a:solidFill>
                  <a:srgbClr val="FFFFFF"/>
                </a:solidFill>
                <a:latin typeface="Anton" pitchFamily="2" charset="0"/>
                <a:ea typeface="Squada One"/>
                <a:cs typeface="Squada One"/>
                <a:sym typeface="Squada One"/>
              </a:rPr>
              <a:t>VLAN IP Allocation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9258300"/>
            <a:ext cx="16230600" cy="2254975"/>
            <a:chOff x="0" y="0"/>
            <a:chExt cx="4274726" cy="593903"/>
          </a:xfrm>
          <a:solidFill>
            <a:srgbClr val="06172C"/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74726" cy="593903"/>
            </a:xfrm>
            <a:custGeom>
              <a:avLst/>
              <a:gdLst/>
              <a:ahLst/>
              <a:cxnLst/>
              <a:rect l="l" t="t" r="r" b="b"/>
              <a:pathLst>
                <a:path w="4274726" h="593903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570053"/>
                  </a:lnTo>
                  <a:cubicBezTo>
                    <a:pt x="4274726" y="576379"/>
                    <a:pt x="4272213" y="582445"/>
                    <a:pt x="4267741" y="586918"/>
                  </a:cubicBezTo>
                  <a:cubicBezTo>
                    <a:pt x="4263268" y="591390"/>
                    <a:pt x="4257201" y="593903"/>
                    <a:pt x="4250876" y="593903"/>
                  </a:cubicBezTo>
                  <a:lnTo>
                    <a:pt x="23850" y="593903"/>
                  </a:lnTo>
                  <a:cubicBezTo>
                    <a:pt x="17524" y="593903"/>
                    <a:pt x="11458" y="591390"/>
                    <a:pt x="6985" y="586918"/>
                  </a:cubicBezTo>
                  <a:cubicBezTo>
                    <a:pt x="2513" y="582445"/>
                    <a:pt x="0" y="576379"/>
                    <a:pt x="0" y="57005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grpFill/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274726" cy="6320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731129" y="7029856"/>
            <a:ext cx="1490161" cy="9558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447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800394" y="7281479"/>
            <a:ext cx="600293" cy="6349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F8F6E40-E072-4B56-BE6B-E2E6F38884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6800" y="495300"/>
            <a:ext cx="1598192" cy="1269155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F73FE49-E838-40AC-8CF0-AAE22A8A7A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41395"/>
              </p:ext>
            </p:extLst>
          </p:nvPr>
        </p:nvGraphicFramePr>
        <p:xfrm>
          <a:off x="1028700" y="2668849"/>
          <a:ext cx="16230600" cy="64755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31861">
                  <a:extLst>
                    <a:ext uri="{9D8B030D-6E8A-4147-A177-3AD203B41FA5}">
                      <a16:colId xmlns:a16="http://schemas.microsoft.com/office/drawing/2014/main" val="3595947928"/>
                    </a:ext>
                  </a:extLst>
                </a:gridCol>
                <a:gridCol w="3103777">
                  <a:extLst>
                    <a:ext uri="{9D8B030D-6E8A-4147-A177-3AD203B41FA5}">
                      <a16:colId xmlns:a16="http://schemas.microsoft.com/office/drawing/2014/main" val="1044084753"/>
                    </a:ext>
                  </a:extLst>
                </a:gridCol>
                <a:gridCol w="3237438">
                  <a:extLst>
                    <a:ext uri="{9D8B030D-6E8A-4147-A177-3AD203B41FA5}">
                      <a16:colId xmlns:a16="http://schemas.microsoft.com/office/drawing/2014/main" val="1435885819"/>
                    </a:ext>
                  </a:extLst>
                </a:gridCol>
                <a:gridCol w="3227027">
                  <a:extLst>
                    <a:ext uri="{9D8B030D-6E8A-4147-A177-3AD203B41FA5}">
                      <a16:colId xmlns:a16="http://schemas.microsoft.com/office/drawing/2014/main" val="2464322413"/>
                    </a:ext>
                  </a:extLst>
                </a:gridCol>
                <a:gridCol w="3230497">
                  <a:extLst>
                    <a:ext uri="{9D8B030D-6E8A-4147-A177-3AD203B41FA5}">
                      <a16:colId xmlns:a16="http://schemas.microsoft.com/office/drawing/2014/main" val="3725668186"/>
                    </a:ext>
                  </a:extLst>
                </a:gridCol>
              </a:tblGrid>
              <a:tr h="157798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Space Mono" panose="02000509040000020004" pitchFamily="49" charset="0"/>
                        </a:rPr>
                        <a:t>Location</a:t>
                      </a:r>
                      <a:endParaRPr lang="en-PK" sz="1200" dirty="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VLAN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Subnet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IP Range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Devices/Subnets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extLst>
                  <a:ext uri="{0D108BD9-81ED-4DB2-BD59-A6C34878D82A}">
                    <a16:rowId xmlns:a16="http://schemas.microsoft.com/office/drawing/2014/main" val="1070160595"/>
                  </a:ext>
                </a:extLst>
              </a:tr>
              <a:tr h="322239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PAC HQ - Data Center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VLAN 10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192.168.10.0/24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192.168.10.1 - 192.168.10.254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DNS, FTP, Web, and Mail Servers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extLst>
                  <a:ext uri="{0D108BD9-81ED-4DB2-BD59-A6C34878D82A}">
                    <a16:rowId xmlns:a16="http://schemas.microsoft.com/office/drawing/2014/main" val="2757291155"/>
                  </a:ext>
                </a:extLst>
              </a:tr>
              <a:tr h="322239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PAC HQ - Control Center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VLAN 20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192.168.20.0/24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192.168.20.1 - 192.168.20.254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Control Center Devices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extLst>
                  <a:ext uri="{0D108BD9-81ED-4DB2-BD59-A6C34878D82A}">
                    <a16:rowId xmlns:a16="http://schemas.microsoft.com/office/drawing/2014/main" val="390815750"/>
                  </a:ext>
                </a:extLst>
              </a:tr>
              <a:tr h="322239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Space Mono" panose="02000509040000020004" pitchFamily="49" charset="0"/>
                        </a:rPr>
                        <a:t>PAC HQ - SOC</a:t>
                      </a:r>
                      <a:endParaRPr lang="en-PK" sz="1200" dirty="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VLAN 30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192.168.30.0/24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192.168.30.1 - 192.168.30.254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SOC Devices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extLst>
                  <a:ext uri="{0D108BD9-81ED-4DB2-BD59-A6C34878D82A}">
                    <a16:rowId xmlns:a16="http://schemas.microsoft.com/office/drawing/2014/main" val="4278221916"/>
                  </a:ext>
                </a:extLst>
              </a:tr>
              <a:tr h="322239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AMF - Design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VLAN 40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192.168.40.0/24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192.168.40.1 - 192.168.40.254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PCs, IP Phones, Printers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extLst>
                  <a:ext uri="{0D108BD9-81ED-4DB2-BD59-A6C34878D82A}">
                    <a16:rowId xmlns:a16="http://schemas.microsoft.com/office/drawing/2014/main" val="2588980804"/>
                  </a:ext>
                </a:extLst>
              </a:tr>
              <a:tr h="322239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AMF - Prototyping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VLAN 50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192.168.50.0/24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192.168.50.1 - 192.168.50.254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PCs, IP Phones, Printers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extLst>
                  <a:ext uri="{0D108BD9-81ED-4DB2-BD59-A6C34878D82A}">
                    <a16:rowId xmlns:a16="http://schemas.microsoft.com/office/drawing/2014/main" val="485385666"/>
                  </a:ext>
                </a:extLst>
              </a:tr>
              <a:tr h="322239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AMF - Quality Control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VLAN 60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192.168.60.0/24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192.168.60.1 - 192.168.60.254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PCs, IP Phones, Printers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extLst>
                  <a:ext uri="{0D108BD9-81ED-4DB2-BD59-A6C34878D82A}">
                    <a16:rowId xmlns:a16="http://schemas.microsoft.com/office/drawing/2014/main" val="2540467378"/>
                  </a:ext>
                </a:extLst>
              </a:tr>
              <a:tr h="322239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AMF - Support Services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VLAN 70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192.168.70.0/24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192.168.70.1 - 192.168.70.254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PCs, IP Phones, Printers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extLst>
                  <a:ext uri="{0D108BD9-81ED-4DB2-BD59-A6C34878D82A}">
                    <a16:rowId xmlns:a16="http://schemas.microsoft.com/office/drawing/2014/main" val="1857097693"/>
                  </a:ext>
                </a:extLst>
              </a:tr>
              <a:tr h="322239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ARF - Overhaul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VLAN 80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192.168.80.0/24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192.168.80.1 - 192.168.80.254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PCs, IP Phones, Printers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extLst>
                  <a:ext uri="{0D108BD9-81ED-4DB2-BD59-A6C34878D82A}">
                    <a16:rowId xmlns:a16="http://schemas.microsoft.com/office/drawing/2014/main" val="3531893597"/>
                  </a:ext>
                </a:extLst>
              </a:tr>
              <a:tr h="322239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ARF - Repair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VLAN 90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192.168.90.0/24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192.168.90.1 - 192.168.90.254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PCs, IP Phones, Printers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extLst>
                  <a:ext uri="{0D108BD9-81ED-4DB2-BD59-A6C34878D82A}">
                    <a16:rowId xmlns:a16="http://schemas.microsoft.com/office/drawing/2014/main" val="3424781671"/>
                  </a:ext>
                </a:extLst>
              </a:tr>
              <a:tr h="322239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ARF - Testing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VLAN 100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192.168.100.0/24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192.168.100.1 - 192.168.100.254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PCs, IP Phones, Printers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extLst>
                  <a:ext uri="{0D108BD9-81ED-4DB2-BD59-A6C34878D82A}">
                    <a16:rowId xmlns:a16="http://schemas.microsoft.com/office/drawing/2014/main" val="3332492849"/>
                  </a:ext>
                </a:extLst>
              </a:tr>
              <a:tr h="322239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ARF - Support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VLAN 110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192.168.110.0/24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192.168.110.1 - 192.168.110.254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PCs, IP Phones, Printers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extLst>
                  <a:ext uri="{0D108BD9-81ED-4DB2-BD59-A6C34878D82A}">
                    <a16:rowId xmlns:a16="http://schemas.microsoft.com/office/drawing/2014/main" val="2799297464"/>
                  </a:ext>
                </a:extLst>
              </a:tr>
              <a:tr h="322239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APF - Avionics Design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VLAN 120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192.168.120.0/24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192.168.120.1 - 192.168.120.254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PCs, IP Phones, Printers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extLst>
                  <a:ext uri="{0D108BD9-81ED-4DB2-BD59-A6C34878D82A}">
                    <a16:rowId xmlns:a16="http://schemas.microsoft.com/office/drawing/2014/main" val="440345022"/>
                  </a:ext>
                </a:extLst>
              </a:tr>
              <a:tr h="322239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APF - Production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VLAN 130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192.168.130.0/24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192.168.130.1 - 192.168.130.254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PCs, IP Phones, Printers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extLst>
                  <a:ext uri="{0D108BD9-81ED-4DB2-BD59-A6C34878D82A}">
                    <a16:rowId xmlns:a16="http://schemas.microsoft.com/office/drawing/2014/main" val="2398193120"/>
                  </a:ext>
                </a:extLst>
              </a:tr>
              <a:tr h="486681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APF - Testing/Calibration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VLAN 140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192.168.140.0/24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192.168.140.1 - 192.168.140.254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PCs, IP Phones, Printers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extLst>
                  <a:ext uri="{0D108BD9-81ED-4DB2-BD59-A6C34878D82A}">
                    <a16:rowId xmlns:a16="http://schemas.microsoft.com/office/drawing/2014/main" val="1608041346"/>
                  </a:ext>
                </a:extLst>
              </a:tr>
              <a:tr h="322239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APF - Support Services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VLAN 150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192.168.150.0/24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192.168.150.1 - 192.168.150.254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PCs, IP Phones, Printers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extLst>
                  <a:ext uri="{0D108BD9-81ED-4DB2-BD59-A6C34878D82A}">
                    <a16:rowId xmlns:a16="http://schemas.microsoft.com/office/drawing/2014/main" val="255193095"/>
                  </a:ext>
                </a:extLst>
              </a:tr>
              <a:tr h="322239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MRF - Overhaul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VLAN 160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192.168.160.0/24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192.168.160.1 - 192.168.160.254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PCs, IP Phones, Printers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extLst>
                  <a:ext uri="{0D108BD9-81ED-4DB2-BD59-A6C34878D82A}">
                    <a16:rowId xmlns:a16="http://schemas.microsoft.com/office/drawing/2014/main" val="1686515635"/>
                  </a:ext>
                </a:extLst>
              </a:tr>
              <a:tr h="322239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MRF - Repair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VLAN 170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192.168.170.0/24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192.168.170.1 - 192.168.170.254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PCs, IP Phones, Printers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extLst>
                  <a:ext uri="{0D108BD9-81ED-4DB2-BD59-A6C34878D82A}">
                    <a16:rowId xmlns:a16="http://schemas.microsoft.com/office/drawing/2014/main" val="707610996"/>
                  </a:ext>
                </a:extLst>
              </a:tr>
              <a:tr h="322239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MRF - Testing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VLAN 180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192.168.180.0/24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192.168.180.1 - 192.168.180.254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PCs, IP Phones, Printers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extLst>
                  <a:ext uri="{0D108BD9-81ED-4DB2-BD59-A6C34878D82A}">
                    <a16:rowId xmlns:a16="http://schemas.microsoft.com/office/drawing/2014/main" val="3470575846"/>
                  </a:ext>
                </a:extLst>
              </a:tr>
              <a:tr h="322239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MRF - Support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VLAN 190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192.168.190.0/24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192.168.190.1 - 192.168.190.254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Space Mono" panose="02000509040000020004" pitchFamily="49" charset="0"/>
                        </a:rPr>
                        <a:t>PCs, IP Phones, Printers</a:t>
                      </a:r>
                      <a:endParaRPr lang="en-PK" sz="1200" dirty="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4993" marR="44993" marT="0" marB="0" anchor="ctr"/>
                </a:tc>
                <a:extLst>
                  <a:ext uri="{0D108BD9-81ED-4DB2-BD59-A6C34878D82A}">
                    <a16:rowId xmlns:a16="http://schemas.microsoft.com/office/drawing/2014/main" val="499054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4206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2062" y="495300"/>
            <a:ext cx="15564738" cy="1958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049"/>
              </a:lnSpc>
            </a:pPr>
            <a:r>
              <a:rPr lang="en-US" sz="9600" dirty="0">
                <a:solidFill>
                  <a:srgbClr val="FFFFFF"/>
                </a:solidFill>
                <a:latin typeface="Anton" pitchFamily="2" charset="0"/>
                <a:ea typeface="Squada One"/>
                <a:cs typeface="Squada One"/>
                <a:sym typeface="Squada One"/>
              </a:rPr>
              <a:t>P2P IP Allocation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9258300"/>
            <a:ext cx="16230600" cy="2254975"/>
            <a:chOff x="0" y="0"/>
            <a:chExt cx="4274726" cy="593903"/>
          </a:xfrm>
          <a:solidFill>
            <a:srgbClr val="06172C"/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74726" cy="593903"/>
            </a:xfrm>
            <a:custGeom>
              <a:avLst/>
              <a:gdLst/>
              <a:ahLst/>
              <a:cxnLst/>
              <a:rect l="l" t="t" r="r" b="b"/>
              <a:pathLst>
                <a:path w="4274726" h="593903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570053"/>
                  </a:lnTo>
                  <a:cubicBezTo>
                    <a:pt x="4274726" y="576379"/>
                    <a:pt x="4272213" y="582445"/>
                    <a:pt x="4267741" y="586918"/>
                  </a:cubicBezTo>
                  <a:cubicBezTo>
                    <a:pt x="4263268" y="591390"/>
                    <a:pt x="4257201" y="593903"/>
                    <a:pt x="4250876" y="593903"/>
                  </a:cubicBezTo>
                  <a:lnTo>
                    <a:pt x="23850" y="593903"/>
                  </a:lnTo>
                  <a:cubicBezTo>
                    <a:pt x="17524" y="593903"/>
                    <a:pt x="11458" y="591390"/>
                    <a:pt x="6985" y="586918"/>
                  </a:cubicBezTo>
                  <a:cubicBezTo>
                    <a:pt x="2513" y="582445"/>
                    <a:pt x="0" y="576379"/>
                    <a:pt x="0" y="57005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grpFill/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274726" cy="6320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731129" y="7029856"/>
            <a:ext cx="1490161" cy="9558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447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800394" y="7281479"/>
            <a:ext cx="600293" cy="6349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F8F6E40-E072-4B56-BE6B-E2E6F38884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6800" y="495300"/>
            <a:ext cx="1598192" cy="1269155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6D539D8-1275-48C7-925C-5DCB38825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464329"/>
              </p:ext>
            </p:extLst>
          </p:nvPr>
        </p:nvGraphicFramePr>
        <p:xfrm>
          <a:off x="1028700" y="2668851"/>
          <a:ext cx="16230600" cy="64447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46120">
                  <a:extLst>
                    <a:ext uri="{9D8B030D-6E8A-4147-A177-3AD203B41FA5}">
                      <a16:colId xmlns:a16="http://schemas.microsoft.com/office/drawing/2014/main" val="4035872409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180408121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412301822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175719075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1410264407"/>
                    </a:ext>
                  </a:extLst>
                </a:gridCol>
              </a:tblGrid>
              <a:tr h="207416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Link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Source IP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Destination IP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Subnet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Devices/Usage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extLst>
                  <a:ext uri="{0D108BD9-81ED-4DB2-BD59-A6C34878D82A}">
                    <a16:rowId xmlns:a16="http://schemas.microsoft.com/office/drawing/2014/main" val="592083296"/>
                  </a:ext>
                </a:extLst>
              </a:tr>
              <a:tr h="404291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ISP -&gt; PAC-FW (Firewall)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203.0.113.x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203.0.113.1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203.0.113.0/30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Internet to Firewall connection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extLst>
                  <a:ext uri="{0D108BD9-81ED-4DB2-BD59-A6C34878D82A}">
                    <a16:rowId xmlns:a16="http://schemas.microsoft.com/office/drawing/2014/main" val="337855333"/>
                  </a:ext>
                </a:extLst>
              </a:tr>
              <a:tr h="418603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Space Mono" panose="02000509040000020004" pitchFamily="49" charset="0"/>
                        </a:rPr>
                        <a:t>PAC-FW (Firewall) -&gt; PAC-MR (Main Router)</a:t>
                      </a:r>
                      <a:endParaRPr lang="en-PK" sz="1200" dirty="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10.0.0.2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10.0.0.1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10.0.0.0/30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Firewall to Main Router connection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extLst>
                  <a:ext uri="{0D108BD9-81ED-4DB2-BD59-A6C34878D82A}">
                    <a16:rowId xmlns:a16="http://schemas.microsoft.com/office/drawing/2014/main" val="4128309601"/>
                  </a:ext>
                </a:extLst>
              </a:tr>
              <a:tr h="677500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PAC-MR (Main Router) -&gt; PAC-AMF (Aircraft Manufacturing Factory)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10.0.0.5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10.0.0.6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10.0.0.4/30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Main Router to Aircraft Manufacturing Factory connection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extLst>
                  <a:ext uri="{0D108BD9-81ED-4DB2-BD59-A6C34878D82A}">
                    <a16:rowId xmlns:a16="http://schemas.microsoft.com/office/drawing/2014/main" val="1461256989"/>
                  </a:ext>
                </a:extLst>
              </a:tr>
              <a:tr h="677500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PAC-MR (Main Router) -&gt; PAC-APF (Avionics Production Factory)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10.0.0.9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10.0.0.10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10.0.0.8/30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Main Router to Avionics Production Factory connection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extLst>
                  <a:ext uri="{0D108BD9-81ED-4DB2-BD59-A6C34878D82A}">
                    <a16:rowId xmlns:a16="http://schemas.microsoft.com/office/drawing/2014/main" val="3083203814"/>
                  </a:ext>
                </a:extLst>
              </a:tr>
              <a:tr h="540896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PAC-MR (Main Router) -&gt; PAC-ARF (Aircraft Rebuild Factory)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10.0.0.13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10.0.0.14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10.0.0.12/30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Main Router to Aircraft Rebuild Factory connection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extLst>
                  <a:ext uri="{0D108BD9-81ED-4DB2-BD59-A6C34878D82A}">
                    <a16:rowId xmlns:a16="http://schemas.microsoft.com/office/drawing/2014/main" val="1845923563"/>
                  </a:ext>
                </a:extLst>
              </a:tr>
              <a:tr h="540896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PAC-MR (Main Router) -&gt; PAC-MRF (Mirage Rebuild Factory)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10.0.0.17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10.0.0.18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10.0.0.16/30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Main Router to Mirage Rebuild Factory connection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extLst>
                  <a:ext uri="{0D108BD9-81ED-4DB2-BD59-A6C34878D82A}">
                    <a16:rowId xmlns:a16="http://schemas.microsoft.com/office/drawing/2014/main" val="1445857189"/>
                  </a:ext>
                </a:extLst>
              </a:tr>
              <a:tr h="540896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PAC Main Router -&gt; PAC Distribution Switch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192.168.1.1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192.168.1.2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192.168.1.0/30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Main Router to Distribution Switch connection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extLst>
                  <a:ext uri="{0D108BD9-81ED-4DB2-BD59-A6C34878D82A}">
                    <a16:rowId xmlns:a16="http://schemas.microsoft.com/office/drawing/2014/main" val="1056303278"/>
                  </a:ext>
                </a:extLst>
              </a:tr>
              <a:tr h="677500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PAC Aircraft Manufacturing Factory -&gt; PAC Distribution Switch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192.168.1.5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192.168.1.6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192.168.1.4/30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Aircraft Manufacturing Factory to Distribution Switch connection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extLst>
                  <a:ext uri="{0D108BD9-81ED-4DB2-BD59-A6C34878D82A}">
                    <a16:rowId xmlns:a16="http://schemas.microsoft.com/office/drawing/2014/main" val="1905849631"/>
                  </a:ext>
                </a:extLst>
              </a:tr>
              <a:tr h="677500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PAC Avionics Production Factory -&gt; PAC Distribution Switch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192.168.1.9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192.168.1.10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192.168.1.8/30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Avionics Production Factory to Distribution Switch connection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extLst>
                  <a:ext uri="{0D108BD9-81ED-4DB2-BD59-A6C34878D82A}">
                    <a16:rowId xmlns:a16="http://schemas.microsoft.com/office/drawing/2014/main" val="4051771514"/>
                  </a:ext>
                </a:extLst>
              </a:tr>
              <a:tr h="540896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PAC Aircraft Rebuild Factory -&gt; PAC Distribution Switch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192.168.1.13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192.168.1.14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192.168.1.12/30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Aircraft Rebuild Factory to Distribution Switch connection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extLst>
                  <a:ext uri="{0D108BD9-81ED-4DB2-BD59-A6C34878D82A}">
                    <a16:rowId xmlns:a16="http://schemas.microsoft.com/office/drawing/2014/main" val="3829497402"/>
                  </a:ext>
                </a:extLst>
              </a:tr>
              <a:tr h="540896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PAC Mirage Rebuild Factory -&gt; PAC Distribution Switch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192.168.1.17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192.168.1.18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>
                          <a:effectLst/>
                          <a:latin typeface="Space Mono" panose="02000509040000020004" pitchFamily="49" charset="0"/>
                        </a:rPr>
                        <a:t>192.168.1.16/30</a:t>
                      </a:r>
                      <a:endParaRPr lang="en-PK" sz="120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800"/>
                        </a:spcAft>
                      </a:pPr>
                      <a:r>
                        <a:rPr lang="en-US" sz="1200" dirty="0">
                          <a:effectLst/>
                          <a:latin typeface="Space Mono" panose="02000509040000020004" pitchFamily="49" charset="0"/>
                        </a:rPr>
                        <a:t>Mirage Rebuild Factory to Distribution Switch connection</a:t>
                      </a:r>
                      <a:endParaRPr lang="en-PK" sz="1200" dirty="0">
                        <a:effectLst/>
                        <a:latin typeface="Space Mono" panose="02000509040000020004" pitchFamily="49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7909" marR="37909" marT="0" marB="0" anchor="ctr"/>
                </a:tc>
                <a:extLst>
                  <a:ext uri="{0D108BD9-81ED-4DB2-BD59-A6C34878D82A}">
                    <a16:rowId xmlns:a16="http://schemas.microsoft.com/office/drawing/2014/main" val="4119864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55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2062" y="495300"/>
            <a:ext cx="15564738" cy="1980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049"/>
              </a:lnSpc>
            </a:pPr>
            <a:r>
              <a:rPr lang="en-US" sz="9600" dirty="0">
                <a:solidFill>
                  <a:srgbClr val="FFFFFF"/>
                </a:solidFill>
                <a:latin typeface="Anton" pitchFamily="2" charset="0"/>
                <a:ea typeface="Squada One"/>
                <a:cs typeface="Times New Roman" panose="02020603050405020304" pitchFamily="18" charset="0"/>
                <a:sym typeface="Squada One"/>
              </a:rPr>
              <a:t>Router’s Configuration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9258300"/>
            <a:ext cx="16230600" cy="2254975"/>
            <a:chOff x="0" y="0"/>
            <a:chExt cx="4274726" cy="593903"/>
          </a:xfrm>
          <a:solidFill>
            <a:srgbClr val="06172C"/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74726" cy="593903"/>
            </a:xfrm>
            <a:custGeom>
              <a:avLst/>
              <a:gdLst/>
              <a:ahLst/>
              <a:cxnLst/>
              <a:rect l="l" t="t" r="r" b="b"/>
              <a:pathLst>
                <a:path w="4274726" h="593903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570053"/>
                  </a:lnTo>
                  <a:cubicBezTo>
                    <a:pt x="4274726" y="576379"/>
                    <a:pt x="4272213" y="582445"/>
                    <a:pt x="4267741" y="586918"/>
                  </a:cubicBezTo>
                  <a:cubicBezTo>
                    <a:pt x="4263268" y="591390"/>
                    <a:pt x="4257201" y="593903"/>
                    <a:pt x="4250876" y="593903"/>
                  </a:cubicBezTo>
                  <a:lnTo>
                    <a:pt x="23850" y="593903"/>
                  </a:lnTo>
                  <a:cubicBezTo>
                    <a:pt x="17524" y="593903"/>
                    <a:pt x="11458" y="591390"/>
                    <a:pt x="6985" y="586918"/>
                  </a:cubicBezTo>
                  <a:cubicBezTo>
                    <a:pt x="2513" y="582445"/>
                    <a:pt x="0" y="576379"/>
                    <a:pt x="0" y="57005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grpFill/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274726" cy="6320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731129" y="7029856"/>
            <a:ext cx="1490161" cy="9558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447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800394" y="7281479"/>
            <a:ext cx="600293" cy="6349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024002" y="2775812"/>
            <a:ext cx="16230600" cy="5371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fi-FI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Basic Security Configurations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fi-FI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Dynamic Routing using OSPF Protocol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fi-FI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Firewall Integration using ACL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fi-FI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NAT Configuration on Main Router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fi-FI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Default Route to Main Router/ISP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F8F6E40-E072-4B56-BE6B-E2E6F38884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6800" y="495300"/>
            <a:ext cx="1598192" cy="126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068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2062" y="495300"/>
            <a:ext cx="15564738" cy="1958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049"/>
              </a:lnSpc>
            </a:pPr>
            <a:r>
              <a:rPr lang="en-US" sz="9600" dirty="0">
                <a:solidFill>
                  <a:srgbClr val="FFFFFF"/>
                </a:solidFill>
                <a:latin typeface="Anton" pitchFamily="2" charset="0"/>
                <a:ea typeface="Squada One"/>
                <a:cs typeface="Squada One"/>
                <a:sym typeface="Squada One"/>
              </a:rPr>
              <a:t>L3 Switch Configuration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9258300"/>
            <a:ext cx="16230600" cy="2254975"/>
            <a:chOff x="0" y="0"/>
            <a:chExt cx="4274726" cy="593903"/>
          </a:xfrm>
          <a:solidFill>
            <a:srgbClr val="06172C"/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74726" cy="593903"/>
            </a:xfrm>
            <a:custGeom>
              <a:avLst/>
              <a:gdLst/>
              <a:ahLst/>
              <a:cxnLst/>
              <a:rect l="l" t="t" r="r" b="b"/>
              <a:pathLst>
                <a:path w="4274726" h="593903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570053"/>
                  </a:lnTo>
                  <a:cubicBezTo>
                    <a:pt x="4274726" y="576379"/>
                    <a:pt x="4272213" y="582445"/>
                    <a:pt x="4267741" y="586918"/>
                  </a:cubicBezTo>
                  <a:cubicBezTo>
                    <a:pt x="4263268" y="591390"/>
                    <a:pt x="4257201" y="593903"/>
                    <a:pt x="4250876" y="593903"/>
                  </a:cubicBezTo>
                  <a:lnTo>
                    <a:pt x="23850" y="593903"/>
                  </a:lnTo>
                  <a:cubicBezTo>
                    <a:pt x="17524" y="593903"/>
                    <a:pt x="11458" y="591390"/>
                    <a:pt x="6985" y="586918"/>
                  </a:cubicBezTo>
                  <a:cubicBezTo>
                    <a:pt x="2513" y="582445"/>
                    <a:pt x="0" y="576379"/>
                    <a:pt x="0" y="57005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grpFill/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274726" cy="6320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731129" y="7029856"/>
            <a:ext cx="1490161" cy="9558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4479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024002" y="2775812"/>
            <a:ext cx="16230600" cy="5371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  <a:defRPr sz="360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fi-FI" dirty="0">
                <a:sym typeface="Varela Round"/>
              </a:rPr>
              <a:t>Basic Security Configurations</a:t>
            </a:r>
          </a:p>
          <a:p>
            <a:r>
              <a:rPr lang="fi-FI" dirty="0">
                <a:sym typeface="Varela Round"/>
              </a:rPr>
              <a:t>VLAN Configuration</a:t>
            </a:r>
          </a:p>
          <a:p>
            <a:r>
              <a:rPr lang="fi-FI" dirty="0">
                <a:sym typeface="Varela Round"/>
              </a:rPr>
              <a:t>Inter-VLAN Routing</a:t>
            </a:r>
          </a:p>
          <a:p>
            <a:r>
              <a:rPr lang="fi-FI" dirty="0">
                <a:sym typeface="Varela Round"/>
              </a:rPr>
              <a:t>Trunk Ports</a:t>
            </a:r>
          </a:p>
          <a:p>
            <a:r>
              <a:rPr lang="fi-FI" dirty="0">
                <a:sym typeface="Varela Round"/>
              </a:rPr>
              <a:t>Default Route to Main/Factory Router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F8F6E40-E072-4B56-BE6B-E2E6F38884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6800" y="495300"/>
            <a:ext cx="1598192" cy="126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345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2062" y="495300"/>
            <a:ext cx="15564738" cy="1958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049"/>
              </a:lnSpc>
            </a:pPr>
            <a:r>
              <a:rPr lang="en-US" sz="9600" dirty="0">
                <a:solidFill>
                  <a:srgbClr val="FFFFFF"/>
                </a:solidFill>
                <a:latin typeface="Anton" pitchFamily="2" charset="0"/>
                <a:ea typeface="Squada One"/>
                <a:cs typeface="Squada One"/>
                <a:sym typeface="Squada One"/>
              </a:rPr>
              <a:t>Security Features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9258300"/>
            <a:ext cx="16230600" cy="2254975"/>
            <a:chOff x="0" y="0"/>
            <a:chExt cx="4274726" cy="593903"/>
          </a:xfrm>
          <a:solidFill>
            <a:srgbClr val="06172C"/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74726" cy="593903"/>
            </a:xfrm>
            <a:custGeom>
              <a:avLst/>
              <a:gdLst/>
              <a:ahLst/>
              <a:cxnLst/>
              <a:rect l="l" t="t" r="r" b="b"/>
              <a:pathLst>
                <a:path w="4274726" h="593903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570053"/>
                  </a:lnTo>
                  <a:cubicBezTo>
                    <a:pt x="4274726" y="576379"/>
                    <a:pt x="4272213" y="582445"/>
                    <a:pt x="4267741" y="586918"/>
                  </a:cubicBezTo>
                  <a:cubicBezTo>
                    <a:pt x="4263268" y="591390"/>
                    <a:pt x="4257201" y="593903"/>
                    <a:pt x="4250876" y="593903"/>
                  </a:cubicBezTo>
                  <a:lnTo>
                    <a:pt x="23850" y="593903"/>
                  </a:lnTo>
                  <a:cubicBezTo>
                    <a:pt x="17524" y="593903"/>
                    <a:pt x="11458" y="591390"/>
                    <a:pt x="6985" y="586918"/>
                  </a:cubicBezTo>
                  <a:cubicBezTo>
                    <a:pt x="2513" y="582445"/>
                    <a:pt x="0" y="576379"/>
                    <a:pt x="0" y="57005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grpFill/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274726" cy="6320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731129" y="7029856"/>
            <a:ext cx="1490161" cy="9558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447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800394" y="7281479"/>
            <a:ext cx="600293" cy="6349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051560" y="2775812"/>
            <a:ext cx="16207740" cy="63986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b="1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Firewall Policies: </a:t>
            </a:r>
            <a:r>
              <a:rPr lang="en-US" sz="360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Restrict access between VLANs and external networks.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b="1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Access Control Lists (ACLs): </a:t>
            </a:r>
            <a:r>
              <a:rPr lang="en-US" sz="360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Restrict factory to factory communication.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b="1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Security Recommendations:</a:t>
            </a:r>
          </a:p>
          <a:p>
            <a:pPr lvl="1">
              <a:lnSpc>
                <a:spcPct val="20000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Firewalls, IPS, strong authentication, and encryption.</a:t>
            </a:r>
          </a:p>
          <a:p>
            <a:pPr lvl="1">
              <a:lnSpc>
                <a:spcPct val="20000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Regular audits and updates.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endParaRPr lang="en-US" sz="3200" dirty="0">
              <a:solidFill>
                <a:srgbClr val="FFFFFF"/>
              </a:solidFill>
              <a:latin typeface="Open Sans" pitchFamily="2" charset="0"/>
              <a:ea typeface="Open Sans" pitchFamily="2" charset="0"/>
              <a:cs typeface="Open Sans" pitchFamily="2" charset="0"/>
              <a:sym typeface="Varela Round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F8F6E40-E072-4B56-BE6B-E2E6F38884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6800" y="495300"/>
            <a:ext cx="1598192" cy="126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609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2062" y="495300"/>
            <a:ext cx="15564738" cy="1958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049"/>
              </a:lnSpc>
            </a:pPr>
            <a:r>
              <a:rPr lang="en-US" sz="9600" dirty="0">
                <a:solidFill>
                  <a:srgbClr val="FFFFFF"/>
                </a:solidFill>
                <a:latin typeface="Anton" pitchFamily="2" charset="0"/>
                <a:ea typeface="Squada One"/>
                <a:cs typeface="Squada One"/>
                <a:sym typeface="Squada One"/>
              </a:rPr>
              <a:t>Testing and Validation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9258300"/>
            <a:ext cx="16230600" cy="2254975"/>
            <a:chOff x="0" y="0"/>
            <a:chExt cx="4274726" cy="593903"/>
          </a:xfrm>
          <a:solidFill>
            <a:srgbClr val="06172C"/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74726" cy="593903"/>
            </a:xfrm>
            <a:custGeom>
              <a:avLst/>
              <a:gdLst/>
              <a:ahLst/>
              <a:cxnLst/>
              <a:rect l="l" t="t" r="r" b="b"/>
              <a:pathLst>
                <a:path w="4274726" h="593903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570053"/>
                  </a:lnTo>
                  <a:cubicBezTo>
                    <a:pt x="4274726" y="576379"/>
                    <a:pt x="4272213" y="582445"/>
                    <a:pt x="4267741" y="586918"/>
                  </a:cubicBezTo>
                  <a:cubicBezTo>
                    <a:pt x="4263268" y="591390"/>
                    <a:pt x="4257201" y="593903"/>
                    <a:pt x="4250876" y="593903"/>
                  </a:cubicBezTo>
                  <a:lnTo>
                    <a:pt x="23850" y="593903"/>
                  </a:lnTo>
                  <a:cubicBezTo>
                    <a:pt x="17524" y="593903"/>
                    <a:pt x="11458" y="591390"/>
                    <a:pt x="6985" y="586918"/>
                  </a:cubicBezTo>
                  <a:cubicBezTo>
                    <a:pt x="2513" y="582445"/>
                    <a:pt x="0" y="576379"/>
                    <a:pt x="0" y="57005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grpFill/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274726" cy="6320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731129" y="7029856"/>
            <a:ext cx="1490161" cy="9558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447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800394" y="7281479"/>
            <a:ext cx="600293" cy="6349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024002" y="2775812"/>
            <a:ext cx="16230600" cy="41826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b="1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Ping Tests:</a:t>
            </a: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 Verified inter-device connectivity.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b="1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Service Verification:</a:t>
            </a:r>
          </a:p>
          <a:p>
            <a:pPr lvl="1">
              <a:lnSpc>
                <a:spcPct val="200000"/>
              </a:lnSpc>
              <a:spcBef>
                <a:spcPct val="0"/>
              </a:spcBef>
            </a:pP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DNS, FTP, Web, and Mail services tested for redundancy and availability.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endParaRPr lang="en-US" sz="3200" dirty="0">
              <a:solidFill>
                <a:srgbClr val="FFFFFF"/>
              </a:solidFill>
              <a:latin typeface="Open Sans" pitchFamily="2" charset="0"/>
              <a:ea typeface="Open Sans" pitchFamily="2" charset="0"/>
              <a:cs typeface="Open Sans" pitchFamily="2" charset="0"/>
              <a:sym typeface="Varela Round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F8F6E40-E072-4B56-BE6B-E2E6F38884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6800" y="495300"/>
            <a:ext cx="1598192" cy="126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358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2062" y="495300"/>
            <a:ext cx="15564738" cy="1958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049"/>
              </a:lnSpc>
            </a:pPr>
            <a:r>
              <a:rPr lang="en-US" sz="9600" dirty="0">
                <a:solidFill>
                  <a:srgbClr val="FFFFFF"/>
                </a:solidFill>
                <a:latin typeface="Anton" pitchFamily="2" charset="0"/>
                <a:ea typeface="Squada One"/>
                <a:cs typeface="Squada One"/>
                <a:sym typeface="Squada One"/>
              </a:rPr>
              <a:t>Conclusion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9258300"/>
            <a:ext cx="16230600" cy="2254975"/>
            <a:chOff x="0" y="0"/>
            <a:chExt cx="4274726" cy="593903"/>
          </a:xfrm>
          <a:solidFill>
            <a:srgbClr val="06172C"/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74726" cy="593903"/>
            </a:xfrm>
            <a:custGeom>
              <a:avLst/>
              <a:gdLst/>
              <a:ahLst/>
              <a:cxnLst/>
              <a:rect l="l" t="t" r="r" b="b"/>
              <a:pathLst>
                <a:path w="4274726" h="593903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570053"/>
                  </a:lnTo>
                  <a:cubicBezTo>
                    <a:pt x="4274726" y="576379"/>
                    <a:pt x="4272213" y="582445"/>
                    <a:pt x="4267741" y="586918"/>
                  </a:cubicBezTo>
                  <a:cubicBezTo>
                    <a:pt x="4263268" y="591390"/>
                    <a:pt x="4257201" y="593903"/>
                    <a:pt x="4250876" y="593903"/>
                  </a:cubicBezTo>
                  <a:lnTo>
                    <a:pt x="23850" y="593903"/>
                  </a:lnTo>
                  <a:cubicBezTo>
                    <a:pt x="17524" y="593903"/>
                    <a:pt x="11458" y="591390"/>
                    <a:pt x="6985" y="586918"/>
                  </a:cubicBezTo>
                  <a:cubicBezTo>
                    <a:pt x="2513" y="582445"/>
                    <a:pt x="0" y="576379"/>
                    <a:pt x="0" y="57005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grpFill/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274726" cy="6320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731129" y="7029856"/>
            <a:ext cx="1490161" cy="9558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447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800394" y="7281479"/>
            <a:ext cx="600293" cy="6349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024002" y="2775812"/>
            <a:ext cx="16230600" cy="52765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Successfully modeled a secure, scalable network for military aviation needs.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Ensured redundancy, efficient communication, and high availability.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6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Future improvements: Advanced security and routing techniques</a:t>
            </a:r>
            <a:r>
              <a:rPr lang="en-US" sz="32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.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endParaRPr lang="en-US" sz="3200" dirty="0">
              <a:solidFill>
                <a:srgbClr val="FFFFFF"/>
              </a:solidFill>
              <a:latin typeface="Open Sans" pitchFamily="2" charset="0"/>
              <a:ea typeface="Open Sans" pitchFamily="2" charset="0"/>
              <a:cs typeface="Open Sans" pitchFamily="2" charset="0"/>
              <a:sym typeface="Varela Round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F8F6E40-E072-4B56-BE6B-E2E6F38884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6800" y="495300"/>
            <a:ext cx="1598192" cy="126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959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2062" y="495300"/>
            <a:ext cx="15564738" cy="1958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049"/>
              </a:lnSpc>
            </a:pPr>
            <a:r>
              <a:rPr lang="en-US" sz="9600" dirty="0">
                <a:solidFill>
                  <a:srgbClr val="FFFFFF"/>
                </a:solidFill>
                <a:latin typeface="Anton" pitchFamily="2" charset="0"/>
                <a:ea typeface="Squada One"/>
                <a:cs typeface="Squada One"/>
                <a:sym typeface="Squada One"/>
              </a:rPr>
              <a:t>References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9258300"/>
            <a:ext cx="16230600" cy="2254975"/>
            <a:chOff x="0" y="0"/>
            <a:chExt cx="4274726" cy="593903"/>
          </a:xfrm>
          <a:solidFill>
            <a:srgbClr val="06172C"/>
          </a:solidFill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74726" cy="593903"/>
            </a:xfrm>
            <a:custGeom>
              <a:avLst/>
              <a:gdLst/>
              <a:ahLst/>
              <a:cxnLst/>
              <a:rect l="l" t="t" r="r" b="b"/>
              <a:pathLst>
                <a:path w="4274726" h="593903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570053"/>
                  </a:lnTo>
                  <a:cubicBezTo>
                    <a:pt x="4274726" y="576379"/>
                    <a:pt x="4272213" y="582445"/>
                    <a:pt x="4267741" y="586918"/>
                  </a:cubicBezTo>
                  <a:cubicBezTo>
                    <a:pt x="4263268" y="591390"/>
                    <a:pt x="4257201" y="593903"/>
                    <a:pt x="4250876" y="593903"/>
                  </a:cubicBezTo>
                  <a:lnTo>
                    <a:pt x="23850" y="593903"/>
                  </a:lnTo>
                  <a:cubicBezTo>
                    <a:pt x="17524" y="593903"/>
                    <a:pt x="11458" y="591390"/>
                    <a:pt x="6985" y="586918"/>
                  </a:cubicBezTo>
                  <a:cubicBezTo>
                    <a:pt x="2513" y="582445"/>
                    <a:pt x="0" y="576379"/>
                    <a:pt x="0" y="57005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grpFill/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274726" cy="63200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8731129" y="7029856"/>
            <a:ext cx="1490161" cy="9558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4479"/>
              </a:lnSpc>
            </a:pP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800394" y="7281479"/>
            <a:ext cx="600293" cy="6349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024002" y="2775812"/>
            <a:ext cx="16230600" cy="5769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Pakistan Aeronautical Complex (PAC) Official Website — </a:t>
            </a:r>
            <a:r>
              <a:rPr lang="en-US" sz="3200" dirty="0">
                <a:solidFill>
                  <a:srgbClr val="D9F2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https://www.pac.org.pk/</a:t>
            </a:r>
            <a:r>
              <a:rPr lang="en-US" sz="3200" dirty="0">
                <a:solidFill>
                  <a:srgbClr val="D9F2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 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PAF Base Minhas — </a:t>
            </a:r>
            <a:r>
              <a:rPr lang="en-US" sz="3200" dirty="0">
                <a:solidFill>
                  <a:srgbClr val="D9F2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https://en.wikipedia.org/wiki/PAF_Base_Minhas</a:t>
            </a:r>
            <a:r>
              <a:rPr lang="en-US" sz="3200" dirty="0">
                <a:solidFill>
                  <a:srgbClr val="D9F2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 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Cisco Packet Tracer Documentation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Cisco Networking Academy: Routing and Switching Concepts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Cisco Network Security Guidelines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rgbClr val="FFFFFF"/>
                </a:solidFill>
                <a:latin typeface="Open Sans" pitchFamily="2" charset="0"/>
                <a:ea typeface="Open Sans" pitchFamily="2" charset="0"/>
                <a:cs typeface="Open Sans" pitchFamily="2" charset="0"/>
                <a:sym typeface="Varela Round"/>
              </a:rPr>
              <a:t>Computer Networks Lab Course Material, CS260L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F8F6E40-E072-4B56-BE6B-E2E6F388840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6800" y="495300"/>
            <a:ext cx="1598192" cy="126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170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443993" y="3061717"/>
            <a:ext cx="7039846" cy="4606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049"/>
              </a:lnSpc>
            </a:pPr>
            <a:r>
              <a:rPr lang="en-US" sz="21312" dirty="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THANK YOU!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783379" y="1752326"/>
            <a:ext cx="5827998" cy="6782348"/>
            <a:chOff x="0" y="0"/>
            <a:chExt cx="1534946" cy="1786297"/>
          </a:xfrm>
          <a:solidFill>
            <a:srgbClr val="06172C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1534946" cy="1786297"/>
            </a:xfrm>
            <a:custGeom>
              <a:avLst/>
              <a:gdLst/>
              <a:ahLst/>
              <a:cxnLst/>
              <a:rect l="l" t="t" r="r" b="b"/>
              <a:pathLst>
                <a:path w="1534946" h="1786297">
                  <a:moveTo>
                    <a:pt x="112914" y="0"/>
                  </a:moveTo>
                  <a:lnTo>
                    <a:pt x="1422032" y="0"/>
                  </a:lnTo>
                  <a:cubicBezTo>
                    <a:pt x="1484393" y="0"/>
                    <a:pt x="1534946" y="50553"/>
                    <a:pt x="1534946" y="112914"/>
                  </a:cubicBezTo>
                  <a:lnTo>
                    <a:pt x="1534946" y="1673383"/>
                  </a:lnTo>
                  <a:cubicBezTo>
                    <a:pt x="1534946" y="1735744"/>
                    <a:pt x="1484393" y="1786297"/>
                    <a:pt x="1422032" y="1786297"/>
                  </a:cubicBezTo>
                  <a:lnTo>
                    <a:pt x="112914" y="1786297"/>
                  </a:lnTo>
                  <a:cubicBezTo>
                    <a:pt x="82967" y="1786297"/>
                    <a:pt x="54247" y="1774401"/>
                    <a:pt x="33072" y="1753226"/>
                  </a:cubicBezTo>
                  <a:cubicBezTo>
                    <a:pt x="11896" y="1732050"/>
                    <a:pt x="0" y="1703330"/>
                    <a:pt x="0" y="1673383"/>
                  </a:cubicBezTo>
                  <a:lnTo>
                    <a:pt x="0" y="112914"/>
                  </a:lnTo>
                  <a:cubicBezTo>
                    <a:pt x="0" y="50553"/>
                    <a:pt x="50553" y="0"/>
                    <a:pt x="112914" y="0"/>
                  </a:cubicBezTo>
                  <a:close/>
                </a:path>
              </a:pathLst>
            </a:custGeom>
            <a:grpFill/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534946" cy="1824397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300037" y="2261617"/>
            <a:ext cx="4794683" cy="5763766"/>
            <a:chOff x="0" y="0"/>
            <a:chExt cx="742822" cy="8929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2822" cy="892958"/>
            </a:xfrm>
            <a:custGeom>
              <a:avLst/>
              <a:gdLst/>
              <a:ahLst/>
              <a:cxnLst/>
              <a:rect l="l" t="t" r="r" b="b"/>
              <a:pathLst>
                <a:path w="742822" h="892958">
                  <a:moveTo>
                    <a:pt x="101725" y="0"/>
                  </a:moveTo>
                  <a:lnTo>
                    <a:pt x="641097" y="0"/>
                  </a:lnTo>
                  <a:cubicBezTo>
                    <a:pt x="668076" y="0"/>
                    <a:pt x="693950" y="10717"/>
                    <a:pt x="713027" y="29795"/>
                  </a:cubicBezTo>
                  <a:cubicBezTo>
                    <a:pt x="732104" y="48872"/>
                    <a:pt x="742822" y="74746"/>
                    <a:pt x="742822" y="101725"/>
                  </a:cubicBezTo>
                  <a:lnTo>
                    <a:pt x="742822" y="791233"/>
                  </a:lnTo>
                  <a:cubicBezTo>
                    <a:pt x="742822" y="818212"/>
                    <a:pt x="732104" y="844086"/>
                    <a:pt x="713027" y="863164"/>
                  </a:cubicBezTo>
                  <a:cubicBezTo>
                    <a:pt x="693950" y="882241"/>
                    <a:pt x="668076" y="892958"/>
                    <a:pt x="641097" y="892958"/>
                  </a:cubicBezTo>
                  <a:lnTo>
                    <a:pt x="101725" y="892958"/>
                  </a:lnTo>
                  <a:cubicBezTo>
                    <a:pt x="74746" y="892958"/>
                    <a:pt x="48872" y="882241"/>
                    <a:pt x="29795" y="863164"/>
                  </a:cubicBezTo>
                  <a:cubicBezTo>
                    <a:pt x="10717" y="844086"/>
                    <a:pt x="0" y="818212"/>
                    <a:pt x="0" y="791233"/>
                  </a:cubicBezTo>
                  <a:lnTo>
                    <a:pt x="0" y="101725"/>
                  </a:lnTo>
                  <a:cubicBezTo>
                    <a:pt x="0" y="74746"/>
                    <a:pt x="10717" y="48872"/>
                    <a:pt x="29795" y="29795"/>
                  </a:cubicBezTo>
                  <a:cubicBezTo>
                    <a:pt x="48872" y="10717"/>
                    <a:pt x="74746" y="0"/>
                    <a:pt x="101725" y="0"/>
                  </a:cubicBezTo>
                  <a:close/>
                </a:path>
              </a:pathLst>
            </a:custGeom>
            <a:blipFill>
              <a:blip r:embed="rId2"/>
              <a:stretch>
                <a:fillRect t="-12389" b="-12389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 flipH="1">
            <a:off x="15249773" y="1028700"/>
            <a:ext cx="4171454" cy="6234510"/>
          </a:xfrm>
          <a:custGeom>
            <a:avLst/>
            <a:gdLst/>
            <a:ahLst/>
            <a:cxnLst/>
            <a:rect l="l" t="t" r="r" b="b"/>
            <a:pathLst>
              <a:path w="4171454" h="6234510">
                <a:moveTo>
                  <a:pt x="4171454" y="0"/>
                </a:moveTo>
                <a:lnTo>
                  <a:pt x="0" y="0"/>
                </a:lnTo>
                <a:lnTo>
                  <a:pt x="0" y="6234510"/>
                </a:lnTo>
                <a:lnTo>
                  <a:pt x="4171454" y="6234510"/>
                </a:lnTo>
                <a:lnTo>
                  <a:pt x="417145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PK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1022</Words>
  <Application>Microsoft Office PowerPoint</Application>
  <PresentationFormat>Custom</PresentationFormat>
  <Paragraphs>257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Squada One</vt:lpstr>
      <vt:lpstr>Space Mono</vt:lpstr>
      <vt:lpstr>Open Sans</vt:lpstr>
      <vt:lpstr>Wingdings</vt:lpstr>
      <vt:lpstr>Anton</vt:lpstr>
      <vt:lpstr>Courier New</vt:lpstr>
      <vt:lpstr>Arial</vt:lpstr>
      <vt:lpstr>Varela Round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Text Magic Studio Magic Design for Presentations L&amp;P</dc:title>
  <dc:creator>Hussain Ali</dc:creator>
  <cp:lastModifiedBy>Hussain Ali</cp:lastModifiedBy>
  <cp:revision>39</cp:revision>
  <dcterms:created xsi:type="dcterms:W3CDTF">2006-08-16T00:00:00Z</dcterms:created>
  <dcterms:modified xsi:type="dcterms:W3CDTF">2026-05-24T13:57:59Z</dcterms:modified>
  <dc:identifier>DAGZqt13rWQ</dc:identifier>
</cp:coreProperties>
</file>