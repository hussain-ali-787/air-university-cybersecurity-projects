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61" r:id="rId2"/>
    <p:sldId id="258" r:id="rId3"/>
    <p:sldId id="256" r:id="rId4"/>
    <p:sldId id="260" r:id="rId5"/>
    <p:sldId id="259" r:id="rId6"/>
    <p:sldId id="262" r:id="rId7"/>
    <p:sldId id="267" r:id="rId8"/>
    <p:sldId id="264" r:id="rId9"/>
    <p:sldId id="263" r:id="rId10"/>
    <p:sldId id="266" r:id="rId11"/>
    <p:sldId id="265" r:id="rId12"/>
    <p:sldId id="268" r:id="rId13"/>
    <p:sldId id="269" r:id="rId14"/>
    <p:sldId id="272" r:id="rId15"/>
    <p:sldId id="271" r:id="rId16"/>
    <p:sldId id="270"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6538F"/>
    <a:srgbClr val="2B5590"/>
    <a:srgbClr val="28558F"/>
    <a:srgbClr val="375B92"/>
    <a:srgbClr val="335991"/>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A6BD4B-9DF1-41EC-BAB5-6B57BE7AF0A3}"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043D79-E669-4582-AE61-DA7F723B5744}" type="slidenum">
              <a:rPr lang="en-US" smtClean="0"/>
              <a:t>‹#›</a:t>
            </a:fld>
            <a:endParaRPr lang="en-US"/>
          </a:p>
        </p:txBody>
      </p:sp>
    </p:spTree>
    <p:extLst>
      <p:ext uri="{BB962C8B-B14F-4D97-AF65-F5344CB8AC3E}">
        <p14:creationId xmlns:p14="http://schemas.microsoft.com/office/powerpoint/2010/main" val="2758266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043D79-E669-4582-AE61-DA7F723B5744}" type="slidenum">
              <a:rPr lang="en-US" smtClean="0"/>
              <a:t>3</a:t>
            </a:fld>
            <a:endParaRPr lang="en-US"/>
          </a:p>
        </p:txBody>
      </p:sp>
    </p:spTree>
    <p:extLst>
      <p:ext uri="{BB962C8B-B14F-4D97-AF65-F5344CB8AC3E}">
        <p14:creationId xmlns:p14="http://schemas.microsoft.com/office/powerpoint/2010/main" val="299261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043D79-E669-4582-AE61-DA7F723B5744}" type="slidenum">
              <a:rPr lang="en-US" smtClean="0"/>
              <a:t>4</a:t>
            </a:fld>
            <a:endParaRPr lang="en-US"/>
          </a:p>
        </p:txBody>
      </p:sp>
    </p:spTree>
    <p:extLst>
      <p:ext uri="{BB962C8B-B14F-4D97-AF65-F5344CB8AC3E}">
        <p14:creationId xmlns:p14="http://schemas.microsoft.com/office/powerpoint/2010/main" val="3074034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043D79-E669-4582-AE61-DA7F723B5744}" type="slidenum">
              <a:rPr lang="en-US" smtClean="0"/>
              <a:t>6</a:t>
            </a:fld>
            <a:endParaRPr lang="en-US"/>
          </a:p>
        </p:txBody>
      </p:sp>
    </p:spTree>
    <p:extLst>
      <p:ext uri="{BB962C8B-B14F-4D97-AF65-F5344CB8AC3E}">
        <p14:creationId xmlns:p14="http://schemas.microsoft.com/office/powerpoint/2010/main" val="2589172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043D79-E669-4582-AE61-DA7F723B5744}" type="slidenum">
              <a:rPr lang="en-US" smtClean="0"/>
              <a:t>7</a:t>
            </a:fld>
            <a:endParaRPr lang="en-US"/>
          </a:p>
        </p:txBody>
      </p:sp>
    </p:spTree>
    <p:extLst>
      <p:ext uri="{BB962C8B-B14F-4D97-AF65-F5344CB8AC3E}">
        <p14:creationId xmlns:p14="http://schemas.microsoft.com/office/powerpoint/2010/main" val="2881008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043D79-E669-4582-AE61-DA7F723B5744}" type="slidenum">
              <a:rPr lang="en-US" smtClean="0"/>
              <a:t>11</a:t>
            </a:fld>
            <a:endParaRPr lang="en-US"/>
          </a:p>
        </p:txBody>
      </p:sp>
    </p:spTree>
    <p:extLst>
      <p:ext uri="{BB962C8B-B14F-4D97-AF65-F5344CB8AC3E}">
        <p14:creationId xmlns:p14="http://schemas.microsoft.com/office/powerpoint/2010/main" val="1272309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043D79-E669-4582-AE61-DA7F723B5744}" type="slidenum">
              <a:rPr lang="en-US" smtClean="0"/>
              <a:t>22</a:t>
            </a:fld>
            <a:endParaRPr lang="en-US"/>
          </a:p>
        </p:txBody>
      </p:sp>
    </p:spTree>
    <p:extLst>
      <p:ext uri="{BB962C8B-B14F-4D97-AF65-F5344CB8AC3E}">
        <p14:creationId xmlns:p14="http://schemas.microsoft.com/office/powerpoint/2010/main" val="3601763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9258A-A5A9-A6B3-D65C-ABF74E7A54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7FDA82-3500-ABF3-1702-870EE23CC0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285061-5B12-CE4E-01AA-AE83399384EC}"/>
              </a:ext>
            </a:extLst>
          </p:cNvPr>
          <p:cNvSpPr>
            <a:spLocks noGrp="1"/>
          </p:cNvSpPr>
          <p:nvPr>
            <p:ph type="dt" sz="half" idx="10"/>
          </p:nvPr>
        </p:nvSpPr>
        <p:spPr/>
        <p:txBody>
          <a:bodyPr/>
          <a:lstStyle/>
          <a:p>
            <a:fld id="{F2C2F60D-4DCF-4312-A693-2AAD7A3B9F8D}" type="datetime1">
              <a:rPr lang="en-US" smtClean="0"/>
              <a:t>5/24/2026</a:t>
            </a:fld>
            <a:endParaRPr lang="en-US"/>
          </a:p>
        </p:txBody>
      </p:sp>
      <p:sp>
        <p:nvSpPr>
          <p:cNvPr id="5" name="Footer Placeholder 4">
            <a:extLst>
              <a:ext uri="{FF2B5EF4-FFF2-40B4-BE49-F238E27FC236}">
                <a16:creationId xmlns:a16="http://schemas.microsoft.com/office/drawing/2014/main" id="{DEC1FAE3-AE18-3926-B2DA-B885F22D6F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23A18F-D9BA-987F-5D98-C29AA6BE77E8}"/>
              </a:ext>
            </a:extLst>
          </p:cNvPr>
          <p:cNvSpPr>
            <a:spLocks noGrp="1"/>
          </p:cNvSpPr>
          <p:nvPr>
            <p:ph type="sldNum" sz="quarter" idx="12"/>
          </p:nvPr>
        </p:nvSpPr>
        <p:spPr/>
        <p:txBody>
          <a:bodyPr/>
          <a:lstStyle/>
          <a:p>
            <a:fld id="{D39BF864-7A39-40DA-B38E-6B0F4C7F839D}" type="slidenum">
              <a:rPr lang="en-US" smtClean="0"/>
              <a:t>‹#›</a:t>
            </a:fld>
            <a:endParaRPr lang="en-US"/>
          </a:p>
        </p:txBody>
      </p:sp>
    </p:spTree>
    <p:extLst>
      <p:ext uri="{BB962C8B-B14F-4D97-AF65-F5344CB8AC3E}">
        <p14:creationId xmlns:p14="http://schemas.microsoft.com/office/powerpoint/2010/main" val="3621916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8C36-CC1D-9C50-E471-A26BC65786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DAE4FC-679A-D6E7-7E54-22EB6D9C16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8A8C03-363C-1123-7208-1C3DCEFD510B}"/>
              </a:ext>
            </a:extLst>
          </p:cNvPr>
          <p:cNvSpPr>
            <a:spLocks noGrp="1"/>
          </p:cNvSpPr>
          <p:nvPr>
            <p:ph type="dt" sz="half" idx="10"/>
          </p:nvPr>
        </p:nvSpPr>
        <p:spPr/>
        <p:txBody>
          <a:bodyPr/>
          <a:lstStyle/>
          <a:p>
            <a:fld id="{AF5C49A0-3932-441C-9D09-6CC916A6BAF8}" type="datetime1">
              <a:rPr lang="en-US" smtClean="0"/>
              <a:t>5/24/2026</a:t>
            </a:fld>
            <a:endParaRPr lang="en-US"/>
          </a:p>
        </p:txBody>
      </p:sp>
      <p:sp>
        <p:nvSpPr>
          <p:cNvPr id="5" name="Footer Placeholder 4">
            <a:extLst>
              <a:ext uri="{FF2B5EF4-FFF2-40B4-BE49-F238E27FC236}">
                <a16:creationId xmlns:a16="http://schemas.microsoft.com/office/drawing/2014/main" id="{1900BE63-4577-EF7C-D51F-1652FD4611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20AAF5-7E3B-9A16-1485-9663A7D1374E}"/>
              </a:ext>
            </a:extLst>
          </p:cNvPr>
          <p:cNvSpPr>
            <a:spLocks noGrp="1"/>
          </p:cNvSpPr>
          <p:nvPr>
            <p:ph type="sldNum" sz="quarter" idx="12"/>
          </p:nvPr>
        </p:nvSpPr>
        <p:spPr/>
        <p:txBody>
          <a:bodyPr/>
          <a:lstStyle/>
          <a:p>
            <a:fld id="{D39BF864-7A39-40DA-B38E-6B0F4C7F839D}" type="slidenum">
              <a:rPr lang="en-US" smtClean="0"/>
              <a:t>‹#›</a:t>
            </a:fld>
            <a:endParaRPr lang="en-US"/>
          </a:p>
        </p:txBody>
      </p:sp>
    </p:spTree>
    <p:extLst>
      <p:ext uri="{BB962C8B-B14F-4D97-AF65-F5344CB8AC3E}">
        <p14:creationId xmlns:p14="http://schemas.microsoft.com/office/powerpoint/2010/main" val="4055144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1C757-7653-1AA3-BED1-5A28CD732C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31A0C8-CB98-D336-1696-C4D2CA1B20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7C65CE-C051-0BA5-528C-7EC6DE305C62}"/>
              </a:ext>
            </a:extLst>
          </p:cNvPr>
          <p:cNvSpPr>
            <a:spLocks noGrp="1"/>
          </p:cNvSpPr>
          <p:nvPr>
            <p:ph type="dt" sz="half" idx="10"/>
          </p:nvPr>
        </p:nvSpPr>
        <p:spPr/>
        <p:txBody>
          <a:bodyPr/>
          <a:lstStyle/>
          <a:p>
            <a:fld id="{018F2395-6A65-4AAB-B43D-060922C4CCD7}" type="datetime1">
              <a:rPr lang="en-US" smtClean="0"/>
              <a:t>5/24/2026</a:t>
            </a:fld>
            <a:endParaRPr lang="en-US"/>
          </a:p>
        </p:txBody>
      </p:sp>
      <p:sp>
        <p:nvSpPr>
          <p:cNvPr id="5" name="Footer Placeholder 4">
            <a:extLst>
              <a:ext uri="{FF2B5EF4-FFF2-40B4-BE49-F238E27FC236}">
                <a16:creationId xmlns:a16="http://schemas.microsoft.com/office/drawing/2014/main" id="{E13728C1-8760-BE38-38A5-C04F42CBF4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0D5DAE-D962-E0B1-610F-C84228984BC2}"/>
              </a:ext>
            </a:extLst>
          </p:cNvPr>
          <p:cNvSpPr>
            <a:spLocks noGrp="1"/>
          </p:cNvSpPr>
          <p:nvPr>
            <p:ph type="sldNum" sz="quarter" idx="12"/>
          </p:nvPr>
        </p:nvSpPr>
        <p:spPr/>
        <p:txBody>
          <a:bodyPr/>
          <a:lstStyle/>
          <a:p>
            <a:fld id="{D39BF864-7A39-40DA-B38E-6B0F4C7F839D}" type="slidenum">
              <a:rPr lang="en-US" smtClean="0"/>
              <a:t>‹#›</a:t>
            </a:fld>
            <a:endParaRPr lang="en-US"/>
          </a:p>
        </p:txBody>
      </p:sp>
    </p:spTree>
    <p:extLst>
      <p:ext uri="{BB962C8B-B14F-4D97-AF65-F5344CB8AC3E}">
        <p14:creationId xmlns:p14="http://schemas.microsoft.com/office/powerpoint/2010/main" val="186896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99B5D-FA5E-4F46-78CC-77ABB42906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E9B36F-5D46-66B6-AA88-F9B36E04ED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7AA99C-3F37-30E9-EC11-A21D5E3CC3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E4B2A7-27FF-3AA7-0815-43B0E223E494}"/>
              </a:ext>
            </a:extLst>
          </p:cNvPr>
          <p:cNvSpPr>
            <a:spLocks noGrp="1"/>
          </p:cNvSpPr>
          <p:nvPr>
            <p:ph type="dt" sz="half" idx="10"/>
          </p:nvPr>
        </p:nvSpPr>
        <p:spPr/>
        <p:txBody>
          <a:bodyPr/>
          <a:lstStyle/>
          <a:p>
            <a:fld id="{7AED7853-A4FB-4B79-9BBD-DDE1522E919F}" type="datetime1">
              <a:rPr lang="en-US" smtClean="0"/>
              <a:t>5/24/2026</a:t>
            </a:fld>
            <a:endParaRPr lang="en-US"/>
          </a:p>
        </p:txBody>
      </p:sp>
      <p:sp>
        <p:nvSpPr>
          <p:cNvPr id="6" name="Footer Placeholder 5">
            <a:extLst>
              <a:ext uri="{FF2B5EF4-FFF2-40B4-BE49-F238E27FC236}">
                <a16:creationId xmlns:a16="http://schemas.microsoft.com/office/drawing/2014/main" id="{8643A648-6C07-A0FF-C774-5596A1DC83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87F83C-F5C5-1FCC-E8FE-A24872CFEE18}"/>
              </a:ext>
            </a:extLst>
          </p:cNvPr>
          <p:cNvSpPr>
            <a:spLocks noGrp="1"/>
          </p:cNvSpPr>
          <p:nvPr>
            <p:ph type="sldNum" sz="quarter" idx="12"/>
          </p:nvPr>
        </p:nvSpPr>
        <p:spPr/>
        <p:txBody>
          <a:bodyPr/>
          <a:lstStyle/>
          <a:p>
            <a:fld id="{D39BF864-7A39-40DA-B38E-6B0F4C7F839D}" type="slidenum">
              <a:rPr lang="en-US" smtClean="0"/>
              <a:t>‹#›</a:t>
            </a:fld>
            <a:endParaRPr lang="en-US"/>
          </a:p>
        </p:txBody>
      </p:sp>
    </p:spTree>
    <p:extLst>
      <p:ext uri="{BB962C8B-B14F-4D97-AF65-F5344CB8AC3E}">
        <p14:creationId xmlns:p14="http://schemas.microsoft.com/office/powerpoint/2010/main" val="2509945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661E1-ED29-EF65-DD75-5D9775F37B7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87CFBE-A289-8160-9CC5-7364942153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F3C783-B290-741D-9B84-C78253660E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3128BF-3C49-7BC2-6583-2687F7AF7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BCFDAD-056C-3601-0839-F576672873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0F502B5-CBDF-2993-CAAE-6EFEB6E83FD9}"/>
              </a:ext>
            </a:extLst>
          </p:cNvPr>
          <p:cNvSpPr>
            <a:spLocks noGrp="1"/>
          </p:cNvSpPr>
          <p:nvPr>
            <p:ph type="dt" sz="half" idx="10"/>
          </p:nvPr>
        </p:nvSpPr>
        <p:spPr/>
        <p:txBody>
          <a:bodyPr/>
          <a:lstStyle/>
          <a:p>
            <a:fld id="{6F838A3B-0193-4E18-B4A2-0BA01D71ECC7}" type="datetime1">
              <a:rPr lang="en-US" smtClean="0"/>
              <a:t>5/24/2026</a:t>
            </a:fld>
            <a:endParaRPr lang="en-US"/>
          </a:p>
        </p:txBody>
      </p:sp>
      <p:sp>
        <p:nvSpPr>
          <p:cNvPr id="8" name="Footer Placeholder 7">
            <a:extLst>
              <a:ext uri="{FF2B5EF4-FFF2-40B4-BE49-F238E27FC236}">
                <a16:creationId xmlns:a16="http://schemas.microsoft.com/office/drawing/2014/main" id="{8C2CBE72-69C2-5BAB-A1A7-D5F09C619B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39750EA-BAD9-EE40-129C-6D87B9BA9E0B}"/>
              </a:ext>
            </a:extLst>
          </p:cNvPr>
          <p:cNvSpPr>
            <a:spLocks noGrp="1"/>
          </p:cNvSpPr>
          <p:nvPr>
            <p:ph type="sldNum" sz="quarter" idx="12"/>
          </p:nvPr>
        </p:nvSpPr>
        <p:spPr/>
        <p:txBody>
          <a:bodyPr/>
          <a:lstStyle/>
          <a:p>
            <a:fld id="{D39BF864-7A39-40DA-B38E-6B0F4C7F839D}" type="slidenum">
              <a:rPr lang="en-US" smtClean="0"/>
              <a:t>‹#›</a:t>
            </a:fld>
            <a:endParaRPr lang="en-US"/>
          </a:p>
        </p:txBody>
      </p:sp>
    </p:spTree>
    <p:extLst>
      <p:ext uri="{BB962C8B-B14F-4D97-AF65-F5344CB8AC3E}">
        <p14:creationId xmlns:p14="http://schemas.microsoft.com/office/powerpoint/2010/main" val="1934115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316F3-87A1-4634-EB29-C684C85381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4C5C81-4D4C-6443-0621-D1304CC8C1EB}"/>
              </a:ext>
            </a:extLst>
          </p:cNvPr>
          <p:cNvSpPr>
            <a:spLocks noGrp="1"/>
          </p:cNvSpPr>
          <p:nvPr>
            <p:ph type="dt" sz="half" idx="10"/>
          </p:nvPr>
        </p:nvSpPr>
        <p:spPr/>
        <p:txBody>
          <a:bodyPr/>
          <a:lstStyle/>
          <a:p>
            <a:fld id="{B362FE6E-8CA3-4494-93F7-7F07462AE76B}" type="datetime1">
              <a:rPr lang="en-US" smtClean="0"/>
              <a:t>5/24/2026</a:t>
            </a:fld>
            <a:endParaRPr lang="en-US"/>
          </a:p>
        </p:txBody>
      </p:sp>
      <p:sp>
        <p:nvSpPr>
          <p:cNvPr id="4" name="Footer Placeholder 3">
            <a:extLst>
              <a:ext uri="{FF2B5EF4-FFF2-40B4-BE49-F238E27FC236}">
                <a16:creationId xmlns:a16="http://schemas.microsoft.com/office/drawing/2014/main" id="{366E28BE-1491-AA0C-9B3D-1561DD889A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95401E6-68E9-E62B-7767-5B752B55AD51}"/>
              </a:ext>
            </a:extLst>
          </p:cNvPr>
          <p:cNvSpPr>
            <a:spLocks noGrp="1"/>
          </p:cNvSpPr>
          <p:nvPr>
            <p:ph type="sldNum" sz="quarter" idx="12"/>
          </p:nvPr>
        </p:nvSpPr>
        <p:spPr/>
        <p:txBody>
          <a:bodyPr/>
          <a:lstStyle/>
          <a:p>
            <a:fld id="{D39BF864-7A39-40DA-B38E-6B0F4C7F839D}" type="slidenum">
              <a:rPr lang="en-US" smtClean="0"/>
              <a:t>‹#›</a:t>
            </a:fld>
            <a:endParaRPr lang="en-US"/>
          </a:p>
        </p:txBody>
      </p:sp>
    </p:spTree>
    <p:extLst>
      <p:ext uri="{BB962C8B-B14F-4D97-AF65-F5344CB8AC3E}">
        <p14:creationId xmlns:p14="http://schemas.microsoft.com/office/powerpoint/2010/main" val="903105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72878A-2CBA-3231-3325-8B81FE95B12C}"/>
              </a:ext>
            </a:extLst>
          </p:cNvPr>
          <p:cNvSpPr>
            <a:spLocks noGrp="1"/>
          </p:cNvSpPr>
          <p:nvPr>
            <p:ph type="dt" sz="half" idx="10"/>
          </p:nvPr>
        </p:nvSpPr>
        <p:spPr/>
        <p:txBody>
          <a:bodyPr/>
          <a:lstStyle/>
          <a:p>
            <a:fld id="{389F453B-760B-4F06-8B28-2CA368847CE6}" type="datetime1">
              <a:rPr lang="en-US" smtClean="0"/>
              <a:t>5/24/2026</a:t>
            </a:fld>
            <a:endParaRPr lang="en-US"/>
          </a:p>
        </p:txBody>
      </p:sp>
      <p:sp>
        <p:nvSpPr>
          <p:cNvPr id="3" name="Footer Placeholder 2">
            <a:extLst>
              <a:ext uri="{FF2B5EF4-FFF2-40B4-BE49-F238E27FC236}">
                <a16:creationId xmlns:a16="http://schemas.microsoft.com/office/drawing/2014/main" id="{4593C3E9-902D-1598-855E-52252D70E8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133A3B-78CF-0807-2951-7E7D8775497D}"/>
              </a:ext>
            </a:extLst>
          </p:cNvPr>
          <p:cNvSpPr>
            <a:spLocks noGrp="1"/>
          </p:cNvSpPr>
          <p:nvPr>
            <p:ph type="sldNum" sz="quarter" idx="12"/>
          </p:nvPr>
        </p:nvSpPr>
        <p:spPr/>
        <p:txBody>
          <a:bodyPr/>
          <a:lstStyle/>
          <a:p>
            <a:fld id="{D39BF864-7A39-40DA-B38E-6B0F4C7F839D}" type="slidenum">
              <a:rPr lang="en-US" smtClean="0"/>
              <a:t>‹#›</a:t>
            </a:fld>
            <a:endParaRPr lang="en-US"/>
          </a:p>
        </p:txBody>
      </p:sp>
    </p:spTree>
    <p:extLst>
      <p:ext uri="{BB962C8B-B14F-4D97-AF65-F5344CB8AC3E}">
        <p14:creationId xmlns:p14="http://schemas.microsoft.com/office/powerpoint/2010/main" val="2556065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F2351-1A68-3E8B-C652-8A2F4B02EE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BC788B-9EB2-036C-B058-DB7281CD2F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2BDD94-0402-AFDD-30EC-3827103270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59139-CDC5-CE54-34E9-B5C08492CD1F}"/>
              </a:ext>
            </a:extLst>
          </p:cNvPr>
          <p:cNvSpPr>
            <a:spLocks noGrp="1"/>
          </p:cNvSpPr>
          <p:nvPr>
            <p:ph type="dt" sz="half" idx="10"/>
          </p:nvPr>
        </p:nvSpPr>
        <p:spPr/>
        <p:txBody>
          <a:bodyPr/>
          <a:lstStyle/>
          <a:p>
            <a:fld id="{8B17B102-DA70-4BB8-9FEE-758FFF508C87}" type="datetime1">
              <a:rPr lang="en-US" smtClean="0"/>
              <a:t>5/24/2026</a:t>
            </a:fld>
            <a:endParaRPr lang="en-US"/>
          </a:p>
        </p:txBody>
      </p:sp>
      <p:sp>
        <p:nvSpPr>
          <p:cNvPr id="6" name="Footer Placeholder 5">
            <a:extLst>
              <a:ext uri="{FF2B5EF4-FFF2-40B4-BE49-F238E27FC236}">
                <a16:creationId xmlns:a16="http://schemas.microsoft.com/office/drawing/2014/main" id="{9DD4010F-5BC6-E79C-402E-A20A237673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667603-CE80-D013-FDDE-D4C42F4CD9E0}"/>
              </a:ext>
            </a:extLst>
          </p:cNvPr>
          <p:cNvSpPr>
            <a:spLocks noGrp="1"/>
          </p:cNvSpPr>
          <p:nvPr>
            <p:ph type="sldNum" sz="quarter" idx="12"/>
          </p:nvPr>
        </p:nvSpPr>
        <p:spPr/>
        <p:txBody>
          <a:bodyPr/>
          <a:lstStyle/>
          <a:p>
            <a:fld id="{D39BF864-7A39-40DA-B38E-6B0F4C7F839D}" type="slidenum">
              <a:rPr lang="en-US" smtClean="0"/>
              <a:t>‹#›</a:t>
            </a:fld>
            <a:endParaRPr lang="en-US"/>
          </a:p>
        </p:txBody>
      </p:sp>
    </p:spTree>
    <p:extLst>
      <p:ext uri="{BB962C8B-B14F-4D97-AF65-F5344CB8AC3E}">
        <p14:creationId xmlns:p14="http://schemas.microsoft.com/office/powerpoint/2010/main" val="4213348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8F3DF-E756-391C-9276-D7F86050AC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5FCF57-DA97-E5D3-7944-C8A189C3A6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CBFAD4-7E79-B7A8-9E0F-535AC86AA9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7A1AF4-8261-9286-64FF-F165DBCB9706}"/>
              </a:ext>
            </a:extLst>
          </p:cNvPr>
          <p:cNvSpPr>
            <a:spLocks noGrp="1"/>
          </p:cNvSpPr>
          <p:nvPr>
            <p:ph type="dt" sz="half" idx="10"/>
          </p:nvPr>
        </p:nvSpPr>
        <p:spPr/>
        <p:txBody>
          <a:bodyPr/>
          <a:lstStyle/>
          <a:p>
            <a:fld id="{2FE14EB1-F3E9-4F4F-BFE3-9306E2AC9D0B}" type="datetime1">
              <a:rPr lang="en-US" smtClean="0"/>
              <a:t>5/24/2026</a:t>
            </a:fld>
            <a:endParaRPr lang="en-US"/>
          </a:p>
        </p:txBody>
      </p:sp>
      <p:sp>
        <p:nvSpPr>
          <p:cNvPr id="6" name="Footer Placeholder 5">
            <a:extLst>
              <a:ext uri="{FF2B5EF4-FFF2-40B4-BE49-F238E27FC236}">
                <a16:creationId xmlns:a16="http://schemas.microsoft.com/office/drawing/2014/main" id="{ED30123A-A387-1ABB-AD43-C894B79142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BB98B7-76D1-883C-4AB5-D48728ADBB6B}"/>
              </a:ext>
            </a:extLst>
          </p:cNvPr>
          <p:cNvSpPr>
            <a:spLocks noGrp="1"/>
          </p:cNvSpPr>
          <p:nvPr>
            <p:ph type="sldNum" sz="quarter" idx="12"/>
          </p:nvPr>
        </p:nvSpPr>
        <p:spPr/>
        <p:txBody>
          <a:bodyPr/>
          <a:lstStyle/>
          <a:p>
            <a:fld id="{D39BF864-7A39-40DA-B38E-6B0F4C7F839D}" type="slidenum">
              <a:rPr lang="en-US" smtClean="0"/>
              <a:t>‹#›</a:t>
            </a:fld>
            <a:endParaRPr lang="en-US"/>
          </a:p>
        </p:txBody>
      </p:sp>
    </p:spTree>
    <p:extLst>
      <p:ext uri="{BB962C8B-B14F-4D97-AF65-F5344CB8AC3E}">
        <p14:creationId xmlns:p14="http://schemas.microsoft.com/office/powerpoint/2010/main" val="2496901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D6544-7AC7-02A6-AE8E-CD4608B087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D7E977A-74A5-DE83-5257-475C5B4DF3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697B87-8080-7EC2-73E8-F0C77CE1882F}"/>
              </a:ext>
            </a:extLst>
          </p:cNvPr>
          <p:cNvSpPr>
            <a:spLocks noGrp="1"/>
          </p:cNvSpPr>
          <p:nvPr>
            <p:ph type="dt" sz="half" idx="10"/>
          </p:nvPr>
        </p:nvSpPr>
        <p:spPr/>
        <p:txBody>
          <a:bodyPr/>
          <a:lstStyle/>
          <a:p>
            <a:fld id="{B9025F9D-86C8-43C3-B0D8-D928ECC6D524}" type="datetime1">
              <a:rPr lang="en-US" smtClean="0"/>
              <a:t>5/24/2026</a:t>
            </a:fld>
            <a:endParaRPr lang="en-US"/>
          </a:p>
        </p:txBody>
      </p:sp>
      <p:sp>
        <p:nvSpPr>
          <p:cNvPr id="5" name="Footer Placeholder 4">
            <a:extLst>
              <a:ext uri="{FF2B5EF4-FFF2-40B4-BE49-F238E27FC236}">
                <a16:creationId xmlns:a16="http://schemas.microsoft.com/office/drawing/2014/main" id="{9CB25DEE-AD3D-3723-B81B-3B793A195C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993BAE-7473-5ECF-C11D-A770C7D74AED}"/>
              </a:ext>
            </a:extLst>
          </p:cNvPr>
          <p:cNvSpPr>
            <a:spLocks noGrp="1"/>
          </p:cNvSpPr>
          <p:nvPr>
            <p:ph type="sldNum" sz="quarter" idx="12"/>
          </p:nvPr>
        </p:nvSpPr>
        <p:spPr/>
        <p:txBody>
          <a:bodyPr/>
          <a:lstStyle/>
          <a:p>
            <a:fld id="{D39BF864-7A39-40DA-B38E-6B0F4C7F839D}" type="slidenum">
              <a:rPr lang="en-US" smtClean="0"/>
              <a:t>‹#›</a:t>
            </a:fld>
            <a:endParaRPr lang="en-US"/>
          </a:p>
        </p:txBody>
      </p:sp>
    </p:spTree>
    <p:extLst>
      <p:ext uri="{BB962C8B-B14F-4D97-AF65-F5344CB8AC3E}">
        <p14:creationId xmlns:p14="http://schemas.microsoft.com/office/powerpoint/2010/main" val="2509115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CFB2E0-A6A0-7F20-21BC-E1C92C9CDF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5DF0BF-52DB-6B05-34E2-61FCCE7670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B5F81-EEE7-473A-CE7D-8A60421E93E4}"/>
              </a:ext>
            </a:extLst>
          </p:cNvPr>
          <p:cNvSpPr>
            <a:spLocks noGrp="1"/>
          </p:cNvSpPr>
          <p:nvPr>
            <p:ph type="dt" sz="half" idx="10"/>
          </p:nvPr>
        </p:nvSpPr>
        <p:spPr/>
        <p:txBody>
          <a:bodyPr/>
          <a:lstStyle/>
          <a:p>
            <a:fld id="{762F2993-4B47-403D-9F24-14745FB00340}" type="datetime1">
              <a:rPr lang="en-US" smtClean="0"/>
              <a:t>5/24/2026</a:t>
            </a:fld>
            <a:endParaRPr lang="en-US"/>
          </a:p>
        </p:txBody>
      </p:sp>
      <p:sp>
        <p:nvSpPr>
          <p:cNvPr id="5" name="Footer Placeholder 4">
            <a:extLst>
              <a:ext uri="{FF2B5EF4-FFF2-40B4-BE49-F238E27FC236}">
                <a16:creationId xmlns:a16="http://schemas.microsoft.com/office/drawing/2014/main" id="{5F57EBDD-B323-42B5-70D0-C107DCCCC9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287E5E-59E5-CD3D-77D5-2560D65759C4}"/>
              </a:ext>
            </a:extLst>
          </p:cNvPr>
          <p:cNvSpPr>
            <a:spLocks noGrp="1"/>
          </p:cNvSpPr>
          <p:nvPr>
            <p:ph type="sldNum" sz="quarter" idx="12"/>
          </p:nvPr>
        </p:nvSpPr>
        <p:spPr/>
        <p:txBody>
          <a:bodyPr/>
          <a:lstStyle/>
          <a:p>
            <a:fld id="{D39BF864-7A39-40DA-B38E-6B0F4C7F839D}" type="slidenum">
              <a:rPr lang="en-US" smtClean="0"/>
              <a:t>‹#›</a:t>
            </a:fld>
            <a:endParaRPr lang="en-US"/>
          </a:p>
        </p:txBody>
      </p:sp>
    </p:spTree>
    <p:extLst>
      <p:ext uri="{BB962C8B-B14F-4D97-AF65-F5344CB8AC3E}">
        <p14:creationId xmlns:p14="http://schemas.microsoft.com/office/powerpoint/2010/main" val="349936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EC6876-D43C-08A5-154B-F4FA26E55C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99FF48-8494-7CBC-C8C8-1805F9CC57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CB4D63-3ADF-80DA-FFDB-3030820191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A5A3BD-E8C9-4BBD-B934-5D1AAB1FA851}" type="datetime1">
              <a:rPr lang="en-US" smtClean="0"/>
              <a:t>5/24/2026</a:t>
            </a:fld>
            <a:endParaRPr lang="en-US"/>
          </a:p>
        </p:txBody>
      </p:sp>
      <p:sp>
        <p:nvSpPr>
          <p:cNvPr id="5" name="Footer Placeholder 4">
            <a:extLst>
              <a:ext uri="{FF2B5EF4-FFF2-40B4-BE49-F238E27FC236}">
                <a16:creationId xmlns:a16="http://schemas.microsoft.com/office/drawing/2014/main" id="{1E2CE086-AB3D-BEA3-9343-9079FEDC97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A6BD5C4-2A98-876A-F210-1133C2AE04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9BF864-7A39-40DA-B38E-6B0F4C7F839D}" type="slidenum">
              <a:rPr lang="en-US" smtClean="0"/>
              <a:t>‹#›</a:t>
            </a:fld>
            <a:endParaRPr lang="en-US"/>
          </a:p>
        </p:txBody>
      </p:sp>
    </p:spTree>
    <p:extLst>
      <p:ext uri="{BB962C8B-B14F-4D97-AF65-F5344CB8AC3E}">
        <p14:creationId xmlns:p14="http://schemas.microsoft.com/office/powerpoint/2010/main" val="136523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https://crystalpng.com/product/air-university-logo/"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375B92"/>
            </a:gs>
            <a:gs pos="82500">
              <a:srgbClr val="26538F"/>
            </a:gs>
            <a:gs pos="65000">
              <a:srgbClr val="2B5590"/>
            </a:gs>
            <a:gs pos="100000">
              <a:srgbClr val="28558F"/>
            </a:gs>
          </a:gsLst>
          <a:lin ang="5400000" scaled="1"/>
        </a:gra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0739A0-7829-B6B9-3B21-763958909BF8}"/>
              </a:ext>
            </a:extLst>
          </p:cNvPr>
          <p:cNvPicPr>
            <a:picLocks noChangeAspect="1"/>
          </p:cNvPicPr>
          <p:nvPr/>
        </p:nvPicPr>
        <p:blipFill>
          <a:blip r:embed="rId2">
            <a:alphaModFix amt="85000"/>
            <a:extLst>
              <a:ext uri="{BEBA8EAE-BF5A-486C-A8C5-ECC9F3942E4B}">
                <a14:imgProps xmlns:a14="http://schemas.microsoft.com/office/drawing/2010/main">
                  <a14:imgLayer r:embed="rId3">
                    <a14:imgEffect>
                      <a14:colorTemperature colorTemp="9217"/>
                    </a14:imgEffect>
                    <a14:imgEffect>
                      <a14:saturation sat="147000"/>
                    </a14:imgEffect>
                  </a14:imgLayer>
                </a14:imgProps>
              </a:ext>
            </a:extLst>
          </a:blip>
          <a:stretch>
            <a:fillRect/>
          </a:stretch>
        </p:blipFill>
        <p:spPr>
          <a:xfrm>
            <a:off x="699566" y="0"/>
            <a:ext cx="12192000" cy="685799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
        <p:nvSpPr>
          <p:cNvPr id="2" name="Slide Number Placeholder 1">
            <a:extLst>
              <a:ext uri="{FF2B5EF4-FFF2-40B4-BE49-F238E27FC236}">
                <a16:creationId xmlns:a16="http://schemas.microsoft.com/office/drawing/2014/main" id="{E67F942B-C9F4-8E0C-2712-A28751882031}"/>
              </a:ext>
            </a:extLst>
          </p:cNvPr>
          <p:cNvSpPr>
            <a:spLocks noGrp="1"/>
          </p:cNvSpPr>
          <p:nvPr>
            <p:ph type="sldNum" sz="quarter" idx="12"/>
          </p:nvPr>
        </p:nvSpPr>
        <p:spPr/>
        <p:txBody>
          <a:bodyPr/>
          <a:lstStyle/>
          <a:p>
            <a:fld id="{D39BF864-7A39-40DA-B38E-6B0F4C7F839D}" type="slidenum">
              <a:rPr lang="en-US" smtClean="0">
                <a:solidFill>
                  <a:schemeClr val="bg1"/>
                </a:solidFill>
              </a:rPr>
              <a:t>1</a:t>
            </a:fld>
            <a:endParaRPr lang="en-US" dirty="0">
              <a:solidFill>
                <a:schemeClr val="bg1"/>
              </a:solidFill>
            </a:endParaRPr>
          </a:p>
        </p:txBody>
      </p:sp>
      <p:sp>
        <p:nvSpPr>
          <p:cNvPr id="3" name="Google Shape;9;p2">
            <a:extLst>
              <a:ext uri="{FF2B5EF4-FFF2-40B4-BE49-F238E27FC236}">
                <a16:creationId xmlns:a16="http://schemas.microsoft.com/office/drawing/2014/main" id="{4891CF85-C64F-7C4F-6341-60CBFA1388F8}"/>
              </a:ext>
            </a:extLst>
          </p:cNvPr>
          <p:cNvSpPr/>
          <p:nvPr/>
        </p:nvSpPr>
        <p:spPr>
          <a:xfrm flipH="1">
            <a:off x="0" y="2"/>
            <a:ext cx="5396436" cy="6857998"/>
          </a:xfrm>
          <a:custGeom>
            <a:avLst/>
            <a:gdLst/>
            <a:ahLst/>
            <a:cxnLst/>
            <a:rect l="l" t="t" r="r" b="b"/>
            <a:pathLst>
              <a:path w="163786" h="207623" extrusionOk="0">
                <a:moveTo>
                  <a:pt x="0" y="0"/>
                </a:moveTo>
                <a:lnTo>
                  <a:pt x="26895" y="207623"/>
                </a:lnTo>
                <a:lnTo>
                  <a:pt x="163786" y="207623"/>
                </a:lnTo>
                <a:lnTo>
                  <a:pt x="163786" y="538"/>
                </a:lnTo>
                <a:close/>
              </a:path>
            </a:pathLst>
          </a:custGeom>
          <a:solidFill>
            <a:srgbClr val="000000">
              <a:alpha val="74902"/>
            </a:srgbClr>
          </a:solidFill>
          <a:ln>
            <a:solidFill>
              <a:schemeClr val="accent1"/>
            </a:solidFill>
          </a:ln>
        </p:spPr>
        <p:txBody>
          <a:bodyPr/>
          <a:lstStyle/>
          <a:p>
            <a:endParaRPr lang="en-US" dirty="0"/>
          </a:p>
        </p:txBody>
      </p:sp>
      <p:pic>
        <p:nvPicPr>
          <p:cNvPr id="5" name="Picture 4" descr="A blue logo with a black background&#10;&#10;AI-generated content may be incorrect.">
            <a:extLst>
              <a:ext uri="{FF2B5EF4-FFF2-40B4-BE49-F238E27FC236}">
                <a16:creationId xmlns:a16="http://schemas.microsoft.com/office/drawing/2014/main" id="{3123C0B3-0947-CA5B-5E81-4768D643E046}"/>
              </a:ext>
            </a:extLst>
          </p:cNvPr>
          <p:cNvPicPr>
            <a:picLocks noChangeAspect="1"/>
          </p:cNvPicPr>
          <p:nvPr/>
        </p:nvPicPr>
        <p:blipFill>
          <a:blip r:embed="rId4">
            <a:biLevel thresh="25000"/>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5316" y="-65522"/>
            <a:ext cx="1800000" cy="1800000"/>
          </a:xfrm>
          <a:prstGeom prst="rect">
            <a:avLst/>
          </a:prstGeom>
        </p:spPr>
      </p:pic>
      <p:sp>
        <p:nvSpPr>
          <p:cNvPr id="7" name="TextBox 6">
            <a:extLst>
              <a:ext uri="{FF2B5EF4-FFF2-40B4-BE49-F238E27FC236}">
                <a16:creationId xmlns:a16="http://schemas.microsoft.com/office/drawing/2014/main" id="{3857749A-D8E2-6168-13D3-2005CF515D28}"/>
              </a:ext>
            </a:extLst>
          </p:cNvPr>
          <p:cNvSpPr txBox="1"/>
          <p:nvPr/>
        </p:nvSpPr>
        <p:spPr>
          <a:xfrm>
            <a:off x="65316" y="2498271"/>
            <a:ext cx="4655081" cy="2123658"/>
          </a:xfrm>
          <a:prstGeom prst="rect">
            <a:avLst/>
          </a:prstGeom>
          <a:noFill/>
        </p:spPr>
        <p:txBody>
          <a:bodyPr wrap="square">
            <a:spAutoFit/>
          </a:bodyPr>
          <a:lstStyle/>
          <a:p>
            <a:pPr algn="ctr"/>
            <a:r>
              <a:rPr lang="en-US" sz="4400" dirty="0">
                <a:solidFill>
                  <a:schemeClr val="bg1"/>
                </a:solidFill>
                <a:latin typeface="Arial Black" panose="020B0A04020102020204" pitchFamily="34" charset="0"/>
              </a:rPr>
              <a:t>Analysis of NetSupport RAT</a:t>
            </a:r>
          </a:p>
        </p:txBody>
      </p:sp>
    </p:spTree>
    <p:extLst>
      <p:ext uri="{BB962C8B-B14F-4D97-AF65-F5344CB8AC3E}">
        <p14:creationId xmlns:p14="http://schemas.microsoft.com/office/powerpoint/2010/main" val="3815361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4;p15">
            <a:extLst>
              <a:ext uri="{FF2B5EF4-FFF2-40B4-BE49-F238E27FC236}">
                <a16:creationId xmlns:a16="http://schemas.microsoft.com/office/drawing/2014/main" id="{188B26FE-8B72-FD21-8EC3-81F67D374316}"/>
              </a:ext>
            </a:extLst>
          </p:cNvPr>
          <p:cNvSpPr/>
          <p:nvPr/>
        </p:nvSpPr>
        <p:spPr>
          <a:xfrm>
            <a:off x="-125343" y="950910"/>
            <a:ext cx="12390230" cy="5907090"/>
          </a:xfrm>
          <a:custGeom>
            <a:avLst/>
            <a:gdLst/>
            <a:ahLst/>
            <a:cxnLst/>
            <a:rect l="l" t="t" r="r" b="b"/>
            <a:pathLst>
              <a:path w="370075" h="164335" extrusionOk="0">
                <a:moveTo>
                  <a:pt x="2058" y="32147"/>
                </a:moveTo>
                <a:lnTo>
                  <a:pt x="186709" y="0"/>
                </a:lnTo>
                <a:lnTo>
                  <a:pt x="370075" y="32147"/>
                </a:lnTo>
                <a:lnTo>
                  <a:pt x="370075" y="164335"/>
                </a:lnTo>
                <a:lnTo>
                  <a:pt x="0" y="164335"/>
                </a:lnTo>
                <a:close/>
              </a:path>
            </a:pathLst>
          </a:custGeom>
          <a:solidFill>
            <a:schemeClr val="dk1"/>
          </a:solidFill>
          <a:ln>
            <a:noFill/>
          </a:ln>
        </p:spPr>
        <p:txBody>
          <a:bodyPr/>
          <a:lstStyle/>
          <a:p>
            <a:endParaRPr lang="en-US" dirty="0"/>
          </a:p>
        </p:txBody>
      </p:sp>
      <p:sp>
        <p:nvSpPr>
          <p:cNvPr id="2" name="Title 1">
            <a:extLst>
              <a:ext uri="{FF2B5EF4-FFF2-40B4-BE49-F238E27FC236}">
                <a16:creationId xmlns:a16="http://schemas.microsoft.com/office/drawing/2014/main" id="{C0CDFDBA-5B8D-B65A-0DC7-2F9DD3ACBCDE}"/>
              </a:ext>
            </a:extLst>
          </p:cNvPr>
          <p:cNvSpPr>
            <a:spLocks noGrp="1"/>
          </p:cNvSpPr>
          <p:nvPr>
            <p:ph type="title"/>
          </p:nvPr>
        </p:nvSpPr>
        <p:spPr>
          <a:xfrm>
            <a:off x="831850" y="1709738"/>
            <a:ext cx="10173607" cy="2852737"/>
          </a:xfrm>
        </p:spPr>
        <p:txBody>
          <a:bodyPr>
            <a:noAutofit/>
          </a:bodyPr>
          <a:lstStyle/>
          <a:p>
            <a:pPr algn="ctr"/>
            <a:r>
              <a:rPr lang="en-US" sz="4000" b="1" dirty="0">
                <a:ln w="3175">
                  <a:noFill/>
                </a:ln>
                <a:solidFill>
                  <a:schemeClr val="bg1"/>
                </a:solidFill>
                <a:latin typeface="Arial  "/>
              </a:rPr>
              <a:t>Investigator: </a:t>
            </a:r>
            <a:br>
              <a:rPr lang="en-US" sz="4000" b="1" dirty="0">
                <a:ln w="3175">
                  <a:noFill/>
                </a:ln>
                <a:solidFill>
                  <a:schemeClr val="bg1"/>
                </a:solidFill>
                <a:latin typeface="Arial  "/>
              </a:rPr>
            </a:br>
            <a:r>
              <a:rPr lang="en-US" sz="4000" dirty="0">
                <a:ln w="3175">
                  <a:noFill/>
                </a:ln>
                <a:solidFill>
                  <a:schemeClr val="bg1"/>
                </a:solidFill>
                <a:latin typeface="Arial  "/>
              </a:rPr>
              <a:t>Hussain Ali</a:t>
            </a:r>
          </a:p>
        </p:txBody>
      </p:sp>
      <p:sp>
        <p:nvSpPr>
          <p:cNvPr id="3" name="Text Placeholder 2">
            <a:extLst>
              <a:ext uri="{FF2B5EF4-FFF2-40B4-BE49-F238E27FC236}">
                <a16:creationId xmlns:a16="http://schemas.microsoft.com/office/drawing/2014/main" id="{5BD20FAB-E4F1-0262-2497-336A4A55ECFF}"/>
              </a:ext>
            </a:extLst>
          </p:cNvPr>
          <p:cNvSpPr>
            <a:spLocks noGrp="1"/>
          </p:cNvSpPr>
          <p:nvPr>
            <p:ph type="body" idx="1"/>
          </p:nvPr>
        </p:nvSpPr>
        <p:spPr>
          <a:xfrm>
            <a:off x="660853" y="4719638"/>
            <a:ext cx="10515600" cy="1500187"/>
          </a:xfrm>
        </p:spPr>
        <p:txBody>
          <a:bodyPr/>
          <a:lstStyle/>
          <a:p>
            <a:pPr algn="ctr">
              <a:lnSpc>
                <a:spcPct val="150000"/>
              </a:lnSpc>
            </a:pPr>
            <a:r>
              <a:rPr lang="en-US" dirty="0">
                <a:solidFill>
                  <a:schemeClr val="bg1"/>
                </a:solidFill>
                <a:latin typeface="Arial  "/>
              </a:rPr>
              <a:t>Group: 15</a:t>
            </a:r>
            <a:br>
              <a:rPr lang="en-US" dirty="0">
                <a:solidFill>
                  <a:schemeClr val="bg1"/>
                </a:solidFill>
                <a:latin typeface="Arial  "/>
              </a:rPr>
            </a:br>
            <a:r>
              <a:rPr lang="en-US" dirty="0">
                <a:solidFill>
                  <a:schemeClr val="bg1"/>
                </a:solidFill>
                <a:latin typeface="Arial  "/>
              </a:rPr>
              <a:t>Class: BSCYSev-F-23-A</a:t>
            </a:r>
          </a:p>
        </p:txBody>
      </p:sp>
      <p:sp>
        <p:nvSpPr>
          <p:cNvPr id="4" name="Slide Number Placeholder 3">
            <a:extLst>
              <a:ext uri="{FF2B5EF4-FFF2-40B4-BE49-F238E27FC236}">
                <a16:creationId xmlns:a16="http://schemas.microsoft.com/office/drawing/2014/main" id="{3A4376D1-F69E-50F9-90C8-452A40633CA6}"/>
              </a:ext>
            </a:extLst>
          </p:cNvPr>
          <p:cNvSpPr>
            <a:spLocks noGrp="1"/>
          </p:cNvSpPr>
          <p:nvPr>
            <p:ph type="sldNum" sz="quarter" idx="12"/>
          </p:nvPr>
        </p:nvSpPr>
        <p:spPr/>
        <p:txBody>
          <a:bodyPr/>
          <a:lstStyle/>
          <a:p>
            <a:fld id="{D39BF864-7A39-40DA-B38E-6B0F4C7F839D}" type="slidenum">
              <a:rPr lang="en-US" smtClean="0">
                <a:solidFill>
                  <a:schemeClr val="bg1"/>
                </a:solidFill>
              </a:rPr>
              <a:t>2</a:t>
            </a:fld>
            <a:endParaRPr lang="en-US" dirty="0">
              <a:solidFill>
                <a:schemeClr val="bg1"/>
              </a:solidFill>
            </a:endParaRPr>
          </a:p>
        </p:txBody>
      </p:sp>
    </p:spTree>
    <p:extLst>
      <p:ext uri="{BB962C8B-B14F-4D97-AF65-F5344CB8AC3E}">
        <p14:creationId xmlns:p14="http://schemas.microsoft.com/office/powerpoint/2010/main" val="3044142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6DC525-0428-59C2-5E1E-C1E513CBE3FA}"/>
              </a:ext>
            </a:extLst>
          </p:cNvPr>
          <p:cNvSpPr>
            <a:spLocks noGrp="1"/>
          </p:cNvSpPr>
          <p:nvPr>
            <p:ph type="sldNum" sz="quarter" idx="12"/>
          </p:nvPr>
        </p:nvSpPr>
        <p:spPr/>
        <p:txBody>
          <a:bodyPr/>
          <a:lstStyle/>
          <a:p>
            <a:fld id="{D39BF864-7A39-40DA-B38E-6B0F4C7F839D}" type="slidenum">
              <a:rPr lang="en-US" smtClean="0">
                <a:solidFill>
                  <a:schemeClr val="tx1"/>
                </a:solidFill>
              </a:rPr>
              <a:t>3</a:t>
            </a:fld>
            <a:endParaRPr lang="en-US" dirty="0">
              <a:solidFill>
                <a:schemeClr val="tx1"/>
              </a:solidFill>
            </a:endParaRPr>
          </a:p>
        </p:txBody>
      </p:sp>
      <p:grpSp>
        <p:nvGrpSpPr>
          <p:cNvPr id="4" name="Google Shape;98;p16">
            <a:extLst>
              <a:ext uri="{FF2B5EF4-FFF2-40B4-BE49-F238E27FC236}">
                <a16:creationId xmlns:a16="http://schemas.microsoft.com/office/drawing/2014/main" id="{15EA54E4-B699-FCDA-9589-AC5FEA974E40}"/>
              </a:ext>
            </a:extLst>
          </p:cNvPr>
          <p:cNvGrpSpPr/>
          <p:nvPr/>
        </p:nvGrpSpPr>
        <p:grpSpPr>
          <a:xfrm>
            <a:off x="0" y="-881742"/>
            <a:ext cx="12192002" cy="2723214"/>
            <a:chOff x="0" y="-40481"/>
            <a:chExt cx="9144000" cy="1384272"/>
          </a:xfrm>
        </p:grpSpPr>
        <p:sp>
          <p:nvSpPr>
            <p:cNvPr id="5" name="Google Shape;99;p16">
              <a:extLst>
                <a:ext uri="{FF2B5EF4-FFF2-40B4-BE49-F238E27FC236}">
                  <a16:creationId xmlns:a16="http://schemas.microsoft.com/office/drawing/2014/main" id="{9DF7CCBF-B31D-7461-AF7D-1B762D44EF6E}"/>
                </a:ext>
              </a:extLst>
            </p:cNvPr>
            <p:cNvSpPr/>
            <p:nvPr/>
          </p:nvSpPr>
          <p:spPr>
            <a:xfrm rot="10800000">
              <a:off x="1200" y="799890"/>
              <a:ext cx="9142800" cy="543900"/>
            </a:xfrm>
            <a:prstGeom prst="triangle">
              <a:avLst>
                <a:gd name="adj" fmla="val 50000"/>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0;p16">
              <a:extLst>
                <a:ext uri="{FF2B5EF4-FFF2-40B4-BE49-F238E27FC236}">
                  <a16:creationId xmlns:a16="http://schemas.microsoft.com/office/drawing/2014/main" id="{4C3AE222-A6EA-8764-04E4-97FC85A18DB1}"/>
                </a:ext>
              </a:extLst>
            </p:cNvPr>
            <p:cNvSpPr/>
            <p:nvPr/>
          </p:nvSpPr>
          <p:spPr>
            <a:xfrm>
              <a:off x="0" y="-40481"/>
              <a:ext cx="9144000" cy="856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126;p23">
            <a:extLst>
              <a:ext uri="{FF2B5EF4-FFF2-40B4-BE49-F238E27FC236}">
                <a16:creationId xmlns:a16="http://schemas.microsoft.com/office/drawing/2014/main" id="{D2DF4F97-4456-706B-56D5-4FE534A5446D}"/>
              </a:ext>
            </a:extLst>
          </p:cNvPr>
          <p:cNvSpPr txBox="1">
            <a:spLocks/>
          </p:cNvSpPr>
          <p:nvPr/>
        </p:nvSpPr>
        <p:spPr>
          <a:xfrm>
            <a:off x="4354285" y="426992"/>
            <a:ext cx="3483430" cy="688975"/>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sz="4000" b="1">
                <a:solidFill>
                  <a:schemeClr val="bg1"/>
                </a:solidFill>
                <a:latin typeface="Arial Black" panose="020B0A04020102020204" pitchFamily="34" charset="0"/>
              </a:rPr>
              <a:t>Description</a:t>
            </a:r>
            <a:endParaRPr lang="en-US" sz="4000" b="1" dirty="0">
              <a:solidFill>
                <a:schemeClr val="bg1"/>
              </a:solidFill>
              <a:latin typeface="Arial Black" panose="020B0A04020102020204" pitchFamily="34" charset="0"/>
            </a:endParaRPr>
          </a:p>
        </p:txBody>
      </p:sp>
      <p:sp>
        <p:nvSpPr>
          <p:cNvPr id="8" name="Text Placeholder 2">
            <a:extLst>
              <a:ext uri="{FF2B5EF4-FFF2-40B4-BE49-F238E27FC236}">
                <a16:creationId xmlns:a16="http://schemas.microsoft.com/office/drawing/2014/main" id="{6E4EF3CD-4473-E27B-C57B-9958658A62B6}"/>
              </a:ext>
            </a:extLst>
          </p:cNvPr>
          <p:cNvSpPr txBox="1">
            <a:spLocks/>
          </p:cNvSpPr>
          <p:nvPr/>
        </p:nvSpPr>
        <p:spPr>
          <a:xfrm>
            <a:off x="598714" y="2185959"/>
            <a:ext cx="10994572" cy="4170391"/>
          </a:xfrm>
          <a:prstGeom prst="rect">
            <a:avLst/>
          </a:prstGeom>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0">
              <a:lnSpc>
                <a:spcPct val="150000"/>
              </a:lnSpc>
              <a:buFont typeface="Arial" panose="020B0604020202020204" pitchFamily="34" charset="0"/>
              <a:buNone/>
            </a:pPr>
            <a:r>
              <a:rPr lang="en-US" sz="2400" dirty="0">
                <a:latin typeface="Arial  "/>
                <a:ea typeface="Times New Roman" panose="02020603050405020304" pitchFamily="18" charset="0"/>
                <a:cs typeface="Arial" panose="020B0604020202020204" pitchFamily="34" charset="0"/>
              </a:rPr>
              <a:t>This is the analysis of a malware sample identified as </a:t>
            </a:r>
            <a:r>
              <a:rPr lang="en-US" sz="2400" b="1" dirty="0">
                <a:latin typeface="Arial  "/>
                <a:ea typeface="Times New Roman" panose="02020603050405020304" pitchFamily="18" charset="0"/>
                <a:cs typeface="Arial" panose="020B0604020202020204" pitchFamily="34" charset="0"/>
              </a:rPr>
              <a:t>NetSupport RAT</a:t>
            </a:r>
            <a:r>
              <a:rPr lang="en-US" sz="2400" dirty="0">
                <a:latin typeface="Arial  "/>
                <a:ea typeface="Times New Roman" panose="02020603050405020304" pitchFamily="18" charset="0"/>
                <a:cs typeface="Arial" panose="020B0604020202020204" pitchFamily="34" charset="0"/>
              </a:rPr>
              <a:t>, a legitimate remote access tool often repurposed by threat actors for unauthorized access and control. The sample communicates with suspicious domains, drops multiple DLLs and EXEs, and attempts to establish persistent command and control (C2) via known malicious infrastructure. This campaign aligns with indicators observed in </a:t>
            </a:r>
            <a:r>
              <a:rPr lang="en-US" sz="2400" i="1" dirty="0">
                <a:latin typeface="Arial  "/>
                <a:ea typeface="Times New Roman" panose="02020603050405020304" pitchFamily="18" charset="0"/>
                <a:cs typeface="Arial" panose="020B0604020202020204" pitchFamily="34" charset="0"/>
              </a:rPr>
              <a:t>Q1 2025 </a:t>
            </a:r>
            <a:r>
              <a:rPr lang="en-US" sz="2400" dirty="0">
                <a:latin typeface="Arial  "/>
                <a:ea typeface="Times New Roman" panose="02020603050405020304" pitchFamily="18" charset="0"/>
                <a:cs typeface="Arial" panose="020B0604020202020204" pitchFamily="34" charset="0"/>
              </a:rPr>
              <a:t>as reported by security research outlets such as </a:t>
            </a:r>
            <a:r>
              <a:rPr lang="en-US" sz="2400" i="1" dirty="0">
                <a:latin typeface="Arial  "/>
                <a:ea typeface="Times New Roman" panose="02020603050405020304" pitchFamily="18" charset="0"/>
                <a:cs typeface="Arial" panose="020B0604020202020204" pitchFamily="34" charset="0"/>
              </a:rPr>
              <a:t>The Hacker News</a:t>
            </a:r>
            <a:r>
              <a:rPr lang="en-US" sz="2400" dirty="0">
                <a:latin typeface="Arial  "/>
                <a:ea typeface="Times New Roman" panose="02020603050405020304" pitchFamily="18" charset="0"/>
                <a:cs typeface="Arial" panose="020B0604020202020204" pitchFamily="34" charset="0"/>
              </a:rPr>
              <a:t>.</a:t>
            </a:r>
          </a:p>
          <a:p>
            <a:pPr>
              <a:lnSpc>
                <a:spcPct val="100000"/>
              </a:lnSpc>
            </a:pPr>
            <a:endParaRPr lang="en-US" sz="3200" dirty="0">
              <a:latin typeface="Arial  "/>
              <a:cs typeface="Arial" panose="020B0604020202020204" pitchFamily="34" charset="0"/>
            </a:endParaRPr>
          </a:p>
        </p:txBody>
      </p:sp>
    </p:spTree>
    <p:extLst>
      <p:ext uri="{BB962C8B-B14F-4D97-AF65-F5344CB8AC3E}">
        <p14:creationId xmlns:p14="http://schemas.microsoft.com/office/powerpoint/2010/main" val="2810978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97EC6D-C5AF-FF86-83B0-F5DC490A5FC0}"/>
              </a:ext>
            </a:extLst>
          </p:cNvPr>
          <p:cNvSpPr>
            <a:spLocks noGrp="1"/>
          </p:cNvSpPr>
          <p:nvPr>
            <p:ph type="sldNum" sz="quarter" idx="12"/>
          </p:nvPr>
        </p:nvSpPr>
        <p:spPr/>
        <p:txBody>
          <a:bodyPr/>
          <a:lstStyle/>
          <a:p>
            <a:fld id="{D39BF864-7A39-40DA-B38E-6B0F4C7F839D}" type="slidenum">
              <a:rPr lang="en-US" smtClean="0">
                <a:solidFill>
                  <a:schemeClr val="tx1"/>
                </a:solidFill>
              </a:rPr>
              <a:t>4</a:t>
            </a:fld>
            <a:endParaRPr lang="en-US" dirty="0">
              <a:solidFill>
                <a:schemeClr val="tx1"/>
              </a:solidFill>
            </a:endParaRPr>
          </a:p>
        </p:txBody>
      </p:sp>
      <p:sp>
        <p:nvSpPr>
          <p:cNvPr id="3" name="Google Shape;39;p4">
            <a:extLst>
              <a:ext uri="{FF2B5EF4-FFF2-40B4-BE49-F238E27FC236}">
                <a16:creationId xmlns:a16="http://schemas.microsoft.com/office/drawing/2014/main" id="{4EFC8007-86B4-6B15-239C-E0B2E0ABDF7E}"/>
              </a:ext>
            </a:extLst>
          </p:cNvPr>
          <p:cNvSpPr/>
          <p:nvPr/>
        </p:nvSpPr>
        <p:spPr>
          <a:xfrm>
            <a:off x="-3305224" y="0"/>
            <a:ext cx="661044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CCA3E943-7BFC-E10E-DAA6-70FA467D5796}"/>
              </a:ext>
            </a:extLst>
          </p:cNvPr>
          <p:cNvSpPr txBox="1"/>
          <p:nvPr/>
        </p:nvSpPr>
        <p:spPr>
          <a:xfrm rot="16200000">
            <a:off x="-1012783" y="2767281"/>
            <a:ext cx="4409178" cy="1323439"/>
          </a:xfrm>
          <a:prstGeom prst="rect">
            <a:avLst/>
          </a:prstGeom>
          <a:noFill/>
        </p:spPr>
        <p:txBody>
          <a:bodyPr vert="horz" wrap="square" anchor="ctr" anchorCtr="0">
            <a:spAutoFit/>
          </a:bodyPr>
          <a:lstStyle/>
          <a:p>
            <a:pPr algn="ctr"/>
            <a:r>
              <a:rPr lang="en-US" sz="4000" b="1" dirty="0">
                <a:solidFill>
                  <a:schemeClr val="bg1"/>
                </a:solidFill>
                <a:effectLst/>
                <a:latin typeface="Arial Black" panose="020B0A04020102020204" pitchFamily="34" charset="0"/>
                <a:ea typeface="Times New Roman" panose="02020603050405020304" pitchFamily="18" charset="0"/>
                <a:cs typeface="Times New Roman" panose="02020603050405020304" pitchFamily="18" charset="0"/>
              </a:rPr>
              <a:t>Identification:</a:t>
            </a:r>
            <a:br>
              <a:rPr lang="en-US" sz="4000" b="1" dirty="0">
                <a:solidFill>
                  <a:schemeClr val="bg1"/>
                </a:solidFill>
                <a:effectLst/>
                <a:latin typeface="Arial Black" panose="020B0A04020102020204" pitchFamily="34" charset="0"/>
                <a:ea typeface="Times New Roman" panose="02020603050405020304" pitchFamily="18" charset="0"/>
                <a:cs typeface="Times New Roman" panose="02020603050405020304" pitchFamily="18" charset="0"/>
              </a:rPr>
            </a:br>
            <a:r>
              <a:rPr lang="en-US" sz="4000" b="1" dirty="0">
                <a:solidFill>
                  <a:schemeClr val="bg1"/>
                </a:solidFill>
                <a:effectLst/>
                <a:latin typeface="Arial Black" panose="020B0A04020102020204" pitchFamily="34" charset="0"/>
                <a:ea typeface="Times New Roman" panose="02020603050405020304" pitchFamily="18" charset="0"/>
                <a:cs typeface="Times New Roman" panose="02020603050405020304" pitchFamily="18" charset="0"/>
              </a:rPr>
              <a:t>Filename</a:t>
            </a:r>
            <a:endParaRPr lang="en-US" sz="4000" dirty="0"/>
          </a:p>
        </p:txBody>
      </p:sp>
      <p:pic>
        <p:nvPicPr>
          <p:cNvPr id="8" name="Picture 7">
            <a:extLst>
              <a:ext uri="{FF2B5EF4-FFF2-40B4-BE49-F238E27FC236}">
                <a16:creationId xmlns:a16="http://schemas.microsoft.com/office/drawing/2014/main" id="{5409BAB1-4F5F-2183-C741-0BC26F06CF09}"/>
              </a:ext>
            </a:extLst>
          </p:cNvPr>
          <p:cNvPicPr>
            <a:picLocks noChangeAspect="1"/>
          </p:cNvPicPr>
          <p:nvPr/>
        </p:nvPicPr>
        <p:blipFill>
          <a:blip r:embed="rId3"/>
          <a:stretch>
            <a:fillRect/>
          </a:stretch>
        </p:blipFill>
        <p:spPr>
          <a:xfrm>
            <a:off x="6096000" y="449954"/>
            <a:ext cx="5184326" cy="774458"/>
          </a:xfrm>
          <a:prstGeom prst="rect">
            <a:avLst/>
          </a:prstGeom>
        </p:spPr>
      </p:pic>
      <p:pic>
        <p:nvPicPr>
          <p:cNvPr id="9" name="Picture 8">
            <a:extLst>
              <a:ext uri="{FF2B5EF4-FFF2-40B4-BE49-F238E27FC236}">
                <a16:creationId xmlns:a16="http://schemas.microsoft.com/office/drawing/2014/main" id="{2A3857F8-22D7-78AC-7E67-FD69DE390927}"/>
              </a:ext>
            </a:extLst>
          </p:cNvPr>
          <p:cNvPicPr>
            <a:picLocks noChangeAspect="1"/>
          </p:cNvPicPr>
          <p:nvPr/>
        </p:nvPicPr>
        <p:blipFill>
          <a:blip r:embed="rId4"/>
          <a:stretch>
            <a:fillRect/>
          </a:stretch>
        </p:blipFill>
        <p:spPr>
          <a:xfrm>
            <a:off x="6145228" y="1477433"/>
            <a:ext cx="5170748" cy="1310176"/>
          </a:xfrm>
          <a:prstGeom prst="rect">
            <a:avLst/>
          </a:prstGeom>
        </p:spPr>
      </p:pic>
      <p:pic>
        <p:nvPicPr>
          <p:cNvPr id="10" name="Picture 9">
            <a:extLst>
              <a:ext uri="{FF2B5EF4-FFF2-40B4-BE49-F238E27FC236}">
                <a16:creationId xmlns:a16="http://schemas.microsoft.com/office/drawing/2014/main" id="{B490A9CD-1CCA-2495-609F-904EC63FDB7F}"/>
              </a:ext>
            </a:extLst>
          </p:cNvPr>
          <p:cNvPicPr>
            <a:picLocks noChangeAspect="1"/>
          </p:cNvPicPr>
          <p:nvPr/>
        </p:nvPicPr>
        <p:blipFill>
          <a:blip r:embed="rId5"/>
          <a:stretch>
            <a:fillRect/>
          </a:stretch>
        </p:blipFill>
        <p:spPr>
          <a:xfrm>
            <a:off x="6105900" y="3040630"/>
            <a:ext cx="5652820" cy="1893588"/>
          </a:xfrm>
          <a:prstGeom prst="rect">
            <a:avLst/>
          </a:prstGeom>
        </p:spPr>
      </p:pic>
      <p:pic>
        <p:nvPicPr>
          <p:cNvPr id="11" name="Picture 10">
            <a:extLst>
              <a:ext uri="{FF2B5EF4-FFF2-40B4-BE49-F238E27FC236}">
                <a16:creationId xmlns:a16="http://schemas.microsoft.com/office/drawing/2014/main" id="{14FD6252-D576-EBF3-54AA-BD4922350158}"/>
              </a:ext>
            </a:extLst>
          </p:cNvPr>
          <p:cNvPicPr>
            <a:picLocks noChangeAspect="1"/>
          </p:cNvPicPr>
          <p:nvPr/>
        </p:nvPicPr>
        <p:blipFill>
          <a:blip r:embed="rId6"/>
          <a:stretch>
            <a:fillRect/>
          </a:stretch>
        </p:blipFill>
        <p:spPr>
          <a:xfrm>
            <a:off x="6096000" y="5343576"/>
            <a:ext cx="5361442" cy="745350"/>
          </a:xfrm>
          <a:prstGeom prst="rect">
            <a:avLst/>
          </a:prstGeom>
        </p:spPr>
      </p:pic>
      <p:sp>
        <p:nvSpPr>
          <p:cNvPr id="12" name="TextBox 11">
            <a:extLst>
              <a:ext uri="{FF2B5EF4-FFF2-40B4-BE49-F238E27FC236}">
                <a16:creationId xmlns:a16="http://schemas.microsoft.com/office/drawing/2014/main" id="{F3ADD069-DF9A-42A7-CBBF-B6ED8B0ABB17}"/>
              </a:ext>
            </a:extLst>
          </p:cNvPr>
          <p:cNvSpPr txBox="1"/>
          <p:nvPr/>
        </p:nvSpPr>
        <p:spPr>
          <a:xfrm>
            <a:off x="3085496" y="449954"/>
            <a:ext cx="2207122" cy="923330"/>
          </a:xfrm>
          <a:prstGeom prst="rect">
            <a:avLst/>
          </a:prstGeom>
          <a:noFill/>
        </p:spPr>
        <p:txBody>
          <a:bodyPr wrap="square" rtlCol="0">
            <a:spAutoFit/>
          </a:bodyPr>
          <a:lstStyle/>
          <a:p>
            <a:r>
              <a:rPr lang="en-US" sz="1800" b="1" dirty="0">
                <a:effectLst/>
                <a:latin typeface="Aptos" panose="020B0004020202020204" pitchFamily="34" charset="0"/>
                <a:ea typeface="Times New Roman" panose="02020603050405020304" pitchFamily="18" charset="0"/>
                <a:cs typeface="Times New Roman" panose="02020603050405020304" pitchFamily="18" charset="0"/>
              </a:rPr>
              <a:t>Filename:</a:t>
            </a:r>
            <a:r>
              <a:rPr lang="en-US" sz="1800" dirty="0">
                <a:effectLst/>
                <a:latin typeface="Aptos" panose="020B0004020202020204" pitchFamily="34" charset="0"/>
                <a:ea typeface="Times New Roman" panose="02020603050405020304" pitchFamily="18" charset="0"/>
                <a:cs typeface="Times New Roman" panose="02020603050405020304" pitchFamily="18" charset="0"/>
              </a:rPr>
              <a:t> sample.exe – ls Command</a:t>
            </a:r>
            <a:endParaRPr lang="en-US" dirty="0"/>
          </a:p>
        </p:txBody>
      </p:sp>
      <p:sp>
        <p:nvSpPr>
          <p:cNvPr id="13" name="TextBox 12">
            <a:extLst>
              <a:ext uri="{FF2B5EF4-FFF2-40B4-BE49-F238E27FC236}">
                <a16:creationId xmlns:a16="http://schemas.microsoft.com/office/drawing/2014/main" id="{8A1100F9-7331-D495-310B-1FBE01728E87}"/>
              </a:ext>
            </a:extLst>
          </p:cNvPr>
          <p:cNvSpPr txBox="1"/>
          <p:nvPr/>
        </p:nvSpPr>
        <p:spPr>
          <a:xfrm>
            <a:off x="3535955" y="1951182"/>
            <a:ext cx="2329313" cy="2862322"/>
          </a:xfrm>
          <a:prstGeom prst="rect">
            <a:avLst/>
          </a:prstGeom>
          <a:noFill/>
        </p:spPr>
        <p:txBody>
          <a:bodyPr wrap="square" rtlCol="0">
            <a:spAutoFit/>
          </a:bodyPr>
          <a:lstStyle/>
          <a:p>
            <a:r>
              <a:rPr lang="en-US" sz="1800" b="1" dirty="0">
                <a:effectLst/>
                <a:latin typeface="Aptos" panose="020B0004020202020204" pitchFamily="34" charset="0"/>
                <a:ea typeface="Times New Roman" panose="02020603050405020304" pitchFamily="18" charset="0"/>
                <a:cs typeface="Times New Roman" panose="02020603050405020304" pitchFamily="18" charset="0"/>
              </a:rPr>
              <a:t>Original Filename</a:t>
            </a:r>
            <a:r>
              <a:rPr lang="en-US" sz="1800" dirty="0">
                <a:effectLst/>
                <a:latin typeface="Aptos" panose="020B0004020202020204" pitchFamily="34" charset="0"/>
                <a:ea typeface="Times New Roman" panose="02020603050405020304" pitchFamily="18" charset="0"/>
                <a:cs typeface="Times New Roman" panose="02020603050405020304" pitchFamily="18" charset="0"/>
              </a:rPr>
              <a:t>:</a:t>
            </a:r>
            <a:r>
              <a:rPr lang="en-US" sz="1800" b="1" dirty="0">
                <a:effectLst/>
                <a:latin typeface="Aptos" panose="020B0004020202020204" pitchFamily="34" charset="0"/>
                <a:ea typeface="Times New Roman" panose="02020603050405020304" pitchFamily="18" charset="0"/>
                <a:cs typeface="Times New Roman" panose="02020603050405020304" pitchFamily="18" charset="0"/>
              </a:rPr>
              <a:t> </a:t>
            </a:r>
            <a:r>
              <a:rPr lang="en-US" sz="1800" dirty="0">
                <a:effectLst/>
                <a:latin typeface="Aptos" panose="020B0004020202020204" pitchFamily="34" charset="0"/>
                <a:ea typeface="Times New Roman" panose="02020603050405020304" pitchFamily="18" charset="0"/>
                <a:cs typeface="Times New Roman" panose="02020603050405020304" pitchFamily="18" charset="0"/>
              </a:rPr>
              <a:t>WINRAR.SFX – PE Studio </a:t>
            </a:r>
          </a:p>
          <a:p>
            <a:endParaRPr lang="en-US" sz="1800" dirty="0">
              <a:latin typeface="Aptos" panose="020B0004020202020204" pitchFamily="34" charset="0"/>
              <a:cs typeface="Times New Roman" panose="02020603050405020304" pitchFamily="18" charset="0"/>
            </a:endParaRPr>
          </a:p>
          <a:p>
            <a:endParaRPr lang="en-US" sz="1800" dirty="0">
              <a:latin typeface="Aptos" panose="020B0004020202020204" pitchFamily="34" charset="0"/>
              <a:cs typeface="Times New Roman" panose="02020603050405020304" pitchFamily="18" charset="0"/>
            </a:endParaRPr>
          </a:p>
          <a:p>
            <a:endParaRPr lang="en-US" sz="1800" dirty="0">
              <a:latin typeface="Aptos" panose="020B0004020202020204" pitchFamily="34" charset="0"/>
              <a:cs typeface="Times New Roman" panose="02020603050405020304" pitchFamily="18" charset="0"/>
            </a:endParaRPr>
          </a:p>
          <a:p>
            <a:r>
              <a:rPr lang="en-US" sz="1800" b="1" dirty="0">
                <a:effectLst/>
                <a:latin typeface="Aptos" panose="020B0004020202020204" pitchFamily="34" charset="0"/>
                <a:ea typeface="Times New Roman" panose="02020603050405020304" pitchFamily="18" charset="0"/>
                <a:cs typeface="Times New Roman" panose="02020603050405020304" pitchFamily="18" charset="0"/>
              </a:rPr>
              <a:t>File size:</a:t>
            </a:r>
            <a:r>
              <a:rPr lang="en-US" sz="1800" dirty="0">
                <a:effectLst/>
                <a:latin typeface="Aptos" panose="020B0004020202020204" pitchFamily="34" charset="0"/>
                <a:ea typeface="Times New Roman" panose="02020603050405020304" pitchFamily="18" charset="0"/>
                <a:cs typeface="Times New Roman" panose="02020603050405020304" pitchFamily="18" charset="0"/>
              </a:rPr>
              <a:t> 3.18 MB (3,338,375 bytes) – PE Studio</a:t>
            </a:r>
          </a:p>
          <a:p>
            <a:endParaRPr lang="en-US" dirty="0"/>
          </a:p>
        </p:txBody>
      </p:sp>
      <p:sp>
        <p:nvSpPr>
          <p:cNvPr id="14" name="TextBox 13">
            <a:extLst>
              <a:ext uri="{FF2B5EF4-FFF2-40B4-BE49-F238E27FC236}">
                <a16:creationId xmlns:a16="http://schemas.microsoft.com/office/drawing/2014/main" id="{2523CA02-7808-96BA-E6E7-FF903DFB0FE9}"/>
              </a:ext>
            </a:extLst>
          </p:cNvPr>
          <p:cNvSpPr txBox="1"/>
          <p:nvPr/>
        </p:nvSpPr>
        <p:spPr>
          <a:xfrm>
            <a:off x="3085496" y="5200116"/>
            <a:ext cx="3010504" cy="1032270"/>
          </a:xfrm>
          <a:prstGeom prst="rect">
            <a:avLst/>
          </a:prstGeom>
          <a:noFill/>
        </p:spPr>
        <p:txBody>
          <a:bodyPr wrap="square" rtlCol="0">
            <a:spAutoFit/>
          </a:bodyPr>
          <a:lstStyle/>
          <a:p>
            <a:pPr marR="0" lvl="0">
              <a:lnSpc>
                <a:spcPct val="115000"/>
              </a:lnSpc>
              <a:spcAft>
                <a:spcPts val="600"/>
              </a:spcAft>
              <a:buSzPts val="1100"/>
            </a:pPr>
            <a:r>
              <a:rPr lang="en-US" sz="1800" b="1" dirty="0">
                <a:effectLst/>
                <a:latin typeface="Aptos" panose="020B0004020202020204" pitchFamily="34" charset="0"/>
                <a:ea typeface="Times New Roman" panose="02020603050405020304" pitchFamily="18" charset="0"/>
                <a:cs typeface="Times New Roman" panose="02020603050405020304" pitchFamily="18" charset="0"/>
              </a:rPr>
              <a:t>File type:</a:t>
            </a:r>
            <a:r>
              <a:rPr lang="en-US" sz="1800" dirty="0">
                <a:effectLst/>
                <a:latin typeface="Aptos" panose="020B0004020202020204" pitchFamily="34" charset="0"/>
                <a:ea typeface="Times New Roman" panose="02020603050405020304" pitchFamily="18" charset="0"/>
                <a:cs typeface="Times New Roman" panose="02020603050405020304" pitchFamily="18" charset="0"/>
              </a:rPr>
              <a:t> PE32 executable (GUI) Intel 80386, for MS Windows – File Command</a:t>
            </a:r>
          </a:p>
        </p:txBody>
      </p:sp>
    </p:spTree>
    <p:extLst>
      <p:ext uri="{BB962C8B-B14F-4D97-AF65-F5344CB8AC3E}">
        <p14:creationId xmlns:p14="http://schemas.microsoft.com/office/powerpoint/2010/main" val="1286900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58;p7">
            <a:extLst>
              <a:ext uri="{FF2B5EF4-FFF2-40B4-BE49-F238E27FC236}">
                <a16:creationId xmlns:a16="http://schemas.microsoft.com/office/drawing/2014/main" id="{244EFD70-480A-D11D-2DF9-FD47393043EE}"/>
              </a:ext>
            </a:extLst>
          </p:cNvPr>
          <p:cNvSpPr/>
          <p:nvPr/>
        </p:nvSpPr>
        <p:spPr>
          <a:xfrm flipH="1">
            <a:off x="8984721" y="0"/>
            <a:ext cx="641455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4E6DC525-0428-59C2-5E1E-C1E513CBE3FA}"/>
              </a:ext>
            </a:extLst>
          </p:cNvPr>
          <p:cNvSpPr>
            <a:spLocks noGrp="1"/>
          </p:cNvSpPr>
          <p:nvPr>
            <p:ph type="sldNum" sz="quarter" idx="12"/>
          </p:nvPr>
        </p:nvSpPr>
        <p:spPr/>
        <p:txBody>
          <a:bodyPr/>
          <a:lstStyle/>
          <a:p>
            <a:fld id="{D39BF864-7A39-40DA-B38E-6B0F4C7F839D}" type="slidenum">
              <a:rPr lang="en-US" smtClean="0">
                <a:solidFill>
                  <a:schemeClr val="bg1"/>
                </a:solidFill>
              </a:rPr>
              <a:t>5</a:t>
            </a:fld>
            <a:endParaRPr lang="en-US" dirty="0">
              <a:solidFill>
                <a:schemeClr val="bg1"/>
              </a:solidFill>
            </a:endParaRPr>
          </a:p>
        </p:txBody>
      </p:sp>
      <p:sp>
        <p:nvSpPr>
          <p:cNvPr id="11" name="TextBox 10">
            <a:extLst>
              <a:ext uri="{FF2B5EF4-FFF2-40B4-BE49-F238E27FC236}">
                <a16:creationId xmlns:a16="http://schemas.microsoft.com/office/drawing/2014/main" id="{2437F94C-A32F-773C-A310-5CF4033AB2B7}"/>
              </a:ext>
            </a:extLst>
          </p:cNvPr>
          <p:cNvSpPr txBox="1"/>
          <p:nvPr/>
        </p:nvSpPr>
        <p:spPr>
          <a:xfrm rot="5400000" flipH="1">
            <a:off x="8435559" y="2767282"/>
            <a:ext cx="5128596" cy="1323439"/>
          </a:xfrm>
          <a:prstGeom prst="rect">
            <a:avLst/>
          </a:prstGeom>
          <a:noFill/>
        </p:spPr>
        <p:txBody>
          <a:bodyPr vert="horz" wrap="square" anchor="ctr" anchorCtr="0">
            <a:spAutoFit/>
          </a:bodyPr>
          <a:lstStyle/>
          <a:p>
            <a:pPr algn="ctr"/>
            <a:r>
              <a:rPr lang="en-US" sz="4000" b="1" dirty="0">
                <a:solidFill>
                  <a:schemeClr val="bg1"/>
                </a:solidFill>
                <a:effectLst/>
                <a:latin typeface="Arial Black" panose="020B0A04020102020204" pitchFamily="34" charset="0"/>
                <a:ea typeface="Times New Roman" panose="02020603050405020304" pitchFamily="18" charset="0"/>
                <a:cs typeface="Times New Roman" panose="02020603050405020304" pitchFamily="18" charset="0"/>
              </a:rPr>
              <a:t>Identification:</a:t>
            </a:r>
          </a:p>
          <a:p>
            <a:pPr algn="ctr"/>
            <a:r>
              <a:rPr lang="en-US" sz="4000" b="1" dirty="0">
                <a:solidFill>
                  <a:schemeClr val="bg1"/>
                </a:solidFill>
                <a:latin typeface="Arial Black" panose="020B0A04020102020204" pitchFamily="34" charset="0"/>
                <a:cs typeface="Times New Roman" panose="02020603050405020304" pitchFamily="18" charset="0"/>
              </a:rPr>
              <a:t>MAC Timestamps</a:t>
            </a:r>
            <a:endParaRPr lang="en-US" sz="4000" dirty="0"/>
          </a:p>
        </p:txBody>
      </p:sp>
      <p:pic>
        <p:nvPicPr>
          <p:cNvPr id="12" name="Picture 11">
            <a:extLst>
              <a:ext uri="{FF2B5EF4-FFF2-40B4-BE49-F238E27FC236}">
                <a16:creationId xmlns:a16="http://schemas.microsoft.com/office/drawing/2014/main" id="{D7A8A800-2F18-F006-27BA-C38EFAF328FB}"/>
              </a:ext>
            </a:extLst>
          </p:cNvPr>
          <p:cNvPicPr>
            <a:picLocks noChangeAspect="1"/>
          </p:cNvPicPr>
          <p:nvPr/>
        </p:nvPicPr>
        <p:blipFill>
          <a:blip r:embed="rId2"/>
          <a:stretch>
            <a:fillRect/>
          </a:stretch>
        </p:blipFill>
        <p:spPr>
          <a:xfrm>
            <a:off x="-13410" y="29496"/>
            <a:ext cx="5320632" cy="3970420"/>
          </a:xfrm>
          <a:prstGeom prst="rect">
            <a:avLst/>
          </a:prstGeom>
        </p:spPr>
      </p:pic>
      <p:pic>
        <p:nvPicPr>
          <p:cNvPr id="13" name="Picture 12">
            <a:extLst>
              <a:ext uri="{FF2B5EF4-FFF2-40B4-BE49-F238E27FC236}">
                <a16:creationId xmlns:a16="http://schemas.microsoft.com/office/drawing/2014/main" id="{A482014F-5693-6030-C7FF-90D70F014093}"/>
              </a:ext>
            </a:extLst>
          </p:cNvPr>
          <p:cNvPicPr>
            <a:picLocks noChangeAspect="1"/>
          </p:cNvPicPr>
          <p:nvPr/>
        </p:nvPicPr>
        <p:blipFill>
          <a:blip r:embed="rId3"/>
          <a:stretch>
            <a:fillRect/>
          </a:stretch>
        </p:blipFill>
        <p:spPr>
          <a:xfrm>
            <a:off x="0" y="4153980"/>
            <a:ext cx="5497306" cy="1121206"/>
          </a:xfrm>
          <a:prstGeom prst="rect">
            <a:avLst/>
          </a:prstGeom>
        </p:spPr>
      </p:pic>
      <p:pic>
        <p:nvPicPr>
          <p:cNvPr id="14" name="Picture 13">
            <a:extLst>
              <a:ext uri="{FF2B5EF4-FFF2-40B4-BE49-F238E27FC236}">
                <a16:creationId xmlns:a16="http://schemas.microsoft.com/office/drawing/2014/main" id="{84A3C3BB-9B8B-4A2F-4082-DAFC8080CC84}"/>
              </a:ext>
            </a:extLst>
          </p:cNvPr>
          <p:cNvPicPr>
            <a:picLocks noChangeAspect="1"/>
          </p:cNvPicPr>
          <p:nvPr/>
        </p:nvPicPr>
        <p:blipFill>
          <a:blip r:embed="rId4"/>
          <a:stretch>
            <a:fillRect/>
          </a:stretch>
        </p:blipFill>
        <p:spPr>
          <a:xfrm>
            <a:off x="-33925" y="5365732"/>
            <a:ext cx="5525858" cy="1173180"/>
          </a:xfrm>
          <a:prstGeom prst="rect">
            <a:avLst/>
          </a:prstGeom>
        </p:spPr>
      </p:pic>
      <p:sp>
        <p:nvSpPr>
          <p:cNvPr id="15" name="TextBox 14">
            <a:extLst>
              <a:ext uri="{FF2B5EF4-FFF2-40B4-BE49-F238E27FC236}">
                <a16:creationId xmlns:a16="http://schemas.microsoft.com/office/drawing/2014/main" id="{49CB6193-3CD7-5FE0-A03A-D79FC2A89D66}"/>
              </a:ext>
            </a:extLst>
          </p:cNvPr>
          <p:cNvSpPr txBox="1"/>
          <p:nvPr/>
        </p:nvSpPr>
        <p:spPr>
          <a:xfrm>
            <a:off x="5468754" y="222713"/>
            <a:ext cx="4465684" cy="2412071"/>
          </a:xfrm>
          <a:prstGeom prst="rect">
            <a:avLst/>
          </a:prstGeom>
          <a:noFill/>
        </p:spPr>
        <p:txBody>
          <a:bodyPr wrap="square" rtlCol="0">
            <a:spAutoFit/>
          </a:bodyPr>
          <a:lstStyle/>
          <a:p>
            <a:pPr marL="0" marR="0">
              <a:lnSpc>
                <a:spcPct val="115000"/>
              </a:lnSpc>
              <a:spcBef>
                <a:spcPts val="1200"/>
              </a:spcBef>
              <a:spcAft>
                <a:spcPts val="300"/>
              </a:spcAft>
              <a:buNone/>
            </a:pPr>
            <a:r>
              <a:rPr lang="en-US" sz="1800" b="1" dirty="0">
                <a:effectLst/>
                <a:latin typeface="Arial" panose="020B0604020202020204" pitchFamily="34" charset="0"/>
                <a:ea typeface="Times New Roman" panose="02020603050405020304" pitchFamily="18" charset="0"/>
                <a:cs typeface="Arial" panose="020B0604020202020204" pitchFamily="34" charset="0"/>
              </a:rPr>
              <a:t>2 MAC timestamps</a:t>
            </a:r>
          </a:p>
          <a:p>
            <a:pPr marL="342900" marR="0" lvl="0" indent="-342900">
              <a:lnSpc>
                <a:spcPct val="115000"/>
              </a:lnSpc>
              <a:buFont typeface="Symbol" panose="05050102010706020507" pitchFamily="18" charset="2"/>
              <a:buChar char=""/>
            </a:pPr>
            <a:r>
              <a:rPr lang="en-US" sz="1800" b="1" dirty="0">
                <a:effectLst/>
                <a:latin typeface="Arial" panose="020B0604020202020204" pitchFamily="34" charset="0"/>
                <a:ea typeface="Times New Roman" panose="02020603050405020304" pitchFamily="18" charset="0"/>
                <a:cs typeface="Arial" panose="020B0604020202020204" pitchFamily="34" charset="0"/>
              </a:rPr>
              <a:t>Modification Time:</a:t>
            </a:r>
            <a:r>
              <a:rPr lang="en-US" sz="1800" dirty="0">
                <a:effectLst/>
                <a:latin typeface="Arial" panose="020B0604020202020204" pitchFamily="34" charset="0"/>
                <a:ea typeface="Times New Roman" panose="02020603050405020304" pitchFamily="18" charset="0"/>
                <a:cs typeface="Arial" panose="020B0604020202020204" pitchFamily="34" charset="0"/>
              </a:rPr>
              <a:t> 2025-04-17 16:07:54 +05:00 – </a:t>
            </a:r>
            <a:r>
              <a:rPr lang="en-US" sz="1800" dirty="0" err="1">
                <a:effectLst/>
                <a:latin typeface="Arial" panose="020B0604020202020204" pitchFamily="34" charset="0"/>
                <a:ea typeface="Times New Roman" panose="02020603050405020304" pitchFamily="18" charset="0"/>
                <a:cs typeface="Arial" panose="020B0604020202020204" pitchFamily="34" charset="0"/>
              </a:rPr>
              <a:t>exiftool</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p>
            <a:pPr marL="342900" marR="0" lvl="0" indent="-342900">
              <a:lnSpc>
                <a:spcPct val="115000"/>
              </a:lnSpc>
              <a:spcAft>
                <a:spcPts val="600"/>
              </a:spcAft>
              <a:buFont typeface="Symbol" panose="05050102010706020507" pitchFamily="18" charset="2"/>
              <a:buChar char=""/>
            </a:pPr>
            <a:r>
              <a:rPr lang="en-US" sz="1800" b="1" dirty="0">
                <a:effectLst/>
                <a:latin typeface="Arial" panose="020B0604020202020204" pitchFamily="34" charset="0"/>
                <a:ea typeface="Times New Roman" panose="02020603050405020304" pitchFamily="18" charset="0"/>
                <a:cs typeface="Arial" panose="020B0604020202020204" pitchFamily="34" charset="0"/>
              </a:rPr>
              <a:t>Access Time:</a:t>
            </a:r>
            <a:r>
              <a:rPr lang="en-US" sz="1800" dirty="0">
                <a:effectLst/>
                <a:latin typeface="Arial" panose="020B0604020202020204" pitchFamily="34" charset="0"/>
                <a:ea typeface="Times New Roman" panose="02020603050405020304" pitchFamily="18" charset="0"/>
                <a:cs typeface="Arial" panose="020B0604020202020204" pitchFamily="34" charset="0"/>
              </a:rPr>
              <a:t> 2025-05-16 19:10:52 +05:00 – </a:t>
            </a:r>
            <a:r>
              <a:rPr lang="en-US" sz="1800" dirty="0" err="1">
                <a:effectLst/>
                <a:latin typeface="Arial" panose="020B0604020202020204" pitchFamily="34" charset="0"/>
                <a:ea typeface="Times New Roman" panose="02020603050405020304" pitchFamily="18" charset="0"/>
                <a:cs typeface="Arial" panose="020B0604020202020204" pitchFamily="34" charset="0"/>
              </a:rPr>
              <a:t>exiftool</a:t>
            </a:r>
            <a:r>
              <a:rPr lang="en-US" sz="1800" dirty="0">
                <a:effectLst/>
                <a:latin typeface="Arial" panose="020B0604020202020204" pitchFamily="34" charset="0"/>
                <a:ea typeface="Times New Roman" panose="02020603050405020304" pitchFamily="18" charset="0"/>
                <a:cs typeface="Arial" panose="020B0604020202020204" pitchFamily="34" charset="0"/>
              </a:rPr>
              <a:t> </a:t>
            </a:r>
          </a:p>
          <a:p>
            <a:pPr marL="342900" indent="-342900">
              <a:lnSpc>
                <a:spcPct val="115000"/>
              </a:lnSpc>
              <a:spcAft>
                <a:spcPts val="600"/>
              </a:spcAft>
              <a:buFont typeface="Symbol" panose="05050102010706020507" pitchFamily="18" charset="2"/>
              <a:buChar char=""/>
            </a:pPr>
            <a:r>
              <a:rPr lang="en-US" sz="1800" b="1" dirty="0">
                <a:effectLst/>
                <a:latin typeface="Arial" panose="020B0604020202020204" pitchFamily="34" charset="0"/>
                <a:ea typeface="Times New Roman" panose="02020603050405020304" pitchFamily="18" charset="0"/>
                <a:cs typeface="Arial" panose="020B0604020202020204" pitchFamily="34" charset="0"/>
              </a:rPr>
              <a:t>Creation Time:</a:t>
            </a:r>
            <a:r>
              <a:rPr lang="en-US" sz="1800" dirty="0">
                <a:effectLst/>
                <a:latin typeface="Arial" panose="020B0604020202020204" pitchFamily="34" charset="0"/>
                <a:ea typeface="Times New Roman" panose="02020603050405020304" pitchFamily="18" charset="0"/>
                <a:cs typeface="Arial" panose="020B0604020202020204" pitchFamily="34" charset="0"/>
              </a:rPr>
              <a:t> 2025-05-16 18:50:02 +05:00 – </a:t>
            </a:r>
            <a:r>
              <a:rPr lang="en-US" sz="1800" dirty="0" err="1">
                <a:effectLst/>
                <a:latin typeface="Arial" panose="020B0604020202020204" pitchFamily="34" charset="0"/>
                <a:ea typeface="Times New Roman" panose="02020603050405020304" pitchFamily="18" charset="0"/>
                <a:cs typeface="Arial" panose="020B0604020202020204" pitchFamily="34" charset="0"/>
              </a:rPr>
              <a:t>exiftool</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16" name="TextBox 15">
            <a:extLst>
              <a:ext uri="{FF2B5EF4-FFF2-40B4-BE49-F238E27FC236}">
                <a16:creationId xmlns:a16="http://schemas.microsoft.com/office/drawing/2014/main" id="{D0515142-6271-C23C-AED4-50DDFAEDCFD1}"/>
              </a:ext>
            </a:extLst>
          </p:cNvPr>
          <p:cNvSpPr txBox="1"/>
          <p:nvPr/>
        </p:nvSpPr>
        <p:spPr>
          <a:xfrm>
            <a:off x="5866053" y="4153980"/>
            <a:ext cx="2602085" cy="1339469"/>
          </a:xfrm>
          <a:prstGeom prst="rect">
            <a:avLst/>
          </a:prstGeom>
          <a:noFill/>
        </p:spPr>
        <p:txBody>
          <a:bodyPr wrap="square" rtlCol="0">
            <a:spAutoFit/>
          </a:bodyPr>
          <a:lstStyle/>
          <a:p>
            <a:pPr marL="342900" marR="0" lvl="0" indent="-342900">
              <a:lnSpc>
                <a:spcPct val="115000"/>
              </a:lnSpc>
              <a:spcAft>
                <a:spcPts val="600"/>
              </a:spcAft>
              <a:buFont typeface="Symbol" panose="05050102010706020507" pitchFamily="18" charset="2"/>
              <a:buChar char=""/>
            </a:pPr>
            <a:r>
              <a:rPr lang="en-US" sz="1800" b="1" dirty="0">
                <a:effectLst/>
                <a:latin typeface="Arial" panose="020B0604020202020204" pitchFamily="34" charset="0"/>
                <a:ea typeface="Times New Roman" panose="02020603050405020304" pitchFamily="18" charset="0"/>
                <a:cs typeface="Arial" panose="020B0604020202020204" pitchFamily="34" charset="0"/>
              </a:rPr>
              <a:t>PE Timestamp:</a:t>
            </a:r>
            <a:r>
              <a:rPr lang="en-US" sz="1800" dirty="0">
                <a:effectLst/>
                <a:latin typeface="Arial" panose="020B0604020202020204" pitchFamily="34" charset="0"/>
                <a:ea typeface="Times New Roman" panose="02020603050405020304" pitchFamily="18" charset="0"/>
                <a:cs typeface="Arial" panose="020B0604020202020204" pitchFamily="34" charset="0"/>
              </a:rPr>
              <a:t> 2013-05-10 10:23:40 (UTC) – PE Studio / PE View</a:t>
            </a:r>
          </a:p>
        </p:txBody>
      </p:sp>
    </p:spTree>
    <p:extLst>
      <p:ext uri="{BB962C8B-B14F-4D97-AF65-F5344CB8AC3E}">
        <p14:creationId xmlns:p14="http://schemas.microsoft.com/office/powerpoint/2010/main" val="2157876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97EC6D-C5AF-FF86-83B0-F5DC490A5FC0}"/>
              </a:ext>
            </a:extLst>
          </p:cNvPr>
          <p:cNvSpPr>
            <a:spLocks noGrp="1"/>
          </p:cNvSpPr>
          <p:nvPr>
            <p:ph type="sldNum" sz="quarter" idx="12"/>
          </p:nvPr>
        </p:nvSpPr>
        <p:spPr/>
        <p:txBody>
          <a:bodyPr/>
          <a:lstStyle/>
          <a:p>
            <a:fld id="{D39BF864-7A39-40DA-B38E-6B0F4C7F839D}" type="slidenum">
              <a:rPr lang="en-US" smtClean="0">
                <a:solidFill>
                  <a:schemeClr val="tx1"/>
                </a:solidFill>
              </a:rPr>
              <a:t>6</a:t>
            </a:fld>
            <a:endParaRPr lang="en-US" dirty="0">
              <a:solidFill>
                <a:schemeClr val="tx1"/>
              </a:solidFill>
            </a:endParaRPr>
          </a:p>
        </p:txBody>
      </p:sp>
      <p:sp>
        <p:nvSpPr>
          <p:cNvPr id="3" name="Google Shape;39;p4">
            <a:extLst>
              <a:ext uri="{FF2B5EF4-FFF2-40B4-BE49-F238E27FC236}">
                <a16:creationId xmlns:a16="http://schemas.microsoft.com/office/drawing/2014/main" id="{4EFC8007-86B4-6B15-239C-E0B2E0ABDF7E}"/>
              </a:ext>
            </a:extLst>
          </p:cNvPr>
          <p:cNvSpPr/>
          <p:nvPr/>
        </p:nvSpPr>
        <p:spPr>
          <a:xfrm>
            <a:off x="-3305224" y="0"/>
            <a:ext cx="661044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CCA3E943-7BFC-E10E-DAA6-70FA467D5796}"/>
              </a:ext>
            </a:extLst>
          </p:cNvPr>
          <p:cNvSpPr txBox="1"/>
          <p:nvPr/>
        </p:nvSpPr>
        <p:spPr>
          <a:xfrm rot="16200000">
            <a:off x="-1124013" y="2767281"/>
            <a:ext cx="4631636" cy="1323439"/>
          </a:xfrm>
          <a:prstGeom prst="rect">
            <a:avLst/>
          </a:prstGeom>
          <a:noFill/>
        </p:spPr>
        <p:txBody>
          <a:bodyPr vert="horz" wrap="square" anchor="ctr" anchorCtr="0">
            <a:spAutoFit/>
          </a:bodyPr>
          <a:lstStyle/>
          <a:p>
            <a:r>
              <a:rPr lang="en-US" sz="4000" b="1" dirty="0">
                <a:solidFill>
                  <a:schemeClr val="bg1"/>
                </a:solidFill>
                <a:effectLst/>
                <a:latin typeface="Arial Black" panose="020B0A04020102020204" pitchFamily="34" charset="0"/>
                <a:ea typeface="Times New Roman" panose="02020603050405020304" pitchFamily="18" charset="0"/>
                <a:cs typeface="Times New Roman" panose="02020603050405020304" pitchFamily="18" charset="0"/>
              </a:rPr>
              <a:t>Identification:</a:t>
            </a:r>
          </a:p>
          <a:p>
            <a:pPr algn="ctr"/>
            <a:r>
              <a:rPr lang="en-US" sz="4000" b="1" dirty="0">
                <a:solidFill>
                  <a:schemeClr val="bg1"/>
                </a:solidFill>
                <a:latin typeface="Arial Black" panose="020B0A04020102020204" pitchFamily="34" charset="0"/>
                <a:cs typeface="Times New Roman" panose="02020603050405020304" pitchFamily="18" charset="0"/>
              </a:rPr>
              <a:t>Hashes</a:t>
            </a:r>
            <a:endParaRPr lang="en-US" sz="4000" dirty="0"/>
          </a:p>
        </p:txBody>
      </p:sp>
      <p:pic>
        <p:nvPicPr>
          <p:cNvPr id="15" name="Picture 14">
            <a:extLst>
              <a:ext uri="{FF2B5EF4-FFF2-40B4-BE49-F238E27FC236}">
                <a16:creationId xmlns:a16="http://schemas.microsoft.com/office/drawing/2014/main" id="{C5D9DD3A-2869-0F31-BD82-A2C199775209}"/>
              </a:ext>
            </a:extLst>
          </p:cNvPr>
          <p:cNvPicPr>
            <a:picLocks noChangeAspect="1"/>
          </p:cNvPicPr>
          <p:nvPr/>
        </p:nvPicPr>
        <p:blipFill>
          <a:blip r:embed="rId3"/>
          <a:stretch>
            <a:fillRect/>
          </a:stretch>
        </p:blipFill>
        <p:spPr>
          <a:xfrm>
            <a:off x="7354827" y="71358"/>
            <a:ext cx="4735628" cy="963251"/>
          </a:xfrm>
          <a:prstGeom prst="rect">
            <a:avLst/>
          </a:prstGeom>
        </p:spPr>
      </p:pic>
      <p:pic>
        <p:nvPicPr>
          <p:cNvPr id="16" name="Picture 15">
            <a:extLst>
              <a:ext uri="{FF2B5EF4-FFF2-40B4-BE49-F238E27FC236}">
                <a16:creationId xmlns:a16="http://schemas.microsoft.com/office/drawing/2014/main" id="{459A48EE-4060-D22F-6AA6-E0179695888A}"/>
              </a:ext>
            </a:extLst>
          </p:cNvPr>
          <p:cNvPicPr>
            <a:picLocks noChangeAspect="1"/>
          </p:cNvPicPr>
          <p:nvPr/>
        </p:nvPicPr>
        <p:blipFill>
          <a:blip r:embed="rId4"/>
          <a:stretch>
            <a:fillRect/>
          </a:stretch>
        </p:blipFill>
        <p:spPr>
          <a:xfrm>
            <a:off x="7327907" y="1514244"/>
            <a:ext cx="4735628" cy="963251"/>
          </a:xfrm>
          <a:prstGeom prst="rect">
            <a:avLst/>
          </a:prstGeom>
        </p:spPr>
      </p:pic>
      <p:pic>
        <p:nvPicPr>
          <p:cNvPr id="17" name="Picture 16">
            <a:extLst>
              <a:ext uri="{FF2B5EF4-FFF2-40B4-BE49-F238E27FC236}">
                <a16:creationId xmlns:a16="http://schemas.microsoft.com/office/drawing/2014/main" id="{597ED7AE-98A9-EA6C-89E9-62218D07DEB5}"/>
              </a:ext>
            </a:extLst>
          </p:cNvPr>
          <p:cNvPicPr>
            <a:picLocks noChangeAspect="1"/>
          </p:cNvPicPr>
          <p:nvPr/>
        </p:nvPicPr>
        <p:blipFill>
          <a:blip r:embed="rId5"/>
          <a:stretch>
            <a:fillRect/>
          </a:stretch>
        </p:blipFill>
        <p:spPr>
          <a:xfrm>
            <a:off x="7203803" y="3920383"/>
            <a:ext cx="4829846" cy="1306874"/>
          </a:xfrm>
          <a:prstGeom prst="rect">
            <a:avLst/>
          </a:prstGeom>
        </p:spPr>
      </p:pic>
      <p:sp>
        <p:nvSpPr>
          <p:cNvPr id="18" name="TextBox 17">
            <a:extLst>
              <a:ext uri="{FF2B5EF4-FFF2-40B4-BE49-F238E27FC236}">
                <a16:creationId xmlns:a16="http://schemas.microsoft.com/office/drawing/2014/main" id="{4F2DD659-5559-AB6B-C762-F95602C6800D}"/>
              </a:ext>
            </a:extLst>
          </p:cNvPr>
          <p:cNvSpPr txBox="1"/>
          <p:nvPr/>
        </p:nvSpPr>
        <p:spPr>
          <a:xfrm>
            <a:off x="2798111" y="52973"/>
            <a:ext cx="9059592" cy="3300584"/>
          </a:xfrm>
          <a:prstGeom prst="rect">
            <a:avLst/>
          </a:prstGeom>
          <a:noFill/>
        </p:spPr>
        <p:txBody>
          <a:bodyPr wrap="square" rtlCol="0">
            <a:spAutoFit/>
          </a:bodyPr>
          <a:lstStyle/>
          <a:p>
            <a:r>
              <a:t>Hashes and Integrity Indicators</a:t>
            </a:r>
          </a:p>
          <a:p>
            <a:r>
              <a:t>MD5: 885a317f0e6471b48210a165fa878af7</a:t>
            </a:r>
          </a:p>
          <a:p>
            <a:r>
              <a:t>SHA1: 0beccc1ab4baa6ae9c9a735ecc0719b75031c394</a:t>
            </a:r>
          </a:p>
          <a:p>
            <a:r>
              <a:t>SHA256: 197c2d218121ff0ec738f5d301bf13b7824320c07942b99c9f278e8d7508b15d</a:t>
            </a:r>
          </a:p>
          <a:p>
            <a:r>
              <a:t>Fuzzy hash: documented in the full report and IOC file.</a:t>
            </a:r>
          </a:p>
        </p:txBody>
      </p:sp>
      <p:sp>
        <p:nvSpPr>
          <p:cNvPr id="19" name="TextBox 18">
            <a:extLst>
              <a:ext uri="{FF2B5EF4-FFF2-40B4-BE49-F238E27FC236}">
                <a16:creationId xmlns:a16="http://schemas.microsoft.com/office/drawing/2014/main" id="{93A0803A-64B5-D27F-1F90-4BBAAF8CEDE1}"/>
              </a:ext>
            </a:extLst>
          </p:cNvPr>
          <p:cNvSpPr txBox="1"/>
          <p:nvPr/>
        </p:nvSpPr>
        <p:spPr>
          <a:xfrm>
            <a:off x="3016316" y="4129662"/>
            <a:ext cx="4131736" cy="3033138"/>
          </a:xfrm>
          <a:prstGeom prst="rect">
            <a:avLst/>
          </a:prstGeom>
          <a:noFill/>
        </p:spPr>
        <p:txBody>
          <a:bodyPr wrap="square" rtlCol="0">
            <a:spAutoFit/>
          </a:bodyPr>
          <a:lstStyle/>
          <a:p>
            <a:pPr marL="0" marR="0">
              <a:lnSpc>
                <a:spcPct val="115000"/>
              </a:lnSpc>
              <a:spcBef>
                <a:spcPts val="1200"/>
              </a:spcBef>
              <a:spcAft>
                <a:spcPts val="300"/>
              </a:spcAft>
              <a:buNone/>
            </a:pPr>
            <a:r>
              <a:rPr lang="en-US" b="1" dirty="0">
                <a:effectLst/>
                <a:latin typeface="Aptos Display" panose="020B0004020202020204" pitchFamily="34" charset="0"/>
                <a:ea typeface="Times New Roman" panose="02020603050405020304" pitchFamily="18" charset="0"/>
                <a:cs typeface="Times New Roman" panose="02020603050405020304" pitchFamily="18" charset="0"/>
              </a:rPr>
              <a:t>Signing Information (Certificates)</a:t>
            </a:r>
          </a:p>
          <a:p>
            <a:pPr marL="342900" marR="0" lvl="0" indent="-342900">
              <a:lnSpc>
                <a:spcPct val="115000"/>
              </a:lnSpc>
              <a:buFont typeface="Symbol" panose="05050102010706020507" pitchFamily="18" charset="2"/>
              <a:buChar char=""/>
            </a:pPr>
            <a:r>
              <a:rPr lang="en-US" dirty="0">
                <a:effectLst/>
                <a:latin typeface="Aptos" panose="020B0004020202020204" pitchFamily="34" charset="0"/>
                <a:ea typeface="Times New Roman" panose="02020603050405020304" pitchFamily="18" charset="0"/>
                <a:cs typeface="Times New Roman" panose="02020603050405020304" pitchFamily="18" charset="0"/>
              </a:rPr>
              <a:t>No digital signature detected in current metadata</a:t>
            </a:r>
          </a:p>
          <a:p>
            <a:pPr marL="342900" marR="0" lvl="0" indent="-342900">
              <a:lnSpc>
                <a:spcPct val="115000"/>
              </a:lnSpc>
              <a:spcAft>
                <a:spcPts val="600"/>
              </a:spcAft>
              <a:buFont typeface="Symbol" panose="05050102010706020507" pitchFamily="18" charset="2"/>
              <a:buChar char=""/>
            </a:pPr>
            <a:r>
              <a:rPr lang="en-US" dirty="0">
                <a:effectLst/>
                <a:latin typeface="Aptos" panose="020B0004020202020204" pitchFamily="34" charset="0"/>
                <a:ea typeface="Times New Roman" panose="02020603050405020304" pitchFamily="18" charset="0"/>
                <a:cs typeface="Times New Roman" panose="02020603050405020304" pitchFamily="18" charset="0"/>
              </a:rPr>
              <a:t>debug &gt; </a:t>
            </a:r>
            <a:r>
              <a:rPr lang="en-US" dirty="0" err="1">
                <a:effectLst/>
                <a:latin typeface="Aptos" panose="020B0004020202020204" pitchFamily="34" charset="0"/>
                <a:ea typeface="Times New Roman" panose="02020603050405020304" pitchFamily="18" charset="0"/>
                <a:cs typeface="Times New Roman" panose="02020603050405020304" pitchFamily="18" charset="0"/>
              </a:rPr>
              <a:t>file,d</a:t>
            </a:r>
            <a:r>
              <a:rPr lang="en-US" dirty="0">
                <a:effectLst/>
                <a:latin typeface="Aptos" panose="020B0004020202020204" pitchFamily="34" charset="0"/>
                <a:ea typeface="Times New Roman" panose="02020603050405020304" pitchFamily="18" charset="0"/>
                <a:cs typeface="Times New Roman" panose="02020603050405020304" pitchFamily="18" charset="0"/>
              </a:rPr>
              <a:t>:\Projects\WinRAR\SFX\build\sfxrar32\Release\sfxrar.pdb</a:t>
            </a:r>
            <a:br>
              <a:rPr lang="en-US" dirty="0">
                <a:effectLst/>
                <a:latin typeface="Aptos" panose="020B0004020202020204" pitchFamily="34" charset="0"/>
                <a:ea typeface="Times New Roman" panose="02020603050405020304" pitchFamily="18" charset="0"/>
                <a:cs typeface="Times New Roman" panose="02020603050405020304" pitchFamily="18" charset="0"/>
              </a:rPr>
            </a:br>
            <a:r>
              <a:rPr lang="en-US" dirty="0">
                <a:effectLst/>
                <a:latin typeface="Aptos" panose="020B0004020202020204" pitchFamily="34" charset="0"/>
                <a:ea typeface="Times New Roman" panose="02020603050405020304" pitchFamily="18" charset="0"/>
                <a:cs typeface="Times New Roman" panose="02020603050405020304" pitchFamily="18" charset="0"/>
              </a:rPr>
              <a:t>(This suggests the binary is a modified </a:t>
            </a:r>
            <a:r>
              <a:rPr lang="en-US" b="1" dirty="0">
                <a:effectLst/>
                <a:latin typeface="Aptos" panose="020B0004020202020204" pitchFamily="34" charset="0"/>
                <a:ea typeface="Times New Roman" panose="02020603050405020304" pitchFamily="18" charset="0"/>
                <a:cs typeface="Times New Roman" panose="02020603050405020304" pitchFamily="18" charset="0"/>
              </a:rPr>
              <a:t>WinRAR SFX</a:t>
            </a:r>
            <a:r>
              <a:rPr lang="en-US" dirty="0">
                <a:effectLst/>
                <a:latin typeface="Aptos" panose="020B0004020202020204" pitchFamily="34" charset="0"/>
                <a:ea typeface="Times New Roman" panose="02020603050405020304" pitchFamily="18" charset="0"/>
                <a:cs typeface="Times New Roman" panose="02020603050405020304" pitchFamily="18" charset="0"/>
              </a:rPr>
              <a:t> module)</a:t>
            </a:r>
          </a:p>
          <a:p>
            <a:endParaRPr lang="en-US" dirty="0"/>
          </a:p>
        </p:txBody>
      </p:sp>
    </p:spTree>
    <p:extLst>
      <p:ext uri="{BB962C8B-B14F-4D97-AF65-F5344CB8AC3E}">
        <p14:creationId xmlns:p14="http://schemas.microsoft.com/office/powerpoint/2010/main" val="3253806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58;p7">
            <a:extLst>
              <a:ext uri="{FF2B5EF4-FFF2-40B4-BE49-F238E27FC236}">
                <a16:creationId xmlns:a16="http://schemas.microsoft.com/office/drawing/2014/main" id="{244EFD70-480A-D11D-2DF9-FD47393043EE}"/>
              </a:ext>
            </a:extLst>
          </p:cNvPr>
          <p:cNvSpPr/>
          <p:nvPr/>
        </p:nvSpPr>
        <p:spPr>
          <a:xfrm flipH="1">
            <a:off x="8984721" y="0"/>
            <a:ext cx="641455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4E6DC525-0428-59C2-5E1E-C1E513CBE3FA}"/>
              </a:ext>
            </a:extLst>
          </p:cNvPr>
          <p:cNvSpPr>
            <a:spLocks noGrp="1"/>
          </p:cNvSpPr>
          <p:nvPr>
            <p:ph type="sldNum" sz="quarter" idx="12"/>
          </p:nvPr>
        </p:nvSpPr>
        <p:spPr/>
        <p:txBody>
          <a:bodyPr/>
          <a:lstStyle/>
          <a:p>
            <a:fld id="{D39BF864-7A39-40DA-B38E-6B0F4C7F839D}" type="slidenum">
              <a:rPr lang="en-US" smtClean="0">
                <a:solidFill>
                  <a:schemeClr val="bg1"/>
                </a:solidFill>
              </a:rPr>
              <a:t>7</a:t>
            </a:fld>
            <a:endParaRPr lang="en-US" dirty="0">
              <a:solidFill>
                <a:schemeClr val="bg1"/>
              </a:solidFill>
            </a:endParaRPr>
          </a:p>
        </p:txBody>
      </p:sp>
      <p:sp>
        <p:nvSpPr>
          <p:cNvPr id="11" name="TextBox 10">
            <a:extLst>
              <a:ext uri="{FF2B5EF4-FFF2-40B4-BE49-F238E27FC236}">
                <a16:creationId xmlns:a16="http://schemas.microsoft.com/office/drawing/2014/main" id="{2437F94C-A32F-773C-A310-5CF4033AB2B7}"/>
              </a:ext>
            </a:extLst>
          </p:cNvPr>
          <p:cNvSpPr txBox="1"/>
          <p:nvPr/>
        </p:nvSpPr>
        <p:spPr>
          <a:xfrm rot="5400000" flipH="1">
            <a:off x="8584646" y="2767282"/>
            <a:ext cx="4830422" cy="1323439"/>
          </a:xfrm>
          <a:prstGeom prst="rect">
            <a:avLst/>
          </a:prstGeom>
          <a:noFill/>
        </p:spPr>
        <p:txBody>
          <a:bodyPr vert="horz" wrap="square" anchor="ctr" anchorCtr="0">
            <a:spAutoFit/>
          </a:bodyPr>
          <a:lstStyle/>
          <a:p>
            <a:pPr algn="ctr"/>
            <a:r>
              <a:rPr lang="en-US" sz="4000" b="1" dirty="0">
                <a:solidFill>
                  <a:schemeClr val="bg1"/>
                </a:solidFill>
                <a:effectLst/>
                <a:latin typeface="Arial Black" panose="020B0A04020102020204" pitchFamily="34" charset="0"/>
                <a:ea typeface="Times New Roman" panose="02020603050405020304" pitchFamily="18" charset="0"/>
                <a:cs typeface="Times New Roman" panose="02020603050405020304" pitchFamily="18" charset="0"/>
              </a:rPr>
              <a:t>Identification:</a:t>
            </a:r>
            <a:br>
              <a:rPr lang="en-US" sz="4000" b="1" dirty="0">
                <a:solidFill>
                  <a:schemeClr val="bg1"/>
                </a:solidFill>
                <a:effectLst/>
                <a:latin typeface="Arial Black" panose="020B0A04020102020204" pitchFamily="34" charset="0"/>
                <a:ea typeface="Times New Roman" panose="02020603050405020304" pitchFamily="18" charset="0"/>
                <a:cs typeface="Times New Roman" panose="02020603050405020304" pitchFamily="18" charset="0"/>
              </a:rPr>
            </a:br>
            <a:r>
              <a:rPr lang="en-US" sz="4000" b="1" dirty="0" err="1">
                <a:solidFill>
                  <a:schemeClr val="bg1"/>
                </a:solidFill>
                <a:effectLst/>
                <a:latin typeface="Arial Black" panose="020B0A04020102020204" pitchFamily="34" charset="0"/>
                <a:ea typeface="Times New Roman" panose="02020603050405020304" pitchFamily="18" charset="0"/>
                <a:cs typeface="Times New Roman" panose="02020603050405020304" pitchFamily="18" charset="0"/>
              </a:rPr>
              <a:t>TrID</a:t>
            </a:r>
            <a:r>
              <a:rPr lang="en-US" sz="4000" b="1" dirty="0">
                <a:solidFill>
                  <a:schemeClr val="bg1"/>
                </a:solidFill>
                <a:effectLst/>
                <a:latin typeface="Arial Black" panose="020B0A04020102020204" pitchFamily="34" charset="0"/>
                <a:ea typeface="Times New Roman" panose="02020603050405020304" pitchFamily="18" charset="0"/>
                <a:cs typeface="Times New Roman" panose="02020603050405020304" pitchFamily="18" charset="0"/>
              </a:rPr>
              <a:t> &amp; Aliases</a:t>
            </a:r>
            <a:endParaRPr lang="en-US" sz="4000" dirty="0"/>
          </a:p>
        </p:txBody>
      </p:sp>
      <p:pic>
        <p:nvPicPr>
          <p:cNvPr id="3" name="Picture 2">
            <a:extLst>
              <a:ext uri="{FF2B5EF4-FFF2-40B4-BE49-F238E27FC236}">
                <a16:creationId xmlns:a16="http://schemas.microsoft.com/office/drawing/2014/main" id="{1720DFB7-7971-D7CE-986C-63E6358B3DCC}"/>
              </a:ext>
            </a:extLst>
          </p:cNvPr>
          <p:cNvPicPr>
            <a:picLocks noChangeAspect="1"/>
          </p:cNvPicPr>
          <p:nvPr/>
        </p:nvPicPr>
        <p:blipFill>
          <a:blip r:embed="rId3"/>
          <a:stretch>
            <a:fillRect/>
          </a:stretch>
        </p:blipFill>
        <p:spPr>
          <a:xfrm>
            <a:off x="102817" y="136525"/>
            <a:ext cx="5505038" cy="2828744"/>
          </a:xfrm>
          <a:prstGeom prst="rect">
            <a:avLst/>
          </a:prstGeom>
        </p:spPr>
      </p:pic>
      <p:pic>
        <p:nvPicPr>
          <p:cNvPr id="4" name="Picture 3">
            <a:extLst>
              <a:ext uri="{FF2B5EF4-FFF2-40B4-BE49-F238E27FC236}">
                <a16:creationId xmlns:a16="http://schemas.microsoft.com/office/drawing/2014/main" id="{9F4F1163-8761-55E1-0E1B-A5D1840054D7}"/>
              </a:ext>
            </a:extLst>
          </p:cNvPr>
          <p:cNvPicPr>
            <a:picLocks noChangeAspect="1"/>
          </p:cNvPicPr>
          <p:nvPr/>
        </p:nvPicPr>
        <p:blipFill>
          <a:blip r:embed="rId4"/>
          <a:stretch>
            <a:fillRect/>
          </a:stretch>
        </p:blipFill>
        <p:spPr>
          <a:xfrm>
            <a:off x="102817" y="3892732"/>
            <a:ext cx="5540104" cy="1721694"/>
          </a:xfrm>
          <a:prstGeom prst="rect">
            <a:avLst/>
          </a:prstGeom>
        </p:spPr>
      </p:pic>
      <p:sp>
        <p:nvSpPr>
          <p:cNvPr id="5" name="TextBox 4">
            <a:extLst>
              <a:ext uri="{FF2B5EF4-FFF2-40B4-BE49-F238E27FC236}">
                <a16:creationId xmlns:a16="http://schemas.microsoft.com/office/drawing/2014/main" id="{577334C9-3B0C-55A2-0DB2-9B19147A9D8B}"/>
              </a:ext>
            </a:extLst>
          </p:cNvPr>
          <p:cNvSpPr txBox="1"/>
          <p:nvPr/>
        </p:nvSpPr>
        <p:spPr>
          <a:xfrm>
            <a:off x="6003235" y="136525"/>
            <a:ext cx="3393984" cy="6843412"/>
          </a:xfrm>
          <a:prstGeom prst="rect">
            <a:avLst/>
          </a:prstGeom>
          <a:noFill/>
        </p:spPr>
        <p:txBody>
          <a:bodyPr wrap="square" rtlCol="0">
            <a:spAutoFit/>
          </a:bodyPr>
          <a:lstStyle/>
          <a:p>
            <a:r>
              <a:rPr lang="en-US" dirty="0">
                <a:effectLst/>
                <a:latin typeface="Arial" panose="020B0604020202020204" pitchFamily="34" charset="0"/>
                <a:ea typeface="Times New Roman" panose="02020603050405020304" pitchFamily="18" charset="0"/>
                <a:cs typeface="Arial" panose="020B0604020202020204" pitchFamily="34" charset="0"/>
              </a:rPr>
              <a:t>WinRAR Self Extracting archive (4.x-5.x) (93.3%) </a:t>
            </a:r>
          </a:p>
          <a:p>
            <a:pPr marL="0" marR="0">
              <a:lnSpc>
                <a:spcPct val="115000"/>
              </a:lnSpc>
              <a:spcBef>
                <a:spcPts val="1200"/>
              </a:spcBef>
              <a:spcAft>
                <a:spcPts val="300"/>
              </a:spcAft>
              <a:buNone/>
            </a:pPr>
            <a:r>
              <a:rPr lang="en-US" b="1" dirty="0">
                <a:effectLst/>
                <a:latin typeface="Arial" panose="020B0604020202020204" pitchFamily="34" charset="0"/>
                <a:ea typeface="Times New Roman" panose="02020603050405020304" pitchFamily="18" charset="0"/>
                <a:cs typeface="Arial" panose="020B0604020202020204" pitchFamily="34" charset="0"/>
              </a:rPr>
              <a:t>Aliases</a:t>
            </a:r>
          </a:p>
          <a:p>
            <a:pPr marL="342900" marR="0" lvl="0" indent="-342900">
              <a:lnSpc>
                <a:spcPct val="115000"/>
              </a:lnSpc>
              <a:buFont typeface="Symbol" panose="05050102010706020507" pitchFamily="18" charset="2"/>
              <a:buChar char=""/>
            </a:pPr>
            <a:r>
              <a:rPr lang="en-US" dirty="0" err="1">
                <a:effectLst/>
                <a:latin typeface="Arial" panose="020B0604020202020204" pitchFamily="34" charset="0"/>
                <a:ea typeface="Times New Roman" panose="02020603050405020304" pitchFamily="18" charset="0"/>
                <a:cs typeface="Arial" panose="020B0604020202020204" pitchFamily="34" charset="0"/>
              </a:rPr>
              <a:t>sample.exe.mal</a:t>
            </a:r>
            <a:endParaRPr lang="en-US" dirty="0">
              <a:effectLst/>
              <a:latin typeface="Arial" panose="020B0604020202020204" pitchFamily="34" charset="0"/>
              <a:ea typeface="Times New Roman" panose="02020603050405020304" pitchFamily="18" charset="0"/>
              <a:cs typeface="Arial" panose="020B0604020202020204" pitchFamily="34" charset="0"/>
            </a:endParaRPr>
          </a:p>
          <a:p>
            <a:pPr marL="342900" marR="0" lvl="0" indent="-342900">
              <a:lnSpc>
                <a:spcPct val="115000"/>
              </a:lnSpc>
              <a:buFont typeface="Symbol" panose="05050102010706020507" pitchFamily="18" charset="2"/>
              <a:buChar char=""/>
            </a:pPr>
            <a:r>
              <a:rPr lang="en-US" dirty="0" err="1">
                <a:effectLst/>
                <a:latin typeface="Arial" panose="020B0604020202020204" pitchFamily="34" charset="0"/>
                <a:ea typeface="Times New Roman" panose="02020603050405020304" pitchFamily="18" charset="0"/>
                <a:cs typeface="Arial" panose="020B0604020202020204" pitchFamily="34" charset="0"/>
              </a:rPr>
              <a:t>sample.exe.malz</a:t>
            </a:r>
            <a:endParaRPr lang="en-US" dirty="0">
              <a:effectLst/>
              <a:latin typeface="Arial" panose="020B0604020202020204" pitchFamily="34" charset="0"/>
              <a:ea typeface="Times New Roman" panose="02020603050405020304" pitchFamily="18" charset="0"/>
              <a:cs typeface="Arial" panose="020B0604020202020204" pitchFamily="34" charset="0"/>
            </a:endParaRPr>
          </a:p>
          <a:p>
            <a:pPr marL="342900" marR="0" lvl="0" indent="-342900">
              <a:lnSpc>
                <a:spcPct val="115000"/>
              </a:lnSpc>
              <a:buFont typeface="Symbol" panose="05050102010706020507" pitchFamily="18" charset="2"/>
              <a:buChar char=""/>
            </a:pPr>
            <a:r>
              <a:rPr lang="en-US" dirty="0">
                <a:effectLst/>
                <a:latin typeface="Arial" panose="020B0604020202020204" pitchFamily="34" charset="0"/>
                <a:ea typeface="Times New Roman" panose="02020603050405020304" pitchFamily="18" charset="0"/>
                <a:cs typeface="Arial" panose="020B0604020202020204" pitchFamily="34" charset="0"/>
              </a:rPr>
              <a:t>sx.exe</a:t>
            </a:r>
          </a:p>
          <a:p>
            <a:pPr marR="0" lvl="0">
              <a:lnSpc>
                <a:spcPct val="115000"/>
              </a:lnSpc>
            </a:pPr>
            <a:endParaRPr lang="en-US" dirty="0">
              <a:latin typeface="Arial" panose="020B0604020202020204" pitchFamily="34" charset="0"/>
              <a:ea typeface="Times New Roman" panose="02020603050405020304" pitchFamily="18" charset="0"/>
              <a:cs typeface="Arial" panose="020B0604020202020204" pitchFamily="34" charset="0"/>
            </a:endParaRPr>
          </a:p>
          <a:p>
            <a:pPr marR="0" lvl="0">
              <a:lnSpc>
                <a:spcPct val="115000"/>
              </a:lnSpc>
            </a:pPr>
            <a:endParaRPr lang="en-US" dirty="0">
              <a:latin typeface="Arial" panose="020B0604020202020204" pitchFamily="34" charset="0"/>
              <a:ea typeface="Times New Roman" panose="02020603050405020304" pitchFamily="18" charset="0"/>
              <a:cs typeface="Arial" panose="020B0604020202020204" pitchFamily="34" charset="0"/>
            </a:endParaRPr>
          </a:p>
          <a:p>
            <a:pPr marR="0" lvl="0">
              <a:lnSpc>
                <a:spcPct val="115000"/>
              </a:lnSpc>
            </a:pPr>
            <a:endParaRPr lang="en-US" dirty="0">
              <a:latin typeface="Arial" panose="020B0604020202020204" pitchFamily="34" charset="0"/>
              <a:ea typeface="Times New Roman" panose="02020603050405020304" pitchFamily="18" charset="0"/>
              <a:cs typeface="Arial" panose="020B0604020202020204" pitchFamily="34" charset="0"/>
            </a:endParaRPr>
          </a:p>
          <a:p>
            <a:pPr marR="0" lvl="0">
              <a:lnSpc>
                <a:spcPct val="115000"/>
              </a:lnSpc>
            </a:pPr>
            <a:endParaRPr lang="en-US" dirty="0">
              <a:effectLst/>
              <a:latin typeface="Arial" panose="020B0604020202020204" pitchFamily="34" charset="0"/>
              <a:ea typeface="Times New Roman" panose="02020603050405020304" pitchFamily="18" charset="0"/>
              <a:cs typeface="Arial" panose="020B0604020202020204" pitchFamily="34" charset="0"/>
            </a:endParaRPr>
          </a:p>
          <a:p>
            <a:pPr marR="0" lvl="0">
              <a:lnSpc>
                <a:spcPct val="115000"/>
              </a:lnSpc>
            </a:pPr>
            <a:endParaRPr lang="en-US" dirty="0">
              <a:effectLst/>
              <a:latin typeface="Arial" panose="020B0604020202020204" pitchFamily="34" charset="0"/>
              <a:ea typeface="Times New Roman" panose="02020603050405020304" pitchFamily="18" charset="0"/>
              <a:cs typeface="Arial" panose="020B0604020202020204" pitchFamily="34" charset="0"/>
            </a:endParaRPr>
          </a:p>
          <a:p>
            <a:pPr marL="342900" marR="0" lvl="0" indent="-342900">
              <a:lnSpc>
                <a:spcPct val="115000"/>
              </a:lnSpc>
              <a:buFont typeface="Symbol" panose="05050102010706020507" pitchFamily="18" charset="2"/>
              <a:buChar char=""/>
            </a:pPr>
            <a:r>
              <a:rPr lang="en-US" dirty="0">
                <a:effectLst/>
                <a:latin typeface="Arial" panose="020B0604020202020204" pitchFamily="34" charset="0"/>
                <a:ea typeface="Times New Roman" panose="02020603050405020304" pitchFamily="18" charset="0"/>
                <a:cs typeface="Arial" panose="020B0604020202020204" pitchFamily="34" charset="0"/>
              </a:rPr>
              <a:t>197C2D218121FF0EC738F5D301BF13B7824320C07942B99C9F278E8D7508B15D%0A</a:t>
            </a:r>
          </a:p>
          <a:p>
            <a:pPr marL="342900" marR="0" lvl="0" indent="-342900">
              <a:lnSpc>
                <a:spcPct val="115000"/>
              </a:lnSpc>
              <a:spcAft>
                <a:spcPts val="600"/>
              </a:spcAft>
              <a:buFont typeface="Symbol" panose="05050102010706020507" pitchFamily="18" charset="2"/>
              <a:buChar char=""/>
            </a:pPr>
            <a:r>
              <a:rPr lang="en-US" dirty="0">
                <a:effectLst/>
                <a:latin typeface="Arial" panose="020B0604020202020204" pitchFamily="34" charset="0"/>
                <a:ea typeface="Times New Roman" panose="02020603050405020304" pitchFamily="18" charset="0"/>
                <a:cs typeface="Arial" panose="020B0604020202020204" pitchFamily="34" charset="0"/>
              </a:rPr>
              <a:t>197c2d218121ff0ec738f5d301bf13b7824320c07942b99c9f278e8d7508b15d.exe</a:t>
            </a:r>
          </a:p>
          <a:p>
            <a:pPr marL="285750" indent="-285750">
              <a:buFont typeface="Arial" panose="020B0604020202020204" pitchFamily="34" charset="0"/>
              <a:buChar char="•"/>
            </a:pPr>
            <a:r>
              <a:rPr lang="en-US" dirty="0">
                <a:effectLst/>
                <a:latin typeface="Arial" panose="020B0604020202020204" pitchFamily="34" charset="0"/>
                <a:ea typeface="Times New Roman" panose="02020603050405020304" pitchFamily="18" charset="0"/>
                <a:cs typeface="Arial" panose="020B0604020202020204" pitchFamily="34" charset="0"/>
              </a:rPr>
              <a:t>197c2d218121ff0ec738f5d301bf13b7824320c07942b99c9f278e8d7508b15d</a:t>
            </a:r>
            <a:endParaRPr lang="en-US" sz="11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9572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97EC6D-C5AF-FF86-83B0-F5DC490A5FC0}"/>
              </a:ext>
            </a:extLst>
          </p:cNvPr>
          <p:cNvSpPr>
            <a:spLocks noGrp="1"/>
          </p:cNvSpPr>
          <p:nvPr>
            <p:ph type="sldNum" sz="quarter" idx="12"/>
          </p:nvPr>
        </p:nvSpPr>
        <p:spPr/>
        <p:txBody>
          <a:bodyPr/>
          <a:lstStyle/>
          <a:p>
            <a:fld id="{D39BF864-7A39-40DA-B38E-6B0F4C7F839D}" type="slidenum">
              <a:rPr lang="en-US" smtClean="0">
                <a:solidFill>
                  <a:schemeClr val="tx1"/>
                </a:solidFill>
              </a:rPr>
              <a:t>8</a:t>
            </a:fld>
            <a:endParaRPr lang="en-US" dirty="0">
              <a:solidFill>
                <a:schemeClr val="tx1"/>
              </a:solidFill>
            </a:endParaRPr>
          </a:p>
        </p:txBody>
      </p:sp>
      <p:sp>
        <p:nvSpPr>
          <p:cNvPr id="3" name="Google Shape;39;p4">
            <a:extLst>
              <a:ext uri="{FF2B5EF4-FFF2-40B4-BE49-F238E27FC236}">
                <a16:creationId xmlns:a16="http://schemas.microsoft.com/office/drawing/2014/main" id="{4EFC8007-86B4-6B15-239C-E0B2E0ABDF7E}"/>
              </a:ext>
            </a:extLst>
          </p:cNvPr>
          <p:cNvSpPr/>
          <p:nvPr/>
        </p:nvSpPr>
        <p:spPr>
          <a:xfrm>
            <a:off x="-3305224" y="0"/>
            <a:ext cx="661044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CCA3E943-7BFC-E10E-DAA6-70FA467D5796}"/>
              </a:ext>
            </a:extLst>
          </p:cNvPr>
          <p:cNvSpPr txBox="1"/>
          <p:nvPr/>
        </p:nvSpPr>
        <p:spPr>
          <a:xfrm rot="16200000">
            <a:off x="-808446" y="3075057"/>
            <a:ext cx="4000502" cy="707886"/>
          </a:xfrm>
          <a:prstGeom prst="rect">
            <a:avLst/>
          </a:prstGeom>
          <a:noFill/>
        </p:spPr>
        <p:txBody>
          <a:bodyPr vert="horz" wrap="square" anchor="ctr" anchorCtr="0">
            <a:spAutoFit/>
          </a:bodyPr>
          <a:lstStyle/>
          <a:p>
            <a:r>
              <a:rPr lang="en-US" sz="4000" b="1" dirty="0">
                <a:solidFill>
                  <a:schemeClr val="bg1"/>
                </a:solidFill>
                <a:effectLst/>
                <a:latin typeface="Arial Black" panose="020B0A04020102020204" pitchFamily="34" charset="0"/>
                <a:ea typeface="Times New Roman" panose="02020603050405020304" pitchFamily="18" charset="0"/>
                <a:cs typeface="Times New Roman" panose="02020603050405020304" pitchFamily="18" charset="0"/>
              </a:rPr>
              <a:t>Capabilities</a:t>
            </a:r>
            <a:endParaRPr lang="en-US" sz="4000" dirty="0"/>
          </a:p>
        </p:txBody>
      </p:sp>
      <p:sp>
        <p:nvSpPr>
          <p:cNvPr id="6" name="TextBox 5">
            <a:extLst>
              <a:ext uri="{FF2B5EF4-FFF2-40B4-BE49-F238E27FC236}">
                <a16:creationId xmlns:a16="http://schemas.microsoft.com/office/drawing/2014/main" id="{57F9436A-A930-1695-9AEE-90EC9A2E2259}"/>
              </a:ext>
            </a:extLst>
          </p:cNvPr>
          <p:cNvSpPr txBox="1"/>
          <p:nvPr/>
        </p:nvSpPr>
        <p:spPr>
          <a:xfrm>
            <a:off x="2626994" y="0"/>
            <a:ext cx="3657600" cy="7300460"/>
          </a:xfrm>
          <a:prstGeom prst="rect">
            <a:avLst/>
          </a:prstGeom>
          <a:noFill/>
        </p:spPr>
        <p:txBody>
          <a:bodyPr wrap="square" rtlCol="0">
            <a:spAutoFit/>
          </a:bodyPr>
          <a:lstStyle/>
          <a:p>
            <a:r>
              <a:t>Based on static analysis using capa, the sample shows:</a:t>
            </a:r>
          </a:p>
          <a:p>
            <a:r>
              <a:t>• Anti-analysis: anti-debugging, VM and emulator checks</a:t>
            </a:r>
          </a:p>
          <a:p>
            <a:r>
              <a:t>• Execution/obfuscation: encoded data, hashing, shared modules</a:t>
            </a:r>
          </a:p>
          <a:p>
            <a:r>
              <a:t>• Packaging: modified WinRAR SFX behavior</a:t>
            </a:r>
          </a:p>
          <a:p>
            <a:r>
              <a:t>• Potential loader/C2 behavior: staging patterns and sandbox indicators</a:t>
            </a:r>
          </a:p>
        </p:txBody>
      </p:sp>
      <p:pic>
        <p:nvPicPr>
          <p:cNvPr id="7" name="Picture 6">
            <a:extLst>
              <a:ext uri="{FF2B5EF4-FFF2-40B4-BE49-F238E27FC236}">
                <a16:creationId xmlns:a16="http://schemas.microsoft.com/office/drawing/2014/main" id="{A6B3249A-9021-00D6-2023-C3AB83E71F09}"/>
              </a:ext>
            </a:extLst>
          </p:cNvPr>
          <p:cNvPicPr>
            <a:picLocks noChangeAspect="1"/>
          </p:cNvPicPr>
          <p:nvPr/>
        </p:nvPicPr>
        <p:blipFill>
          <a:blip r:embed="rId2"/>
          <a:stretch>
            <a:fillRect/>
          </a:stretch>
        </p:blipFill>
        <p:spPr>
          <a:xfrm>
            <a:off x="6096000" y="136525"/>
            <a:ext cx="5684742" cy="5984582"/>
          </a:xfrm>
          <a:prstGeom prst="rect">
            <a:avLst/>
          </a:prstGeom>
        </p:spPr>
      </p:pic>
    </p:spTree>
    <p:extLst>
      <p:ext uri="{BB962C8B-B14F-4D97-AF65-F5344CB8AC3E}">
        <p14:creationId xmlns:p14="http://schemas.microsoft.com/office/powerpoint/2010/main" val="2922633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58;p7">
            <a:extLst>
              <a:ext uri="{FF2B5EF4-FFF2-40B4-BE49-F238E27FC236}">
                <a16:creationId xmlns:a16="http://schemas.microsoft.com/office/drawing/2014/main" id="{244EFD70-480A-D11D-2DF9-FD47393043EE}"/>
              </a:ext>
            </a:extLst>
          </p:cNvPr>
          <p:cNvSpPr/>
          <p:nvPr/>
        </p:nvSpPr>
        <p:spPr>
          <a:xfrm flipH="1">
            <a:off x="8984721" y="0"/>
            <a:ext cx="641455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4E6DC525-0428-59C2-5E1E-C1E513CBE3FA}"/>
              </a:ext>
            </a:extLst>
          </p:cNvPr>
          <p:cNvSpPr>
            <a:spLocks noGrp="1"/>
          </p:cNvSpPr>
          <p:nvPr>
            <p:ph type="sldNum" sz="quarter" idx="12"/>
          </p:nvPr>
        </p:nvSpPr>
        <p:spPr/>
        <p:txBody>
          <a:bodyPr/>
          <a:lstStyle/>
          <a:p>
            <a:fld id="{D39BF864-7A39-40DA-B38E-6B0F4C7F839D}" type="slidenum">
              <a:rPr lang="en-US" smtClean="0">
                <a:solidFill>
                  <a:schemeClr val="bg1"/>
                </a:solidFill>
              </a:rPr>
              <a:t>9</a:t>
            </a:fld>
            <a:endParaRPr lang="en-US" dirty="0">
              <a:solidFill>
                <a:schemeClr val="bg1"/>
              </a:solidFill>
            </a:endParaRPr>
          </a:p>
        </p:txBody>
      </p:sp>
      <p:sp>
        <p:nvSpPr>
          <p:cNvPr id="11" name="TextBox 10">
            <a:extLst>
              <a:ext uri="{FF2B5EF4-FFF2-40B4-BE49-F238E27FC236}">
                <a16:creationId xmlns:a16="http://schemas.microsoft.com/office/drawing/2014/main" id="{2437F94C-A32F-773C-A310-5CF4033AB2B7}"/>
              </a:ext>
            </a:extLst>
          </p:cNvPr>
          <p:cNvSpPr txBox="1"/>
          <p:nvPr/>
        </p:nvSpPr>
        <p:spPr>
          <a:xfrm rot="5400000" flipH="1">
            <a:off x="8828158" y="3075057"/>
            <a:ext cx="4343398" cy="707886"/>
          </a:xfrm>
          <a:prstGeom prst="rect">
            <a:avLst/>
          </a:prstGeom>
          <a:noFill/>
        </p:spPr>
        <p:txBody>
          <a:bodyPr vert="horz" wrap="square" anchor="ctr" anchorCtr="0">
            <a:spAutoFit/>
          </a:bodyPr>
          <a:lstStyle/>
          <a:p>
            <a:r>
              <a:rPr lang="en-US" sz="4000" b="1" dirty="0">
                <a:solidFill>
                  <a:schemeClr val="bg1"/>
                </a:solidFill>
                <a:effectLst/>
                <a:latin typeface="Arial Black" panose="020B0A04020102020204" pitchFamily="34" charset="0"/>
                <a:ea typeface="Times New Roman" panose="02020603050405020304" pitchFamily="18" charset="0"/>
                <a:cs typeface="Times New Roman" panose="02020603050405020304" pitchFamily="18" charset="0"/>
              </a:rPr>
              <a:t>Dependencies</a:t>
            </a:r>
            <a:endParaRPr lang="en-US" sz="4000" dirty="0"/>
          </a:p>
        </p:txBody>
      </p:sp>
      <p:pic>
        <p:nvPicPr>
          <p:cNvPr id="3" name="Picture 2">
            <a:extLst>
              <a:ext uri="{FF2B5EF4-FFF2-40B4-BE49-F238E27FC236}">
                <a16:creationId xmlns:a16="http://schemas.microsoft.com/office/drawing/2014/main" id="{1BDF7F16-BA97-0897-E93A-FA1323FD2B2D}"/>
              </a:ext>
            </a:extLst>
          </p:cNvPr>
          <p:cNvPicPr>
            <a:picLocks noChangeAspect="1"/>
          </p:cNvPicPr>
          <p:nvPr/>
        </p:nvPicPr>
        <p:blipFill>
          <a:blip r:embed="rId2"/>
          <a:stretch>
            <a:fillRect/>
          </a:stretch>
        </p:blipFill>
        <p:spPr>
          <a:xfrm>
            <a:off x="91661" y="147498"/>
            <a:ext cx="5577619" cy="2219606"/>
          </a:xfrm>
          <a:prstGeom prst="rect">
            <a:avLst/>
          </a:prstGeom>
        </p:spPr>
      </p:pic>
      <p:pic>
        <p:nvPicPr>
          <p:cNvPr id="4" name="Picture 3">
            <a:extLst>
              <a:ext uri="{FF2B5EF4-FFF2-40B4-BE49-F238E27FC236}">
                <a16:creationId xmlns:a16="http://schemas.microsoft.com/office/drawing/2014/main" id="{D167F9A0-535A-FE83-38AF-03E731A06350}"/>
              </a:ext>
            </a:extLst>
          </p:cNvPr>
          <p:cNvPicPr>
            <a:picLocks noChangeAspect="1"/>
          </p:cNvPicPr>
          <p:nvPr/>
        </p:nvPicPr>
        <p:blipFill>
          <a:blip r:embed="rId3"/>
          <a:stretch>
            <a:fillRect/>
          </a:stretch>
        </p:blipFill>
        <p:spPr>
          <a:xfrm>
            <a:off x="77208" y="4247048"/>
            <a:ext cx="5759200" cy="2291864"/>
          </a:xfrm>
          <a:prstGeom prst="rect">
            <a:avLst/>
          </a:prstGeom>
        </p:spPr>
      </p:pic>
      <p:sp>
        <p:nvSpPr>
          <p:cNvPr id="5" name="TextBox 4">
            <a:extLst>
              <a:ext uri="{FF2B5EF4-FFF2-40B4-BE49-F238E27FC236}">
                <a16:creationId xmlns:a16="http://schemas.microsoft.com/office/drawing/2014/main" id="{79AB76A1-0ED7-4556-2202-EBF5D44D42D8}"/>
              </a:ext>
            </a:extLst>
          </p:cNvPr>
          <p:cNvSpPr txBox="1"/>
          <p:nvPr/>
        </p:nvSpPr>
        <p:spPr>
          <a:xfrm>
            <a:off x="6278971" y="1691937"/>
            <a:ext cx="2749163" cy="3908762"/>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pPr marL="342900" marR="0" lvl="0" indent="-342900">
              <a:lnSpc>
                <a:spcPct val="115000"/>
              </a:lnSpc>
              <a:buFont typeface="Symbol" panose="05050102010706020507" pitchFamily="18" charset="2"/>
              <a:buChar char=""/>
            </a:pPr>
            <a:r>
              <a:rPr lang="en-US" dirty="0">
                <a:effectLst/>
                <a:latin typeface="Arial" panose="020B0604020202020204" pitchFamily="34" charset="0"/>
                <a:ea typeface="Times New Roman" panose="02020603050405020304" pitchFamily="18" charset="0"/>
                <a:cs typeface="Arial" panose="020B0604020202020204" pitchFamily="34" charset="0"/>
              </a:rPr>
              <a:t>OLEAUT32.DLL</a:t>
            </a:r>
          </a:p>
          <a:p>
            <a:pPr marL="342900" marR="0" lvl="0" indent="-342900">
              <a:lnSpc>
                <a:spcPct val="115000"/>
              </a:lnSpc>
              <a:buFont typeface="Symbol" panose="05050102010706020507" pitchFamily="18" charset="2"/>
              <a:buChar char=""/>
            </a:pPr>
            <a:r>
              <a:rPr lang="en-US" dirty="0">
                <a:effectLst/>
                <a:latin typeface="Arial" panose="020B0604020202020204" pitchFamily="34" charset="0"/>
                <a:ea typeface="Times New Roman" panose="02020603050405020304" pitchFamily="18" charset="0"/>
                <a:cs typeface="Arial" panose="020B0604020202020204" pitchFamily="34" charset="0"/>
              </a:rPr>
              <a:t>OLE32.DLL</a:t>
            </a:r>
          </a:p>
          <a:p>
            <a:pPr marL="342900" marR="0" lvl="0" indent="-342900">
              <a:lnSpc>
                <a:spcPct val="115000"/>
              </a:lnSpc>
              <a:buFont typeface="Symbol" panose="05050102010706020507" pitchFamily="18" charset="2"/>
              <a:buChar char=""/>
            </a:pPr>
            <a:r>
              <a:rPr lang="en-US" dirty="0">
                <a:effectLst/>
                <a:latin typeface="Arial" panose="020B0604020202020204" pitchFamily="34" charset="0"/>
                <a:ea typeface="Times New Roman" panose="02020603050405020304" pitchFamily="18" charset="0"/>
                <a:cs typeface="Arial" panose="020B0604020202020204" pitchFamily="34" charset="0"/>
              </a:rPr>
              <a:t>SHELL32.DLL</a:t>
            </a:r>
          </a:p>
          <a:p>
            <a:pPr marL="342900" marR="0" lvl="0" indent="-342900">
              <a:lnSpc>
                <a:spcPct val="115000"/>
              </a:lnSpc>
              <a:buFont typeface="Symbol" panose="05050102010706020507" pitchFamily="18" charset="2"/>
              <a:buChar char=""/>
            </a:pPr>
            <a:r>
              <a:rPr lang="en-US" dirty="0">
                <a:effectLst/>
                <a:latin typeface="Arial" panose="020B0604020202020204" pitchFamily="34" charset="0"/>
                <a:ea typeface="Times New Roman" panose="02020603050405020304" pitchFamily="18" charset="0"/>
                <a:cs typeface="Arial" panose="020B0604020202020204" pitchFamily="34" charset="0"/>
              </a:rPr>
              <a:t>ADVAPI32.DLL</a:t>
            </a:r>
          </a:p>
          <a:p>
            <a:pPr marL="342900" marR="0" lvl="0" indent="-342900">
              <a:lnSpc>
                <a:spcPct val="115000"/>
              </a:lnSpc>
              <a:buFont typeface="Symbol" panose="05050102010706020507" pitchFamily="18" charset="2"/>
              <a:buChar char=""/>
            </a:pPr>
            <a:r>
              <a:rPr lang="en-US" dirty="0">
                <a:effectLst/>
                <a:latin typeface="Arial" panose="020B0604020202020204" pitchFamily="34" charset="0"/>
                <a:ea typeface="Times New Roman" panose="02020603050405020304" pitchFamily="18" charset="0"/>
                <a:cs typeface="Arial" panose="020B0604020202020204" pitchFamily="34" charset="0"/>
              </a:rPr>
              <a:t>COMDLG32.DLL</a:t>
            </a:r>
          </a:p>
          <a:p>
            <a:pPr marL="342900" marR="0" lvl="0" indent="-342900">
              <a:lnSpc>
                <a:spcPct val="115000"/>
              </a:lnSpc>
              <a:buFont typeface="Symbol" panose="05050102010706020507" pitchFamily="18" charset="2"/>
              <a:buChar char=""/>
            </a:pPr>
            <a:r>
              <a:rPr lang="en-US" dirty="0">
                <a:effectLst/>
                <a:latin typeface="Arial" panose="020B0604020202020204" pitchFamily="34" charset="0"/>
                <a:ea typeface="Times New Roman" panose="02020603050405020304" pitchFamily="18" charset="0"/>
                <a:cs typeface="Arial" panose="020B0604020202020204" pitchFamily="34" charset="0"/>
              </a:rPr>
              <a:t>GDI32.DLL</a:t>
            </a:r>
          </a:p>
          <a:p>
            <a:pPr marL="342900" marR="0" lvl="0" indent="-342900">
              <a:lnSpc>
                <a:spcPct val="115000"/>
              </a:lnSpc>
              <a:buFont typeface="Symbol" panose="05050102010706020507" pitchFamily="18" charset="2"/>
              <a:buChar char=""/>
            </a:pPr>
            <a:r>
              <a:rPr lang="en-US" dirty="0">
                <a:effectLst/>
                <a:latin typeface="Arial" panose="020B0604020202020204" pitchFamily="34" charset="0"/>
                <a:ea typeface="Times New Roman" panose="02020603050405020304" pitchFamily="18" charset="0"/>
                <a:cs typeface="Arial" panose="020B0604020202020204" pitchFamily="34" charset="0"/>
              </a:rPr>
              <a:t>USER32.DLL</a:t>
            </a:r>
          </a:p>
          <a:p>
            <a:pPr marL="342900" marR="0" lvl="0" indent="-342900">
              <a:lnSpc>
                <a:spcPct val="115000"/>
              </a:lnSpc>
              <a:buFont typeface="Symbol" panose="05050102010706020507" pitchFamily="18" charset="2"/>
              <a:buChar char=""/>
            </a:pPr>
            <a:r>
              <a:rPr lang="en-US" dirty="0">
                <a:effectLst/>
                <a:latin typeface="Arial" panose="020B0604020202020204" pitchFamily="34" charset="0"/>
                <a:ea typeface="Times New Roman" panose="02020603050405020304" pitchFamily="18" charset="0"/>
                <a:cs typeface="Arial" panose="020B0604020202020204" pitchFamily="34" charset="0"/>
              </a:rPr>
              <a:t>KERNEL32.DLL</a:t>
            </a:r>
          </a:p>
          <a:p>
            <a:pPr marL="342900" marR="0" lvl="0" indent="-342900">
              <a:lnSpc>
                <a:spcPct val="115000"/>
              </a:lnSpc>
              <a:buFont typeface="Symbol" panose="05050102010706020507" pitchFamily="18" charset="2"/>
              <a:buChar char=""/>
            </a:pPr>
            <a:r>
              <a:rPr lang="en-US" dirty="0">
                <a:effectLst/>
                <a:latin typeface="Arial" panose="020B0604020202020204" pitchFamily="34" charset="0"/>
                <a:ea typeface="Times New Roman" panose="02020603050405020304" pitchFamily="18" charset="0"/>
                <a:cs typeface="Arial" panose="020B0604020202020204" pitchFamily="34" charset="0"/>
              </a:rPr>
              <a:t>SHLWAPI.DLL</a:t>
            </a:r>
          </a:p>
          <a:p>
            <a:pPr marL="342900" marR="0" lvl="0" indent="-342900">
              <a:lnSpc>
                <a:spcPct val="115000"/>
              </a:lnSpc>
              <a:spcAft>
                <a:spcPts val="600"/>
              </a:spcAft>
              <a:buFont typeface="Symbol" panose="05050102010706020507" pitchFamily="18" charset="2"/>
              <a:buChar char=""/>
            </a:pPr>
            <a:r>
              <a:rPr lang="en-US" dirty="0">
                <a:effectLst/>
                <a:latin typeface="Arial" panose="020B0604020202020204" pitchFamily="34" charset="0"/>
                <a:ea typeface="Times New Roman" panose="02020603050405020304" pitchFamily="18" charset="0"/>
                <a:cs typeface="Arial" panose="020B0604020202020204" pitchFamily="34" charset="0"/>
              </a:rPr>
              <a:t>COMCTL32.DLL</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91815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97EC6D-C5AF-FF86-83B0-F5DC490A5FC0}"/>
              </a:ext>
            </a:extLst>
          </p:cNvPr>
          <p:cNvSpPr>
            <a:spLocks noGrp="1"/>
          </p:cNvSpPr>
          <p:nvPr>
            <p:ph type="sldNum" sz="quarter" idx="12"/>
          </p:nvPr>
        </p:nvSpPr>
        <p:spPr/>
        <p:txBody>
          <a:bodyPr/>
          <a:lstStyle/>
          <a:p>
            <a:fld id="{D39BF864-7A39-40DA-B38E-6B0F4C7F839D}" type="slidenum">
              <a:rPr lang="en-US" smtClean="0">
                <a:solidFill>
                  <a:schemeClr val="tx1"/>
                </a:solidFill>
              </a:rPr>
              <a:t>10</a:t>
            </a:fld>
            <a:endParaRPr lang="en-US" dirty="0">
              <a:solidFill>
                <a:schemeClr val="tx1"/>
              </a:solidFill>
            </a:endParaRPr>
          </a:p>
        </p:txBody>
      </p:sp>
      <p:sp>
        <p:nvSpPr>
          <p:cNvPr id="3" name="Google Shape;39;p4">
            <a:extLst>
              <a:ext uri="{FF2B5EF4-FFF2-40B4-BE49-F238E27FC236}">
                <a16:creationId xmlns:a16="http://schemas.microsoft.com/office/drawing/2014/main" id="{4EFC8007-86B4-6B15-239C-E0B2E0ABDF7E}"/>
              </a:ext>
            </a:extLst>
          </p:cNvPr>
          <p:cNvSpPr/>
          <p:nvPr/>
        </p:nvSpPr>
        <p:spPr>
          <a:xfrm>
            <a:off x="-3305224" y="0"/>
            <a:ext cx="661044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CCA3E943-7BFC-E10E-DAA6-70FA467D5796}"/>
              </a:ext>
            </a:extLst>
          </p:cNvPr>
          <p:cNvSpPr txBox="1"/>
          <p:nvPr/>
        </p:nvSpPr>
        <p:spPr>
          <a:xfrm rot="16200000">
            <a:off x="-1633036" y="2459504"/>
            <a:ext cx="5649686" cy="1938992"/>
          </a:xfrm>
          <a:prstGeom prst="rect">
            <a:avLst/>
          </a:prstGeom>
          <a:noFill/>
        </p:spPr>
        <p:txBody>
          <a:bodyPr vert="horz" wrap="square" anchor="ctr" anchorCtr="0">
            <a:spAutoFit/>
          </a:bodyPr>
          <a:lstStyle/>
          <a:p>
            <a:pPr algn="ctr"/>
            <a:r>
              <a:rPr lang="en-US" sz="4000" dirty="0">
                <a:solidFill>
                  <a:schemeClr val="bg1"/>
                </a:solidFill>
                <a:latin typeface="Arial Black" panose="020B0A04020102020204" pitchFamily="34" charset="0"/>
              </a:rPr>
              <a:t>Basic Static Analysis:</a:t>
            </a:r>
          </a:p>
          <a:p>
            <a:pPr algn="ctr"/>
            <a:r>
              <a:rPr lang="en-US" sz="4000" dirty="0">
                <a:solidFill>
                  <a:schemeClr val="bg1"/>
                </a:solidFill>
                <a:latin typeface="Arial Black" panose="020B0A04020102020204" pitchFamily="34" charset="0"/>
              </a:rPr>
              <a:t>Strings</a:t>
            </a:r>
          </a:p>
        </p:txBody>
      </p:sp>
      <p:pic>
        <p:nvPicPr>
          <p:cNvPr id="4" name="Picture 3">
            <a:extLst>
              <a:ext uri="{FF2B5EF4-FFF2-40B4-BE49-F238E27FC236}">
                <a16:creationId xmlns:a16="http://schemas.microsoft.com/office/drawing/2014/main" id="{B07665F3-F147-7A39-56EB-FF46FE65B752}"/>
              </a:ext>
            </a:extLst>
          </p:cNvPr>
          <p:cNvPicPr>
            <a:picLocks noChangeAspect="1"/>
          </p:cNvPicPr>
          <p:nvPr/>
        </p:nvPicPr>
        <p:blipFill>
          <a:blip r:embed="rId2"/>
          <a:srcRect r="31248"/>
          <a:stretch/>
        </p:blipFill>
        <p:spPr>
          <a:xfrm>
            <a:off x="3769573" y="753244"/>
            <a:ext cx="3838528" cy="4758554"/>
          </a:xfrm>
          <a:prstGeom prst="rect">
            <a:avLst/>
          </a:prstGeom>
          <a:ln>
            <a:solidFill>
              <a:schemeClr val="tx1"/>
            </a:solidFill>
          </a:ln>
        </p:spPr>
      </p:pic>
      <p:pic>
        <p:nvPicPr>
          <p:cNvPr id="6" name="Picture 5">
            <a:extLst>
              <a:ext uri="{FF2B5EF4-FFF2-40B4-BE49-F238E27FC236}">
                <a16:creationId xmlns:a16="http://schemas.microsoft.com/office/drawing/2014/main" id="{5BEF65F6-AC71-7764-C02A-F9021F19A27D}"/>
              </a:ext>
            </a:extLst>
          </p:cNvPr>
          <p:cNvPicPr>
            <a:picLocks noChangeAspect="1"/>
          </p:cNvPicPr>
          <p:nvPr/>
        </p:nvPicPr>
        <p:blipFill>
          <a:blip r:embed="rId3"/>
          <a:srcRect r="33622"/>
          <a:stretch/>
        </p:blipFill>
        <p:spPr>
          <a:xfrm>
            <a:off x="7924675" y="753244"/>
            <a:ext cx="3984036" cy="4758554"/>
          </a:xfrm>
          <a:prstGeom prst="rect">
            <a:avLst/>
          </a:prstGeom>
          <a:solidFill>
            <a:srgbClr val="000000"/>
          </a:solidFill>
          <a:ln>
            <a:solidFill>
              <a:schemeClr val="tx1"/>
            </a:solidFill>
          </a:ln>
        </p:spPr>
      </p:pic>
    </p:spTree>
    <p:extLst>
      <p:ext uri="{BB962C8B-B14F-4D97-AF65-F5344CB8AC3E}">
        <p14:creationId xmlns:p14="http://schemas.microsoft.com/office/powerpoint/2010/main" val="3278034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58;p7">
            <a:extLst>
              <a:ext uri="{FF2B5EF4-FFF2-40B4-BE49-F238E27FC236}">
                <a16:creationId xmlns:a16="http://schemas.microsoft.com/office/drawing/2014/main" id="{244EFD70-480A-D11D-2DF9-FD47393043EE}"/>
              </a:ext>
            </a:extLst>
          </p:cNvPr>
          <p:cNvSpPr/>
          <p:nvPr/>
        </p:nvSpPr>
        <p:spPr>
          <a:xfrm flipH="1">
            <a:off x="8984721" y="0"/>
            <a:ext cx="641455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4E6DC525-0428-59C2-5E1E-C1E513CBE3FA}"/>
              </a:ext>
            </a:extLst>
          </p:cNvPr>
          <p:cNvSpPr>
            <a:spLocks noGrp="1"/>
          </p:cNvSpPr>
          <p:nvPr>
            <p:ph type="sldNum" sz="quarter" idx="12"/>
          </p:nvPr>
        </p:nvSpPr>
        <p:spPr/>
        <p:txBody>
          <a:bodyPr/>
          <a:lstStyle/>
          <a:p>
            <a:fld id="{D39BF864-7A39-40DA-B38E-6B0F4C7F839D}" type="slidenum">
              <a:rPr lang="en-US" smtClean="0">
                <a:solidFill>
                  <a:schemeClr val="bg1"/>
                </a:solidFill>
              </a:rPr>
              <a:t>11</a:t>
            </a:fld>
            <a:endParaRPr lang="en-US" dirty="0">
              <a:solidFill>
                <a:schemeClr val="bg1"/>
              </a:solidFill>
            </a:endParaRPr>
          </a:p>
        </p:txBody>
      </p:sp>
      <p:sp>
        <p:nvSpPr>
          <p:cNvPr id="11" name="TextBox 10">
            <a:extLst>
              <a:ext uri="{FF2B5EF4-FFF2-40B4-BE49-F238E27FC236}">
                <a16:creationId xmlns:a16="http://schemas.microsoft.com/office/drawing/2014/main" id="{2437F94C-A32F-773C-A310-5CF4033AB2B7}"/>
              </a:ext>
            </a:extLst>
          </p:cNvPr>
          <p:cNvSpPr txBox="1"/>
          <p:nvPr/>
        </p:nvSpPr>
        <p:spPr>
          <a:xfrm rot="5400000" flipH="1">
            <a:off x="8158686" y="2459504"/>
            <a:ext cx="5682342" cy="1938992"/>
          </a:xfrm>
          <a:prstGeom prst="rect">
            <a:avLst/>
          </a:prstGeom>
          <a:noFill/>
        </p:spPr>
        <p:txBody>
          <a:bodyPr vert="horz" wrap="square" anchor="ctr" anchorCtr="0">
            <a:spAutoFit/>
          </a:bodyPr>
          <a:lstStyle/>
          <a:p>
            <a:pPr algn="ctr"/>
            <a:r>
              <a:rPr lang="en-US" sz="4000" dirty="0">
                <a:solidFill>
                  <a:schemeClr val="bg1"/>
                </a:solidFill>
                <a:latin typeface="Arial Black" panose="020B0A04020102020204" pitchFamily="34" charset="0"/>
              </a:rPr>
              <a:t>Basic Static Analysis:</a:t>
            </a:r>
          </a:p>
          <a:p>
            <a:pPr algn="ctr"/>
            <a:r>
              <a:rPr lang="en-US" sz="4000" dirty="0">
                <a:solidFill>
                  <a:schemeClr val="bg1"/>
                </a:solidFill>
                <a:latin typeface="Arial Black" panose="020B0A04020102020204" pitchFamily="34" charset="0"/>
              </a:rPr>
              <a:t>Strings</a:t>
            </a:r>
          </a:p>
        </p:txBody>
      </p:sp>
      <p:pic>
        <p:nvPicPr>
          <p:cNvPr id="3" name="Picture 2">
            <a:extLst>
              <a:ext uri="{FF2B5EF4-FFF2-40B4-BE49-F238E27FC236}">
                <a16:creationId xmlns:a16="http://schemas.microsoft.com/office/drawing/2014/main" id="{95CB566A-B079-E078-6C64-A121ECE83B8D}"/>
              </a:ext>
            </a:extLst>
          </p:cNvPr>
          <p:cNvPicPr>
            <a:picLocks noChangeAspect="1"/>
          </p:cNvPicPr>
          <p:nvPr/>
        </p:nvPicPr>
        <p:blipFill>
          <a:blip r:embed="rId3"/>
          <a:srcRect r="17541"/>
          <a:stretch/>
        </p:blipFill>
        <p:spPr>
          <a:xfrm>
            <a:off x="307410" y="181114"/>
            <a:ext cx="6800030" cy="6495772"/>
          </a:xfrm>
          <a:prstGeom prst="rect">
            <a:avLst/>
          </a:prstGeom>
          <a:ln>
            <a:solidFill>
              <a:schemeClr val="tx1"/>
            </a:solidFill>
          </a:ln>
        </p:spPr>
      </p:pic>
    </p:spTree>
    <p:extLst>
      <p:ext uri="{BB962C8B-B14F-4D97-AF65-F5344CB8AC3E}">
        <p14:creationId xmlns:p14="http://schemas.microsoft.com/office/powerpoint/2010/main" val="2569282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97EC6D-C5AF-FF86-83B0-F5DC490A5FC0}"/>
              </a:ext>
            </a:extLst>
          </p:cNvPr>
          <p:cNvSpPr>
            <a:spLocks noGrp="1"/>
          </p:cNvSpPr>
          <p:nvPr>
            <p:ph type="sldNum" sz="quarter" idx="12"/>
          </p:nvPr>
        </p:nvSpPr>
        <p:spPr/>
        <p:txBody>
          <a:bodyPr/>
          <a:lstStyle/>
          <a:p>
            <a:fld id="{D39BF864-7A39-40DA-B38E-6B0F4C7F839D}" type="slidenum">
              <a:rPr lang="en-US" smtClean="0">
                <a:solidFill>
                  <a:schemeClr val="tx1"/>
                </a:solidFill>
              </a:rPr>
              <a:t>12</a:t>
            </a:fld>
            <a:endParaRPr lang="en-US" dirty="0">
              <a:solidFill>
                <a:schemeClr val="tx1"/>
              </a:solidFill>
            </a:endParaRPr>
          </a:p>
        </p:txBody>
      </p:sp>
      <p:sp>
        <p:nvSpPr>
          <p:cNvPr id="3" name="Google Shape;39;p4">
            <a:extLst>
              <a:ext uri="{FF2B5EF4-FFF2-40B4-BE49-F238E27FC236}">
                <a16:creationId xmlns:a16="http://schemas.microsoft.com/office/drawing/2014/main" id="{4EFC8007-86B4-6B15-239C-E0B2E0ABDF7E}"/>
              </a:ext>
            </a:extLst>
          </p:cNvPr>
          <p:cNvSpPr/>
          <p:nvPr/>
        </p:nvSpPr>
        <p:spPr>
          <a:xfrm>
            <a:off x="-3305224" y="0"/>
            <a:ext cx="661044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CCA3E943-7BFC-E10E-DAA6-70FA467D5796}"/>
              </a:ext>
            </a:extLst>
          </p:cNvPr>
          <p:cNvSpPr txBox="1"/>
          <p:nvPr/>
        </p:nvSpPr>
        <p:spPr>
          <a:xfrm rot="16200000">
            <a:off x="-808446" y="2305616"/>
            <a:ext cx="4000502" cy="2246769"/>
          </a:xfrm>
          <a:prstGeom prst="rect">
            <a:avLst/>
          </a:prstGeom>
          <a:noFill/>
        </p:spPr>
        <p:txBody>
          <a:bodyPr vert="horz" wrap="square" anchor="ctr" anchorCtr="0">
            <a:spAutoFit/>
          </a:bodyPr>
          <a:lstStyle/>
          <a:p>
            <a:pPr algn="ctr"/>
            <a:r>
              <a:rPr lang="en-US" sz="4000" dirty="0">
                <a:solidFill>
                  <a:schemeClr val="bg1"/>
                </a:solidFill>
                <a:latin typeface="Arial Black" panose="020B0A04020102020204" pitchFamily="34" charset="0"/>
              </a:rPr>
              <a:t>Basic Static Analysis:</a:t>
            </a:r>
          </a:p>
          <a:p>
            <a:pPr algn="ctr"/>
            <a:r>
              <a:rPr lang="en-US" sz="4000" dirty="0">
                <a:solidFill>
                  <a:schemeClr val="bg1"/>
                </a:solidFill>
                <a:latin typeface="Arial Black" panose="020B0A04020102020204" pitchFamily="34" charset="0"/>
              </a:rPr>
              <a:t>Packer Info</a:t>
            </a:r>
          </a:p>
          <a:p>
            <a:pPr algn="ctr"/>
            <a:endParaRPr lang="en-US" sz="2000" dirty="0">
              <a:solidFill>
                <a:schemeClr val="bg1"/>
              </a:solidFill>
              <a:latin typeface="Arial Black" panose="020B0A04020102020204" pitchFamily="34" charset="0"/>
            </a:endParaRPr>
          </a:p>
        </p:txBody>
      </p:sp>
      <p:pic>
        <p:nvPicPr>
          <p:cNvPr id="13" name="Picture 12">
            <a:extLst>
              <a:ext uri="{FF2B5EF4-FFF2-40B4-BE49-F238E27FC236}">
                <a16:creationId xmlns:a16="http://schemas.microsoft.com/office/drawing/2014/main" id="{18AD0789-152C-3C25-E9AF-B0A59F765F17}"/>
              </a:ext>
            </a:extLst>
          </p:cNvPr>
          <p:cNvPicPr>
            <a:picLocks noChangeAspect="1"/>
          </p:cNvPicPr>
          <p:nvPr/>
        </p:nvPicPr>
        <p:blipFill>
          <a:blip r:embed="rId2"/>
          <a:stretch>
            <a:fillRect/>
          </a:stretch>
        </p:blipFill>
        <p:spPr>
          <a:xfrm>
            <a:off x="7736626" y="178061"/>
            <a:ext cx="3617174" cy="2064036"/>
          </a:xfrm>
          <a:prstGeom prst="rect">
            <a:avLst/>
          </a:prstGeom>
        </p:spPr>
      </p:pic>
      <p:pic>
        <p:nvPicPr>
          <p:cNvPr id="14" name="Picture 13">
            <a:extLst>
              <a:ext uri="{FF2B5EF4-FFF2-40B4-BE49-F238E27FC236}">
                <a16:creationId xmlns:a16="http://schemas.microsoft.com/office/drawing/2014/main" id="{2FA1096C-51F3-16C6-05D3-611C72DAACDE}"/>
              </a:ext>
            </a:extLst>
          </p:cNvPr>
          <p:cNvPicPr>
            <a:picLocks noChangeAspect="1"/>
          </p:cNvPicPr>
          <p:nvPr/>
        </p:nvPicPr>
        <p:blipFill>
          <a:blip r:embed="rId3"/>
          <a:stretch>
            <a:fillRect/>
          </a:stretch>
        </p:blipFill>
        <p:spPr>
          <a:xfrm>
            <a:off x="5072002" y="2463205"/>
            <a:ext cx="5039420" cy="1735800"/>
          </a:xfrm>
          <a:prstGeom prst="rect">
            <a:avLst/>
          </a:prstGeom>
        </p:spPr>
      </p:pic>
      <p:pic>
        <p:nvPicPr>
          <p:cNvPr id="15" name="Picture 14">
            <a:extLst>
              <a:ext uri="{FF2B5EF4-FFF2-40B4-BE49-F238E27FC236}">
                <a16:creationId xmlns:a16="http://schemas.microsoft.com/office/drawing/2014/main" id="{31DB6BE6-B434-064D-95D8-B93A1DCBBC4D}"/>
              </a:ext>
            </a:extLst>
          </p:cNvPr>
          <p:cNvPicPr>
            <a:picLocks noChangeAspect="1"/>
          </p:cNvPicPr>
          <p:nvPr/>
        </p:nvPicPr>
        <p:blipFill>
          <a:blip r:embed="rId4"/>
          <a:srcRect b="15075"/>
          <a:stretch/>
        </p:blipFill>
        <p:spPr>
          <a:xfrm>
            <a:off x="3465441" y="4499760"/>
            <a:ext cx="6631992" cy="2039152"/>
          </a:xfrm>
          <a:prstGeom prst="rect">
            <a:avLst/>
          </a:prstGeom>
        </p:spPr>
      </p:pic>
      <p:sp>
        <p:nvSpPr>
          <p:cNvPr id="16" name="TextBox 15">
            <a:extLst>
              <a:ext uri="{FF2B5EF4-FFF2-40B4-BE49-F238E27FC236}">
                <a16:creationId xmlns:a16="http://schemas.microsoft.com/office/drawing/2014/main" id="{EF40EA5B-90A1-2730-B693-443A76C5DF3D}"/>
              </a:ext>
            </a:extLst>
          </p:cNvPr>
          <p:cNvSpPr txBox="1"/>
          <p:nvPr/>
        </p:nvSpPr>
        <p:spPr>
          <a:xfrm>
            <a:off x="2878500" y="685122"/>
            <a:ext cx="4387004" cy="1477328"/>
          </a:xfrm>
          <a:prstGeom prst="rect">
            <a:avLst/>
          </a:prstGeom>
          <a:noFill/>
        </p:spPr>
        <p:txBody>
          <a:bodyPr wrap="square" rtlCol="0">
            <a:spAutoFit/>
          </a:bodyPr>
          <a:lstStyle/>
          <a:p>
            <a:r>
              <a:rPr lang="en-US" sz="1800" dirty="0">
                <a:effectLst/>
                <a:latin typeface="Arial  "/>
                <a:ea typeface="Times New Roman" panose="02020603050405020304" pitchFamily="18" charset="0"/>
                <a:cs typeface="Times New Roman" panose="02020603050405020304" pitchFamily="18" charset="0"/>
              </a:rPr>
              <a:t>The sample does not appear to use a standard packer such as UPX. It is packaged as a WinRAR SFX archive and shows obfuscation indicators through abnormal raw-versus-virtual section sizes.</a:t>
            </a:r>
          </a:p>
          <a:p>
            <a:endParaRPr lang="en-US" dirty="0"/>
          </a:p>
        </p:txBody>
      </p:sp>
    </p:spTree>
    <p:extLst>
      <p:ext uri="{BB962C8B-B14F-4D97-AF65-F5344CB8AC3E}">
        <p14:creationId xmlns:p14="http://schemas.microsoft.com/office/powerpoint/2010/main" val="708581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58;p7">
            <a:extLst>
              <a:ext uri="{FF2B5EF4-FFF2-40B4-BE49-F238E27FC236}">
                <a16:creationId xmlns:a16="http://schemas.microsoft.com/office/drawing/2014/main" id="{244EFD70-480A-D11D-2DF9-FD47393043EE}"/>
              </a:ext>
            </a:extLst>
          </p:cNvPr>
          <p:cNvSpPr/>
          <p:nvPr/>
        </p:nvSpPr>
        <p:spPr>
          <a:xfrm flipH="1">
            <a:off x="8984721" y="0"/>
            <a:ext cx="641455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4E6DC525-0428-59C2-5E1E-C1E513CBE3FA}"/>
              </a:ext>
            </a:extLst>
          </p:cNvPr>
          <p:cNvSpPr>
            <a:spLocks noGrp="1"/>
          </p:cNvSpPr>
          <p:nvPr>
            <p:ph type="sldNum" sz="quarter" idx="12"/>
          </p:nvPr>
        </p:nvSpPr>
        <p:spPr/>
        <p:txBody>
          <a:bodyPr/>
          <a:lstStyle/>
          <a:p>
            <a:fld id="{D39BF864-7A39-40DA-B38E-6B0F4C7F839D}" type="slidenum">
              <a:rPr lang="en-US" smtClean="0">
                <a:solidFill>
                  <a:schemeClr val="bg1"/>
                </a:solidFill>
              </a:rPr>
              <a:t>13</a:t>
            </a:fld>
            <a:endParaRPr lang="en-US" dirty="0">
              <a:solidFill>
                <a:schemeClr val="bg1"/>
              </a:solidFill>
            </a:endParaRPr>
          </a:p>
        </p:txBody>
      </p:sp>
      <p:sp>
        <p:nvSpPr>
          <p:cNvPr id="11" name="TextBox 10">
            <a:extLst>
              <a:ext uri="{FF2B5EF4-FFF2-40B4-BE49-F238E27FC236}">
                <a16:creationId xmlns:a16="http://schemas.microsoft.com/office/drawing/2014/main" id="{2437F94C-A32F-773C-A310-5CF4033AB2B7}"/>
              </a:ext>
            </a:extLst>
          </p:cNvPr>
          <p:cNvSpPr txBox="1"/>
          <p:nvPr/>
        </p:nvSpPr>
        <p:spPr>
          <a:xfrm rot="5400000" flipH="1">
            <a:off x="8093370" y="2459504"/>
            <a:ext cx="5812974" cy="1938992"/>
          </a:xfrm>
          <a:prstGeom prst="rect">
            <a:avLst/>
          </a:prstGeom>
          <a:noFill/>
        </p:spPr>
        <p:txBody>
          <a:bodyPr vert="horz" wrap="square" anchor="ctr" anchorCtr="0">
            <a:spAutoFit/>
          </a:bodyPr>
          <a:lstStyle/>
          <a:p>
            <a:pPr algn="ctr">
              <a:buClr>
                <a:schemeClr val="tx1">
                  <a:lumMod val="10000"/>
                  <a:lumOff val="90000"/>
                </a:schemeClr>
              </a:buClr>
            </a:pPr>
            <a:r>
              <a:rPr lang="en-US" sz="4000" dirty="0">
                <a:solidFill>
                  <a:schemeClr val="bg1"/>
                </a:solidFill>
                <a:latin typeface="Arial Black" panose="020B0A04020102020204" pitchFamily="34" charset="0"/>
              </a:rPr>
              <a:t>Imported Libraries</a:t>
            </a:r>
          </a:p>
          <a:p>
            <a:pPr algn="ctr">
              <a:buClr>
                <a:schemeClr val="tx1">
                  <a:lumMod val="10000"/>
                  <a:lumOff val="90000"/>
                </a:schemeClr>
              </a:buClr>
            </a:pPr>
            <a:r>
              <a:rPr lang="en-US" sz="4000" dirty="0">
                <a:solidFill>
                  <a:schemeClr val="bg1"/>
                </a:solidFill>
                <a:latin typeface="Arial Black" panose="020B0A04020102020204" pitchFamily="34" charset="0"/>
              </a:rPr>
              <a:t> &amp;</a:t>
            </a:r>
          </a:p>
          <a:p>
            <a:pPr algn="ctr">
              <a:buClr>
                <a:schemeClr val="tx1">
                  <a:lumMod val="10000"/>
                  <a:lumOff val="90000"/>
                </a:schemeClr>
              </a:buClr>
            </a:pPr>
            <a:r>
              <a:rPr lang="en-US" sz="4000" dirty="0">
                <a:solidFill>
                  <a:schemeClr val="bg1"/>
                </a:solidFill>
                <a:latin typeface="Arial Black" panose="020B0A04020102020204" pitchFamily="34" charset="0"/>
              </a:rPr>
              <a:t> Functions</a:t>
            </a:r>
            <a:endParaRPr lang="en-US" sz="4000" dirty="0"/>
          </a:p>
        </p:txBody>
      </p:sp>
      <p:pic>
        <p:nvPicPr>
          <p:cNvPr id="3" name="Picture 2">
            <a:extLst>
              <a:ext uri="{FF2B5EF4-FFF2-40B4-BE49-F238E27FC236}">
                <a16:creationId xmlns:a16="http://schemas.microsoft.com/office/drawing/2014/main" id="{B21FCBBB-F58D-0825-E253-7296499B9B50}"/>
              </a:ext>
            </a:extLst>
          </p:cNvPr>
          <p:cNvPicPr>
            <a:picLocks noChangeAspect="1"/>
          </p:cNvPicPr>
          <p:nvPr/>
        </p:nvPicPr>
        <p:blipFill>
          <a:blip r:embed="rId2"/>
          <a:stretch>
            <a:fillRect/>
          </a:stretch>
        </p:blipFill>
        <p:spPr>
          <a:xfrm>
            <a:off x="122846" y="226170"/>
            <a:ext cx="5882592" cy="3022748"/>
          </a:xfrm>
          <a:prstGeom prst="rect">
            <a:avLst/>
          </a:prstGeom>
        </p:spPr>
      </p:pic>
      <p:pic>
        <p:nvPicPr>
          <p:cNvPr id="4" name="Picture 3">
            <a:extLst>
              <a:ext uri="{FF2B5EF4-FFF2-40B4-BE49-F238E27FC236}">
                <a16:creationId xmlns:a16="http://schemas.microsoft.com/office/drawing/2014/main" id="{3D17D776-E007-2C8B-0929-9D5704B660D3}"/>
              </a:ext>
            </a:extLst>
          </p:cNvPr>
          <p:cNvPicPr>
            <a:picLocks noChangeAspect="1"/>
          </p:cNvPicPr>
          <p:nvPr/>
        </p:nvPicPr>
        <p:blipFill>
          <a:blip r:embed="rId3"/>
          <a:stretch>
            <a:fillRect/>
          </a:stretch>
        </p:blipFill>
        <p:spPr>
          <a:xfrm>
            <a:off x="122846" y="3613439"/>
            <a:ext cx="5889246" cy="2591268"/>
          </a:xfrm>
          <a:prstGeom prst="rect">
            <a:avLst/>
          </a:prstGeom>
        </p:spPr>
      </p:pic>
      <p:sp>
        <p:nvSpPr>
          <p:cNvPr id="5" name="TextBox 4">
            <a:extLst>
              <a:ext uri="{FF2B5EF4-FFF2-40B4-BE49-F238E27FC236}">
                <a16:creationId xmlns:a16="http://schemas.microsoft.com/office/drawing/2014/main" id="{6BB60E32-7885-D11D-A2E7-CF33DFF02E87}"/>
              </a:ext>
            </a:extLst>
          </p:cNvPr>
          <p:cNvSpPr txBox="1"/>
          <p:nvPr/>
        </p:nvSpPr>
        <p:spPr>
          <a:xfrm>
            <a:off x="6379559" y="891166"/>
            <a:ext cx="2807208" cy="2145203"/>
          </a:xfrm>
          <a:prstGeom prst="rect">
            <a:avLst/>
          </a:prstGeom>
          <a:noFill/>
        </p:spPr>
        <p:txBody>
          <a:bodyPr wrap="square" rtlCol="0">
            <a:spAutoFit/>
          </a:bodyPr>
          <a:lstStyle/>
          <a:p>
            <a:pPr marL="0" marR="0">
              <a:lnSpc>
                <a:spcPct val="115000"/>
              </a:lnSpc>
              <a:spcAft>
                <a:spcPts val="600"/>
              </a:spcAft>
              <a:buNone/>
            </a:pPr>
            <a:r>
              <a:rPr lang="en-US" sz="1600" dirty="0">
                <a:effectLst/>
                <a:latin typeface="Arial" panose="020B0604020202020204" pitchFamily="34" charset="0"/>
                <a:ea typeface="Times New Roman" panose="02020603050405020304" pitchFamily="18" charset="0"/>
                <a:cs typeface="Arial" panose="020B0604020202020204" pitchFamily="34" charset="0"/>
              </a:rPr>
              <a:t>There </a:t>
            </a:r>
            <a:r>
              <a:rPr lang="en-US" sz="1600" dirty="0">
                <a:latin typeface="Arial" panose="020B0604020202020204" pitchFamily="34" charset="0"/>
                <a:ea typeface="Times New Roman" panose="02020603050405020304" pitchFamily="18" charset="0"/>
                <a:cs typeface="Arial" panose="020B0604020202020204" pitchFamily="34" charset="0"/>
              </a:rPr>
              <a:t>are </a:t>
            </a:r>
            <a:r>
              <a:rPr lang="en-US" sz="1600" b="1" dirty="0">
                <a:latin typeface="Arial" panose="020B0604020202020204" pitchFamily="34" charset="0"/>
                <a:ea typeface="Times New Roman" panose="02020603050405020304" pitchFamily="18" charset="0"/>
                <a:cs typeface="Arial" panose="020B0604020202020204" pitchFamily="34" charset="0"/>
              </a:rPr>
              <a:t>10 imported </a:t>
            </a:r>
            <a:r>
              <a:rPr lang="en-US" sz="1600" b="1" dirty="0">
                <a:effectLst/>
                <a:latin typeface="Arial" panose="020B0604020202020204" pitchFamily="34" charset="0"/>
                <a:ea typeface="Times New Roman" panose="02020603050405020304" pitchFamily="18" charset="0"/>
                <a:cs typeface="Arial" panose="020B0604020202020204" pitchFamily="34" charset="0"/>
              </a:rPr>
              <a:t>libraries</a:t>
            </a:r>
            <a:r>
              <a:rPr lang="en-US" sz="1600" dirty="0">
                <a:effectLst/>
                <a:latin typeface="Arial" panose="020B0604020202020204" pitchFamily="34" charset="0"/>
                <a:ea typeface="Times New Roman" panose="02020603050405020304" pitchFamily="18" charset="0"/>
                <a:cs typeface="Arial" panose="020B0604020202020204" pitchFamily="34" charset="0"/>
              </a:rPr>
              <a:t>. These are common Windows DLLs — but </a:t>
            </a:r>
            <a:r>
              <a:rPr lang="en-US" sz="1600" b="1" dirty="0">
                <a:effectLst/>
                <a:latin typeface="Arial" panose="020B0604020202020204" pitchFamily="34" charset="0"/>
                <a:ea typeface="Times New Roman" panose="02020603050405020304" pitchFamily="18" charset="0"/>
                <a:cs typeface="Arial" panose="020B0604020202020204" pitchFamily="34" charset="0"/>
              </a:rPr>
              <a:t>specific combinations</a:t>
            </a:r>
            <a:r>
              <a:rPr lang="en-US" sz="1600" dirty="0">
                <a:effectLst/>
                <a:latin typeface="Arial" panose="020B0604020202020204" pitchFamily="34" charset="0"/>
                <a:ea typeface="Times New Roman" panose="02020603050405020304" pitchFamily="18" charset="0"/>
                <a:cs typeface="Arial" panose="020B0604020202020204" pitchFamily="34" charset="0"/>
              </a:rPr>
              <a:t> can suggest suspicious or stealthy behavior:</a:t>
            </a:r>
          </a:p>
          <a:p>
            <a:endParaRPr lang="en-US"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383E956-CB98-93BE-ED21-33D1172F9342}"/>
              </a:ext>
            </a:extLst>
          </p:cNvPr>
          <p:cNvSpPr txBox="1"/>
          <p:nvPr/>
        </p:nvSpPr>
        <p:spPr>
          <a:xfrm>
            <a:off x="6506331" y="4357805"/>
            <a:ext cx="2441448"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10 imported functions</a:t>
            </a:r>
          </a:p>
        </p:txBody>
      </p:sp>
    </p:spTree>
    <p:extLst>
      <p:ext uri="{BB962C8B-B14F-4D97-AF65-F5344CB8AC3E}">
        <p14:creationId xmlns:p14="http://schemas.microsoft.com/office/powerpoint/2010/main" val="3496417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97EC6D-C5AF-FF86-83B0-F5DC490A5FC0}"/>
              </a:ext>
            </a:extLst>
          </p:cNvPr>
          <p:cNvSpPr>
            <a:spLocks noGrp="1"/>
          </p:cNvSpPr>
          <p:nvPr>
            <p:ph type="sldNum" sz="quarter" idx="12"/>
          </p:nvPr>
        </p:nvSpPr>
        <p:spPr/>
        <p:txBody>
          <a:bodyPr/>
          <a:lstStyle/>
          <a:p>
            <a:fld id="{D39BF864-7A39-40DA-B38E-6B0F4C7F839D}" type="slidenum">
              <a:rPr lang="en-US" smtClean="0">
                <a:solidFill>
                  <a:schemeClr val="tx1"/>
                </a:solidFill>
              </a:rPr>
              <a:t>14</a:t>
            </a:fld>
            <a:endParaRPr lang="en-US" dirty="0">
              <a:solidFill>
                <a:schemeClr val="tx1"/>
              </a:solidFill>
            </a:endParaRPr>
          </a:p>
        </p:txBody>
      </p:sp>
      <p:sp>
        <p:nvSpPr>
          <p:cNvPr id="3" name="Google Shape;39;p4">
            <a:extLst>
              <a:ext uri="{FF2B5EF4-FFF2-40B4-BE49-F238E27FC236}">
                <a16:creationId xmlns:a16="http://schemas.microsoft.com/office/drawing/2014/main" id="{4EFC8007-86B4-6B15-239C-E0B2E0ABDF7E}"/>
              </a:ext>
            </a:extLst>
          </p:cNvPr>
          <p:cNvSpPr/>
          <p:nvPr/>
        </p:nvSpPr>
        <p:spPr>
          <a:xfrm>
            <a:off x="-3305224" y="0"/>
            <a:ext cx="661044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CCA3E943-7BFC-E10E-DAA6-70FA467D5796}"/>
              </a:ext>
            </a:extLst>
          </p:cNvPr>
          <p:cNvSpPr txBox="1"/>
          <p:nvPr/>
        </p:nvSpPr>
        <p:spPr>
          <a:xfrm rot="16200000">
            <a:off x="-808446" y="2459504"/>
            <a:ext cx="4000502" cy="1938992"/>
          </a:xfrm>
          <a:prstGeom prst="rect">
            <a:avLst/>
          </a:prstGeom>
          <a:noFill/>
        </p:spPr>
        <p:txBody>
          <a:bodyPr vert="horz" wrap="square" anchor="ctr" anchorCtr="0">
            <a:spAutoFit/>
          </a:bodyPr>
          <a:lstStyle/>
          <a:p>
            <a:pPr algn="ctr"/>
            <a:r>
              <a:rPr lang="en-US" sz="4000" dirty="0">
                <a:solidFill>
                  <a:schemeClr val="bg1"/>
                </a:solidFill>
                <a:latin typeface="Arial Black" panose="020B0A04020102020204" pitchFamily="34" charset="0"/>
              </a:rPr>
              <a:t>Basic Static Analysis:</a:t>
            </a:r>
          </a:p>
          <a:p>
            <a:pPr algn="ctr"/>
            <a:r>
              <a:rPr lang="en-US" sz="4000" dirty="0">
                <a:solidFill>
                  <a:schemeClr val="bg1"/>
                </a:solidFill>
                <a:latin typeface="Arial Black" panose="020B0A04020102020204" pitchFamily="34" charset="0"/>
              </a:rPr>
              <a:t>Resources</a:t>
            </a:r>
          </a:p>
        </p:txBody>
      </p:sp>
      <p:pic>
        <p:nvPicPr>
          <p:cNvPr id="4" name="Picture 3">
            <a:extLst>
              <a:ext uri="{FF2B5EF4-FFF2-40B4-BE49-F238E27FC236}">
                <a16:creationId xmlns:a16="http://schemas.microsoft.com/office/drawing/2014/main" id="{A040E5F6-0702-2F57-4DF1-5D7ECFE87C99}"/>
              </a:ext>
            </a:extLst>
          </p:cNvPr>
          <p:cNvPicPr>
            <a:picLocks noChangeAspect="1"/>
          </p:cNvPicPr>
          <p:nvPr/>
        </p:nvPicPr>
        <p:blipFill>
          <a:blip r:embed="rId2"/>
          <a:stretch>
            <a:fillRect/>
          </a:stretch>
        </p:blipFill>
        <p:spPr>
          <a:xfrm>
            <a:off x="7854926" y="3284816"/>
            <a:ext cx="3862430" cy="2914530"/>
          </a:xfrm>
          <a:prstGeom prst="rect">
            <a:avLst/>
          </a:prstGeom>
        </p:spPr>
      </p:pic>
      <p:pic>
        <p:nvPicPr>
          <p:cNvPr id="6" name="Picture 5">
            <a:extLst>
              <a:ext uri="{FF2B5EF4-FFF2-40B4-BE49-F238E27FC236}">
                <a16:creationId xmlns:a16="http://schemas.microsoft.com/office/drawing/2014/main" id="{24969D24-2D05-01C4-5882-5813D99CBA13}"/>
              </a:ext>
            </a:extLst>
          </p:cNvPr>
          <p:cNvPicPr>
            <a:picLocks noChangeAspect="1"/>
          </p:cNvPicPr>
          <p:nvPr/>
        </p:nvPicPr>
        <p:blipFill>
          <a:blip r:embed="rId3"/>
          <a:stretch>
            <a:fillRect/>
          </a:stretch>
        </p:blipFill>
        <p:spPr>
          <a:xfrm>
            <a:off x="3529762" y="136526"/>
            <a:ext cx="3528824" cy="2991286"/>
          </a:xfrm>
          <a:prstGeom prst="rect">
            <a:avLst/>
          </a:prstGeom>
        </p:spPr>
      </p:pic>
      <p:pic>
        <p:nvPicPr>
          <p:cNvPr id="7" name="Picture 6">
            <a:extLst>
              <a:ext uri="{FF2B5EF4-FFF2-40B4-BE49-F238E27FC236}">
                <a16:creationId xmlns:a16="http://schemas.microsoft.com/office/drawing/2014/main" id="{B2010A2D-400E-10D2-FD42-B4C123D54B3C}"/>
              </a:ext>
            </a:extLst>
          </p:cNvPr>
          <p:cNvPicPr>
            <a:picLocks noChangeAspect="1"/>
          </p:cNvPicPr>
          <p:nvPr/>
        </p:nvPicPr>
        <p:blipFill>
          <a:blip r:embed="rId4"/>
          <a:stretch>
            <a:fillRect/>
          </a:stretch>
        </p:blipFill>
        <p:spPr>
          <a:xfrm>
            <a:off x="7800351" y="136525"/>
            <a:ext cx="3971580" cy="2991288"/>
          </a:xfrm>
          <a:prstGeom prst="rect">
            <a:avLst/>
          </a:prstGeom>
        </p:spPr>
      </p:pic>
      <p:pic>
        <p:nvPicPr>
          <p:cNvPr id="8" name="Picture 7">
            <a:extLst>
              <a:ext uri="{FF2B5EF4-FFF2-40B4-BE49-F238E27FC236}">
                <a16:creationId xmlns:a16="http://schemas.microsoft.com/office/drawing/2014/main" id="{222F7C40-07AB-2D2C-C5E5-6A99D934D10B}"/>
              </a:ext>
            </a:extLst>
          </p:cNvPr>
          <p:cNvPicPr>
            <a:picLocks noChangeAspect="1"/>
          </p:cNvPicPr>
          <p:nvPr/>
        </p:nvPicPr>
        <p:blipFill>
          <a:blip r:embed="rId5"/>
          <a:stretch>
            <a:fillRect/>
          </a:stretch>
        </p:blipFill>
        <p:spPr>
          <a:xfrm>
            <a:off x="3497964" y="3284815"/>
            <a:ext cx="4149402" cy="2914532"/>
          </a:xfrm>
          <a:prstGeom prst="rect">
            <a:avLst/>
          </a:prstGeom>
        </p:spPr>
      </p:pic>
    </p:spTree>
    <p:extLst>
      <p:ext uri="{BB962C8B-B14F-4D97-AF65-F5344CB8AC3E}">
        <p14:creationId xmlns:p14="http://schemas.microsoft.com/office/powerpoint/2010/main" val="669006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58;p7">
            <a:extLst>
              <a:ext uri="{FF2B5EF4-FFF2-40B4-BE49-F238E27FC236}">
                <a16:creationId xmlns:a16="http://schemas.microsoft.com/office/drawing/2014/main" id="{244EFD70-480A-D11D-2DF9-FD47393043EE}"/>
              </a:ext>
            </a:extLst>
          </p:cNvPr>
          <p:cNvSpPr/>
          <p:nvPr/>
        </p:nvSpPr>
        <p:spPr>
          <a:xfrm flipH="1">
            <a:off x="8984721" y="0"/>
            <a:ext cx="641455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4E6DC525-0428-59C2-5E1E-C1E513CBE3FA}"/>
              </a:ext>
            </a:extLst>
          </p:cNvPr>
          <p:cNvSpPr>
            <a:spLocks noGrp="1"/>
          </p:cNvSpPr>
          <p:nvPr>
            <p:ph type="sldNum" sz="quarter" idx="12"/>
          </p:nvPr>
        </p:nvSpPr>
        <p:spPr/>
        <p:txBody>
          <a:bodyPr/>
          <a:lstStyle/>
          <a:p>
            <a:fld id="{D39BF864-7A39-40DA-B38E-6B0F4C7F839D}" type="slidenum">
              <a:rPr lang="en-US" smtClean="0">
                <a:solidFill>
                  <a:schemeClr val="bg1"/>
                </a:solidFill>
              </a:rPr>
              <a:t>15</a:t>
            </a:fld>
            <a:endParaRPr lang="en-US" dirty="0">
              <a:solidFill>
                <a:schemeClr val="bg1"/>
              </a:solidFill>
            </a:endParaRPr>
          </a:p>
        </p:txBody>
      </p:sp>
      <p:sp>
        <p:nvSpPr>
          <p:cNvPr id="11" name="TextBox 10">
            <a:extLst>
              <a:ext uri="{FF2B5EF4-FFF2-40B4-BE49-F238E27FC236}">
                <a16:creationId xmlns:a16="http://schemas.microsoft.com/office/drawing/2014/main" id="{2437F94C-A32F-773C-A310-5CF4033AB2B7}"/>
              </a:ext>
            </a:extLst>
          </p:cNvPr>
          <p:cNvSpPr txBox="1"/>
          <p:nvPr/>
        </p:nvSpPr>
        <p:spPr>
          <a:xfrm rot="5400000" flipH="1">
            <a:off x="8142356" y="2459504"/>
            <a:ext cx="5715002" cy="1938992"/>
          </a:xfrm>
          <a:prstGeom prst="rect">
            <a:avLst/>
          </a:prstGeom>
          <a:noFill/>
        </p:spPr>
        <p:txBody>
          <a:bodyPr vert="horz" wrap="square" anchor="ctr" anchorCtr="0">
            <a:spAutoFit/>
          </a:bodyPr>
          <a:lstStyle/>
          <a:p>
            <a:pPr algn="ctr"/>
            <a:r>
              <a:rPr lang="en-US" sz="4000" dirty="0">
                <a:solidFill>
                  <a:schemeClr val="bg1"/>
                </a:solidFill>
                <a:latin typeface="Arial Black" panose="020B0A04020102020204" pitchFamily="34" charset="0"/>
              </a:rPr>
              <a:t>Basic Dynamic Analysis:</a:t>
            </a:r>
          </a:p>
          <a:p>
            <a:pPr algn="ctr"/>
            <a:r>
              <a:rPr lang="en-US" sz="4000" dirty="0">
                <a:solidFill>
                  <a:schemeClr val="bg1"/>
                </a:solidFill>
                <a:latin typeface="Arial Black" panose="020B0A04020102020204" pitchFamily="34" charset="0"/>
              </a:rPr>
              <a:t>Registry Changes</a:t>
            </a:r>
          </a:p>
        </p:txBody>
      </p:sp>
      <p:pic>
        <p:nvPicPr>
          <p:cNvPr id="3" name="Picture 2">
            <a:extLst>
              <a:ext uri="{FF2B5EF4-FFF2-40B4-BE49-F238E27FC236}">
                <a16:creationId xmlns:a16="http://schemas.microsoft.com/office/drawing/2014/main" id="{95570946-3DD4-22F2-2B4A-6F4BB39F1784}"/>
              </a:ext>
            </a:extLst>
          </p:cNvPr>
          <p:cNvPicPr>
            <a:picLocks noChangeAspect="1"/>
          </p:cNvPicPr>
          <p:nvPr/>
        </p:nvPicPr>
        <p:blipFill>
          <a:blip r:embed="rId2"/>
          <a:stretch>
            <a:fillRect/>
          </a:stretch>
        </p:blipFill>
        <p:spPr>
          <a:xfrm>
            <a:off x="261143" y="166144"/>
            <a:ext cx="3072384" cy="3262856"/>
          </a:xfrm>
          <a:prstGeom prst="rect">
            <a:avLst/>
          </a:prstGeom>
        </p:spPr>
      </p:pic>
      <p:pic>
        <p:nvPicPr>
          <p:cNvPr id="4" name="Picture 3">
            <a:extLst>
              <a:ext uri="{FF2B5EF4-FFF2-40B4-BE49-F238E27FC236}">
                <a16:creationId xmlns:a16="http://schemas.microsoft.com/office/drawing/2014/main" id="{A9958AA6-1099-4AC7-0FC5-7E25C97A805F}"/>
              </a:ext>
            </a:extLst>
          </p:cNvPr>
          <p:cNvPicPr>
            <a:picLocks noChangeAspect="1"/>
          </p:cNvPicPr>
          <p:nvPr/>
        </p:nvPicPr>
        <p:blipFill>
          <a:blip r:embed="rId3"/>
          <a:stretch>
            <a:fillRect/>
          </a:stretch>
        </p:blipFill>
        <p:spPr>
          <a:xfrm>
            <a:off x="261143" y="3525259"/>
            <a:ext cx="6865214" cy="3013653"/>
          </a:xfrm>
          <a:prstGeom prst="rect">
            <a:avLst/>
          </a:prstGeom>
        </p:spPr>
      </p:pic>
      <p:sp>
        <p:nvSpPr>
          <p:cNvPr id="5" name="TextBox 4">
            <a:extLst>
              <a:ext uri="{FF2B5EF4-FFF2-40B4-BE49-F238E27FC236}">
                <a16:creationId xmlns:a16="http://schemas.microsoft.com/office/drawing/2014/main" id="{DF6589EA-1E1F-B7B4-C687-AE035E80D825}"/>
              </a:ext>
            </a:extLst>
          </p:cNvPr>
          <p:cNvSpPr txBox="1"/>
          <p:nvPr/>
        </p:nvSpPr>
        <p:spPr>
          <a:xfrm>
            <a:off x="3997452" y="1315365"/>
            <a:ext cx="4197096" cy="1200329"/>
          </a:xfrm>
          <a:prstGeom prst="rect">
            <a:avLst/>
          </a:prstGeom>
          <a:noFill/>
        </p:spPr>
        <p:txBody>
          <a:bodyPr wrap="square" rtlCol="0">
            <a:spAutoFit/>
          </a:bodyPr>
          <a:lstStyle/>
          <a:p>
            <a:r>
              <a:rPr lang="en-US" sz="1800" dirty="0">
                <a:effectLst/>
                <a:latin typeface="Arial" panose="020B0604020202020204" pitchFamily="34" charset="0"/>
                <a:ea typeface="Times New Roman" panose="02020603050405020304" pitchFamily="18" charset="0"/>
                <a:cs typeface="Arial" panose="020B0604020202020204" pitchFamily="34" charset="0"/>
              </a:rPr>
              <a:t>After executing the malware sample we have observed the following changes on our systems.</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4881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97EC6D-C5AF-FF86-83B0-F5DC490A5FC0}"/>
              </a:ext>
            </a:extLst>
          </p:cNvPr>
          <p:cNvSpPr>
            <a:spLocks noGrp="1"/>
          </p:cNvSpPr>
          <p:nvPr>
            <p:ph type="sldNum" sz="quarter" idx="12"/>
          </p:nvPr>
        </p:nvSpPr>
        <p:spPr/>
        <p:txBody>
          <a:bodyPr/>
          <a:lstStyle/>
          <a:p>
            <a:fld id="{D39BF864-7A39-40DA-B38E-6B0F4C7F839D}" type="slidenum">
              <a:rPr lang="en-US" smtClean="0">
                <a:solidFill>
                  <a:schemeClr val="tx1"/>
                </a:solidFill>
              </a:rPr>
              <a:t>16</a:t>
            </a:fld>
            <a:endParaRPr lang="en-US" dirty="0">
              <a:solidFill>
                <a:schemeClr val="tx1"/>
              </a:solidFill>
            </a:endParaRPr>
          </a:p>
        </p:txBody>
      </p:sp>
      <p:sp>
        <p:nvSpPr>
          <p:cNvPr id="3" name="Google Shape;39;p4">
            <a:extLst>
              <a:ext uri="{FF2B5EF4-FFF2-40B4-BE49-F238E27FC236}">
                <a16:creationId xmlns:a16="http://schemas.microsoft.com/office/drawing/2014/main" id="{4EFC8007-86B4-6B15-239C-E0B2E0ABDF7E}"/>
              </a:ext>
            </a:extLst>
          </p:cNvPr>
          <p:cNvSpPr/>
          <p:nvPr/>
        </p:nvSpPr>
        <p:spPr>
          <a:xfrm>
            <a:off x="-3305224" y="0"/>
            <a:ext cx="661044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CCA3E943-7BFC-E10E-DAA6-70FA467D5796}"/>
              </a:ext>
            </a:extLst>
          </p:cNvPr>
          <p:cNvSpPr txBox="1"/>
          <p:nvPr/>
        </p:nvSpPr>
        <p:spPr>
          <a:xfrm rot="16200000">
            <a:off x="-1731009" y="2521060"/>
            <a:ext cx="5845630" cy="1815882"/>
          </a:xfrm>
          <a:prstGeom prst="rect">
            <a:avLst/>
          </a:prstGeom>
          <a:noFill/>
        </p:spPr>
        <p:txBody>
          <a:bodyPr vert="horz" wrap="square" anchor="ctr" anchorCtr="0">
            <a:spAutoFit/>
          </a:bodyPr>
          <a:lstStyle/>
          <a:p>
            <a:pPr algn="ctr"/>
            <a:r>
              <a:rPr lang="en-US" sz="4000" dirty="0">
                <a:solidFill>
                  <a:schemeClr val="bg1"/>
                </a:solidFill>
                <a:latin typeface="Arial Black" panose="020B0A04020102020204" pitchFamily="34" charset="0"/>
              </a:rPr>
              <a:t>Process Explorer</a:t>
            </a:r>
          </a:p>
          <a:p>
            <a:pPr algn="ctr"/>
            <a:r>
              <a:rPr lang="en-US" sz="4000" dirty="0">
                <a:solidFill>
                  <a:schemeClr val="bg1"/>
                </a:solidFill>
                <a:latin typeface="Arial Black" panose="020B0A04020102020204" pitchFamily="34" charset="0"/>
              </a:rPr>
              <a:t>Process Monitor</a:t>
            </a:r>
          </a:p>
          <a:p>
            <a:endParaRPr lang="en-US" sz="3200" dirty="0"/>
          </a:p>
        </p:txBody>
      </p:sp>
      <p:pic>
        <p:nvPicPr>
          <p:cNvPr id="4" name="Picture 3">
            <a:extLst>
              <a:ext uri="{FF2B5EF4-FFF2-40B4-BE49-F238E27FC236}">
                <a16:creationId xmlns:a16="http://schemas.microsoft.com/office/drawing/2014/main" id="{A424410B-A832-AF57-FBF4-104F3D5E3DC7}"/>
              </a:ext>
            </a:extLst>
          </p:cNvPr>
          <p:cNvPicPr>
            <a:picLocks noChangeAspect="1"/>
          </p:cNvPicPr>
          <p:nvPr/>
        </p:nvPicPr>
        <p:blipFill>
          <a:blip r:embed="rId2"/>
          <a:stretch>
            <a:fillRect/>
          </a:stretch>
        </p:blipFill>
        <p:spPr>
          <a:xfrm>
            <a:off x="3413076" y="810445"/>
            <a:ext cx="4029120" cy="3529096"/>
          </a:xfrm>
          <a:prstGeom prst="rect">
            <a:avLst/>
          </a:prstGeom>
        </p:spPr>
      </p:pic>
      <p:pic>
        <p:nvPicPr>
          <p:cNvPr id="6" name="Picture 5">
            <a:extLst>
              <a:ext uri="{FF2B5EF4-FFF2-40B4-BE49-F238E27FC236}">
                <a16:creationId xmlns:a16="http://schemas.microsoft.com/office/drawing/2014/main" id="{4EF583A9-FA87-951B-8C3B-A717F9FC6A15}"/>
              </a:ext>
            </a:extLst>
          </p:cNvPr>
          <p:cNvPicPr>
            <a:picLocks noChangeAspect="1"/>
          </p:cNvPicPr>
          <p:nvPr/>
        </p:nvPicPr>
        <p:blipFill>
          <a:blip r:embed="rId3"/>
          <a:stretch>
            <a:fillRect/>
          </a:stretch>
        </p:blipFill>
        <p:spPr>
          <a:xfrm>
            <a:off x="7570922" y="810445"/>
            <a:ext cx="4465940" cy="3907126"/>
          </a:xfrm>
          <a:prstGeom prst="rect">
            <a:avLst/>
          </a:prstGeom>
        </p:spPr>
      </p:pic>
      <p:sp>
        <p:nvSpPr>
          <p:cNvPr id="7" name="TextBox 6">
            <a:extLst>
              <a:ext uri="{FF2B5EF4-FFF2-40B4-BE49-F238E27FC236}">
                <a16:creationId xmlns:a16="http://schemas.microsoft.com/office/drawing/2014/main" id="{1DE69845-EF48-2D3E-32F6-5D5D53DB64AB}"/>
              </a:ext>
            </a:extLst>
          </p:cNvPr>
          <p:cNvSpPr txBox="1"/>
          <p:nvPr/>
        </p:nvSpPr>
        <p:spPr>
          <a:xfrm>
            <a:off x="3827436" y="4985926"/>
            <a:ext cx="3200400"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Process Explorer</a:t>
            </a:r>
          </a:p>
        </p:txBody>
      </p:sp>
      <p:sp>
        <p:nvSpPr>
          <p:cNvPr id="8" name="TextBox 7">
            <a:extLst>
              <a:ext uri="{FF2B5EF4-FFF2-40B4-BE49-F238E27FC236}">
                <a16:creationId xmlns:a16="http://schemas.microsoft.com/office/drawing/2014/main" id="{E82993A4-B31E-3F3E-9B44-89AEA40E27FE}"/>
              </a:ext>
            </a:extLst>
          </p:cNvPr>
          <p:cNvSpPr txBox="1"/>
          <p:nvPr/>
        </p:nvSpPr>
        <p:spPr>
          <a:xfrm>
            <a:off x="8035323" y="4985926"/>
            <a:ext cx="3099816"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Process Monitor</a:t>
            </a:r>
          </a:p>
        </p:txBody>
      </p:sp>
    </p:spTree>
    <p:extLst>
      <p:ext uri="{BB962C8B-B14F-4D97-AF65-F5344CB8AC3E}">
        <p14:creationId xmlns:p14="http://schemas.microsoft.com/office/powerpoint/2010/main" val="846205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58;p7">
            <a:extLst>
              <a:ext uri="{FF2B5EF4-FFF2-40B4-BE49-F238E27FC236}">
                <a16:creationId xmlns:a16="http://schemas.microsoft.com/office/drawing/2014/main" id="{244EFD70-480A-D11D-2DF9-FD47393043EE}"/>
              </a:ext>
            </a:extLst>
          </p:cNvPr>
          <p:cNvSpPr/>
          <p:nvPr/>
        </p:nvSpPr>
        <p:spPr>
          <a:xfrm flipH="1">
            <a:off x="8984721" y="0"/>
            <a:ext cx="641455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4E6DC525-0428-59C2-5E1E-C1E513CBE3FA}"/>
              </a:ext>
            </a:extLst>
          </p:cNvPr>
          <p:cNvSpPr>
            <a:spLocks noGrp="1"/>
          </p:cNvSpPr>
          <p:nvPr>
            <p:ph type="sldNum" sz="quarter" idx="12"/>
          </p:nvPr>
        </p:nvSpPr>
        <p:spPr/>
        <p:txBody>
          <a:bodyPr/>
          <a:lstStyle/>
          <a:p>
            <a:fld id="{D39BF864-7A39-40DA-B38E-6B0F4C7F839D}" type="slidenum">
              <a:rPr lang="en-US" smtClean="0">
                <a:solidFill>
                  <a:schemeClr val="bg1"/>
                </a:solidFill>
              </a:rPr>
              <a:t>17</a:t>
            </a:fld>
            <a:endParaRPr lang="en-US" dirty="0">
              <a:solidFill>
                <a:schemeClr val="bg1"/>
              </a:solidFill>
            </a:endParaRPr>
          </a:p>
        </p:txBody>
      </p:sp>
      <p:sp>
        <p:nvSpPr>
          <p:cNvPr id="11" name="TextBox 10">
            <a:extLst>
              <a:ext uri="{FF2B5EF4-FFF2-40B4-BE49-F238E27FC236}">
                <a16:creationId xmlns:a16="http://schemas.microsoft.com/office/drawing/2014/main" id="{2437F94C-A32F-773C-A310-5CF4033AB2B7}"/>
              </a:ext>
            </a:extLst>
          </p:cNvPr>
          <p:cNvSpPr txBox="1"/>
          <p:nvPr/>
        </p:nvSpPr>
        <p:spPr>
          <a:xfrm rot="5400000" flipH="1">
            <a:off x="8403614" y="2151728"/>
            <a:ext cx="5192486" cy="2554545"/>
          </a:xfrm>
          <a:prstGeom prst="rect">
            <a:avLst/>
          </a:prstGeom>
          <a:noFill/>
        </p:spPr>
        <p:txBody>
          <a:bodyPr vert="horz" wrap="square" anchor="ctr" anchorCtr="0">
            <a:spAutoFit/>
          </a:bodyPr>
          <a:lstStyle/>
          <a:p>
            <a:pPr algn="ctr"/>
            <a:r>
              <a:rPr lang="en-US" sz="4000" dirty="0">
                <a:solidFill>
                  <a:schemeClr val="bg1"/>
                </a:solidFill>
                <a:latin typeface="Arial Black" panose="020B0A04020102020204" pitchFamily="34" charset="0"/>
              </a:rPr>
              <a:t>Basic Dynamic Analysis:</a:t>
            </a:r>
          </a:p>
          <a:p>
            <a:pPr algn="ctr"/>
            <a:r>
              <a:rPr lang="en-US" sz="4000" dirty="0">
                <a:solidFill>
                  <a:schemeClr val="bg1"/>
                </a:solidFill>
                <a:latin typeface="Arial Black" panose="020B0A04020102020204" pitchFamily="34" charset="0"/>
              </a:rPr>
              <a:t>Network Activity</a:t>
            </a:r>
          </a:p>
          <a:p>
            <a:pPr algn="ctr"/>
            <a:endParaRPr lang="en-US" sz="4000" dirty="0"/>
          </a:p>
        </p:txBody>
      </p:sp>
      <p:pic>
        <p:nvPicPr>
          <p:cNvPr id="3" name="Picture 2">
            <a:extLst>
              <a:ext uri="{FF2B5EF4-FFF2-40B4-BE49-F238E27FC236}">
                <a16:creationId xmlns:a16="http://schemas.microsoft.com/office/drawing/2014/main" id="{856E9310-EF0C-C331-DD4F-83DC309829E6}"/>
              </a:ext>
            </a:extLst>
          </p:cNvPr>
          <p:cNvPicPr>
            <a:picLocks noChangeAspect="1"/>
          </p:cNvPicPr>
          <p:nvPr/>
        </p:nvPicPr>
        <p:blipFill>
          <a:blip r:embed="rId2"/>
          <a:stretch>
            <a:fillRect/>
          </a:stretch>
        </p:blipFill>
        <p:spPr>
          <a:xfrm>
            <a:off x="253684" y="140044"/>
            <a:ext cx="7518716" cy="6577912"/>
          </a:xfrm>
          <a:prstGeom prst="rect">
            <a:avLst/>
          </a:prstGeom>
        </p:spPr>
      </p:pic>
    </p:spTree>
    <p:extLst>
      <p:ext uri="{BB962C8B-B14F-4D97-AF65-F5344CB8AC3E}">
        <p14:creationId xmlns:p14="http://schemas.microsoft.com/office/powerpoint/2010/main" val="2972019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97EC6D-C5AF-FF86-83B0-F5DC490A5FC0}"/>
              </a:ext>
            </a:extLst>
          </p:cNvPr>
          <p:cNvSpPr>
            <a:spLocks noGrp="1"/>
          </p:cNvSpPr>
          <p:nvPr>
            <p:ph type="sldNum" sz="quarter" idx="12"/>
          </p:nvPr>
        </p:nvSpPr>
        <p:spPr/>
        <p:txBody>
          <a:bodyPr/>
          <a:lstStyle/>
          <a:p>
            <a:fld id="{D39BF864-7A39-40DA-B38E-6B0F4C7F839D}" type="slidenum">
              <a:rPr lang="en-US" smtClean="0">
                <a:solidFill>
                  <a:schemeClr val="tx1"/>
                </a:solidFill>
              </a:rPr>
              <a:t>18</a:t>
            </a:fld>
            <a:endParaRPr lang="en-US" dirty="0">
              <a:solidFill>
                <a:schemeClr val="tx1"/>
              </a:solidFill>
            </a:endParaRPr>
          </a:p>
        </p:txBody>
      </p:sp>
      <p:sp>
        <p:nvSpPr>
          <p:cNvPr id="3" name="Google Shape;39;p4">
            <a:extLst>
              <a:ext uri="{FF2B5EF4-FFF2-40B4-BE49-F238E27FC236}">
                <a16:creationId xmlns:a16="http://schemas.microsoft.com/office/drawing/2014/main" id="{4EFC8007-86B4-6B15-239C-E0B2E0ABDF7E}"/>
              </a:ext>
            </a:extLst>
          </p:cNvPr>
          <p:cNvSpPr/>
          <p:nvPr/>
        </p:nvSpPr>
        <p:spPr>
          <a:xfrm>
            <a:off x="-3305224" y="0"/>
            <a:ext cx="661044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CCA3E943-7BFC-E10E-DAA6-70FA467D5796}"/>
              </a:ext>
            </a:extLst>
          </p:cNvPr>
          <p:cNvSpPr txBox="1"/>
          <p:nvPr/>
        </p:nvSpPr>
        <p:spPr>
          <a:xfrm rot="16200000">
            <a:off x="-1828980" y="2459504"/>
            <a:ext cx="6041572" cy="1938992"/>
          </a:xfrm>
          <a:prstGeom prst="rect">
            <a:avLst/>
          </a:prstGeom>
          <a:noFill/>
        </p:spPr>
        <p:txBody>
          <a:bodyPr vert="horz" wrap="square" anchor="ctr" anchorCtr="0">
            <a:spAutoFit/>
          </a:bodyPr>
          <a:lstStyle/>
          <a:p>
            <a:r>
              <a:rPr lang="en-US" sz="4000" dirty="0">
                <a:solidFill>
                  <a:schemeClr val="bg1"/>
                </a:solidFill>
                <a:latin typeface="Arial Black" panose="020B0A04020102020204" pitchFamily="34" charset="0"/>
              </a:rPr>
              <a:t>Automated Analysis:</a:t>
            </a:r>
          </a:p>
          <a:p>
            <a:pPr algn="ctr"/>
            <a:r>
              <a:rPr lang="en-US" sz="4000" dirty="0">
                <a:solidFill>
                  <a:schemeClr val="bg1"/>
                </a:solidFill>
                <a:latin typeface="Arial Black" panose="020B0A04020102020204" pitchFamily="34" charset="0"/>
              </a:rPr>
              <a:t>Overview</a:t>
            </a:r>
          </a:p>
          <a:p>
            <a:endParaRPr lang="en-US" sz="4000" dirty="0"/>
          </a:p>
        </p:txBody>
      </p:sp>
      <p:pic>
        <p:nvPicPr>
          <p:cNvPr id="4" name="Picture 3">
            <a:extLst>
              <a:ext uri="{FF2B5EF4-FFF2-40B4-BE49-F238E27FC236}">
                <a16:creationId xmlns:a16="http://schemas.microsoft.com/office/drawing/2014/main" id="{F5C6636A-FFA9-C05F-C69B-AC91890ABFFD}"/>
              </a:ext>
            </a:extLst>
          </p:cNvPr>
          <p:cNvPicPr>
            <a:picLocks noChangeAspect="1"/>
          </p:cNvPicPr>
          <p:nvPr/>
        </p:nvPicPr>
        <p:blipFill>
          <a:blip r:embed="rId2"/>
          <a:stretch>
            <a:fillRect/>
          </a:stretch>
        </p:blipFill>
        <p:spPr>
          <a:xfrm>
            <a:off x="3617843" y="216839"/>
            <a:ext cx="8351848" cy="4694166"/>
          </a:xfrm>
          <a:prstGeom prst="rect">
            <a:avLst/>
          </a:prstGeom>
        </p:spPr>
      </p:pic>
      <p:sp>
        <p:nvSpPr>
          <p:cNvPr id="6" name="TextBox 5">
            <a:extLst>
              <a:ext uri="{FF2B5EF4-FFF2-40B4-BE49-F238E27FC236}">
                <a16:creationId xmlns:a16="http://schemas.microsoft.com/office/drawing/2014/main" id="{DEF95935-F8C5-FA44-2A27-C4940DF3F7C6}"/>
              </a:ext>
            </a:extLst>
          </p:cNvPr>
          <p:cNvSpPr txBox="1"/>
          <p:nvPr/>
        </p:nvSpPr>
        <p:spPr>
          <a:xfrm>
            <a:off x="3705193" y="5009945"/>
            <a:ext cx="5657467" cy="1323439"/>
          </a:xfrm>
          <a:prstGeom prst="rect">
            <a:avLst/>
          </a:prstGeom>
          <a:noFill/>
        </p:spPr>
        <p:txBody>
          <a:bodyPr wrap="square" rtlCol="0">
            <a:spAutoFit/>
          </a:bodyPr>
          <a:lstStyle/>
          <a:p>
            <a:r>
              <a:rPr lang="en-US" sz="1600" dirty="0">
                <a:effectLst/>
                <a:latin typeface="Arial" panose="020B0604020202020204" pitchFamily="34" charset="0"/>
                <a:ea typeface="Times New Roman" panose="02020603050405020304" pitchFamily="18" charset="0"/>
                <a:cs typeface="Arial" panose="020B0604020202020204" pitchFamily="34" charset="0"/>
              </a:rPr>
              <a:t>We have used </a:t>
            </a:r>
            <a:r>
              <a:rPr lang="en-US" sz="1600" dirty="0" err="1">
                <a:effectLst/>
                <a:latin typeface="Arial" panose="020B0604020202020204" pitchFamily="34" charset="0"/>
                <a:ea typeface="Times New Roman" panose="02020603050405020304" pitchFamily="18" charset="0"/>
                <a:cs typeface="Arial" panose="020B0604020202020204" pitchFamily="34" charset="0"/>
              </a:rPr>
              <a:t>Any.Run</a:t>
            </a:r>
            <a:r>
              <a:rPr lang="en-US" sz="1600" dirty="0">
                <a:effectLst/>
                <a:latin typeface="Arial" panose="020B0604020202020204" pitchFamily="34" charset="0"/>
                <a:ea typeface="Times New Roman" panose="02020603050405020304" pitchFamily="18" charset="0"/>
                <a:cs typeface="Arial" panose="020B0604020202020204" pitchFamily="34" charset="0"/>
              </a:rPr>
              <a:t> to simulate automated analysis of our malware sample.</a:t>
            </a:r>
            <a:endParaRPr lang="en-US" sz="1200" dirty="0">
              <a:latin typeface="Arial" panose="020B0604020202020204" pitchFamily="34" charset="0"/>
              <a:cs typeface="Arial" panose="020B0604020202020204" pitchFamily="34" charset="0"/>
            </a:endParaRPr>
          </a:p>
          <a:p>
            <a:r>
              <a:rPr lang="en-US" sz="1600" dirty="0">
                <a:effectLst/>
                <a:latin typeface="Arial" panose="020B0604020202020204" pitchFamily="34" charset="0"/>
                <a:ea typeface="Times New Roman" panose="02020603050405020304" pitchFamily="18" charset="0"/>
                <a:cs typeface="Arial" panose="020B0604020202020204" pitchFamily="34" charset="0"/>
              </a:rPr>
              <a:t>This screenshot shows a quick summary of the malware's behavior, highlighting suspicious actions like process creation and potential indicators of compromise</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8320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58;p7">
            <a:extLst>
              <a:ext uri="{FF2B5EF4-FFF2-40B4-BE49-F238E27FC236}">
                <a16:creationId xmlns:a16="http://schemas.microsoft.com/office/drawing/2014/main" id="{244EFD70-480A-D11D-2DF9-FD47393043EE}"/>
              </a:ext>
            </a:extLst>
          </p:cNvPr>
          <p:cNvSpPr/>
          <p:nvPr/>
        </p:nvSpPr>
        <p:spPr>
          <a:xfrm flipH="1">
            <a:off x="8984721" y="0"/>
            <a:ext cx="641455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4E6DC525-0428-59C2-5E1E-C1E513CBE3FA}"/>
              </a:ext>
            </a:extLst>
          </p:cNvPr>
          <p:cNvSpPr>
            <a:spLocks noGrp="1"/>
          </p:cNvSpPr>
          <p:nvPr>
            <p:ph type="sldNum" sz="quarter" idx="12"/>
          </p:nvPr>
        </p:nvSpPr>
        <p:spPr/>
        <p:txBody>
          <a:bodyPr/>
          <a:lstStyle/>
          <a:p>
            <a:fld id="{D39BF864-7A39-40DA-B38E-6B0F4C7F839D}" type="slidenum">
              <a:rPr lang="en-US" smtClean="0">
                <a:solidFill>
                  <a:schemeClr val="bg1"/>
                </a:solidFill>
              </a:rPr>
              <a:t>19</a:t>
            </a:fld>
            <a:endParaRPr lang="en-US" dirty="0">
              <a:solidFill>
                <a:schemeClr val="bg1"/>
              </a:solidFill>
            </a:endParaRPr>
          </a:p>
        </p:txBody>
      </p:sp>
      <p:sp>
        <p:nvSpPr>
          <p:cNvPr id="11" name="TextBox 10">
            <a:extLst>
              <a:ext uri="{FF2B5EF4-FFF2-40B4-BE49-F238E27FC236}">
                <a16:creationId xmlns:a16="http://schemas.microsoft.com/office/drawing/2014/main" id="{2437F94C-A32F-773C-A310-5CF4033AB2B7}"/>
              </a:ext>
            </a:extLst>
          </p:cNvPr>
          <p:cNvSpPr txBox="1"/>
          <p:nvPr/>
        </p:nvSpPr>
        <p:spPr>
          <a:xfrm rot="5400000" flipH="1">
            <a:off x="7962742" y="2459504"/>
            <a:ext cx="6074230" cy="1938992"/>
          </a:xfrm>
          <a:prstGeom prst="rect">
            <a:avLst/>
          </a:prstGeom>
          <a:noFill/>
        </p:spPr>
        <p:txBody>
          <a:bodyPr vert="horz" wrap="square" anchor="ctr" anchorCtr="0">
            <a:spAutoFit/>
          </a:bodyPr>
          <a:lstStyle/>
          <a:p>
            <a:r>
              <a:rPr lang="en-US" sz="4000" dirty="0">
                <a:solidFill>
                  <a:schemeClr val="bg1"/>
                </a:solidFill>
                <a:latin typeface="Arial Black" panose="020B0A04020102020204" pitchFamily="34" charset="0"/>
              </a:rPr>
              <a:t>Automated Analysis:</a:t>
            </a:r>
          </a:p>
          <a:p>
            <a:pPr algn="ctr"/>
            <a:r>
              <a:rPr lang="en-US" sz="4000" dirty="0">
                <a:solidFill>
                  <a:schemeClr val="bg1"/>
                </a:solidFill>
                <a:latin typeface="Arial Black" panose="020B0A04020102020204" pitchFamily="34" charset="0"/>
              </a:rPr>
              <a:t>IOCs</a:t>
            </a:r>
          </a:p>
          <a:p>
            <a:pPr algn="ctr"/>
            <a:endParaRPr lang="en-US" sz="4000" dirty="0"/>
          </a:p>
        </p:txBody>
      </p:sp>
      <p:pic>
        <p:nvPicPr>
          <p:cNvPr id="3" name="Picture 2">
            <a:extLst>
              <a:ext uri="{FF2B5EF4-FFF2-40B4-BE49-F238E27FC236}">
                <a16:creationId xmlns:a16="http://schemas.microsoft.com/office/drawing/2014/main" id="{DDF23209-D7AC-08BF-9827-34D67EA05C7E}"/>
              </a:ext>
            </a:extLst>
          </p:cNvPr>
          <p:cNvPicPr>
            <a:picLocks noChangeAspect="1"/>
          </p:cNvPicPr>
          <p:nvPr/>
        </p:nvPicPr>
        <p:blipFill>
          <a:blip r:embed="rId2"/>
          <a:stretch>
            <a:fillRect/>
          </a:stretch>
        </p:blipFill>
        <p:spPr>
          <a:xfrm>
            <a:off x="222646" y="1544088"/>
            <a:ext cx="7042857" cy="5106975"/>
          </a:xfrm>
          <a:prstGeom prst="rect">
            <a:avLst/>
          </a:prstGeom>
        </p:spPr>
      </p:pic>
      <p:sp>
        <p:nvSpPr>
          <p:cNvPr id="4" name="TextBox 3">
            <a:extLst>
              <a:ext uri="{FF2B5EF4-FFF2-40B4-BE49-F238E27FC236}">
                <a16:creationId xmlns:a16="http://schemas.microsoft.com/office/drawing/2014/main" id="{37FA3211-690C-6EDC-B13E-33A9E8DED03C}"/>
              </a:ext>
            </a:extLst>
          </p:cNvPr>
          <p:cNvSpPr txBox="1"/>
          <p:nvPr/>
        </p:nvSpPr>
        <p:spPr>
          <a:xfrm>
            <a:off x="222646" y="206937"/>
            <a:ext cx="7461504" cy="1416413"/>
          </a:xfrm>
          <a:prstGeom prst="rect">
            <a:avLst/>
          </a:prstGeom>
          <a:noFill/>
        </p:spPr>
        <p:txBody>
          <a:bodyPr wrap="square" rtlCol="0">
            <a:spAutoFit/>
          </a:bodyPr>
          <a:lstStyle/>
          <a:p>
            <a:pPr marL="0" marR="0">
              <a:lnSpc>
                <a:spcPct val="115000"/>
              </a:lnSpc>
              <a:spcAft>
                <a:spcPts val="600"/>
              </a:spcAft>
              <a:buNone/>
            </a:pPr>
            <a:r>
              <a:rPr lang="en-US" dirty="0">
                <a:effectLst/>
                <a:latin typeface="Arial" panose="020B0604020202020204" pitchFamily="34" charset="0"/>
                <a:ea typeface="Times New Roman" panose="02020603050405020304" pitchFamily="18" charset="0"/>
                <a:cs typeface="Arial" panose="020B0604020202020204" pitchFamily="34" charset="0"/>
              </a:rPr>
              <a:t>This screenshot lists the Indicators of Compromise (IOCs) such as file names, hashes, and paths that can help identify the presence of the malware on other systems.</a:t>
            </a:r>
          </a:p>
          <a:p>
            <a:pPr marL="0" marR="0">
              <a:lnSpc>
                <a:spcPct val="115000"/>
              </a:lnSpc>
              <a:spcAft>
                <a:spcPts val="600"/>
              </a:spcAft>
            </a:pPr>
            <a:r>
              <a:rPr lang="en-US" sz="1800" dirty="0">
                <a:effectLst/>
                <a:latin typeface="Arial" panose="020B0604020202020204" pitchFamily="34" charset="0"/>
                <a:ea typeface="Times New Roman" panose="02020603050405020304" pitchFamily="18" charset="0"/>
                <a:cs typeface="Arial" panose="020B0604020202020204" pitchFamily="34" charset="0"/>
              </a:rPr>
              <a:t> </a:t>
            </a:r>
          </a:p>
        </p:txBody>
      </p:sp>
    </p:spTree>
    <p:extLst>
      <p:ext uri="{BB962C8B-B14F-4D97-AF65-F5344CB8AC3E}">
        <p14:creationId xmlns:p14="http://schemas.microsoft.com/office/powerpoint/2010/main" val="2322665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97EC6D-C5AF-FF86-83B0-F5DC490A5FC0}"/>
              </a:ext>
            </a:extLst>
          </p:cNvPr>
          <p:cNvSpPr>
            <a:spLocks noGrp="1"/>
          </p:cNvSpPr>
          <p:nvPr>
            <p:ph type="sldNum" sz="quarter" idx="12"/>
          </p:nvPr>
        </p:nvSpPr>
        <p:spPr/>
        <p:txBody>
          <a:bodyPr/>
          <a:lstStyle/>
          <a:p>
            <a:fld id="{D39BF864-7A39-40DA-B38E-6B0F4C7F839D}" type="slidenum">
              <a:rPr lang="en-US" smtClean="0">
                <a:solidFill>
                  <a:schemeClr val="tx1"/>
                </a:solidFill>
              </a:rPr>
              <a:t>20</a:t>
            </a:fld>
            <a:endParaRPr lang="en-US" dirty="0">
              <a:solidFill>
                <a:schemeClr val="tx1"/>
              </a:solidFill>
            </a:endParaRPr>
          </a:p>
        </p:txBody>
      </p:sp>
      <p:sp>
        <p:nvSpPr>
          <p:cNvPr id="3" name="Google Shape;39;p4">
            <a:extLst>
              <a:ext uri="{FF2B5EF4-FFF2-40B4-BE49-F238E27FC236}">
                <a16:creationId xmlns:a16="http://schemas.microsoft.com/office/drawing/2014/main" id="{4EFC8007-86B4-6B15-239C-E0B2E0ABDF7E}"/>
              </a:ext>
            </a:extLst>
          </p:cNvPr>
          <p:cNvSpPr/>
          <p:nvPr/>
        </p:nvSpPr>
        <p:spPr>
          <a:xfrm>
            <a:off x="-3305224" y="0"/>
            <a:ext cx="661044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CCA3E943-7BFC-E10E-DAA6-70FA467D5796}"/>
              </a:ext>
            </a:extLst>
          </p:cNvPr>
          <p:cNvSpPr txBox="1"/>
          <p:nvPr/>
        </p:nvSpPr>
        <p:spPr>
          <a:xfrm rot="16200000">
            <a:off x="-1828981" y="2459504"/>
            <a:ext cx="6041574" cy="1938992"/>
          </a:xfrm>
          <a:prstGeom prst="rect">
            <a:avLst/>
          </a:prstGeom>
          <a:noFill/>
        </p:spPr>
        <p:txBody>
          <a:bodyPr vert="horz" wrap="square" anchor="ctr" anchorCtr="0">
            <a:spAutoFit/>
          </a:bodyPr>
          <a:lstStyle/>
          <a:p>
            <a:r>
              <a:rPr lang="en-US" sz="4000" dirty="0">
                <a:solidFill>
                  <a:schemeClr val="bg1"/>
                </a:solidFill>
                <a:latin typeface="Arial Black" panose="020B0A04020102020204" pitchFamily="34" charset="0"/>
              </a:rPr>
              <a:t>Automated Analysis:</a:t>
            </a:r>
          </a:p>
          <a:p>
            <a:pPr algn="ctr"/>
            <a:r>
              <a:rPr lang="en-US" sz="4000" dirty="0">
                <a:solidFill>
                  <a:schemeClr val="bg1"/>
                </a:solidFill>
                <a:latin typeface="Arial Black" panose="020B0A04020102020204" pitchFamily="34" charset="0"/>
              </a:rPr>
              <a:t>ATT&amp;CK</a:t>
            </a:r>
          </a:p>
          <a:p>
            <a:endParaRPr lang="en-US" sz="4000" dirty="0"/>
          </a:p>
        </p:txBody>
      </p:sp>
      <p:pic>
        <p:nvPicPr>
          <p:cNvPr id="4" name="Picture 3">
            <a:extLst>
              <a:ext uri="{FF2B5EF4-FFF2-40B4-BE49-F238E27FC236}">
                <a16:creationId xmlns:a16="http://schemas.microsoft.com/office/drawing/2014/main" id="{8E86B325-3ED5-53FD-ACBB-BA9E81B34C58}"/>
              </a:ext>
            </a:extLst>
          </p:cNvPr>
          <p:cNvPicPr>
            <a:picLocks noChangeAspect="1"/>
          </p:cNvPicPr>
          <p:nvPr/>
        </p:nvPicPr>
        <p:blipFill>
          <a:blip r:embed="rId2"/>
          <a:stretch>
            <a:fillRect/>
          </a:stretch>
        </p:blipFill>
        <p:spPr>
          <a:xfrm>
            <a:off x="3498482" y="1103243"/>
            <a:ext cx="8620294" cy="4651514"/>
          </a:xfrm>
          <a:prstGeom prst="rect">
            <a:avLst/>
          </a:prstGeom>
        </p:spPr>
      </p:pic>
    </p:spTree>
    <p:extLst>
      <p:ext uri="{BB962C8B-B14F-4D97-AF65-F5344CB8AC3E}">
        <p14:creationId xmlns:p14="http://schemas.microsoft.com/office/powerpoint/2010/main" val="31629100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58;p7">
            <a:extLst>
              <a:ext uri="{FF2B5EF4-FFF2-40B4-BE49-F238E27FC236}">
                <a16:creationId xmlns:a16="http://schemas.microsoft.com/office/drawing/2014/main" id="{244EFD70-480A-D11D-2DF9-FD47393043EE}"/>
              </a:ext>
            </a:extLst>
          </p:cNvPr>
          <p:cNvSpPr/>
          <p:nvPr/>
        </p:nvSpPr>
        <p:spPr>
          <a:xfrm flipH="1">
            <a:off x="8984721" y="0"/>
            <a:ext cx="641455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4E6DC525-0428-59C2-5E1E-C1E513CBE3FA}"/>
              </a:ext>
            </a:extLst>
          </p:cNvPr>
          <p:cNvSpPr>
            <a:spLocks noGrp="1"/>
          </p:cNvSpPr>
          <p:nvPr>
            <p:ph type="sldNum" sz="quarter" idx="12"/>
          </p:nvPr>
        </p:nvSpPr>
        <p:spPr/>
        <p:txBody>
          <a:bodyPr/>
          <a:lstStyle/>
          <a:p>
            <a:fld id="{D39BF864-7A39-40DA-B38E-6B0F4C7F839D}" type="slidenum">
              <a:rPr lang="en-US" smtClean="0">
                <a:solidFill>
                  <a:schemeClr val="bg1"/>
                </a:solidFill>
              </a:rPr>
              <a:t>21</a:t>
            </a:fld>
            <a:endParaRPr lang="en-US" dirty="0">
              <a:solidFill>
                <a:schemeClr val="bg1"/>
              </a:solidFill>
            </a:endParaRPr>
          </a:p>
        </p:txBody>
      </p:sp>
      <p:sp>
        <p:nvSpPr>
          <p:cNvPr id="11" name="TextBox 10">
            <a:extLst>
              <a:ext uri="{FF2B5EF4-FFF2-40B4-BE49-F238E27FC236}">
                <a16:creationId xmlns:a16="http://schemas.microsoft.com/office/drawing/2014/main" id="{2437F94C-A32F-773C-A310-5CF4033AB2B7}"/>
              </a:ext>
            </a:extLst>
          </p:cNvPr>
          <p:cNvSpPr txBox="1"/>
          <p:nvPr/>
        </p:nvSpPr>
        <p:spPr>
          <a:xfrm rot="5400000" flipH="1">
            <a:off x="8028056" y="2459504"/>
            <a:ext cx="5943602" cy="1938992"/>
          </a:xfrm>
          <a:prstGeom prst="rect">
            <a:avLst/>
          </a:prstGeom>
          <a:noFill/>
        </p:spPr>
        <p:txBody>
          <a:bodyPr vert="horz" wrap="square" anchor="ctr" anchorCtr="0">
            <a:spAutoFit/>
          </a:bodyPr>
          <a:lstStyle/>
          <a:p>
            <a:r>
              <a:rPr lang="en-US" sz="4000" dirty="0">
                <a:solidFill>
                  <a:schemeClr val="bg1"/>
                </a:solidFill>
                <a:latin typeface="Arial Black" panose="020B0A04020102020204" pitchFamily="34" charset="0"/>
              </a:rPr>
              <a:t>Automated Analysis:</a:t>
            </a:r>
          </a:p>
          <a:p>
            <a:pPr algn="ctr"/>
            <a:r>
              <a:rPr lang="en-US" sz="4000" dirty="0">
                <a:solidFill>
                  <a:schemeClr val="bg1"/>
                </a:solidFill>
                <a:latin typeface="Arial Black" panose="020B0A04020102020204" pitchFamily="34" charset="0"/>
              </a:rPr>
              <a:t>Network Activity</a:t>
            </a:r>
          </a:p>
          <a:p>
            <a:endParaRPr lang="en-US" sz="4000" dirty="0"/>
          </a:p>
        </p:txBody>
      </p:sp>
      <p:pic>
        <p:nvPicPr>
          <p:cNvPr id="3" name="Picture 2">
            <a:extLst>
              <a:ext uri="{FF2B5EF4-FFF2-40B4-BE49-F238E27FC236}">
                <a16:creationId xmlns:a16="http://schemas.microsoft.com/office/drawing/2014/main" id="{8B800E66-31DA-4618-B439-7777307C7AB2}"/>
              </a:ext>
            </a:extLst>
          </p:cNvPr>
          <p:cNvPicPr>
            <a:picLocks noChangeAspect="1"/>
          </p:cNvPicPr>
          <p:nvPr/>
        </p:nvPicPr>
        <p:blipFill>
          <a:blip r:embed="rId2"/>
          <a:stretch>
            <a:fillRect/>
          </a:stretch>
        </p:blipFill>
        <p:spPr>
          <a:xfrm>
            <a:off x="696707" y="2220617"/>
            <a:ext cx="6597720" cy="3701491"/>
          </a:xfrm>
          <a:prstGeom prst="rect">
            <a:avLst/>
          </a:prstGeom>
        </p:spPr>
      </p:pic>
      <p:pic>
        <p:nvPicPr>
          <p:cNvPr id="4" name="Picture 3">
            <a:extLst>
              <a:ext uri="{FF2B5EF4-FFF2-40B4-BE49-F238E27FC236}">
                <a16:creationId xmlns:a16="http://schemas.microsoft.com/office/drawing/2014/main" id="{94B79B6B-CBA9-D37E-E050-D4984A78F91F}"/>
              </a:ext>
            </a:extLst>
          </p:cNvPr>
          <p:cNvPicPr>
            <a:picLocks noChangeAspect="1"/>
          </p:cNvPicPr>
          <p:nvPr/>
        </p:nvPicPr>
        <p:blipFill>
          <a:blip r:embed="rId3"/>
          <a:stretch>
            <a:fillRect/>
          </a:stretch>
        </p:blipFill>
        <p:spPr>
          <a:xfrm>
            <a:off x="222647" y="6008481"/>
            <a:ext cx="7545841" cy="719757"/>
          </a:xfrm>
          <a:prstGeom prst="rect">
            <a:avLst/>
          </a:prstGeom>
        </p:spPr>
      </p:pic>
      <p:pic>
        <p:nvPicPr>
          <p:cNvPr id="6" name="Picture 5">
            <a:extLst>
              <a:ext uri="{FF2B5EF4-FFF2-40B4-BE49-F238E27FC236}">
                <a16:creationId xmlns:a16="http://schemas.microsoft.com/office/drawing/2014/main" id="{1EB015AF-3E7F-3D2A-140E-C9AB18B839BA}"/>
              </a:ext>
            </a:extLst>
          </p:cNvPr>
          <p:cNvPicPr>
            <a:picLocks noChangeAspect="1"/>
          </p:cNvPicPr>
          <p:nvPr/>
        </p:nvPicPr>
        <p:blipFill>
          <a:blip r:embed="rId4"/>
          <a:stretch>
            <a:fillRect/>
          </a:stretch>
        </p:blipFill>
        <p:spPr>
          <a:xfrm>
            <a:off x="222647" y="135008"/>
            <a:ext cx="8330147" cy="1999236"/>
          </a:xfrm>
          <a:prstGeom prst="rect">
            <a:avLst/>
          </a:prstGeom>
        </p:spPr>
      </p:pic>
    </p:spTree>
    <p:extLst>
      <p:ext uri="{BB962C8B-B14F-4D97-AF65-F5344CB8AC3E}">
        <p14:creationId xmlns:p14="http://schemas.microsoft.com/office/powerpoint/2010/main" val="236237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97EC6D-C5AF-FF86-83B0-F5DC490A5FC0}"/>
              </a:ext>
            </a:extLst>
          </p:cNvPr>
          <p:cNvSpPr>
            <a:spLocks noGrp="1"/>
          </p:cNvSpPr>
          <p:nvPr>
            <p:ph type="sldNum" sz="quarter" idx="12"/>
          </p:nvPr>
        </p:nvSpPr>
        <p:spPr/>
        <p:txBody>
          <a:bodyPr/>
          <a:lstStyle/>
          <a:p>
            <a:fld id="{D39BF864-7A39-40DA-B38E-6B0F4C7F839D}" type="slidenum">
              <a:rPr lang="en-US" smtClean="0">
                <a:solidFill>
                  <a:schemeClr val="tx1"/>
                </a:solidFill>
              </a:rPr>
              <a:t>22</a:t>
            </a:fld>
            <a:endParaRPr lang="en-US" dirty="0">
              <a:solidFill>
                <a:schemeClr val="tx1"/>
              </a:solidFill>
            </a:endParaRPr>
          </a:p>
        </p:txBody>
      </p:sp>
      <p:sp>
        <p:nvSpPr>
          <p:cNvPr id="3" name="Google Shape;39;p4">
            <a:extLst>
              <a:ext uri="{FF2B5EF4-FFF2-40B4-BE49-F238E27FC236}">
                <a16:creationId xmlns:a16="http://schemas.microsoft.com/office/drawing/2014/main" id="{4EFC8007-86B4-6B15-239C-E0B2E0ABDF7E}"/>
              </a:ext>
            </a:extLst>
          </p:cNvPr>
          <p:cNvSpPr/>
          <p:nvPr/>
        </p:nvSpPr>
        <p:spPr>
          <a:xfrm>
            <a:off x="-3305224" y="0"/>
            <a:ext cx="661044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CCA3E943-7BFC-E10E-DAA6-70FA467D5796}"/>
              </a:ext>
            </a:extLst>
          </p:cNvPr>
          <p:cNvSpPr txBox="1"/>
          <p:nvPr/>
        </p:nvSpPr>
        <p:spPr>
          <a:xfrm rot="16200000">
            <a:off x="-808446" y="2767281"/>
            <a:ext cx="4000502" cy="1323439"/>
          </a:xfrm>
          <a:prstGeom prst="rect">
            <a:avLst/>
          </a:prstGeom>
          <a:noFill/>
        </p:spPr>
        <p:txBody>
          <a:bodyPr vert="horz" wrap="square" anchor="ctr" anchorCtr="0">
            <a:spAutoFit/>
          </a:bodyPr>
          <a:lstStyle/>
          <a:p>
            <a:pPr algn="ctr"/>
            <a:r>
              <a:rPr lang="en-US" sz="4000" dirty="0">
                <a:solidFill>
                  <a:schemeClr val="bg1"/>
                </a:solidFill>
                <a:latin typeface="Arial Black" panose="020B0A04020102020204" pitchFamily="34" charset="0"/>
              </a:rPr>
              <a:t>YARA RULE: Writing</a:t>
            </a:r>
          </a:p>
        </p:txBody>
      </p:sp>
      <p:pic>
        <p:nvPicPr>
          <p:cNvPr id="4" name="Picture 3">
            <a:extLst>
              <a:ext uri="{FF2B5EF4-FFF2-40B4-BE49-F238E27FC236}">
                <a16:creationId xmlns:a16="http://schemas.microsoft.com/office/drawing/2014/main" id="{F19B5A92-BC9D-5612-E925-C6997676B7A7}"/>
              </a:ext>
            </a:extLst>
          </p:cNvPr>
          <p:cNvPicPr>
            <a:picLocks noChangeAspect="1"/>
          </p:cNvPicPr>
          <p:nvPr/>
        </p:nvPicPr>
        <p:blipFill>
          <a:blip r:embed="rId3"/>
          <a:stretch>
            <a:fillRect/>
          </a:stretch>
        </p:blipFill>
        <p:spPr>
          <a:xfrm>
            <a:off x="5078896" y="221362"/>
            <a:ext cx="6957155" cy="6072347"/>
          </a:xfrm>
          <a:prstGeom prst="rect">
            <a:avLst/>
          </a:prstGeom>
        </p:spPr>
      </p:pic>
      <p:sp>
        <p:nvSpPr>
          <p:cNvPr id="6" name="TextBox 5">
            <a:extLst>
              <a:ext uri="{FF2B5EF4-FFF2-40B4-BE49-F238E27FC236}">
                <a16:creationId xmlns:a16="http://schemas.microsoft.com/office/drawing/2014/main" id="{7DD1E28A-2B0E-18B6-9547-6FB98C9E15FD}"/>
              </a:ext>
            </a:extLst>
          </p:cNvPr>
          <p:cNvSpPr txBox="1"/>
          <p:nvPr/>
        </p:nvSpPr>
        <p:spPr>
          <a:xfrm>
            <a:off x="2604052" y="221362"/>
            <a:ext cx="2180295" cy="6494085"/>
          </a:xfrm>
          <a:prstGeom prst="rect">
            <a:avLst/>
          </a:prstGeom>
          <a:noFill/>
        </p:spPr>
        <p:txBody>
          <a:bodyPr wrap="square" rtlCol="0">
            <a:spAutoFit/>
          </a:bodyPr>
          <a:lstStyle/>
          <a:p>
            <a:r>
              <a:rPr lang="en-US" sz="1600" dirty="0">
                <a:effectLst/>
                <a:latin typeface="Arial" panose="020B0604020202020204" pitchFamily="34" charset="0"/>
                <a:ea typeface="Times New Roman" panose="02020603050405020304" pitchFamily="18" charset="0"/>
                <a:cs typeface="Arial" panose="020B0604020202020204" pitchFamily="34" charset="0"/>
              </a:rPr>
              <a:t>Running the YARA rule against the malware sample. </a:t>
            </a:r>
          </a:p>
          <a:p>
            <a:endParaRPr lang="en-US" sz="1600" dirty="0">
              <a:latin typeface="Arial" panose="020B0604020202020204" pitchFamily="34" charset="0"/>
              <a:ea typeface="Times New Roman" panose="02020603050405020304" pitchFamily="18" charset="0"/>
              <a:cs typeface="Arial" panose="020B0604020202020204" pitchFamily="34" charset="0"/>
            </a:endParaRPr>
          </a:p>
          <a:p>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p>
            <a:endParaRPr lang="en-US" sz="1600" dirty="0">
              <a:latin typeface="Arial" panose="020B0604020202020204" pitchFamily="34" charset="0"/>
              <a:ea typeface="Times New Roman" panose="02020603050405020304" pitchFamily="18" charset="0"/>
              <a:cs typeface="Arial" panose="020B0604020202020204" pitchFamily="34" charset="0"/>
            </a:endParaRPr>
          </a:p>
          <a:p>
            <a:endParaRPr lang="en-US" sz="1600" dirty="0">
              <a:latin typeface="Arial" panose="020B0604020202020204" pitchFamily="34" charset="0"/>
              <a:ea typeface="Times New Roman" panose="02020603050405020304" pitchFamily="18" charset="0"/>
              <a:cs typeface="Arial" panose="020B0604020202020204" pitchFamily="34" charset="0"/>
            </a:endParaRPr>
          </a:p>
          <a:p>
            <a:endParaRPr lang="en-US" sz="1600" dirty="0">
              <a:latin typeface="Arial" panose="020B0604020202020204" pitchFamily="34" charset="0"/>
              <a:ea typeface="Times New Roman" panose="02020603050405020304" pitchFamily="18" charset="0"/>
              <a:cs typeface="Arial" panose="020B0604020202020204" pitchFamily="34" charset="0"/>
            </a:endParaRPr>
          </a:p>
          <a:p>
            <a:endParaRPr lang="en-US" sz="1600" dirty="0">
              <a:latin typeface="Arial" panose="020B0604020202020204" pitchFamily="34" charset="0"/>
              <a:ea typeface="Times New Roman" panose="02020603050405020304" pitchFamily="18" charset="0"/>
              <a:cs typeface="Arial" panose="020B0604020202020204" pitchFamily="34" charset="0"/>
            </a:endParaRPr>
          </a:p>
          <a:p>
            <a:endParaRPr lang="en-US" sz="1600" dirty="0">
              <a:latin typeface="Arial" panose="020B0604020202020204" pitchFamily="34" charset="0"/>
              <a:ea typeface="Times New Roman" panose="02020603050405020304" pitchFamily="18" charset="0"/>
              <a:cs typeface="Arial" panose="020B0604020202020204" pitchFamily="34" charset="0"/>
            </a:endParaRPr>
          </a:p>
          <a:p>
            <a:endParaRPr lang="en-US" sz="1600" dirty="0">
              <a:latin typeface="Arial" panose="020B0604020202020204" pitchFamily="34" charset="0"/>
              <a:ea typeface="Times New Roman" panose="02020603050405020304" pitchFamily="18" charset="0"/>
              <a:cs typeface="Arial" panose="020B0604020202020204" pitchFamily="34" charset="0"/>
            </a:endParaRPr>
          </a:p>
          <a:p>
            <a:endParaRPr lang="en-US" sz="1600" dirty="0">
              <a:latin typeface="Arial" panose="020B0604020202020204" pitchFamily="34" charset="0"/>
              <a:ea typeface="Times New Roman" panose="02020603050405020304" pitchFamily="18" charset="0"/>
              <a:cs typeface="Arial" panose="020B0604020202020204" pitchFamily="34" charset="0"/>
            </a:endParaRPr>
          </a:p>
          <a:p>
            <a:endParaRPr lang="en-US" sz="1600" dirty="0">
              <a:latin typeface="Arial" panose="020B0604020202020204" pitchFamily="34" charset="0"/>
              <a:ea typeface="Times New Roman" panose="02020603050405020304" pitchFamily="18" charset="0"/>
              <a:cs typeface="Arial" panose="020B0604020202020204" pitchFamily="34" charset="0"/>
            </a:endParaRPr>
          </a:p>
          <a:p>
            <a:endParaRPr lang="en-US" sz="1600" dirty="0">
              <a:latin typeface="Arial" panose="020B0604020202020204" pitchFamily="34" charset="0"/>
              <a:ea typeface="Times New Roman" panose="02020603050405020304" pitchFamily="18" charset="0"/>
              <a:cs typeface="Arial" panose="020B0604020202020204" pitchFamily="34" charset="0"/>
            </a:endParaRPr>
          </a:p>
          <a:p>
            <a:endParaRPr lang="en-US" sz="1600" dirty="0">
              <a:latin typeface="Arial" panose="020B0604020202020204" pitchFamily="34" charset="0"/>
              <a:ea typeface="Times New Roman" panose="02020603050405020304" pitchFamily="18" charset="0"/>
              <a:cs typeface="Arial" panose="020B0604020202020204" pitchFamily="34" charset="0"/>
            </a:endParaRPr>
          </a:p>
          <a:p>
            <a:endParaRPr lang="en-US" sz="1600" dirty="0">
              <a:latin typeface="Arial" panose="020B0604020202020204" pitchFamily="34" charset="0"/>
              <a:ea typeface="Times New Roman" panose="02020603050405020304" pitchFamily="18" charset="0"/>
              <a:cs typeface="Arial" panose="020B0604020202020204" pitchFamily="34" charset="0"/>
            </a:endParaRPr>
          </a:p>
          <a:p>
            <a:endParaRPr lang="en-US" sz="1600" dirty="0">
              <a:latin typeface="Arial" panose="020B0604020202020204" pitchFamily="34" charset="0"/>
              <a:ea typeface="Times New Roman" panose="02020603050405020304" pitchFamily="18" charset="0"/>
              <a:cs typeface="Arial" panose="020B0604020202020204" pitchFamily="34" charset="0"/>
            </a:endParaRPr>
          </a:p>
          <a:p>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p>
            <a:endParaRPr lang="en-US" sz="1600" dirty="0">
              <a:latin typeface="Arial" panose="020B0604020202020204" pitchFamily="34" charset="0"/>
              <a:ea typeface="Times New Roman" panose="02020603050405020304" pitchFamily="18" charset="0"/>
              <a:cs typeface="Arial" panose="020B0604020202020204" pitchFamily="34" charset="0"/>
            </a:endParaRPr>
          </a:p>
          <a:p>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p>
            <a:r>
              <a:rPr lang="en-US" sz="1600" dirty="0">
                <a:effectLst/>
                <a:latin typeface="Arial" panose="020B0604020202020204" pitchFamily="34" charset="0"/>
                <a:ea typeface="Times New Roman" panose="02020603050405020304" pitchFamily="18" charset="0"/>
                <a:cs typeface="Arial" panose="020B0604020202020204" pitchFamily="34" charset="0"/>
              </a:rPr>
              <a:t>The rule successfully matched the file, confirming that it contains patterns typical of NetSupport RAT</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11048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58;p7">
            <a:extLst>
              <a:ext uri="{FF2B5EF4-FFF2-40B4-BE49-F238E27FC236}">
                <a16:creationId xmlns:a16="http://schemas.microsoft.com/office/drawing/2014/main" id="{244EFD70-480A-D11D-2DF9-FD47393043EE}"/>
              </a:ext>
            </a:extLst>
          </p:cNvPr>
          <p:cNvSpPr/>
          <p:nvPr/>
        </p:nvSpPr>
        <p:spPr>
          <a:xfrm flipH="1">
            <a:off x="8984721" y="0"/>
            <a:ext cx="641455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4E6DC525-0428-59C2-5E1E-C1E513CBE3FA}"/>
              </a:ext>
            </a:extLst>
          </p:cNvPr>
          <p:cNvSpPr>
            <a:spLocks noGrp="1"/>
          </p:cNvSpPr>
          <p:nvPr>
            <p:ph type="sldNum" sz="quarter" idx="12"/>
          </p:nvPr>
        </p:nvSpPr>
        <p:spPr/>
        <p:txBody>
          <a:bodyPr/>
          <a:lstStyle/>
          <a:p>
            <a:fld id="{D39BF864-7A39-40DA-B38E-6B0F4C7F839D}" type="slidenum">
              <a:rPr lang="en-US" smtClean="0">
                <a:solidFill>
                  <a:schemeClr val="bg1"/>
                </a:solidFill>
              </a:rPr>
              <a:t>23</a:t>
            </a:fld>
            <a:endParaRPr lang="en-US" dirty="0">
              <a:solidFill>
                <a:schemeClr val="bg1"/>
              </a:solidFill>
            </a:endParaRPr>
          </a:p>
        </p:txBody>
      </p:sp>
      <p:sp>
        <p:nvSpPr>
          <p:cNvPr id="11" name="TextBox 10">
            <a:extLst>
              <a:ext uri="{FF2B5EF4-FFF2-40B4-BE49-F238E27FC236}">
                <a16:creationId xmlns:a16="http://schemas.microsoft.com/office/drawing/2014/main" id="{2437F94C-A32F-773C-A310-5CF4033AB2B7}"/>
              </a:ext>
            </a:extLst>
          </p:cNvPr>
          <p:cNvSpPr txBox="1"/>
          <p:nvPr/>
        </p:nvSpPr>
        <p:spPr>
          <a:xfrm rot="5400000" flipH="1">
            <a:off x="8999606" y="2767281"/>
            <a:ext cx="4000502" cy="1323439"/>
          </a:xfrm>
          <a:prstGeom prst="rect">
            <a:avLst/>
          </a:prstGeom>
          <a:noFill/>
        </p:spPr>
        <p:txBody>
          <a:bodyPr vert="horz" wrap="square" anchor="ctr" anchorCtr="0">
            <a:spAutoFit/>
          </a:bodyPr>
          <a:lstStyle/>
          <a:p>
            <a:pPr algn="ctr"/>
            <a:r>
              <a:rPr lang="en-US" sz="4000" dirty="0">
                <a:solidFill>
                  <a:schemeClr val="bg1"/>
                </a:solidFill>
                <a:latin typeface="Arial Black" panose="020B0A04020102020204" pitchFamily="34" charset="0"/>
              </a:rPr>
              <a:t>YARA RULE: Execution</a:t>
            </a:r>
          </a:p>
        </p:txBody>
      </p:sp>
      <p:pic>
        <p:nvPicPr>
          <p:cNvPr id="3" name="Picture 2">
            <a:extLst>
              <a:ext uri="{FF2B5EF4-FFF2-40B4-BE49-F238E27FC236}">
                <a16:creationId xmlns:a16="http://schemas.microsoft.com/office/drawing/2014/main" id="{28F6476D-76BB-7B23-87DA-B6839E55CC12}"/>
              </a:ext>
            </a:extLst>
          </p:cNvPr>
          <p:cNvPicPr>
            <a:picLocks noChangeAspect="1"/>
          </p:cNvPicPr>
          <p:nvPr/>
        </p:nvPicPr>
        <p:blipFill>
          <a:blip r:embed="rId2"/>
          <a:stretch>
            <a:fillRect/>
          </a:stretch>
        </p:blipFill>
        <p:spPr>
          <a:xfrm>
            <a:off x="530423" y="859435"/>
            <a:ext cx="7928248" cy="5139130"/>
          </a:xfrm>
          <a:prstGeom prst="rect">
            <a:avLst/>
          </a:prstGeom>
        </p:spPr>
      </p:pic>
    </p:spTree>
    <p:extLst>
      <p:ext uri="{BB962C8B-B14F-4D97-AF65-F5344CB8AC3E}">
        <p14:creationId xmlns:p14="http://schemas.microsoft.com/office/powerpoint/2010/main" val="4185768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97EC6D-C5AF-FF86-83B0-F5DC490A5FC0}"/>
              </a:ext>
            </a:extLst>
          </p:cNvPr>
          <p:cNvSpPr>
            <a:spLocks noGrp="1"/>
          </p:cNvSpPr>
          <p:nvPr>
            <p:ph type="sldNum" sz="quarter" idx="12"/>
          </p:nvPr>
        </p:nvSpPr>
        <p:spPr/>
        <p:txBody>
          <a:bodyPr/>
          <a:lstStyle/>
          <a:p>
            <a:fld id="{D39BF864-7A39-40DA-B38E-6B0F4C7F839D}" type="slidenum">
              <a:rPr lang="en-US" smtClean="0">
                <a:solidFill>
                  <a:schemeClr val="tx1"/>
                </a:solidFill>
              </a:rPr>
              <a:t>24</a:t>
            </a:fld>
            <a:endParaRPr lang="en-US" dirty="0">
              <a:solidFill>
                <a:schemeClr val="tx1"/>
              </a:solidFill>
            </a:endParaRPr>
          </a:p>
        </p:txBody>
      </p:sp>
      <p:sp>
        <p:nvSpPr>
          <p:cNvPr id="3" name="Google Shape;39;p4">
            <a:extLst>
              <a:ext uri="{FF2B5EF4-FFF2-40B4-BE49-F238E27FC236}">
                <a16:creationId xmlns:a16="http://schemas.microsoft.com/office/drawing/2014/main" id="{4EFC8007-86B4-6B15-239C-E0B2E0ABDF7E}"/>
              </a:ext>
            </a:extLst>
          </p:cNvPr>
          <p:cNvSpPr/>
          <p:nvPr/>
        </p:nvSpPr>
        <p:spPr>
          <a:xfrm>
            <a:off x="-3305224" y="0"/>
            <a:ext cx="6610448" cy="6858000"/>
          </a:xfrm>
          <a:prstGeom prst="hexagon">
            <a:avLst>
              <a:gd name="adj" fmla="val 25000"/>
              <a:gd name="vf" fmla="val 11547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CCA3E943-7BFC-E10E-DAA6-70FA467D5796}"/>
              </a:ext>
            </a:extLst>
          </p:cNvPr>
          <p:cNvSpPr txBox="1"/>
          <p:nvPr/>
        </p:nvSpPr>
        <p:spPr>
          <a:xfrm rot="16200000">
            <a:off x="-808446" y="3075057"/>
            <a:ext cx="4000502" cy="707886"/>
          </a:xfrm>
          <a:prstGeom prst="rect">
            <a:avLst/>
          </a:prstGeom>
          <a:noFill/>
        </p:spPr>
        <p:txBody>
          <a:bodyPr vert="horz" wrap="square" anchor="ctr" anchorCtr="0">
            <a:spAutoFit/>
          </a:bodyPr>
          <a:lstStyle/>
          <a:p>
            <a:pPr algn="ctr"/>
            <a:r>
              <a:rPr lang="en-US" sz="4000" dirty="0">
                <a:solidFill>
                  <a:schemeClr val="bg1"/>
                </a:solidFill>
                <a:latin typeface="Arial Black" panose="020B0A04020102020204" pitchFamily="34" charset="0"/>
              </a:rPr>
              <a:t>Conclusion</a:t>
            </a:r>
          </a:p>
        </p:txBody>
      </p:sp>
      <p:sp>
        <p:nvSpPr>
          <p:cNvPr id="6" name="TextBox 5">
            <a:extLst>
              <a:ext uri="{FF2B5EF4-FFF2-40B4-BE49-F238E27FC236}">
                <a16:creationId xmlns:a16="http://schemas.microsoft.com/office/drawing/2014/main" id="{3C0A9EA8-83DD-1BDB-93F6-123C28D26B0E}"/>
              </a:ext>
            </a:extLst>
          </p:cNvPr>
          <p:cNvSpPr txBox="1"/>
          <p:nvPr/>
        </p:nvSpPr>
        <p:spPr>
          <a:xfrm>
            <a:off x="3605894" y="2070438"/>
            <a:ext cx="7747906" cy="3693319"/>
          </a:xfrm>
          <a:prstGeom prst="rect">
            <a:avLst/>
          </a:prstGeom>
          <a:noFill/>
        </p:spPr>
        <p:txBody>
          <a:bodyPr wrap="square">
            <a:spAutoFit/>
          </a:bodyPr>
          <a:lstStyle/>
          <a:p>
            <a:pPr>
              <a:spcBef>
                <a:spcPts val="1000"/>
              </a:spcBef>
              <a:buFont typeface="Arial" panose="020B0604020202020204" pitchFamily="34" charset="0"/>
            </a:pPr>
            <a:r>
              <a:rPr lang="en-US" sz="2400" dirty="0">
                <a:latin typeface="Arial  "/>
                <a:cs typeface="Arial" panose="020B0604020202020204" pitchFamily="34" charset="0"/>
              </a:rPr>
              <a:t>The analysis confirms that the sample is a modified WinRAR self-extracting archive used to deliver the </a:t>
            </a:r>
            <a:r>
              <a:rPr lang="en-US" sz="2400" b="1" dirty="0">
                <a:latin typeface="Arial  "/>
                <a:cs typeface="Arial" panose="020B0604020202020204" pitchFamily="34" charset="0"/>
              </a:rPr>
              <a:t>NetSupport RAT</a:t>
            </a:r>
            <a:r>
              <a:rPr lang="en-US" sz="2400" dirty="0">
                <a:latin typeface="Arial  "/>
                <a:cs typeface="Arial" panose="020B0604020202020204" pitchFamily="34" charset="0"/>
              </a:rPr>
              <a:t>. It uses techniques like </a:t>
            </a:r>
            <a:r>
              <a:rPr lang="en-US" sz="2400" i="1" dirty="0">
                <a:latin typeface="Arial  "/>
                <a:cs typeface="Arial" panose="020B0604020202020204" pitchFamily="34" charset="0"/>
              </a:rPr>
              <a:t>obfuscation</a:t>
            </a:r>
            <a:r>
              <a:rPr lang="en-US" sz="2400" dirty="0">
                <a:latin typeface="Arial  "/>
                <a:cs typeface="Arial" panose="020B0604020202020204" pitchFamily="34" charset="0"/>
              </a:rPr>
              <a:t>, </a:t>
            </a:r>
            <a:r>
              <a:rPr lang="en-US" sz="2400" i="1" dirty="0">
                <a:latin typeface="Arial  "/>
                <a:cs typeface="Arial" panose="020B0604020202020204" pitchFamily="34" charset="0"/>
              </a:rPr>
              <a:t>anti-debugging</a:t>
            </a:r>
            <a:r>
              <a:rPr lang="en-US" sz="2400" dirty="0">
                <a:latin typeface="Arial  "/>
                <a:cs typeface="Arial" panose="020B0604020202020204" pitchFamily="34" charset="0"/>
              </a:rPr>
              <a:t>, and </a:t>
            </a:r>
            <a:r>
              <a:rPr lang="en-US" sz="2400" i="1" dirty="0">
                <a:latin typeface="Arial  "/>
                <a:cs typeface="Arial" panose="020B0604020202020204" pitchFamily="34" charset="0"/>
              </a:rPr>
              <a:t>privilege manipulation </a:t>
            </a:r>
            <a:r>
              <a:rPr lang="en-US" sz="2400" dirty="0">
                <a:latin typeface="Arial  "/>
                <a:cs typeface="Arial" panose="020B0604020202020204" pitchFamily="34" charset="0"/>
              </a:rPr>
              <a:t>to avoid detection. Although it showed limited local network activity during manual testing, its behavior and structure clearly point to malicious intent. Overall, the sample is a </a:t>
            </a:r>
            <a:r>
              <a:rPr lang="en-US" sz="2400" b="1" dirty="0">
                <a:latin typeface="Arial  "/>
                <a:cs typeface="Arial" panose="020B0604020202020204" pitchFamily="34" charset="0"/>
              </a:rPr>
              <a:t>stealthy dropper </a:t>
            </a:r>
            <a:r>
              <a:rPr lang="en-US" sz="2400" dirty="0">
                <a:latin typeface="Arial  "/>
                <a:cs typeface="Arial" panose="020B0604020202020204" pitchFamily="34" charset="0"/>
              </a:rPr>
              <a:t>designed to execute remote access malware while hiding its presence from security tools.</a:t>
            </a:r>
          </a:p>
          <a:p>
            <a:endParaRPr lang="en-US" dirty="0"/>
          </a:p>
        </p:txBody>
      </p:sp>
    </p:spTree>
    <p:extLst>
      <p:ext uri="{BB962C8B-B14F-4D97-AF65-F5344CB8AC3E}">
        <p14:creationId xmlns:p14="http://schemas.microsoft.com/office/powerpoint/2010/main" val="5761919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11480"/>
            <a:ext cx="10789920" cy="640080"/>
          </a:xfrm>
          <a:prstGeom prst="rect">
            <a:avLst/>
          </a:prstGeom>
          <a:noFill/>
        </p:spPr>
        <p:txBody>
          <a:bodyPr wrap="none">
            <a:spAutoFit/>
          </a:bodyPr>
          <a:lstStyle/>
          <a:p>
            <a:r>
              <a:rPr sz="3400" b="1">
                <a:solidFill>
                  <a:srgbClr val="1E1E1E"/>
                </a:solidFill>
                <a:latin typeface="Calibri"/>
              </a:rPr>
              <a:t>IOC Summary</a:t>
            </a:r>
          </a:p>
        </p:txBody>
      </p:sp>
      <p:sp>
        <p:nvSpPr>
          <p:cNvPr id="3" name="TextBox 2"/>
          <p:cNvSpPr txBox="1"/>
          <p:nvPr/>
        </p:nvSpPr>
        <p:spPr>
          <a:xfrm>
            <a:off x="822960" y="1371600"/>
            <a:ext cx="10607040" cy="5029200"/>
          </a:xfrm>
          <a:prstGeom prst="rect">
            <a:avLst/>
          </a:prstGeom>
          <a:noFill/>
        </p:spPr>
        <p:txBody>
          <a:bodyPr wrap="square">
            <a:spAutoFit/>
          </a:bodyPr>
          <a:lstStyle/>
          <a:p>
            <a:r>
              <a:rPr sz="2000">
                <a:solidFill>
                  <a:srgbClr val="2D2D2D"/>
                </a:solidFill>
                <a:latin typeface="Calibri"/>
              </a:rPr>
              <a:t>Sample identity:</a:t>
            </a:r>
          </a:p>
          <a:p>
            <a:r>
              <a:rPr sz="2000">
                <a:solidFill>
                  <a:srgbClr val="2D2D2D"/>
                </a:solidFill>
                <a:latin typeface="Calibri"/>
              </a:rPr>
              <a:t>• Filename: sample.exe / WINRAR.SFX</a:t>
            </a:r>
          </a:p>
          <a:p>
            <a:r>
              <a:rPr sz="2000">
                <a:solidFill>
                  <a:srgbClr val="2D2D2D"/>
                </a:solidFill>
                <a:latin typeface="Calibri"/>
              </a:rPr>
              <a:t>• SHA256: 197c2d218121ff0ec738f5d301bf13b7824320c07942b99c9f278e8d7508b15d</a:t>
            </a:r>
          </a:p>
          <a:p>
            <a:endParaRPr sz="2000">
              <a:solidFill>
                <a:srgbClr val="2D2D2D"/>
              </a:solidFill>
              <a:latin typeface="Calibri"/>
            </a:endParaRPr>
          </a:p>
          <a:p>
            <a:r>
              <a:rPr sz="2000">
                <a:solidFill>
                  <a:srgbClr val="2D2D2D"/>
                </a:solidFill>
                <a:latin typeface="Calibri"/>
              </a:rPr>
              <a:t>Key indicators:</a:t>
            </a:r>
          </a:p>
          <a:p>
            <a:r>
              <a:rPr sz="2000">
                <a:solidFill>
                  <a:srgbClr val="2D2D2D"/>
                </a:solidFill>
                <a:latin typeface="Calibri"/>
              </a:rPr>
              <a:t>• WinRAR SFX delivery behavior</a:t>
            </a:r>
          </a:p>
          <a:p>
            <a:r>
              <a:rPr sz="2000">
                <a:solidFill>
                  <a:srgbClr val="2D2D2D"/>
                </a:solidFill>
                <a:latin typeface="Calibri"/>
              </a:rPr>
              <a:t>• Anti-debugging and VM/emulator checks</a:t>
            </a:r>
          </a:p>
          <a:p>
            <a:r>
              <a:rPr sz="2000">
                <a:solidFill>
                  <a:srgbClr val="2D2D2D"/>
                </a:solidFill>
                <a:latin typeface="Calibri"/>
              </a:rPr>
              <a:t>• Dropped NetSupport-related files and DLLs in sandbox output</a:t>
            </a:r>
          </a:p>
          <a:p>
            <a:r>
              <a:rPr sz="2000">
                <a:solidFill>
                  <a:srgbClr val="2D2D2D"/>
                </a:solidFill>
                <a:latin typeface="Calibri"/>
              </a:rPr>
              <a:t>• Registry Run key persistence observed in automated analysis</a:t>
            </a:r>
          </a:p>
          <a:p>
            <a:r>
              <a:rPr sz="2000">
                <a:solidFill>
                  <a:srgbClr val="2D2D2D"/>
                </a:solidFill>
                <a:latin typeface="Calibri"/>
              </a:rPr>
              <a:t>• Suspicious domains and external IPs listed in the IOC file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11480"/>
            <a:ext cx="10789920" cy="640080"/>
          </a:xfrm>
          <a:prstGeom prst="rect">
            <a:avLst/>
          </a:prstGeom>
          <a:noFill/>
        </p:spPr>
        <p:txBody>
          <a:bodyPr wrap="none">
            <a:spAutoFit/>
          </a:bodyPr>
          <a:lstStyle/>
          <a:p>
            <a:r>
              <a:rPr sz="3400" b="1">
                <a:solidFill>
                  <a:srgbClr val="1E1E1E"/>
                </a:solidFill>
                <a:latin typeface="Calibri"/>
              </a:rPr>
              <a:t>References</a:t>
            </a:r>
          </a:p>
        </p:txBody>
      </p:sp>
      <p:sp>
        <p:nvSpPr>
          <p:cNvPr id="3" name="TextBox 2"/>
          <p:cNvSpPr txBox="1"/>
          <p:nvPr/>
        </p:nvSpPr>
        <p:spPr>
          <a:xfrm>
            <a:off x="822960" y="1371600"/>
            <a:ext cx="10607040" cy="1938992"/>
          </a:xfrm>
          <a:prstGeom prst="rect">
            <a:avLst/>
          </a:prstGeom>
          <a:noFill/>
        </p:spPr>
        <p:txBody>
          <a:bodyPr wrap="square">
            <a:spAutoFit/>
          </a:bodyPr>
          <a:lstStyle/>
          <a:p>
            <a:r>
              <a:rPr sz="2000" dirty="0">
                <a:solidFill>
                  <a:srgbClr val="2D2D2D"/>
                </a:solidFill>
                <a:latin typeface="Calibri"/>
              </a:rPr>
              <a:t>• Final malware analysis report, Group 15.</a:t>
            </a:r>
          </a:p>
          <a:p>
            <a:r>
              <a:rPr sz="2000" dirty="0">
                <a:solidFill>
                  <a:srgbClr val="2D2D2D"/>
                </a:solidFill>
                <a:latin typeface="Calibri"/>
              </a:rPr>
              <a:t>• Recorded Triage sandbox report.</a:t>
            </a:r>
          </a:p>
          <a:p>
            <a:r>
              <a:rPr sz="2000" dirty="0">
                <a:solidFill>
                  <a:srgbClr val="2D2D2D"/>
                </a:solidFill>
                <a:latin typeface="Calibri"/>
              </a:rPr>
              <a:t>• Mandiant </a:t>
            </a:r>
            <a:r>
              <a:rPr sz="2000" dirty="0" err="1">
                <a:solidFill>
                  <a:srgbClr val="2D2D2D"/>
                </a:solidFill>
                <a:latin typeface="Calibri"/>
              </a:rPr>
              <a:t>capa</a:t>
            </a:r>
            <a:r>
              <a:rPr sz="2000" dirty="0">
                <a:solidFill>
                  <a:srgbClr val="2D2D2D"/>
                </a:solidFill>
                <a:latin typeface="Calibri"/>
              </a:rPr>
              <a:t> documentation.</a:t>
            </a:r>
          </a:p>
          <a:p>
            <a:r>
              <a:rPr sz="2000" dirty="0">
                <a:solidFill>
                  <a:srgbClr val="2D2D2D"/>
                </a:solidFill>
                <a:latin typeface="Calibri"/>
              </a:rPr>
              <a:t>• MITRE ATT&amp;CK Enterprise Matrix.</a:t>
            </a:r>
          </a:p>
          <a:p>
            <a:r>
              <a:rPr sz="2000" dirty="0">
                <a:solidFill>
                  <a:srgbClr val="2D2D2D"/>
                </a:solidFill>
                <a:latin typeface="Calibri"/>
              </a:rPr>
              <a:t>• Microsoft </a:t>
            </a:r>
            <a:r>
              <a:rPr sz="2000" dirty="0" err="1">
                <a:solidFill>
                  <a:srgbClr val="2D2D2D"/>
                </a:solidFill>
                <a:latin typeface="Calibri"/>
              </a:rPr>
              <a:t>Sysinternals</a:t>
            </a:r>
            <a:r>
              <a:rPr sz="2000" dirty="0">
                <a:solidFill>
                  <a:srgbClr val="2D2D2D"/>
                </a:solidFill>
                <a:latin typeface="Calibri"/>
              </a:rPr>
              <a:t> documentation for Process Explorer, Process Monitor, and </a:t>
            </a:r>
            <a:r>
              <a:rPr sz="2000" dirty="0" err="1">
                <a:solidFill>
                  <a:srgbClr val="2D2D2D"/>
                </a:solidFill>
                <a:latin typeface="Calibri"/>
              </a:rPr>
              <a:t>Sigcheck</a:t>
            </a:r>
            <a:r>
              <a:rPr sz="2000" dirty="0">
                <a:solidFill>
                  <a:srgbClr val="2D2D2D"/>
                </a:solidFill>
                <a:latin typeface="Calibri"/>
              </a:rPr>
              <a:t>.</a:t>
            </a:r>
          </a:p>
          <a:p>
            <a:r>
              <a:rPr sz="2000" dirty="0">
                <a:solidFill>
                  <a:srgbClr val="2D2D2D"/>
                </a:solidFill>
                <a:latin typeface="Calibri"/>
              </a:rPr>
              <a:t>• YARA documentation and community references.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TotalTime>
  <Words>854</Words>
  <Application>Microsoft Office PowerPoint</Application>
  <PresentationFormat>Widescreen</PresentationFormat>
  <Paragraphs>168</Paragraphs>
  <Slides>26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  </vt:lpstr>
      <vt:lpstr>Aptos</vt:lpstr>
      <vt:lpstr>Aptos Display</vt:lpstr>
      <vt:lpstr>Arial</vt:lpstr>
      <vt:lpstr>Arial Black</vt:lpstr>
      <vt:lpstr>Calibri</vt:lpstr>
      <vt:lpstr>Symbol</vt:lpstr>
      <vt:lpstr>Office Theme</vt:lpstr>
      <vt:lpstr>PowerPoint Presentation</vt:lpstr>
      <vt:lpstr>Investigator:  Hussain Ali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Hussain Ali</dc:creator>
  <cp:lastModifiedBy>Hussain Ali</cp:lastModifiedBy>
  <cp:revision>6</cp:revision>
  <dcterms:created xsi:type="dcterms:W3CDTF">2025-05-27T12:44:07Z</dcterms:created>
  <dcterms:modified xsi:type="dcterms:W3CDTF">2026-05-24T18:39:01Z</dcterms:modified>
</cp:coreProperties>
</file>