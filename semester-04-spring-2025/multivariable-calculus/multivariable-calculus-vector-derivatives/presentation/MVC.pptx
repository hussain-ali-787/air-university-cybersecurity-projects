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2" r:id="rId3"/>
    <p:sldId id="296" r:id="rId4"/>
    <p:sldId id="306" r:id="rId5"/>
    <p:sldId id="312" r:id="rId6"/>
    <p:sldId id="297" r:id="rId7"/>
    <p:sldId id="307" r:id="rId8"/>
    <p:sldId id="298" r:id="rId9"/>
    <p:sldId id="300" r:id="rId10"/>
    <p:sldId id="308" r:id="rId11"/>
    <p:sldId id="309" r:id="rId12"/>
    <p:sldId id="310" r:id="rId13"/>
    <p:sldId id="302" r:id="rId14"/>
    <p:sldId id="303" r:id="rId15"/>
    <p:sldId id="311" r:id="rId16"/>
    <p:sldId id="304" r:id="rId17"/>
    <p:sldId id="305" r:id="rId18"/>
    <p:sldId id="273" r:id="rId1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5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>
        <p:scale>
          <a:sx n="47" d="100"/>
          <a:sy n="47" d="100"/>
        </p:scale>
        <p:origin x="86" y="8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C8D39B-7CF8-46DB-8C7A-1C1D0DD6F4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7F1B5F-5400-4BD2-8E4A-339BFEEA2BA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260F34-A91F-4D67-ABC6-AFE2D559852E}" type="datetimeFigureOut">
              <a:rPr lang="en-PK" smtClean="0"/>
              <a:t>15/06/2025</a:t>
            </a:fld>
            <a:endParaRPr lang="en-PK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7D6A43E-074C-4A8F-B99B-BC4AEE918B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6C7CE30-30E7-4B57-A27D-828F70B14A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E86D6-B7DA-4236-B23E-81E978ED14F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25B18-D9AC-4347-9901-71BBDC13A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F73769-FF25-4A33-9EE6-BFB6385FC670}" type="slidenum">
              <a:rPr lang="en-PK" smtClean="0"/>
              <a:t>‹#›</a:t>
            </a:fld>
            <a:endParaRPr lang="en-P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1F6F-60DC-44BC-87C2-6F534A007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b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6F4C0C-DEB9-4331-BDCA-7FFA8197C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A8B57-4725-4EE3-9D35-FDF5731E7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F0593-091A-491C-9C10-6ECA94273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3B754-9607-4F81-B183-92FCC0461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1633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DE60-E3D0-4E35-B034-F32EF6240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51321-B5B8-4D66-9085-90D7BCF86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02C6-0C3B-4B42-AD59-E780AA58A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52097-2BB6-420C-AE34-021CD804A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C9625-737F-43AD-B284-20F79F313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‹#›</a:t>
            </a:fld>
            <a:endParaRPr lang="en-PK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8CE6907-95FA-45FA-A044-D92D6A2F118D}"/>
              </a:ext>
            </a:extLst>
          </p:cNvPr>
          <p:cNvGrpSpPr/>
          <p:nvPr userDrawn="1"/>
        </p:nvGrpSpPr>
        <p:grpSpPr>
          <a:xfrm>
            <a:off x="666206" y="365125"/>
            <a:ext cx="10687593" cy="1460500"/>
            <a:chOff x="666206" y="352062"/>
            <a:chExt cx="10687593" cy="14605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A0CD690-2F54-497F-A481-412F2871C3C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352062"/>
              <a:ext cx="0" cy="146050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0F36A3E-8CAC-466D-B23F-161B330879A7}"/>
                </a:ext>
              </a:extLst>
            </p:cNvPr>
            <p:cNvCxnSpPr/>
            <p:nvPr userDrawn="1"/>
          </p:nvCxnSpPr>
          <p:spPr>
            <a:xfrm flipH="1">
              <a:off x="666206" y="1690688"/>
              <a:ext cx="10687593" cy="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09C44B30-6F81-4CEB-AFE9-E4F474A2C0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6153" y="487906"/>
            <a:ext cx="1307647" cy="10800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D46D25-93D5-4ABF-B574-4D2834C03101}"/>
              </a:ext>
            </a:extLst>
          </p:cNvPr>
          <p:cNvCxnSpPr>
            <a:cxnSpLocks/>
          </p:cNvCxnSpPr>
          <p:nvPr userDrawn="1"/>
        </p:nvCxnSpPr>
        <p:spPr>
          <a:xfrm>
            <a:off x="9869906" y="365125"/>
            <a:ext cx="0" cy="1325563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0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22CB2-BA31-4814-9763-AA8EA1F86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D5951-8501-422F-B801-FDE1E9F11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1EC48-8DDC-425D-9EC5-D20C5CDA2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5AF4E-EA2D-4277-A345-469764976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94F88-B995-4B98-BD37-E20D9ABA9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41052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831A6-CFDB-4985-84D7-914FC519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C45DA-30C3-4FA3-ADE7-BB07724BC8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55D096-6B8E-4A4B-89C2-FDA50BCF2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D5AF3-7B11-4ABC-BDB8-6360B16E8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141EA-7924-4C48-8727-99C98EEA1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C313B-BE8A-4BA1-BAF9-AA171DF95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‹#›</a:t>
            </a:fld>
            <a:endParaRPr lang="en-PK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7B0D5C-5B75-427B-A527-D6FD9734638A}"/>
              </a:ext>
            </a:extLst>
          </p:cNvPr>
          <p:cNvGrpSpPr/>
          <p:nvPr userDrawn="1"/>
        </p:nvGrpSpPr>
        <p:grpSpPr>
          <a:xfrm>
            <a:off x="666206" y="365125"/>
            <a:ext cx="10687593" cy="1460500"/>
            <a:chOff x="666206" y="352062"/>
            <a:chExt cx="10687593" cy="14605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16D6AC5-AA06-43B2-8ACD-2760870EC5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352062"/>
              <a:ext cx="0" cy="146050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158F96F-95AD-45F6-8155-D3EC3E8363F7}"/>
                </a:ext>
              </a:extLst>
            </p:cNvPr>
            <p:cNvCxnSpPr/>
            <p:nvPr userDrawn="1"/>
          </p:nvCxnSpPr>
          <p:spPr>
            <a:xfrm flipH="1">
              <a:off x="666206" y="1690688"/>
              <a:ext cx="10687593" cy="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32823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B345-7A4D-449C-A3FA-53D8BAC9C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9BEEE-A25D-4673-9B05-DC16FFAC0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1CBDAC-1F20-43F1-9B52-48CBA4FD7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8970E9-BF7B-4F94-859D-AA39100E47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F477F-C799-4FC4-90BE-1488FB7DD4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775028-6D99-472A-BD10-68BA9786C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99B0A5-D0B2-468E-8128-CBB070D76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2FB328-87D3-4FE7-BF31-185689986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‹#›</a:t>
            </a:fld>
            <a:endParaRPr lang="en-PK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18474E3-503B-4CAF-BBE7-D2016C09CC44}"/>
              </a:ext>
            </a:extLst>
          </p:cNvPr>
          <p:cNvGrpSpPr/>
          <p:nvPr userDrawn="1"/>
        </p:nvGrpSpPr>
        <p:grpSpPr>
          <a:xfrm>
            <a:off x="666206" y="365125"/>
            <a:ext cx="10687593" cy="1460500"/>
            <a:chOff x="666206" y="352062"/>
            <a:chExt cx="10687593" cy="14605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96E9EBD-BADE-4BC9-AF5F-41F9914CF87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352062"/>
              <a:ext cx="0" cy="146050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2466390-1577-41E8-BAB0-9289BE6AA48A}"/>
                </a:ext>
              </a:extLst>
            </p:cNvPr>
            <p:cNvCxnSpPr/>
            <p:nvPr userDrawn="1"/>
          </p:nvCxnSpPr>
          <p:spPr>
            <a:xfrm flipH="1">
              <a:off x="666206" y="1690688"/>
              <a:ext cx="10687593" cy="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0813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CC77-AF9D-42C5-BD5E-47AA20AEB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D236B5-14B3-4FB2-905E-32A41F432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62770-95A9-4C33-A3DA-271D55D20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32660A-4D60-4457-A90C-ED08E3242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‹#›</a:t>
            </a:fld>
            <a:endParaRPr lang="en-PK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956EC3D-197F-4258-A8C8-C94B14233AB3}"/>
              </a:ext>
            </a:extLst>
          </p:cNvPr>
          <p:cNvGrpSpPr/>
          <p:nvPr userDrawn="1"/>
        </p:nvGrpSpPr>
        <p:grpSpPr>
          <a:xfrm>
            <a:off x="666206" y="365125"/>
            <a:ext cx="10687593" cy="1460500"/>
            <a:chOff x="666206" y="352062"/>
            <a:chExt cx="10687593" cy="14605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CE10AA7-A28E-4CDD-A844-648FAA6A2B2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352062"/>
              <a:ext cx="0" cy="146050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D0EFF74-A936-4440-A77D-AC3893BCC712}"/>
                </a:ext>
              </a:extLst>
            </p:cNvPr>
            <p:cNvCxnSpPr/>
            <p:nvPr userDrawn="1"/>
          </p:nvCxnSpPr>
          <p:spPr>
            <a:xfrm flipH="1">
              <a:off x="666206" y="1690688"/>
              <a:ext cx="10687593" cy="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8068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5FD7FB-366E-41D3-A733-815197E7D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3B2CC6-7A96-4826-9764-B002075C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AACF4-07AF-4D38-B00D-7D050503F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73098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08F36-F3E0-4A28-ABF1-2EDDF550E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D939-77D9-4ED0-BAFB-BE9F78054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68ACDF-EA03-407C-9375-D5C9E6CAB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9AEA1-1094-4F68-98E4-217E1E092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3BE70-E1C9-45A4-B6D4-0AEAF4849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D7AAE-8E21-49A6-8D55-7DCEDB825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46543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6EE07-48F5-493A-9C18-721134D71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C24A63-0F36-47D3-B716-81AAE43FC7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50FFEC-DEDD-4D55-BB98-8BED16D02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B6686-BCF6-4A63-846B-CC36145CD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36ED4-4B84-421C-900F-98D2D3CAC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6B990-BC1A-4AD8-96CE-170D219DA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88178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27449-6BC7-4319-895C-445D5A400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34E58-AEED-488F-BBAF-A418A8627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66355-DB20-44CE-B51F-7D23DAC04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1E173-4539-498F-8D15-B36309D51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E100D-1574-4BB2-B04D-7E1CE8556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‹#›</a:t>
            </a:fld>
            <a:endParaRPr lang="en-PK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831C629-FFB8-48CB-9329-F8DDD55525AA}"/>
              </a:ext>
            </a:extLst>
          </p:cNvPr>
          <p:cNvGrpSpPr/>
          <p:nvPr userDrawn="1"/>
        </p:nvGrpSpPr>
        <p:grpSpPr>
          <a:xfrm>
            <a:off x="666206" y="365125"/>
            <a:ext cx="10687593" cy="1460500"/>
            <a:chOff x="666206" y="352062"/>
            <a:chExt cx="10687593" cy="14605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3B0DC12-DFFC-41B9-B306-E09B2E10A1A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352062"/>
              <a:ext cx="0" cy="146050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271E872-D12B-4FF7-913D-15DB97C9A93A}"/>
                </a:ext>
              </a:extLst>
            </p:cNvPr>
            <p:cNvCxnSpPr/>
            <p:nvPr userDrawn="1"/>
          </p:nvCxnSpPr>
          <p:spPr>
            <a:xfrm flipH="1">
              <a:off x="666206" y="1690688"/>
              <a:ext cx="10687593" cy="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18912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2C6E51-0EA7-4DC7-9FBE-A404CA20C9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2104DD-0BD0-42DF-86E0-519CDA5D2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A70A0-2604-4108-AA99-9810D2602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3865F-B416-433E-A888-98BD730D1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3AE48-8A8C-4FFC-9796-7DEA524AD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41130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161DA2-781F-4F7B-AE0C-AA8CB4414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3385B-E93C-43F1-A4AD-E857EFFD2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</a:t>
            </a:r>
            <a:r>
              <a:rPr lang="en-US" dirty="0" err="1"/>
              <a:t>leve</a:t>
            </a:r>
            <a:endParaRPr lang="en-US" dirty="0"/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01490-3176-492A-A07F-7ACCAD7538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938349" cy="3651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6/16/2025</a:t>
            </a:r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FD45A-CC0B-43D1-82C4-970286DC6A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FBB82-4055-439A-81DB-4361DD292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4352" y="6356350"/>
            <a:ext cx="469447" cy="3651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785DB-2F33-40B3-A0D9-68D0CB3DBE5D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3172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16944-1C3E-45F2-A5B6-D4FCC6945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4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</a:rPr>
              <a:t>Partial Derivatives of Vector Valued Functions &amp; Vector Derivatives</a:t>
            </a:r>
            <a:br>
              <a:rPr lang="en-US" sz="4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</a:rPr>
            </a:br>
            <a:endParaRPr lang="en-PK" sz="36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27987A-1CC3-4CAC-A51F-DD2384CD1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b="1" dirty="0">
                <a:ln/>
                <a:solidFill>
                  <a:schemeClr val="accent3"/>
                </a:solidFill>
              </a:rPr>
              <a:t>Multivariable Calculus</a:t>
            </a:r>
          </a:p>
          <a:p>
            <a:r>
              <a:rPr lang="en-US" b="1" dirty="0">
                <a:ln/>
                <a:solidFill>
                  <a:schemeClr val="accent3"/>
                </a:solidFill>
              </a:rPr>
              <a:t>MA-105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884C34-F82D-4E7D-9770-F00308E1EF3E}"/>
              </a:ext>
            </a:extLst>
          </p:cNvPr>
          <p:cNvSpPr txBox="1"/>
          <p:nvPr/>
        </p:nvSpPr>
        <p:spPr>
          <a:xfrm>
            <a:off x="1524000" y="4796134"/>
            <a:ext cx="1669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Group #2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493B82-7AAB-463F-8289-BC631E4C2F6B}"/>
              </a:ext>
            </a:extLst>
          </p:cNvPr>
          <p:cNvSpPr txBox="1"/>
          <p:nvPr/>
        </p:nvSpPr>
        <p:spPr>
          <a:xfrm>
            <a:off x="7086600" y="4796134"/>
            <a:ext cx="3581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Chapter #12, 13 &amp; 15</a:t>
            </a:r>
            <a:endParaRPr lang="en-PK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6C57951-597F-E713-0974-9FF8ED9D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64448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91C2-33DA-48F6-ADDB-00714B6D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Introduction</a:t>
            </a:r>
            <a:endParaRPr lang="en-PK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A7DF2-1A60-4F71-9E62-388D327A1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Multivariable Calculus studies functions with multiple variables. These functions appear in fields like physics, engineering, 3D modeling, and cybersecurity.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In this presentation, we will explore: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• How vector-valued functions behave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• How partial and vector derivatives describe changes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• How gradient, divergence, and curl reveal spatial behavior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Understanding these tools helps model and predict complex systems — from fluid flow to dynamic threats in cyberspace.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8BE3-C8AF-42FF-A245-68DE0098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DA8F5-9CF0-4B6F-8CC9-C1B67163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05733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91C2-33DA-48F6-ADDB-00714B6D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Vector-Valued Function – Definition </a:t>
            </a:r>
            <a:endParaRPr lang="en-PK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A7DF2-1A60-4F71-9E62-388D327A1E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A </a:t>
                </a:r>
                <a:r>
                  <a:rPr lang="en-US" b="1" dirty="0"/>
                  <a:t>vector-valued function</a:t>
                </a:r>
                <a:r>
                  <a:rPr lang="en-US" dirty="0"/>
                  <a:t> maps one or more variables to a vector.</a:t>
                </a: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b="1" dirty="0"/>
                  <a:t>Form: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= ⟨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₁(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₂(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₃(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)⟩  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dirty="0"/>
                  <a:t>or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These functions can represent physical paths, electric/magnetic fields, or system states in time and space.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A7DF2-1A60-4F71-9E62-388D327A1E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8BE3-C8AF-42FF-A245-68DE0098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DA8F5-9CF0-4B6F-8CC9-C1B67163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29874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91C2-33DA-48F6-ADDB-00714B6D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Vector-Valued Function – Examples </a:t>
            </a:r>
            <a:endParaRPr lang="en-PK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A7DF2-1A60-4F71-9E62-388D327A1E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/>
                  <a:t>1.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⟨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), 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⟩ </m:t>
                    </m:r>
                  </m:oMath>
                </a14:m>
                <a:r>
                  <a:rPr lang="en-US" dirty="0"/>
                  <a:t>→ Helix (spiral curve)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/>
                  <a:t>2.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⟨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² +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²⟩ </m:t>
                    </m:r>
                  </m:oMath>
                </a14:m>
                <a:r>
                  <a:rPr lang="en-US" dirty="0"/>
                  <a:t>→ Vector field over 2D plane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b="1" dirty="0"/>
                  <a:t>Applications: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• Motion paths in physics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• Airflow or heatmaps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• State evolution in cyber-physical systems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A7DF2-1A60-4F71-9E62-388D327A1E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8BE3-C8AF-42FF-A245-68DE0098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DA8F5-9CF0-4B6F-8CC9-C1B67163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44382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91C2-33DA-48F6-ADDB-00714B6D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Vector-Valued Function - Visualization</a:t>
            </a:r>
            <a:endParaRPr lang="en-PK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68A308A-A380-838D-91DB-B2744A797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268" y="1847850"/>
            <a:ext cx="5453833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8BE3-C8AF-42FF-A245-68DE0098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DA8F5-9CF0-4B6F-8CC9-C1B67163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5</a:t>
            </a:fld>
            <a:endParaRPr lang="en-PK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622383-EC4C-5C26-F2FB-048249D04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033" y="2099302"/>
            <a:ext cx="5502117" cy="384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803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91C2-33DA-48F6-ADDB-00714B6D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 Derivatives - Definition</a:t>
            </a:r>
            <a:endParaRPr lang="en-PK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A7DF2-1A60-4F71-9E62-388D327A1E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A partial derivative measures how a function changes when </a:t>
                </a:r>
                <a:r>
                  <a:rPr lang="en-US" b="1" dirty="0"/>
                  <a:t>one variable</a:t>
                </a:r>
                <a:r>
                  <a:rPr lang="en-US" dirty="0"/>
                  <a:t> changes, keeping others constant.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For vector-valued functions: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= ⟨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₁,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₂,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₃⟩ 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Then: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⟨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₁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₂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₃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⟩ 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⟨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₁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₂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₃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A7DF2-1A60-4F71-9E62-388D327A1E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8BE3-C8AF-42FF-A245-68DE0098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DA8F5-9CF0-4B6F-8CC9-C1B67163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62037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91C2-33DA-48F6-ADDB-00714B6D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 Derivatives - Example</a:t>
            </a:r>
            <a:endParaRPr lang="en-PK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A7DF2-1A60-4F71-9E62-388D327A1E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Example: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= ⟨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²+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²⟩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⟨2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0⟩ 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⟨1,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2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These show how the vector changes when you move in the x or y direction.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A7DF2-1A60-4F71-9E62-388D327A1E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 b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8BE3-C8AF-42FF-A245-68DE0098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DA8F5-9CF0-4B6F-8CC9-C1B67163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91089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91C2-33DA-48F6-ADDB-00714B6D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Vector Derivative</a:t>
            </a:r>
            <a:endParaRPr lang="en-PK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A7DF2-1A60-4F71-9E62-388D327A1E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1954"/>
                <a:ext cx="105156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i="1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)=⟨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)⟩</m:t>
                    </m:r>
                  </m:oMath>
                </a14:m>
                <a:r>
                  <a:rPr lang="en-US" i="1" dirty="0"/>
                  <a:t>, then:</a:t>
                </a:r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)=⟨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)⟩</m:t>
                      </m:r>
                    </m:oMath>
                  </m:oMathPara>
                </a14:m>
                <a:endParaRPr lang="en-US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i="1" dirty="0"/>
                  <a:t>This gives the </a:t>
                </a:r>
                <a:r>
                  <a:rPr lang="en-US" b="1" i="1" dirty="0"/>
                  <a:t>tangent vector</a:t>
                </a:r>
                <a:r>
                  <a:rPr lang="en-US" i="1" dirty="0"/>
                  <a:t> — direction and speed of motion.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i="1" dirty="0"/>
                  <a:t>The second derivative r″(t) = acceleration vector.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b="1" i="1" dirty="0"/>
                  <a:t>Applications: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i="1" dirty="0"/>
                  <a:t>• Object motion in space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i="1" dirty="0"/>
                  <a:t>• Signal changes over time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i="1" dirty="0"/>
                  <a:t>• Behavioral modeling in dynamic systems (e.g., attacks)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A7DF2-1A60-4F71-9E62-388D327A1E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1954"/>
                <a:ext cx="10515600" cy="4351338"/>
              </a:xfrm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8BE3-C8AF-42FF-A245-68DE0098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DA8F5-9CF0-4B6F-8CC9-C1B67163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7640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91C2-33DA-48F6-ADDB-00714B6D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 Operator ∇ </a:t>
            </a:r>
            <a:endParaRPr lang="en-PK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A7DF2-1A60-4F71-9E62-388D327A1E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i="1" dirty="0"/>
                  <a:t>The del operator ∇  is used to define a key operation: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⟨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i="1" dirty="0"/>
                  <a:t>It is the base for: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i="1" dirty="0"/>
                  <a:t>• </a:t>
                </a:r>
                <a:r>
                  <a:rPr lang="en-US" b="1" i="1" dirty="0"/>
                  <a:t>Gradient: </a:t>
                </a:r>
                <a:r>
                  <a:rPr lang="en-US" i="1" dirty="0"/>
                  <a:t>∇ g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i="1" dirty="0"/>
                  <a:t>• </a:t>
                </a:r>
                <a:r>
                  <a:rPr lang="en-US" b="1" i="1" dirty="0"/>
                  <a:t>Divergence: </a:t>
                </a:r>
                <a:r>
                  <a:rPr lang="en-US" i="1" dirty="0"/>
                  <a:t>∇ · </a:t>
                </a:r>
                <a:r>
                  <a:rPr lang="en-US" b="1" i="1" dirty="0"/>
                  <a:t>F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i="1" dirty="0"/>
                  <a:t>• </a:t>
                </a:r>
                <a:r>
                  <a:rPr lang="en-US" b="1" i="1" dirty="0"/>
                  <a:t>Curl: </a:t>
                </a:r>
                <a:r>
                  <a:rPr lang="en-US" i="1" dirty="0"/>
                  <a:t>∇ × </a:t>
                </a:r>
                <a:r>
                  <a:rPr lang="en-US" b="1" i="1" dirty="0"/>
                  <a:t>F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A7DF2-1A60-4F71-9E62-388D327A1E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8BE3-C8AF-42FF-A245-68DE0098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DA8F5-9CF0-4B6F-8CC9-C1B67163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17806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91C2-33DA-48F6-ADDB-00714B6D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(∇g)</a:t>
            </a:r>
            <a:endParaRPr lang="en-PK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A7DF2-1A60-4F71-9E62-388D327A1E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i="1" dirty="0"/>
                  <a:t>The gradient of a scalar function points in the direction of the steepest increase.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num>
                            <m:den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num>
                            <m:den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num>
                            <m:den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b="1" i="1" dirty="0"/>
                  <a:t>Applications: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i="1" dirty="0"/>
                  <a:t>• Topography (steepest path uphill)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i="1" dirty="0"/>
                  <a:t>• Temperature maps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i="1" dirty="0"/>
                  <a:t>• Machine learning (used in gradient descent)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A7DF2-1A60-4F71-9E62-388D327A1E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8BE3-C8AF-42FF-A245-68DE0098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DA8F5-9CF0-4B6F-8CC9-C1B67163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451959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91C2-33DA-48F6-ADDB-00714B6D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(∇g) - Example</a:t>
            </a:r>
            <a:endParaRPr lang="en-PK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A7DF2-1A60-4F71-9E62-388D327A1E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i="1" dirty="0"/>
                  <a:t>If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² +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²  </m:t>
                      </m:r>
                    </m:oMath>
                  </m:oMathPara>
                </a14:m>
                <a:endParaRPr lang="en-US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i="1" dirty="0"/>
                  <a:t>Then: 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⟨2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2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i="1" dirty="0"/>
                  <a:t>At point (1,2): 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⟨2, 4⟩ </m:t>
                    </m:r>
                  </m:oMath>
                </a14:m>
                <a:r>
                  <a:rPr lang="en-US" i="1" dirty="0"/>
                  <a:t>→ points outward from origin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i="1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i="1" dirty="0"/>
                  <a:t>Used in ML to update weights in threat detection models.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A7DF2-1A60-4F71-9E62-388D327A1E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8BE3-C8AF-42FF-A245-68DE0098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DA8F5-9CF0-4B6F-8CC9-C1B67163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11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66748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91C2-33DA-48F6-ADDB-00714B6D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Divergence (∇·F)</a:t>
            </a:r>
            <a:endParaRPr lang="en-PK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A7DF2-1A60-4F71-9E62-388D327A1E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i="1" dirty="0"/>
                  <a:t>Divergence measures the </a:t>
                </a:r>
                <a:r>
                  <a:rPr lang="en-US" b="1" i="1" dirty="0"/>
                  <a:t>outflow or inflow </a:t>
                </a:r>
                <a:r>
                  <a:rPr lang="en-US" i="1" dirty="0"/>
                  <a:t>at a point in a vector field.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·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en-US" i="1" dirty="0"/>
              </a:p>
              <a:p>
                <a:pPr>
                  <a:lnSpc>
                    <a:spcPct val="150000"/>
                  </a:lnSpc>
                </a:pPr>
                <a:r>
                  <a:rPr lang="en-US" i="1" dirty="0"/>
                  <a:t>High divergence → source (e.g., explosion or data leak) 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i="1" dirty="0"/>
                  <a:t>Negative divergence → sink (e.g., convergence)</a:t>
                </a:r>
              </a:p>
              <a:p>
                <a:pPr>
                  <a:lnSpc>
                    <a:spcPct val="100000"/>
                  </a:lnSpc>
                </a:pPr>
                <a:endParaRPr lang="en-US" i="1" dirty="0"/>
              </a:p>
              <a:p>
                <a:pPr>
                  <a:lnSpc>
                    <a:spcPct val="100000"/>
                  </a:lnSpc>
                </a:pPr>
                <a:r>
                  <a:rPr lang="en-US" i="1" dirty="0"/>
                  <a:t>Used in fluid flow, heat flow, and traffic analysis.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A7DF2-1A60-4F71-9E62-388D327A1E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261" b="-3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8BE3-C8AF-42FF-A245-68DE0098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DA8F5-9CF0-4B6F-8CC9-C1B67163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555901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91C2-33DA-48F6-ADDB-00714B6D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Divergence (∇·F) - Example</a:t>
            </a:r>
            <a:endParaRPr lang="en-PK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A7DF2-1A60-4F71-9E62-388D327A1E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= ⟨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i="1" dirty="0"/>
                  <a:t>Then: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·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1 + 1 = 2</m:t>
                      </m:r>
                      <m:r>
                        <m:rPr>
                          <m:nor/>
                        </m:rP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1" dirty="0"/>
                        <m:t>→ </m:t>
                      </m:r>
                      <m:r>
                        <m:rPr>
                          <m:nor/>
                        </m:rPr>
                        <a:rPr lang="en-US" i="1" dirty="0"/>
                        <m:t>Outward</m:t>
                      </m:r>
                      <m:r>
                        <m:rPr>
                          <m:nor/>
                        </m:rPr>
                        <a:rPr lang="en-US" i="1" dirty="0"/>
                        <m:t> </m:t>
                      </m:r>
                      <m:r>
                        <m:rPr>
                          <m:nor/>
                        </m:rPr>
                        <a:rPr lang="en-US" i="1" dirty="0"/>
                        <m:t>flow</m:t>
                      </m:r>
                    </m:oMath>
                  </m:oMathPara>
                </a14:m>
                <a:endParaRPr lang="en-US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i="1" dirty="0"/>
                  <a:t>If divergence = 0 → incompressible flow (no net gain/loss)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i="1" dirty="0"/>
                  <a:t>Used in modeling </a:t>
                </a:r>
                <a:r>
                  <a:rPr lang="en-US" b="1" i="1" dirty="0"/>
                  <a:t>network packet flow </a:t>
                </a:r>
                <a:r>
                  <a:rPr lang="en-US" i="1" dirty="0"/>
                  <a:t>or heat from CPUs.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A7DF2-1A60-4F71-9E62-388D327A1E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8BE3-C8AF-42FF-A245-68DE0098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DA8F5-9CF0-4B6F-8CC9-C1B67163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13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3345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91C2-33DA-48F6-ADDB-00714B6D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Curl (∇×F)</a:t>
            </a:r>
            <a:endParaRPr lang="en-PK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A7DF2-1A60-4F71-9E62-388D327A1E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i="1" dirty="0"/>
                  <a:t>Curl measures the </a:t>
                </a:r>
                <a:r>
                  <a:rPr lang="en-US" b="1" i="1" dirty="0"/>
                  <a:t>rotation</a:t>
                </a:r>
                <a:r>
                  <a:rPr lang="en-US" i="1" dirty="0"/>
                  <a:t> at a point in a field.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i="1" dirty="0"/>
                  <a:t>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⟨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i="1" dirty="0"/>
                  <a:t>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  <m:e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e>
                              <m:e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</m:num>
                                  <m:den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</m:num>
                                  <m:den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</m:num>
                                  <m:den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e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e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i="1" dirty="0"/>
                  <a:t>Result is a vector showing </a:t>
                </a:r>
                <a:r>
                  <a:rPr lang="en-US" b="1" i="1" dirty="0"/>
                  <a:t>axis and strength of rotation</a:t>
                </a:r>
                <a:r>
                  <a:rPr lang="en-US" i="1" dirty="0"/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i="1" dirty="0"/>
                  <a:t>Used in electromagnetism and rotational mechanics.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A7DF2-1A60-4F71-9E62-388D327A1E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 b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8BE3-C8AF-42FF-A245-68DE0098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DA8F5-9CF0-4B6F-8CC9-C1B67163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23410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91C2-33DA-48F6-ADDB-00714B6D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Curl (∇×F) - Example</a:t>
            </a:r>
            <a:endParaRPr lang="en-PK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A7DF2-1A60-4F71-9E62-388D327A1E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= ⟨−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0⟩  </m:t>
                      </m:r>
                    </m:oMath>
                  </m:oMathPara>
                </a14:m>
                <a:endParaRPr lang="en-US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i="1" dirty="0"/>
                  <a:t>Then: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⟨0, 0, 2⟩ →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𝑟𝑜𝑡𝑎𝑡𝑖𝑜𝑛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𝑎𝑟𝑜𝑢𝑛𝑑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𝑎𝑥𝑖𝑠</m:t>
                      </m:r>
                    </m:oMath>
                  </m:oMathPara>
                </a14:m>
                <a:endParaRPr lang="en-US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i="1" dirty="0"/>
                  <a:t>Used in: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i="1" dirty="0"/>
                  <a:t>• Vortices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i="1" dirty="0"/>
                  <a:t>• Magnetic fields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i="1" dirty="0"/>
                  <a:t>• Feedback loops in network behavior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A7DF2-1A60-4F71-9E62-388D327A1E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b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8BE3-C8AF-42FF-A245-68DE0098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DA8F5-9CF0-4B6F-8CC9-C1B67163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14158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91C2-33DA-48F6-ADDB-00714B6D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Table</a:t>
            </a:r>
            <a:endParaRPr lang="en-PK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CD68BF5-0791-F99A-B509-A1B6B5BA44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5467395"/>
              </p:ext>
            </p:extLst>
          </p:nvPr>
        </p:nvGraphicFramePr>
        <p:xfrm>
          <a:off x="838200" y="2318657"/>
          <a:ext cx="10515600" cy="3641272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5978155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6029538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5829705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6029113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62965474"/>
                    </a:ext>
                  </a:extLst>
                </a:gridCol>
              </a:tblGrid>
              <a:tr h="910318">
                <a:tc>
                  <a:txBody>
                    <a:bodyPr/>
                    <a:lstStyle/>
                    <a:p>
                      <a:r>
                        <a:rPr lang="en-US" sz="2000" dirty="0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Interpretation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986127"/>
                  </a:ext>
                </a:extLst>
              </a:tr>
              <a:tr h="910318">
                <a:tc>
                  <a:txBody>
                    <a:bodyPr/>
                    <a:lstStyle/>
                    <a:p>
                      <a:r>
                        <a:rPr lang="en-US" sz="2000"/>
                        <a:t>Gradient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∇f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Scalar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Vector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Max rate of increase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7966139"/>
                  </a:ext>
                </a:extLst>
              </a:tr>
              <a:tr h="910318">
                <a:tc>
                  <a:txBody>
                    <a:bodyPr/>
                    <a:lstStyle/>
                    <a:p>
                      <a:r>
                        <a:rPr lang="en-US" sz="2000"/>
                        <a:t>Divergence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∇·F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Vector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Scalar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Spread of field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3328687"/>
                  </a:ext>
                </a:extLst>
              </a:tr>
              <a:tr h="910318">
                <a:tc>
                  <a:txBody>
                    <a:bodyPr/>
                    <a:lstStyle/>
                    <a:p>
                      <a:r>
                        <a:rPr lang="en-US" sz="2000"/>
                        <a:t>Curl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∇×F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Vector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Vector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Local rotation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533189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8BE3-C8AF-42FF-A245-68DE0098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DA8F5-9CF0-4B6F-8CC9-C1B67163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16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67649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91C2-33DA-48F6-ADDB-00714B6D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Relevance to Cybersecurity</a:t>
            </a:r>
            <a:endParaRPr lang="en-PK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A7DF2-1A60-4F71-9E62-388D327A1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These mathematical tools also aid in cybersecurity: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Vector Fields </a:t>
            </a:r>
            <a:r>
              <a:rPr lang="en-US" dirty="0"/>
              <a:t>→ System state or network activity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Gradients </a:t>
            </a:r>
            <a:r>
              <a:rPr lang="en-US" dirty="0"/>
              <a:t>→ Risk change rates or ML optimization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Divergence </a:t>
            </a:r>
            <a:r>
              <a:rPr lang="en-US" dirty="0"/>
              <a:t>→ Detecting data leaks or system load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Curl </a:t>
            </a:r>
            <a:r>
              <a:rPr lang="en-US" dirty="0"/>
              <a:t>→ Identifying circular patterns (botnet activity)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They’re especially relevant in signal analysis, AI training, and behavioral modeling.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8BE3-C8AF-42FF-A245-68DE0098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6/16/2025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DA8F5-9CF0-4B6F-8CC9-C1B67163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17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5185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F670B-ED04-43B7-87E2-1516830BE3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</a:rPr>
              <a:t>Discussion Time</a:t>
            </a:r>
            <a:br>
              <a:rPr lang="en-US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</a:rPr>
            </a:br>
            <a:r>
              <a:rPr lang="en-US" sz="2700" b="1" dirty="0">
                <a:ln/>
                <a:solidFill>
                  <a:schemeClr val="accent3"/>
                </a:solidFill>
              </a:rPr>
              <a:t>We welcome your questions!</a:t>
            </a:r>
            <a:br>
              <a:rPr lang="en-US" sz="2700" b="1" dirty="0">
                <a:ln/>
                <a:solidFill>
                  <a:schemeClr val="accent3"/>
                </a:solidFill>
              </a:rPr>
            </a:br>
            <a:endParaRPr lang="en-PK" sz="2700" b="1" dirty="0">
              <a:ln/>
              <a:solidFill>
                <a:schemeClr val="accent3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50AC3-C381-4F51-9F87-6E9C20CDD2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  <a:endParaRPr lang="en-PK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35028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1787</TotalTime>
  <Words>1001</Words>
  <Application>Microsoft Office PowerPoint</Application>
  <PresentationFormat>Widescreen</PresentationFormat>
  <Paragraphs>178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Cambria</vt:lpstr>
      <vt:lpstr>Cambria Math</vt:lpstr>
      <vt:lpstr>Wingdings</vt:lpstr>
      <vt:lpstr>Office Theme</vt:lpstr>
      <vt:lpstr>Partial Derivatives of Vector Valued Functions &amp; Vector Derivatives </vt:lpstr>
      <vt:lpstr>Introduction</vt:lpstr>
      <vt:lpstr>Vector-Valued Function – Definition </vt:lpstr>
      <vt:lpstr>Vector-Valued Function – Examples </vt:lpstr>
      <vt:lpstr>Vector-Valued Function - Visualization</vt:lpstr>
      <vt:lpstr>Partial Derivatives - Definition</vt:lpstr>
      <vt:lpstr>Partial Derivatives - Example</vt:lpstr>
      <vt:lpstr>The Vector Derivative</vt:lpstr>
      <vt:lpstr>Del Operator ∇ </vt:lpstr>
      <vt:lpstr>Gradient (∇g)</vt:lpstr>
      <vt:lpstr>Gradient (∇g) - Example</vt:lpstr>
      <vt:lpstr>Divergence (∇·F)</vt:lpstr>
      <vt:lpstr>Divergence (∇·F) - Example</vt:lpstr>
      <vt:lpstr>Curl (∇×F)</vt:lpstr>
      <vt:lpstr>Curl (∇×F) - Example</vt:lpstr>
      <vt:lpstr>Summary Table</vt:lpstr>
      <vt:lpstr>Relevance to Cybersecurity</vt:lpstr>
      <vt:lpstr>Discussion Time We welcome your questions!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Hussain Ali</dc:creator>
  <cp:lastModifiedBy>Hussain Ali</cp:lastModifiedBy>
  <cp:revision>87</cp:revision>
  <dcterms:created xsi:type="dcterms:W3CDTF">2023-12-31T15:03:10Z</dcterms:created>
  <dcterms:modified xsi:type="dcterms:W3CDTF">2025-06-16T01:14:14Z</dcterms:modified>
</cp:coreProperties>
</file>