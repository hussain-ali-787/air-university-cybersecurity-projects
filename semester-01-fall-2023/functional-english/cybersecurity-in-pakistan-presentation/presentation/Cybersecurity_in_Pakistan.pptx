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70" r:id="rId9"/>
    <p:sldId id="268" r:id="rId10"/>
    <p:sldId id="271" r:id="rId11"/>
    <p:sldId id="272" r:id="rId12"/>
  </p:sldIdLst>
  <p:sldSz cx="18310225" cy="10299700"/>
  <p:notesSz cx="18300700" cy="10299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62754"/>
    <a:srgbClr val="F8F8F8"/>
    <a:srgbClr val="0E0F0D"/>
    <a:srgbClr val="0F0E0E"/>
    <a:srgbClr val="100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45" y="62"/>
      </p:cViewPr>
      <p:guideLst>
        <p:guide orient="horz" pos="2880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66375" y="0"/>
            <a:ext cx="7929563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C6645-EB9C-4CBC-A037-17AD75307B5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61075" y="1287463"/>
            <a:ext cx="617855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30388" y="4956175"/>
            <a:ext cx="14639925" cy="4056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66375" y="9783763"/>
            <a:ext cx="7929563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AC563-F773-4489-BB85-BF9E7CDFD6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05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AC563-F773-4489-BB85-BF9E7CDFD66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278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AC563-F773-4489-BB85-BF9E7CDFD66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038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AC563-F773-4489-BB85-BF9E7CDFD66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563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AC563-F773-4489-BB85-BF9E7CDFD66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31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3267" y="3192908"/>
            <a:ext cx="15563691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6534" y="5767833"/>
            <a:ext cx="12817158" cy="377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511" y="2368931"/>
            <a:ext cx="7964947" cy="377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9766" y="2368931"/>
            <a:ext cx="7964947" cy="377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7379" y="1675168"/>
            <a:ext cx="14235468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1100" y="4736310"/>
            <a:ext cx="9768023" cy="377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5477" y="9578722"/>
            <a:ext cx="58592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512" y="9578722"/>
            <a:ext cx="42113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83363" y="9578722"/>
            <a:ext cx="42113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naiop.org/2017/03/cybersecurity-and-data-privacy-in-cre-10-steps-to-manage-and-mitigate-risk-part-2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6C3D3B-4FB5-D972-C6E2-461C3053C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62" y="0"/>
            <a:ext cx="18300700" cy="10299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0712" y="2887693"/>
            <a:ext cx="10391460" cy="4524315"/>
          </a:xfrm>
          <a:prstGeom prst="rect">
            <a:avLst/>
          </a:prstGeom>
          <a:solidFill>
            <a:srgbClr val="000000">
              <a:alpha val="49804"/>
            </a:srgb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The Current State of Cybersecurity in Pakistan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38624" y="730250"/>
            <a:ext cx="784567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7200" dirty="0">
                <a:latin typeface="Cambria"/>
                <a:cs typeface="Cambria"/>
              </a:rPr>
              <a:t>Table of Content</a:t>
            </a:r>
            <a:endParaRPr sz="7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66965" y="3211428"/>
            <a:ext cx="5418455" cy="36195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65"/>
              </a:spcBef>
            </a:pPr>
            <a:endParaRPr sz="2450" dirty="0">
              <a:latin typeface="Verdana"/>
              <a:cs typeface="Verdan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961"/>
            <a:ext cx="18310225" cy="103186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5537" y="272794"/>
            <a:ext cx="8451850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Table</a:t>
            </a:r>
            <a:r>
              <a:rPr lang="en-GB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of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5012" y="1873250"/>
            <a:ext cx="9220201" cy="7733784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480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Introduction</a:t>
            </a:r>
          </a:p>
          <a:p>
            <a:pPr algn="ctr">
              <a:lnSpc>
                <a:spcPct val="150000"/>
              </a:lnSpc>
            </a:pPr>
            <a:r>
              <a:rPr lang="en-GB" sz="480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Current Status</a:t>
            </a:r>
          </a:p>
          <a:p>
            <a:pPr algn="ctr">
              <a:lnSpc>
                <a:spcPct val="150000"/>
              </a:lnSpc>
            </a:pPr>
            <a:r>
              <a:rPr lang="en-GB" sz="480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Recent Attacks</a:t>
            </a:r>
          </a:p>
          <a:p>
            <a:pPr algn="ctr">
              <a:lnSpc>
                <a:spcPct val="150000"/>
              </a:lnSpc>
            </a:pPr>
            <a:r>
              <a:rPr lang="en-GB" sz="480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How It Is Happening </a:t>
            </a:r>
          </a:p>
          <a:p>
            <a:pPr algn="ctr">
              <a:lnSpc>
                <a:spcPct val="150000"/>
              </a:lnSpc>
            </a:pPr>
            <a:r>
              <a:rPr lang="en-GB" sz="480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The Impact of Recent Attackss</a:t>
            </a:r>
          </a:p>
          <a:p>
            <a:pPr algn="ctr">
              <a:lnSpc>
                <a:spcPct val="150000"/>
              </a:lnSpc>
            </a:pPr>
            <a:r>
              <a:rPr lang="en-GB" sz="480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Initiatives Being Taken</a:t>
            </a:r>
          </a:p>
          <a:p>
            <a:pPr algn="ctr">
              <a:lnSpc>
                <a:spcPct val="150000"/>
              </a:lnSpc>
            </a:pPr>
            <a:r>
              <a:rPr lang="en-GB" sz="480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Conclusion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uiExpan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50"/>
            <a:ext cx="18310225" cy="10299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499108"/>
              </p:ext>
            </p:extLst>
          </p:nvPr>
        </p:nvGraphicFramePr>
        <p:xfrm>
          <a:off x="2335212" y="3216974"/>
          <a:ext cx="13639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GB" sz="2800" kern="1200" dirty="0">
                          <a:ln w="0"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With a rapid increase in the use of digital technology in Pakistan, the growth of cyber security has skyrocketed.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2800" kern="1200" dirty="0">
                          <a:ln w="0"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Hence it important that we are aware of  our cyber surroundings.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2800" kern="1200" dirty="0">
                          <a:ln w="0"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Cyber crime lurks in the cyber world of Pakistan and we have to be careful against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GB" sz="2800" kern="1200" dirty="0">
                          <a:ln w="0">
                            <a:solidFill>
                              <a:schemeClr val="tx1">
                                <a:alpha val="5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In this presentation we will talk about the current state of Cyber Security in Pakistan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669000" y="3786188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solidFill>
                        <a:schemeClr val="bg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011612" y="349250"/>
            <a:ext cx="10287000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Introduction</a:t>
            </a:r>
            <a:r>
              <a:rPr lang="en-GB" sz="8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10225" cy="10299700"/>
          </a:xfrm>
          <a:prstGeom prst="rect">
            <a:avLst/>
          </a:prstGeom>
          <a:noFill/>
        </p:spPr>
      </p:pic>
      <p:sp>
        <p:nvSpPr>
          <p:cNvPr id="7" name="Rounded Rectangle 6"/>
          <p:cNvSpPr/>
          <p:nvPr/>
        </p:nvSpPr>
        <p:spPr>
          <a:xfrm>
            <a:off x="87312" y="2673350"/>
            <a:ext cx="3633027" cy="4953000"/>
          </a:xfrm>
          <a:prstGeom prst="roundRect">
            <a:avLst/>
          </a:prstGeom>
          <a:solidFill>
            <a:srgbClr val="F8F8F8">
              <a:alpha val="10196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Pakistan has seen a rise in Cyber attacks that target Individuals and organizations which leads to unprecedented damage</a:t>
            </a:r>
          </a:p>
          <a:p>
            <a:pPr algn="ctr"/>
            <a:endParaRPr lang="en-GB" dirty="0">
              <a:ln>
                <a:solidFill>
                  <a:schemeClr val="dk1">
                    <a:shade val="50000"/>
                    <a:alpha val="1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32005" y="4564722"/>
            <a:ext cx="3633027" cy="4953000"/>
          </a:xfrm>
          <a:prstGeom prst="roundRect">
            <a:avLst/>
          </a:prstGeom>
          <a:solidFill>
            <a:srgbClr val="F8F8F8">
              <a:alpha val="10196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Take back to a couple of years Pakistan had Zero awareness about Cyber crimes and their impacts. </a:t>
            </a:r>
          </a:p>
          <a:p>
            <a:pPr algn="ctr"/>
            <a:endParaRPr lang="en-GB" dirty="0">
              <a:ln>
                <a:solidFill>
                  <a:schemeClr val="dk1">
                    <a:shade val="50000"/>
                    <a:alpha val="1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76698" y="2673350"/>
            <a:ext cx="3633027" cy="4953000"/>
          </a:xfrm>
          <a:prstGeom prst="roundRect">
            <a:avLst/>
          </a:prstGeom>
          <a:solidFill>
            <a:srgbClr val="F8F8F8">
              <a:alpha val="10196"/>
            </a:srgbClr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This is recent that many universities and organizations are coming forward to give awareness to people about possible cyber crimes</a:t>
            </a:r>
          </a:p>
          <a:p>
            <a:pPr algn="ctr"/>
            <a:endParaRPr lang="en-GB" dirty="0">
              <a:ln>
                <a:solidFill>
                  <a:schemeClr val="dk1">
                    <a:shade val="50000"/>
                    <a:alpha val="1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021391" y="4564722"/>
            <a:ext cx="3633027" cy="4953000"/>
          </a:xfrm>
          <a:prstGeom prst="roundRect">
            <a:avLst/>
          </a:prstGeom>
          <a:solidFill>
            <a:srgbClr val="F8F8F8">
              <a:alpha val="10196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Pakistan has greatly improved its cyber security domain by implementing laws and regulations to address cyber crimes s Cyber security </a:t>
            </a:r>
          </a:p>
          <a:p>
            <a:pPr algn="ctr"/>
            <a:endParaRPr lang="en-GB" dirty="0">
              <a:ln>
                <a:solidFill>
                  <a:schemeClr val="dk1">
                    <a:shade val="50000"/>
                    <a:alpha val="1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666085" y="2673350"/>
            <a:ext cx="3633027" cy="4953000"/>
          </a:xfrm>
          <a:prstGeom prst="roundRect">
            <a:avLst/>
          </a:prstGeom>
          <a:solidFill>
            <a:srgbClr val="F8F8F8">
              <a:alpha val="10196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This is only recently that Pakistani Universities have started to offer Cyber security programs </a:t>
            </a:r>
          </a:p>
          <a:p>
            <a:pPr algn="ctr"/>
            <a:endParaRPr lang="en-GB" dirty="0">
              <a:ln>
                <a:solidFill>
                  <a:schemeClr val="dk1">
                    <a:shade val="50000"/>
                    <a:alpha val="1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49811" y="429094"/>
            <a:ext cx="8610600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8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Current State</a:t>
            </a:r>
          </a:p>
        </p:txBody>
      </p:sp>
    </p:spTree>
    <p:extLst>
      <p:ext uri="{BB962C8B-B14F-4D97-AF65-F5344CB8AC3E}">
        <p14:creationId xmlns:p14="http://schemas.microsoft.com/office/powerpoint/2010/main" val="41557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310225" cy="10299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973CA45-D7A2-ED07-E2B7-A8A3DFB5440B}"/>
              </a:ext>
            </a:extLst>
          </p:cNvPr>
          <p:cNvGrpSpPr/>
          <p:nvPr/>
        </p:nvGrpSpPr>
        <p:grpSpPr>
          <a:xfrm>
            <a:off x="1373112" y="2457764"/>
            <a:ext cx="15564001" cy="7187886"/>
            <a:chOff x="1373111" y="2711450"/>
            <a:chExt cx="15564001" cy="718788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3C16B53-40F6-760F-FDAA-D68995141633}"/>
                </a:ext>
              </a:extLst>
            </p:cNvPr>
            <p:cNvGrpSpPr/>
            <p:nvPr/>
          </p:nvGrpSpPr>
          <p:grpSpPr>
            <a:xfrm>
              <a:off x="1373111" y="2711450"/>
              <a:ext cx="7020002" cy="7187886"/>
              <a:chOff x="1373111" y="2711450"/>
              <a:chExt cx="7020002" cy="7187886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373113" y="2711450"/>
                <a:ext cx="7020000" cy="739754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3200" b="1" dirty="0">
                    <a:solidFill>
                      <a:srgbClr val="FFFF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NADRA </a:t>
                </a:r>
                <a:r>
                  <a:rPr lang="en-GB" sz="32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mbria" panose="02040503050406030204" pitchFamily="18" charset="0"/>
                    <a:cs typeface="Arial" panose="020B0604020202020204" pitchFamily="34" charset="0"/>
                  </a:rPr>
                  <a:t>attack</a:t>
                </a:r>
                <a:r>
                  <a:rPr lang="en-GB" sz="3200" b="1" dirty="0">
                    <a:solidFill>
                      <a:srgbClr val="FFFF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in 2021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373111" y="3419336"/>
                <a:ext cx="7020000" cy="6480000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2800" b="1" dirty="0">
                    <a:ln w="0"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Arial" panose="020B0604020202020204" pitchFamily="34" charset="0"/>
                  </a:rPr>
                  <a:t>Biometric records and citizen data were reportedly exposed.</a:t>
                </a:r>
                <a:endParaRPr lang="en-GB" sz="2800" b="1" dirty="0">
                  <a:ln w="0"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anose="020B0604020202020204" pitchFamily="34" charset="0"/>
                </a:endParaRP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2800" b="1" dirty="0">
                    <a:ln w="0"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Arial" panose="020B0604020202020204" pitchFamily="34" charset="0"/>
                  </a:rPr>
                  <a:t>The incident raised concerns because it occurred after the launch of biometric verification services.</a:t>
                </a:r>
                <a:endParaRPr lang="en-GB" sz="2800" b="1" dirty="0">
                  <a:ln w="0"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anose="020B0604020202020204" pitchFamily="34" charset="0"/>
                </a:endParaRP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2800" b="1" dirty="0">
                    <a:ln w="0"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Arial" panose="020B0604020202020204" pitchFamily="34" charset="0"/>
                  </a:rPr>
                  <a:t>The exact technical details were not publicly clear.</a:t>
                </a:r>
                <a:endParaRPr lang="en-GB" sz="2800" b="1" dirty="0">
                  <a:ln w="0"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anose="020B0604020202020204" pitchFamily="34" charset="0"/>
                </a:endParaRPr>
              </a:p>
              <a:p>
                <a:pPr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2800" b="1" dirty="0">
                    <a:ln w="0"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Arial" panose="020B0604020202020204" pitchFamily="34" charset="0"/>
                  </a:rPr>
                  <a:t>Large-scale data exposure concerns highlighted gaps in Pakistan’s cybersecurity readiness.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F1AF236-6D2E-100C-E36B-F3BADABCA45B}"/>
                </a:ext>
              </a:extLst>
            </p:cNvPr>
            <p:cNvGrpSpPr/>
            <p:nvPr/>
          </p:nvGrpSpPr>
          <p:grpSpPr>
            <a:xfrm>
              <a:off x="9917112" y="2711450"/>
              <a:ext cx="7020000" cy="6550383"/>
              <a:chOff x="9917112" y="2711450"/>
              <a:chExt cx="7020000" cy="655038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9917112" y="2711450"/>
                <a:ext cx="7020000" cy="739690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3200" b="1" dirty="0">
                    <a:solidFill>
                      <a:srgbClr val="FFFF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Attack on the Banking Sector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917112" y="3419336"/>
                <a:ext cx="7020000" cy="5842497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2800" b="1" dirty="0">
                    <a:ln w="0"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Arial" panose="020B0604020202020204" pitchFamily="34" charset="0"/>
                  </a:rPr>
                  <a:t>Multiple banking-sector incidents have involved compromised payment cards and customer trust issues.</a:t>
                </a:r>
                <a:endParaRPr lang="en-GB" sz="2800" b="1" dirty="0">
                  <a:ln w="0"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anose="020B0604020202020204" pitchFamily="34" charset="0"/>
                </a:endParaRPr>
              </a:p>
              <a:p>
                <a:pPr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2800" b="1" dirty="0">
                    <a:ln w="0"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Arial" panose="020B0604020202020204" pitchFamily="34" charset="0"/>
                  </a:rPr>
                  <a:t>Some banks restricted or suspended international card payments as a precautionary response.</a:t>
                </a:r>
                <a:endParaRPr lang="en-GB" sz="2800" b="1" dirty="0">
                  <a:ln w="0"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panose="020B0604020202020204" pitchFamily="34" charset="0"/>
                </a:endParaRPr>
              </a:p>
              <a:p>
                <a:pPr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sz="2800" b="1" dirty="0">
                    <a:ln w="0"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Arial" panose="020B0604020202020204" pitchFamily="34" charset="0"/>
                  </a:rPr>
                  <a:t>These incidents highlighted the need for stronger monitoring, fraud prevention, and customer awareness.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B81242A-62C0-1985-30FE-AEDCC31E3E4C}"/>
              </a:ext>
            </a:extLst>
          </p:cNvPr>
          <p:cNvSpPr txBox="1"/>
          <p:nvPr/>
        </p:nvSpPr>
        <p:spPr>
          <a:xfrm>
            <a:off x="2525710" y="429094"/>
            <a:ext cx="13258802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Recent Attacks in Pakistan</a:t>
            </a:r>
          </a:p>
        </p:txBody>
      </p:sp>
    </p:spTree>
    <p:extLst>
      <p:ext uri="{BB962C8B-B14F-4D97-AF65-F5344CB8AC3E}">
        <p14:creationId xmlns:p14="http://schemas.microsoft.com/office/powerpoint/2010/main" val="321077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10225" cy="10299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662A97-3F14-42D3-595F-59912939E0B2}"/>
              </a:ext>
            </a:extLst>
          </p:cNvPr>
          <p:cNvSpPr txBox="1"/>
          <p:nvPr/>
        </p:nvSpPr>
        <p:spPr>
          <a:xfrm>
            <a:off x="2525710" y="429094"/>
            <a:ext cx="13258802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How Is It Happening?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79D5DE-A926-43BA-DD94-4BC6A573526D}"/>
              </a:ext>
            </a:extLst>
          </p:cNvPr>
          <p:cNvGrpSpPr/>
          <p:nvPr/>
        </p:nvGrpSpPr>
        <p:grpSpPr>
          <a:xfrm>
            <a:off x="468312" y="1943100"/>
            <a:ext cx="17373601" cy="8159750"/>
            <a:chOff x="468312" y="2139950"/>
            <a:chExt cx="17373601" cy="8159750"/>
          </a:xfrm>
        </p:grpSpPr>
        <p:sp>
          <p:nvSpPr>
            <p:cNvPr id="8" name="Rounded Rectangle 7"/>
            <p:cNvSpPr/>
            <p:nvPr/>
          </p:nvSpPr>
          <p:spPr>
            <a:xfrm>
              <a:off x="14447639" y="4368227"/>
              <a:ext cx="3394274" cy="5843146"/>
            </a:xfrm>
            <a:prstGeom prst="roundRect">
              <a:avLst/>
            </a:prstGeom>
            <a:solidFill>
              <a:srgbClr val="F8F8F8">
                <a:alpha val="10196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ln w="0">
                    <a:solidFill>
                      <a:prstClr val="black">
                        <a:alpha val="50000"/>
                      </a:prstClr>
                    </a:solidFill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  <a:cs typeface="Arial" panose="020B0604020202020204" pitchFamily="34" charset="0"/>
                </a:rPr>
                <a:t>In Pakistan we don’t pay much attention to Cyber law. It isn’t the case that these law don’t exist but rather that they are not implemented.</a:t>
              </a:r>
            </a:p>
          </p:txBody>
        </p:sp>
        <p:sp>
          <p:nvSpPr>
            <p:cNvPr id="17" name="Rounded Rectangle 8">
              <a:extLst>
                <a:ext uri="{FF2B5EF4-FFF2-40B4-BE49-F238E27FC236}">
                  <a16:creationId xmlns:a16="http://schemas.microsoft.com/office/drawing/2014/main" id="{41FE19D9-8252-8FAA-7597-4471500386C7}"/>
                </a:ext>
              </a:extLst>
            </p:cNvPr>
            <p:cNvSpPr/>
            <p:nvPr/>
          </p:nvSpPr>
          <p:spPr>
            <a:xfrm>
              <a:off x="468312" y="2139950"/>
              <a:ext cx="3429000" cy="6019800"/>
            </a:xfrm>
            <a:prstGeom prst="roundRect">
              <a:avLst/>
            </a:prstGeom>
            <a:solidFill>
              <a:srgbClr val="F8F8F8">
                <a:alpha val="10196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ln w="0">
                    <a:solidFill>
                      <a:prstClr val="black">
                        <a:alpha val="50000"/>
                      </a:prstClr>
                    </a:solidFill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  <a:cs typeface="Arial" panose="020B0604020202020204" pitchFamily="34" charset="0"/>
                </a:rPr>
                <a:t>The most obvious reason for the amount of cyber attacks happening on in Pakistan is due to the fact that our people have little to no awareness </a:t>
              </a:r>
            </a:p>
          </p:txBody>
        </p:sp>
        <p:sp>
          <p:nvSpPr>
            <p:cNvPr id="20" name="Rounded Rectangle 9">
              <a:extLst>
                <a:ext uri="{FF2B5EF4-FFF2-40B4-BE49-F238E27FC236}">
                  <a16:creationId xmlns:a16="http://schemas.microsoft.com/office/drawing/2014/main" id="{6607F93A-1F9A-2444-5A74-7B77893F26F7}"/>
                </a:ext>
              </a:extLst>
            </p:cNvPr>
            <p:cNvSpPr/>
            <p:nvPr/>
          </p:nvSpPr>
          <p:spPr>
            <a:xfrm>
              <a:off x="5128088" y="4279900"/>
              <a:ext cx="3429000" cy="6019800"/>
            </a:xfrm>
            <a:prstGeom prst="roundRect">
              <a:avLst/>
            </a:prstGeom>
            <a:solidFill>
              <a:srgbClr val="F8F8F8">
                <a:alpha val="10196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2800" b="1" dirty="0">
                  <a:ln w="0">
                    <a:solidFill>
                      <a:prstClr val="black">
                        <a:alpha val="50000"/>
                      </a:prstClr>
                    </a:solidFill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  <a:cs typeface="Arial" panose="020B0604020202020204" pitchFamily="34" charset="0"/>
                </a:rPr>
                <a:t>Social engineering is also a huge factor because humans are the weakest link in cyber security. We easily fall victim to scams . </a:t>
              </a:r>
            </a:p>
          </p:txBody>
        </p:sp>
        <p:sp>
          <p:nvSpPr>
            <p:cNvPr id="23" name="Rounded Rectangle 6">
              <a:extLst>
                <a:ext uri="{FF2B5EF4-FFF2-40B4-BE49-F238E27FC236}">
                  <a16:creationId xmlns:a16="http://schemas.microsoft.com/office/drawing/2014/main" id="{29263080-B847-8622-6834-6B4A6A21C850}"/>
                </a:ext>
              </a:extLst>
            </p:cNvPr>
            <p:cNvSpPr/>
            <p:nvPr/>
          </p:nvSpPr>
          <p:spPr>
            <a:xfrm>
              <a:off x="9787864" y="2139950"/>
              <a:ext cx="3429000" cy="6019800"/>
            </a:xfrm>
            <a:prstGeom prst="roundRect">
              <a:avLst/>
            </a:prstGeom>
            <a:solidFill>
              <a:srgbClr val="F8F8F8">
                <a:alpha val="10196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sz="2800" b="1" dirty="0">
                  <a:ln w="0">
                    <a:solidFill>
                      <a:prstClr val="black">
                        <a:alpha val="50000"/>
                      </a:prstClr>
                    </a:solidFill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  <a:cs typeface="Arial" panose="020B0604020202020204" pitchFamily="34" charset="0"/>
                </a:rPr>
                <a:t>Pakistan has one of the weakest IT infrastructure in the world. Considering this it is also obvious that Pakistan also has a weak cyber domain. Cyber criminals make use of it and commit cyber crimes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829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10225" cy="10299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59112" y="3089094"/>
            <a:ext cx="12192000" cy="5196166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rtlCol="0" anchor="ctr">
            <a:spAutoFit/>
          </a:bodyPr>
          <a:lstStyle/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Financial loss is one of the most visible impacts of cyberattacks.</a:t>
            </a: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Businesses may face stolen funds, disrupted operations, recovery costs, and legal expenses.</a:t>
            </a:r>
            <a:endParaRPr lang="en-GB" sz="2800" b="1" dirty="0">
              <a:ln w="0">
                <a:solidFill>
                  <a:prstClr val="black">
                    <a:alpha val="50000"/>
                  </a:prst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Data breaches can expose sensitive information and create privacy risks.</a:t>
            </a:r>
            <a:endParaRPr lang="en-GB" sz="2800" b="1" dirty="0">
              <a:ln w="0">
                <a:solidFill>
                  <a:prstClr val="black">
                    <a:alpha val="50000"/>
                  </a:prst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Many cyberattacks disrupt availability by interrupting services and daily operations.</a:t>
            </a: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State-sponsored attacks can also create national security risks by targeting government and military systems.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D70B27-97F5-9800-9B6E-5B64E029E4FA}"/>
              </a:ext>
            </a:extLst>
          </p:cNvPr>
          <p:cNvSpPr txBox="1"/>
          <p:nvPr/>
        </p:nvSpPr>
        <p:spPr>
          <a:xfrm>
            <a:off x="2525710" y="429094"/>
            <a:ext cx="13258802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Impact of These Attacks</a:t>
            </a:r>
          </a:p>
        </p:txBody>
      </p:sp>
    </p:spTree>
    <p:extLst>
      <p:ext uri="{BB962C8B-B14F-4D97-AF65-F5344CB8AC3E}">
        <p14:creationId xmlns:p14="http://schemas.microsoft.com/office/powerpoint/2010/main" val="297717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310224" cy="1028457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2FFC30-7BD2-86BE-6BC0-89B3D5B40FFD}"/>
              </a:ext>
            </a:extLst>
          </p:cNvPr>
          <p:cNvGrpSpPr/>
          <p:nvPr/>
        </p:nvGrpSpPr>
        <p:grpSpPr>
          <a:xfrm>
            <a:off x="119856" y="3473450"/>
            <a:ext cx="18070512" cy="4549835"/>
            <a:chOff x="0" y="3980643"/>
            <a:chExt cx="18070512" cy="4549835"/>
          </a:xfrm>
          <a:solidFill>
            <a:srgbClr val="000000">
              <a:alpha val="69804"/>
            </a:srgbClr>
          </a:solidFill>
        </p:grpSpPr>
        <p:sp>
          <p:nvSpPr>
            <p:cNvPr id="7" name="TextBox 6"/>
            <p:cNvSpPr txBox="1"/>
            <p:nvPr/>
          </p:nvSpPr>
          <p:spPr>
            <a:xfrm>
              <a:off x="0" y="3980643"/>
              <a:ext cx="8850312" cy="4549835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indent="-457200">
                <a:lnSpc>
                  <a:spcPct val="200000"/>
                </a:lnSpc>
                <a:buFont typeface="Arial" panose="020B0604020202020204" pitchFamily="34" charset="0"/>
                <a:buChar char="•"/>
                <a:defRPr sz="2800" b="1">
                  <a:ln w="0">
                    <a:solidFill>
                      <a:prstClr val="black">
                        <a:alpha val="50000"/>
                      </a:prstClr>
                    </a:solidFill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  <a:cs typeface="Arial" panose="020B0604020202020204" pitchFamily="34" charset="0"/>
                </a:defRPr>
              </a:lvl1pPr>
            </a:lstStyle>
            <a:p>
              <a:pPr indent="0">
                <a:lnSpc>
                  <a:spcPct val="150000"/>
                </a:lnSpc>
                <a:buNone/>
              </a:pPr>
              <a:r>
                <a:rPr lang="en-GB" dirty="0"/>
                <a:t>Here are a few steps that Pakistan can take to strengthen its cybersecurity: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Develop a National Cybersecurity Strategy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Increase Awareness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Enhance Collaboration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Build Cybersecurity Capabilities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Enhance Cybersecurity Education and Training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220200" y="3980643"/>
              <a:ext cx="8850312" cy="4549835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indent="-457200">
                <a:lnSpc>
                  <a:spcPct val="200000"/>
                </a:lnSpc>
                <a:buFont typeface="Arial" panose="020B0604020202020204" pitchFamily="34" charset="0"/>
                <a:buChar char="•"/>
                <a:defRPr sz="2800" b="1">
                  <a:ln w="0">
                    <a:solidFill>
                      <a:prstClr val="black">
                        <a:alpha val="50000"/>
                      </a:prstClr>
                    </a:solidFill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  <a:cs typeface="Arial" panose="020B0604020202020204" pitchFamily="34" charset="0"/>
                </a:defRPr>
              </a:lvl1pPr>
            </a:lstStyle>
            <a:p>
              <a:pPr indent="0">
                <a:lnSpc>
                  <a:spcPct val="150000"/>
                </a:lnSpc>
                <a:buNone/>
              </a:pPr>
              <a:r>
                <a:rPr lang="en-GB" dirty="0"/>
                <a:t>The government can take the following actions: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Establish a National Cybersecurity Agency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Develop Incident Response Capabilities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Improve Information Sharing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Invest in Research and Development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Establish Cybersecurity Standards</a:t>
              </a:r>
            </a:p>
            <a:p>
              <a:pPr>
                <a:lnSpc>
                  <a:spcPct val="150000"/>
                </a:lnSpc>
              </a:pPr>
              <a:r>
                <a:rPr lang="en-GB" dirty="0"/>
                <a:t>Develop Cyber Laws and Regulations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ACA8605-A41C-C269-175D-F9F071D6C790}"/>
              </a:ext>
            </a:extLst>
          </p:cNvPr>
          <p:cNvSpPr txBox="1"/>
          <p:nvPr/>
        </p:nvSpPr>
        <p:spPr>
          <a:xfrm>
            <a:off x="2525710" y="429094"/>
            <a:ext cx="13258802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Initiatives Being Taken</a:t>
            </a:r>
          </a:p>
        </p:txBody>
      </p:sp>
    </p:spTree>
    <p:extLst>
      <p:ext uri="{BB962C8B-B14F-4D97-AF65-F5344CB8AC3E}">
        <p14:creationId xmlns:p14="http://schemas.microsoft.com/office/powerpoint/2010/main" val="60472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" y="6350"/>
            <a:ext cx="18299289" cy="1029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59112" y="2551767"/>
            <a:ext cx="12192000" cy="5196166"/>
          </a:xfrm>
          <a:prstGeom prst="rect">
            <a:avLst/>
          </a:prstGeom>
          <a:solidFill>
            <a:srgbClr val="000000">
              <a:alpha val="9804"/>
            </a:srgb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Cybersecurity remains a major concern for individuals, businesses, and the government in Pakistan.</a:t>
            </a:r>
            <a:endParaRPr lang="en-GB" sz="2800" b="1" dirty="0">
              <a:ln w="0">
                <a:solidFill>
                  <a:prstClr val="black">
                    <a:alpha val="50000"/>
                  </a:prst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The National Cybersecurity Policy 2021 and the creation of national cybersecurity institutions show that progress is being made.</a:t>
            </a:r>
            <a:endParaRPr lang="en-GB" sz="2800" b="1" dirty="0">
              <a:ln w="0">
                <a:solidFill>
                  <a:prstClr val="black">
                    <a:alpha val="50000"/>
                  </a:prst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Pakistan can continue strengthening its cybersecurity posture through awareness, education, stronger laws, better incident response, and investment in secure digital infrastructure.</a:t>
            </a:r>
            <a:endParaRPr lang="en-GB" sz="2800" b="1" dirty="0">
              <a:ln w="0">
                <a:solidFill>
                  <a:prstClr val="black">
                    <a:alpha val="50000"/>
                  </a:prst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sz="2800" b="1" dirty="0">
                <a:ln w="0">
                  <a:solidFill>
                    <a:prstClr val="black">
                      <a:alpha val="50000"/>
                    </a:prst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Arial" panose="020B0604020202020204" pitchFamily="34" charset="0"/>
              </a:rPr>
              <a:t>A safer digital environment can support Pakistan’s growing digital economy.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CF248-E639-4609-CD6C-1AA542D4323E}"/>
              </a:ext>
            </a:extLst>
          </p:cNvPr>
          <p:cNvSpPr txBox="1"/>
          <p:nvPr/>
        </p:nvSpPr>
        <p:spPr>
          <a:xfrm>
            <a:off x="2525710" y="429094"/>
            <a:ext cx="13258802" cy="1323439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1941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10224" cy="10299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43545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08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3545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Group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512" y="4921250"/>
            <a:ext cx="12877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600" b="0">
                <a:solidFill>
                  <a:srgbClr val="FFFFFF"/>
                </a:solidFill>
              </a:rPr>
              <a:t>Syed Qalb e Abbas</a:t>
            </a:r>
          </a:p>
          <a:p>
            <a:r>
              <a:rPr sz="2600" b="0">
                <a:solidFill>
                  <a:srgbClr val="FFFFFF"/>
                </a:solidFill>
              </a:rPr>
              <a:t>Syed Jazib Ali Rizvi</a:t>
            </a:r>
          </a:p>
          <a:p>
            <a:r>
              <a:rPr sz="2600" b="0">
                <a:solidFill>
                  <a:srgbClr val="FFFFFF"/>
                </a:solidFill>
              </a:rPr>
              <a:t>Syed Qammar Abbas</a:t>
            </a:r>
          </a:p>
          <a:p>
            <a:r>
              <a:rPr sz="2600" b="0">
                <a:solidFill>
                  <a:srgbClr val="FFFFFF"/>
                </a:solidFill>
              </a:rPr>
              <a:t>Shehroze Sameer</a:t>
            </a:r>
          </a:p>
          <a:p>
            <a:r>
              <a:rPr sz="2600" b="0">
                <a:solidFill>
                  <a:srgbClr val="FFFFFF"/>
                </a:solidFill>
              </a:rPr>
              <a:t>Hussain Ali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8" y="6350"/>
            <a:ext cx="18299289" cy="1029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56585" y="9468703"/>
            <a:ext cx="2449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78512" y="4228752"/>
            <a:ext cx="6553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34C3E0-D8C3-0CC0-244D-71A26B0AC8C4}"/>
              </a:ext>
            </a:extLst>
          </p:cNvPr>
          <p:cNvGrpSpPr/>
          <p:nvPr/>
        </p:nvGrpSpPr>
        <p:grpSpPr>
          <a:xfrm>
            <a:off x="7147640" y="2963143"/>
            <a:ext cx="4014945" cy="4373415"/>
            <a:chOff x="4119007" y="1261199"/>
            <a:chExt cx="4014945" cy="4373415"/>
          </a:xfrm>
        </p:grpSpPr>
        <p:sp>
          <p:nvSpPr>
            <p:cNvPr id="33" name="TextBox 32"/>
            <p:cNvSpPr txBox="1"/>
            <p:nvPr/>
          </p:nvSpPr>
          <p:spPr>
            <a:xfrm>
              <a:off x="4119007" y="1261199"/>
              <a:ext cx="4014945" cy="769441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4400" b="1" dirty="0">
                  <a:solidFill>
                    <a:srgbClr val="FFFFFF"/>
                  </a:solidFill>
                </a:rPr>
                <a:t>Group Members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518059" y="2377440"/>
              <a:ext cx="3216842" cy="3257174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sz="2800" dirty="0">
                  <a:solidFill>
                    <a:srgbClr val="FFFFFF"/>
                  </a:solidFill>
                </a:rPr>
                <a:t>Syed </a:t>
              </a:r>
              <a:r>
                <a:rPr sz="2800" dirty="0" err="1">
                  <a:solidFill>
                    <a:srgbClr val="FFFFFF"/>
                  </a:solidFill>
                </a:rPr>
                <a:t>Qalb</a:t>
              </a:r>
              <a:r>
                <a:rPr sz="2800" dirty="0">
                  <a:solidFill>
                    <a:srgbClr val="FFFFFF"/>
                  </a:solidFill>
                </a:rPr>
                <a:t> e Abbas</a:t>
              </a:r>
            </a:p>
            <a:p>
              <a:pPr algn="ctr">
                <a:lnSpc>
                  <a:spcPct val="150000"/>
                </a:lnSpc>
              </a:pPr>
              <a:r>
                <a:rPr sz="2800" dirty="0">
                  <a:solidFill>
                    <a:srgbClr val="FFFFFF"/>
                  </a:solidFill>
                </a:rPr>
                <a:t>Syed Jazib Ali Rizvi</a:t>
              </a:r>
            </a:p>
            <a:p>
              <a:pPr algn="ctr">
                <a:lnSpc>
                  <a:spcPct val="150000"/>
                </a:lnSpc>
              </a:pPr>
              <a:r>
                <a:rPr sz="2800" dirty="0">
                  <a:solidFill>
                    <a:srgbClr val="FFFFFF"/>
                  </a:solidFill>
                </a:rPr>
                <a:t>Syed </a:t>
              </a:r>
              <a:r>
                <a:rPr sz="2800" dirty="0" err="1">
                  <a:solidFill>
                    <a:srgbClr val="FFFFFF"/>
                  </a:solidFill>
                </a:rPr>
                <a:t>Qammar</a:t>
              </a:r>
              <a:r>
                <a:rPr sz="2800" dirty="0">
                  <a:solidFill>
                    <a:srgbClr val="FFFFFF"/>
                  </a:solidFill>
                </a:rPr>
                <a:t> Abbas</a:t>
              </a:r>
            </a:p>
            <a:p>
              <a:pPr algn="ctr">
                <a:lnSpc>
                  <a:spcPct val="150000"/>
                </a:lnSpc>
              </a:pPr>
              <a:r>
                <a:rPr sz="2800" dirty="0" err="1">
                  <a:solidFill>
                    <a:srgbClr val="FFFFFF"/>
                  </a:solidFill>
                </a:rPr>
                <a:t>Shehroze</a:t>
              </a:r>
              <a:r>
                <a:rPr sz="2800" dirty="0">
                  <a:solidFill>
                    <a:srgbClr val="FFFFFF"/>
                  </a:solidFill>
                </a:rPr>
                <a:t> Sameer</a:t>
              </a:r>
            </a:p>
            <a:p>
              <a:pPr algn="ctr">
                <a:lnSpc>
                  <a:spcPct val="150000"/>
                </a:lnSpc>
              </a:pPr>
              <a:r>
                <a:rPr sz="2800" dirty="0">
                  <a:solidFill>
                    <a:srgbClr val="FFFFFF"/>
                  </a:solidFill>
                </a:rPr>
                <a:t>Hussain Ali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905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</TotalTime>
  <Words>657</Words>
  <Application>Microsoft Office PowerPoint</Application>
  <PresentationFormat>Custom</PresentationFormat>
  <Paragraphs>77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Trebuchet MS</vt:lpstr>
      <vt:lpstr>Verdana</vt:lpstr>
      <vt:lpstr>Office Theme</vt:lpstr>
      <vt:lpstr>PowerPoint Presentation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Jazib Ali</dc:creator>
  <cp:lastModifiedBy>Hussain Ali</cp:lastModifiedBy>
  <cp:revision>40</cp:revision>
  <dcterms:created xsi:type="dcterms:W3CDTF">2023-10-14T06:54:41Z</dcterms:created>
  <dcterms:modified xsi:type="dcterms:W3CDTF">2026-05-14T10:35:03Z</dcterms:modified>
</cp:coreProperties>
</file>