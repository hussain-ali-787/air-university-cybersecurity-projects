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256" r:id="rId2"/>
    <p:sldId id="257" r:id="rId3"/>
    <p:sldId id="272" r:id="rId4"/>
    <p:sldId id="274" r:id="rId5"/>
    <p:sldId id="275" r:id="rId6"/>
    <p:sldId id="258" r:id="rId7"/>
    <p:sldId id="259" r:id="rId8"/>
    <p:sldId id="260" r:id="rId9"/>
    <p:sldId id="279" r:id="rId10"/>
    <p:sldId id="261" r:id="rId11"/>
    <p:sldId id="276" r:id="rId12"/>
    <p:sldId id="277" r:id="rId13"/>
    <p:sldId id="278" r:id="rId14"/>
    <p:sldId id="262" r:id="rId15"/>
    <p:sldId id="280" r:id="rId16"/>
    <p:sldId id="263" r:id="rId17"/>
    <p:sldId id="264" r:id="rId18"/>
    <p:sldId id="281" r:id="rId19"/>
    <p:sldId id="265" r:id="rId20"/>
    <p:sldId id="266" r:id="rId21"/>
    <p:sldId id="282" r:id="rId22"/>
    <p:sldId id="267" r:id="rId23"/>
    <p:sldId id="268" r:id="rId24"/>
    <p:sldId id="269" r:id="rId25"/>
    <p:sldId id="284" r:id="rId26"/>
    <p:sldId id="283" r:id="rId27"/>
    <p:sldId id="285" r:id="rId28"/>
    <p:sldId id="286" r:id="rId29"/>
    <p:sldId id="287" r:id="rId30"/>
    <p:sldId id="288" r:id="rId31"/>
    <p:sldId id="289" r:id="rId32"/>
    <p:sldId id="290" r:id="rId33"/>
    <p:sldId id="291" r:id="rId34"/>
    <p:sldId id="270" r:id="rId35"/>
    <p:sldId id="292" r:id="rId36"/>
    <p:sldId id="293" r:id="rId37"/>
    <p:sldId id="294" r:id="rId38"/>
    <p:sldId id="296" r:id="rId39"/>
    <p:sldId id="297" r:id="rId40"/>
    <p:sldId id="273" r:id="rId41"/>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65A8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26" autoAdjust="0"/>
  </p:normalViewPr>
  <p:slideViewPr>
    <p:cSldViewPr snapToGrid="0">
      <p:cViewPr>
        <p:scale>
          <a:sx n="50" d="100"/>
          <a:sy n="50" d="100"/>
        </p:scale>
        <p:origin x="1906" y="758"/>
      </p:cViewPr>
      <p:guideLst/>
    </p:cSldViewPr>
  </p:slideViewPr>
  <p:notesTextViewPr>
    <p:cViewPr>
      <p:scale>
        <a:sx n="1" d="1"/>
        <a:sy n="1" d="1"/>
      </p:scale>
      <p:origin x="0" y="-29"/>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0C8D39B-7CF8-46DB-8C7A-1C1D0DD6F41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dirty="0"/>
          </a:p>
        </p:txBody>
      </p:sp>
      <p:sp>
        <p:nvSpPr>
          <p:cNvPr id="3" name="Date Placeholder 2">
            <a:extLst>
              <a:ext uri="{FF2B5EF4-FFF2-40B4-BE49-F238E27FC236}">
                <a16:creationId xmlns:a16="http://schemas.microsoft.com/office/drawing/2014/main" id="{717F1B5F-5400-4BD2-8E4A-339BFEEA2BA5}"/>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260F34-A91F-4D67-ABC6-AFE2D559852E}" type="datetimeFigureOut">
              <a:rPr lang="en-PK" smtClean="0"/>
              <a:t>26/05/2026</a:t>
            </a:fld>
            <a:endParaRPr lang="en-PK" dirty="0"/>
          </a:p>
        </p:txBody>
      </p:sp>
      <p:sp>
        <p:nvSpPr>
          <p:cNvPr id="4" name="Slide Image Placeholder 3">
            <a:extLst>
              <a:ext uri="{FF2B5EF4-FFF2-40B4-BE49-F238E27FC236}">
                <a16:creationId xmlns:a16="http://schemas.microsoft.com/office/drawing/2014/main" id="{17D6A43E-074C-4A8F-B99B-BC4AEE918B35}"/>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dirty="0"/>
          </a:p>
        </p:txBody>
      </p:sp>
      <p:sp>
        <p:nvSpPr>
          <p:cNvPr id="5" name="Notes Placeholder 4">
            <a:extLst>
              <a:ext uri="{FF2B5EF4-FFF2-40B4-BE49-F238E27FC236}">
                <a16:creationId xmlns:a16="http://schemas.microsoft.com/office/drawing/2014/main" id="{56C7CE30-30E7-4B57-A27D-828F70B14A62}"/>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a:extLst>
              <a:ext uri="{FF2B5EF4-FFF2-40B4-BE49-F238E27FC236}">
                <a16:creationId xmlns:a16="http://schemas.microsoft.com/office/drawing/2014/main" id="{2F0E86D6-B7DA-4236-B23E-81E978ED14F1}"/>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dirty="0"/>
          </a:p>
        </p:txBody>
      </p:sp>
      <p:sp>
        <p:nvSpPr>
          <p:cNvPr id="7" name="Slide Number Placeholder 6">
            <a:extLst>
              <a:ext uri="{FF2B5EF4-FFF2-40B4-BE49-F238E27FC236}">
                <a16:creationId xmlns:a16="http://schemas.microsoft.com/office/drawing/2014/main" id="{A2A25B18-D9AC-4347-9901-71BBDC13A3E9}"/>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F73769-FF25-4A33-9EE6-BFB6385FC670}" type="slidenum">
              <a:rPr lang="en-PK" smtClean="0"/>
              <a:t>‹#›</a:t>
            </a:fld>
            <a:endParaRPr lang="en-PK"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slide connects our topic with real computer science applications. Relations are used whenever we need to describe a connection between two objects. For example, in databases, a relation can represent a table or a link between records. In access control, relations can show which user is allowed to access which resource. In networks and graphs, relations help represent connections between devices or nodes. So, relations are important because they give us a formal way to model, analyse, and understand systems.</a:t>
            </a:r>
            <a:endParaRPr lang="en-PK" dirty="0"/>
          </a:p>
        </p:txBody>
      </p:sp>
      <p:sp>
        <p:nvSpPr>
          <p:cNvPr id="4" name="Slide Number Placeholder 3"/>
          <p:cNvSpPr>
            <a:spLocks noGrp="1"/>
          </p:cNvSpPr>
          <p:nvPr>
            <p:ph type="sldNum" sz="quarter" idx="5"/>
          </p:nvPr>
        </p:nvSpPr>
        <p:spPr/>
        <p:txBody>
          <a:bodyPr/>
          <a:lstStyle/>
          <a:p>
            <a:fld id="{C5F73769-FF25-4A33-9EE6-BFB6385FC670}" type="slidenum">
              <a:rPr lang="en-PK" smtClean="0"/>
              <a:t>39</a:t>
            </a:fld>
            <a:endParaRPr lang="en-PK" dirty="0"/>
          </a:p>
        </p:txBody>
      </p:sp>
    </p:spTree>
    <p:extLst>
      <p:ext uri="{BB962C8B-B14F-4D97-AF65-F5344CB8AC3E}">
        <p14:creationId xmlns:p14="http://schemas.microsoft.com/office/powerpoint/2010/main" val="20171596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1F6F-60DC-44BC-87C2-6F534A007481}"/>
              </a:ext>
            </a:extLst>
          </p:cNvPr>
          <p:cNvSpPr>
            <a:spLocks noGrp="1"/>
          </p:cNvSpPr>
          <p:nvPr>
            <p:ph type="ctrTitle"/>
          </p:nvPr>
        </p:nvSpPr>
        <p:spPr>
          <a:xfrm>
            <a:off x="1524000" y="1122363"/>
            <a:ext cx="9144000" cy="2387600"/>
          </a:xfrm>
          <a:ln w="28575"/>
        </p:spPr>
        <p:style>
          <a:lnRef idx="2">
            <a:schemeClr val="accent2"/>
          </a:lnRef>
          <a:fillRef idx="1">
            <a:schemeClr val="lt1"/>
          </a:fillRef>
          <a:effectRef idx="0">
            <a:schemeClr val="accent2"/>
          </a:effectRef>
          <a:fontRef idx="minor">
            <a:schemeClr val="dk1"/>
          </a:fontRef>
        </p:style>
        <p:txBody>
          <a:bodyPr anchor="b"/>
          <a:lstStyle>
            <a:lvl1pPr algn="ctr">
              <a:defRPr sz="6000">
                <a:solidFill>
                  <a:schemeClr val="accent1"/>
                </a:solidFill>
              </a:defRPr>
            </a:lvl1pPr>
          </a:lstStyle>
          <a:p>
            <a:r>
              <a:rPr lang="en-US" dirty="0"/>
              <a:t>Click to edit Master title style</a:t>
            </a:r>
            <a:endParaRPr lang="en-PK" dirty="0"/>
          </a:p>
        </p:txBody>
      </p:sp>
      <p:sp>
        <p:nvSpPr>
          <p:cNvPr id="3" name="Subtitle 2">
            <a:extLst>
              <a:ext uri="{FF2B5EF4-FFF2-40B4-BE49-F238E27FC236}">
                <a16:creationId xmlns:a16="http://schemas.microsoft.com/office/drawing/2014/main" id="{2B6F4C0C-DEB9-4331-BDCA-7FFA8197CD05}"/>
              </a:ext>
            </a:extLst>
          </p:cNvPr>
          <p:cNvSpPr>
            <a:spLocks noGrp="1"/>
          </p:cNvSpPr>
          <p:nvPr>
            <p:ph type="subTitle" idx="1"/>
          </p:nvPr>
        </p:nvSpPr>
        <p:spPr>
          <a:xfrm>
            <a:off x="1524000" y="3602038"/>
            <a:ext cx="9144000" cy="1655762"/>
          </a:xfrm>
          <a:ln w="28575"/>
        </p:spPr>
        <p:style>
          <a:lnRef idx="2">
            <a:schemeClr val="accent2"/>
          </a:lnRef>
          <a:fillRef idx="1">
            <a:schemeClr val="lt1"/>
          </a:fillRef>
          <a:effectRef idx="0">
            <a:schemeClr val="accent2"/>
          </a:effectRef>
          <a:fontRef idx="minor">
            <a:schemeClr val="dk1"/>
          </a:fontRef>
        </p:style>
        <p:txBody>
          <a:bodyPr/>
          <a:lstStyle>
            <a:lvl1pPr marL="0" indent="0" algn="ctr">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9ECA8B57-4725-4EE3-9D35-FDF5731E79D1}"/>
              </a:ext>
            </a:extLst>
          </p:cNvPr>
          <p:cNvSpPr>
            <a:spLocks noGrp="1"/>
          </p:cNvSpPr>
          <p:nvPr>
            <p:ph type="dt" sz="half" idx="10"/>
          </p:nvPr>
        </p:nvSpPr>
        <p:spPr/>
        <p:txBody>
          <a:bodyPr/>
          <a:lstStyle/>
          <a:p>
            <a:r>
              <a:rPr lang="en-US" dirty="0"/>
              <a:t>31/12/2023</a:t>
            </a:r>
            <a:endParaRPr lang="en-PK" dirty="0"/>
          </a:p>
        </p:txBody>
      </p:sp>
      <p:sp>
        <p:nvSpPr>
          <p:cNvPr id="5" name="Footer Placeholder 4">
            <a:extLst>
              <a:ext uri="{FF2B5EF4-FFF2-40B4-BE49-F238E27FC236}">
                <a16:creationId xmlns:a16="http://schemas.microsoft.com/office/drawing/2014/main" id="{92CF0593-091A-491C-9C10-6ECA94273E62}"/>
              </a:ext>
            </a:extLst>
          </p:cNvPr>
          <p:cNvSpPr>
            <a:spLocks noGrp="1"/>
          </p:cNvSpPr>
          <p:nvPr>
            <p:ph type="ftr" sz="quarter" idx="11"/>
          </p:nvPr>
        </p:nvSpPr>
        <p:spPr/>
        <p:txBody>
          <a:bodyPr/>
          <a:lstStyle/>
          <a:p>
            <a:endParaRPr lang="en-PK" dirty="0"/>
          </a:p>
        </p:txBody>
      </p:sp>
      <p:sp>
        <p:nvSpPr>
          <p:cNvPr id="6" name="Slide Number Placeholder 5">
            <a:extLst>
              <a:ext uri="{FF2B5EF4-FFF2-40B4-BE49-F238E27FC236}">
                <a16:creationId xmlns:a16="http://schemas.microsoft.com/office/drawing/2014/main" id="{1AB3B754-9607-4F81-B183-92FCC0461F1B}"/>
              </a:ext>
            </a:extLst>
          </p:cNvPr>
          <p:cNvSpPr>
            <a:spLocks noGrp="1"/>
          </p:cNvSpPr>
          <p:nvPr>
            <p:ph type="sldNum" sz="quarter" idx="12"/>
          </p:nvPr>
        </p:nvSpPr>
        <p:spPr/>
        <p:txBody>
          <a:bodyPr/>
          <a:lstStyle/>
          <a:p>
            <a:fld id="{88A73313-125E-462B-A143-CE867BAE2D9E}" type="slidenum">
              <a:rPr lang="en-PK" smtClean="0"/>
              <a:t>‹#›</a:t>
            </a:fld>
            <a:endParaRPr lang="en-PK" dirty="0"/>
          </a:p>
        </p:txBody>
      </p:sp>
    </p:spTree>
    <p:extLst>
      <p:ext uri="{BB962C8B-B14F-4D97-AF65-F5344CB8AC3E}">
        <p14:creationId xmlns:p14="http://schemas.microsoft.com/office/powerpoint/2010/main" val="51633369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6DE60-E3D0-4E35-B034-F32EF6240C30}"/>
              </a:ext>
            </a:extLst>
          </p:cNvPr>
          <p:cNvSpPr>
            <a:spLocks noGrp="1"/>
          </p:cNvSpPr>
          <p:nvPr>
            <p:ph type="title"/>
          </p:nvPr>
        </p:nvSpPr>
        <p:spPr/>
        <p:txBody>
          <a:bodyPr/>
          <a:lstStyle/>
          <a:p>
            <a:r>
              <a:rPr lang="en-US" dirty="0"/>
              <a:t>Click to edit Master title style</a:t>
            </a:r>
            <a:endParaRPr lang="en-PK" dirty="0"/>
          </a:p>
        </p:txBody>
      </p:sp>
      <p:sp>
        <p:nvSpPr>
          <p:cNvPr id="3" name="Content Placeholder 2">
            <a:extLst>
              <a:ext uri="{FF2B5EF4-FFF2-40B4-BE49-F238E27FC236}">
                <a16:creationId xmlns:a16="http://schemas.microsoft.com/office/drawing/2014/main" id="{D2251321-B5B8-4D66-9085-90D7BCF86FFC}"/>
              </a:ext>
            </a:extLst>
          </p:cNvPr>
          <p:cNvSpPr>
            <a:spLocks noGrp="1"/>
          </p:cNvSpPr>
          <p:nvPr>
            <p:ph idx="1"/>
          </p:nvPr>
        </p:nvSpPr>
        <p:spPr/>
        <p:txBody>
          <a:bodyPr/>
          <a:lstStyle>
            <a:lvl1pPr marL="228600" indent="-228600">
              <a:buFont typeface="Wingdings" panose="05000000000000000000" pitchFamily="2" charset="2"/>
              <a:buChar char="§"/>
              <a:defRPr/>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26FB02C6-0C3B-4B42-AD59-E780AA58A05D}"/>
              </a:ext>
            </a:extLst>
          </p:cNvPr>
          <p:cNvSpPr>
            <a:spLocks noGrp="1"/>
          </p:cNvSpPr>
          <p:nvPr>
            <p:ph type="dt" sz="half" idx="10"/>
          </p:nvPr>
        </p:nvSpPr>
        <p:spPr/>
        <p:txBody>
          <a:bodyPr/>
          <a:lstStyle/>
          <a:p>
            <a:r>
              <a:rPr lang="en-US" dirty="0"/>
              <a:t>31/12/2023</a:t>
            </a:r>
            <a:endParaRPr lang="en-PK" dirty="0"/>
          </a:p>
        </p:txBody>
      </p:sp>
      <p:sp>
        <p:nvSpPr>
          <p:cNvPr id="5" name="Footer Placeholder 4">
            <a:extLst>
              <a:ext uri="{FF2B5EF4-FFF2-40B4-BE49-F238E27FC236}">
                <a16:creationId xmlns:a16="http://schemas.microsoft.com/office/drawing/2014/main" id="{15052097-2BB6-420C-AE34-021CD804A9F7}"/>
              </a:ext>
            </a:extLst>
          </p:cNvPr>
          <p:cNvSpPr>
            <a:spLocks noGrp="1"/>
          </p:cNvSpPr>
          <p:nvPr>
            <p:ph type="ftr" sz="quarter" idx="11"/>
          </p:nvPr>
        </p:nvSpPr>
        <p:spPr/>
        <p:txBody>
          <a:bodyPr/>
          <a:lstStyle/>
          <a:p>
            <a:endParaRPr lang="en-PK" dirty="0"/>
          </a:p>
        </p:txBody>
      </p:sp>
      <p:sp>
        <p:nvSpPr>
          <p:cNvPr id="6" name="Slide Number Placeholder 5">
            <a:extLst>
              <a:ext uri="{FF2B5EF4-FFF2-40B4-BE49-F238E27FC236}">
                <a16:creationId xmlns:a16="http://schemas.microsoft.com/office/drawing/2014/main" id="{25AC9625-737F-43AD-B284-20F79F313BF1}"/>
              </a:ext>
            </a:extLst>
          </p:cNvPr>
          <p:cNvSpPr>
            <a:spLocks noGrp="1"/>
          </p:cNvSpPr>
          <p:nvPr>
            <p:ph type="sldNum" sz="quarter" idx="12"/>
          </p:nvPr>
        </p:nvSpPr>
        <p:spPr/>
        <p:txBody>
          <a:bodyPr/>
          <a:lstStyle/>
          <a:p>
            <a:fld id="{88A73313-125E-462B-A143-CE867BAE2D9E}" type="slidenum">
              <a:rPr lang="en-PK" smtClean="0"/>
              <a:t>‹#›</a:t>
            </a:fld>
            <a:endParaRPr lang="en-PK" dirty="0"/>
          </a:p>
        </p:txBody>
      </p:sp>
      <p:grpSp>
        <p:nvGrpSpPr>
          <p:cNvPr id="7" name="Group 6">
            <a:extLst>
              <a:ext uri="{FF2B5EF4-FFF2-40B4-BE49-F238E27FC236}">
                <a16:creationId xmlns:a16="http://schemas.microsoft.com/office/drawing/2014/main" id="{78CE6907-95FA-45FA-A044-D92D6A2F118D}"/>
              </a:ext>
            </a:extLst>
          </p:cNvPr>
          <p:cNvGrpSpPr/>
          <p:nvPr userDrawn="1"/>
        </p:nvGrpSpPr>
        <p:grpSpPr>
          <a:xfrm>
            <a:off x="666206" y="365125"/>
            <a:ext cx="10687593" cy="1460500"/>
            <a:chOff x="666206" y="352062"/>
            <a:chExt cx="10687593" cy="1460500"/>
          </a:xfrm>
        </p:grpSpPr>
        <p:cxnSp>
          <p:nvCxnSpPr>
            <p:cNvPr id="8" name="Straight Connector 7">
              <a:extLst>
                <a:ext uri="{FF2B5EF4-FFF2-40B4-BE49-F238E27FC236}">
                  <a16:creationId xmlns:a16="http://schemas.microsoft.com/office/drawing/2014/main" id="{4A0CD690-2F54-497F-A481-412F2871C3CD}"/>
                </a:ext>
              </a:extLst>
            </p:cNvPr>
            <p:cNvCxnSpPr>
              <a:cxnSpLocks/>
            </p:cNvCxnSpPr>
            <p:nvPr userDrawn="1"/>
          </p:nvCxnSpPr>
          <p:spPr>
            <a:xfrm>
              <a:off x="838200" y="352062"/>
              <a:ext cx="0" cy="1460500"/>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9" name="Straight Connector 8">
              <a:extLst>
                <a:ext uri="{FF2B5EF4-FFF2-40B4-BE49-F238E27FC236}">
                  <a16:creationId xmlns:a16="http://schemas.microsoft.com/office/drawing/2014/main" id="{00F36A3E-8CAC-466D-B23F-161B330879A7}"/>
                </a:ext>
              </a:extLst>
            </p:cNvPr>
            <p:cNvCxnSpPr/>
            <p:nvPr userDrawn="1"/>
          </p:nvCxnSpPr>
          <p:spPr>
            <a:xfrm flipH="1">
              <a:off x="666206" y="1690688"/>
              <a:ext cx="10687593" cy="0"/>
            </a:xfrm>
            <a:prstGeom prst="line">
              <a:avLst/>
            </a:prstGeom>
            <a:ln w="28575"/>
          </p:spPr>
          <p:style>
            <a:lnRef idx="1">
              <a:schemeClr val="accent2"/>
            </a:lnRef>
            <a:fillRef idx="0">
              <a:schemeClr val="accent2"/>
            </a:fillRef>
            <a:effectRef idx="0">
              <a:schemeClr val="accent2"/>
            </a:effectRef>
            <a:fontRef idx="minor">
              <a:schemeClr val="tx1"/>
            </a:fontRef>
          </p:style>
        </p:cxnSp>
      </p:grpSp>
      <p:pic>
        <p:nvPicPr>
          <p:cNvPr id="10" name="Picture 9">
            <a:extLst>
              <a:ext uri="{FF2B5EF4-FFF2-40B4-BE49-F238E27FC236}">
                <a16:creationId xmlns:a16="http://schemas.microsoft.com/office/drawing/2014/main" id="{09C44B30-6F81-4CEB-AFE9-E4F474A2C0A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46153" y="487906"/>
            <a:ext cx="1307647" cy="1080000"/>
          </a:xfrm>
          <a:prstGeom prst="rect">
            <a:avLst/>
          </a:prstGeom>
        </p:spPr>
      </p:pic>
      <p:cxnSp>
        <p:nvCxnSpPr>
          <p:cNvPr id="11" name="Straight Connector 10">
            <a:extLst>
              <a:ext uri="{FF2B5EF4-FFF2-40B4-BE49-F238E27FC236}">
                <a16:creationId xmlns:a16="http://schemas.microsoft.com/office/drawing/2014/main" id="{ADD46D25-93D5-4ABF-B574-4D2834C03101}"/>
              </a:ext>
            </a:extLst>
          </p:cNvPr>
          <p:cNvCxnSpPr>
            <a:cxnSpLocks/>
          </p:cNvCxnSpPr>
          <p:nvPr userDrawn="1"/>
        </p:nvCxnSpPr>
        <p:spPr>
          <a:xfrm>
            <a:off x="9869906" y="365125"/>
            <a:ext cx="0" cy="1325563"/>
          </a:xfrm>
          <a:prstGeom prst="line">
            <a:avLst/>
          </a:prstGeom>
          <a:ln w="28575"/>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8832066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22CB2-BA31-4814-9763-AA8EA1F866F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505D5951-8501-422F-B801-FDE1E9F1140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CA1EC48-8DDC-425D-9EC5-D20C5CDA2584}"/>
              </a:ext>
            </a:extLst>
          </p:cNvPr>
          <p:cNvSpPr>
            <a:spLocks noGrp="1"/>
          </p:cNvSpPr>
          <p:nvPr>
            <p:ph type="dt" sz="half" idx="10"/>
          </p:nvPr>
        </p:nvSpPr>
        <p:spPr/>
        <p:txBody>
          <a:bodyPr/>
          <a:lstStyle/>
          <a:p>
            <a:r>
              <a:rPr lang="en-US" dirty="0"/>
              <a:t>31/12/2023</a:t>
            </a:r>
            <a:endParaRPr lang="en-PK" dirty="0"/>
          </a:p>
        </p:txBody>
      </p:sp>
      <p:sp>
        <p:nvSpPr>
          <p:cNvPr id="5" name="Footer Placeholder 4">
            <a:extLst>
              <a:ext uri="{FF2B5EF4-FFF2-40B4-BE49-F238E27FC236}">
                <a16:creationId xmlns:a16="http://schemas.microsoft.com/office/drawing/2014/main" id="{E305AF4E-EA2D-4277-A345-4697649763ED}"/>
              </a:ext>
            </a:extLst>
          </p:cNvPr>
          <p:cNvSpPr>
            <a:spLocks noGrp="1"/>
          </p:cNvSpPr>
          <p:nvPr>
            <p:ph type="ftr" sz="quarter" idx="11"/>
          </p:nvPr>
        </p:nvSpPr>
        <p:spPr/>
        <p:txBody>
          <a:bodyPr/>
          <a:lstStyle/>
          <a:p>
            <a:endParaRPr lang="en-PK" dirty="0"/>
          </a:p>
        </p:txBody>
      </p:sp>
      <p:sp>
        <p:nvSpPr>
          <p:cNvPr id="6" name="Slide Number Placeholder 5">
            <a:extLst>
              <a:ext uri="{FF2B5EF4-FFF2-40B4-BE49-F238E27FC236}">
                <a16:creationId xmlns:a16="http://schemas.microsoft.com/office/drawing/2014/main" id="{94594F88-B995-4B98-BD37-E20D9ABA9528}"/>
              </a:ext>
            </a:extLst>
          </p:cNvPr>
          <p:cNvSpPr>
            <a:spLocks noGrp="1"/>
          </p:cNvSpPr>
          <p:nvPr>
            <p:ph type="sldNum" sz="quarter" idx="12"/>
          </p:nvPr>
        </p:nvSpPr>
        <p:spPr/>
        <p:txBody>
          <a:bodyPr/>
          <a:lstStyle/>
          <a:p>
            <a:fld id="{88A73313-125E-462B-A143-CE867BAE2D9E}" type="slidenum">
              <a:rPr lang="en-PK" smtClean="0"/>
              <a:t>‹#›</a:t>
            </a:fld>
            <a:endParaRPr lang="en-PK" dirty="0"/>
          </a:p>
        </p:txBody>
      </p:sp>
    </p:spTree>
    <p:extLst>
      <p:ext uri="{BB962C8B-B14F-4D97-AF65-F5344CB8AC3E}">
        <p14:creationId xmlns:p14="http://schemas.microsoft.com/office/powerpoint/2010/main" val="38410522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831A6-CFDB-4985-84D7-914FC519B605}"/>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B2DC45DA-30C3-4FA3-ADE7-BB07724BC80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6B55D096-6B8E-4A4B-89C2-FDA50BCF2D5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9D4D5AF3-7B11-4ABC-BDB8-6360B16E8117}"/>
              </a:ext>
            </a:extLst>
          </p:cNvPr>
          <p:cNvSpPr>
            <a:spLocks noGrp="1"/>
          </p:cNvSpPr>
          <p:nvPr>
            <p:ph type="dt" sz="half" idx="10"/>
          </p:nvPr>
        </p:nvSpPr>
        <p:spPr/>
        <p:txBody>
          <a:bodyPr/>
          <a:lstStyle/>
          <a:p>
            <a:r>
              <a:rPr lang="en-US" dirty="0"/>
              <a:t>31/12/2023</a:t>
            </a:r>
            <a:endParaRPr lang="en-PK" dirty="0"/>
          </a:p>
        </p:txBody>
      </p:sp>
      <p:sp>
        <p:nvSpPr>
          <p:cNvPr id="6" name="Footer Placeholder 5">
            <a:extLst>
              <a:ext uri="{FF2B5EF4-FFF2-40B4-BE49-F238E27FC236}">
                <a16:creationId xmlns:a16="http://schemas.microsoft.com/office/drawing/2014/main" id="{A5F141EA-7924-4C48-8727-99C98EEA1F32}"/>
              </a:ext>
            </a:extLst>
          </p:cNvPr>
          <p:cNvSpPr>
            <a:spLocks noGrp="1"/>
          </p:cNvSpPr>
          <p:nvPr>
            <p:ph type="ftr" sz="quarter" idx="11"/>
          </p:nvPr>
        </p:nvSpPr>
        <p:spPr/>
        <p:txBody>
          <a:bodyPr/>
          <a:lstStyle/>
          <a:p>
            <a:endParaRPr lang="en-PK" dirty="0"/>
          </a:p>
        </p:txBody>
      </p:sp>
      <p:sp>
        <p:nvSpPr>
          <p:cNvPr id="7" name="Slide Number Placeholder 6">
            <a:extLst>
              <a:ext uri="{FF2B5EF4-FFF2-40B4-BE49-F238E27FC236}">
                <a16:creationId xmlns:a16="http://schemas.microsoft.com/office/drawing/2014/main" id="{482C313B-BE8A-4BA1-BAF9-AA171DF955CC}"/>
              </a:ext>
            </a:extLst>
          </p:cNvPr>
          <p:cNvSpPr>
            <a:spLocks noGrp="1"/>
          </p:cNvSpPr>
          <p:nvPr>
            <p:ph type="sldNum" sz="quarter" idx="12"/>
          </p:nvPr>
        </p:nvSpPr>
        <p:spPr/>
        <p:txBody>
          <a:bodyPr/>
          <a:lstStyle/>
          <a:p>
            <a:fld id="{88A73313-125E-462B-A143-CE867BAE2D9E}" type="slidenum">
              <a:rPr lang="en-PK" smtClean="0"/>
              <a:t>‹#›</a:t>
            </a:fld>
            <a:endParaRPr lang="en-PK" dirty="0"/>
          </a:p>
        </p:txBody>
      </p:sp>
      <p:grpSp>
        <p:nvGrpSpPr>
          <p:cNvPr id="8" name="Group 7">
            <a:extLst>
              <a:ext uri="{FF2B5EF4-FFF2-40B4-BE49-F238E27FC236}">
                <a16:creationId xmlns:a16="http://schemas.microsoft.com/office/drawing/2014/main" id="{A17B0D5C-5B75-427B-A527-D6FD9734638A}"/>
              </a:ext>
            </a:extLst>
          </p:cNvPr>
          <p:cNvGrpSpPr/>
          <p:nvPr userDrawn="1"/>
        </p:nvGrpSpPr>
        <p:grpSpPr>
          <a:xfrm>
            <a:off x="666206" y="365125"/>
            <a:ext cx="10687593" cy="1460500"/>
            <a:chOff x="666206" y="352062"/>
            <a:chExt cx="10687593" cy="1460500"/>
          </a:xfrm>
        </p:grpSpPr>
        <p:cxnSp>
          <p:nvCxnSpPr>
            <p:cNvPr id="9" name="Straight Connector 8">
              <a:extLst>
                <a:ext uri="{FF2B5EF4-FFF2-40B4-BE49-F238E27FC236}">
                  <a16:creationId xmlns:a16="http://schemas.microsoft.com/office/drawing/2014/main" id="{016D6AC5-AA06-43B2-8ACD-2760870EC5B6}"/>
                </a:ext>
              </a:extLst>
            </p:cNvPr>
            <p:cNvCxnSpPr>
              <a:cxnSpLocks/>
            </p:cNvCxnSpPr>
            <p:nvPr userDrawn="1"/>
          </p:nvCxnSpPr>
          <p:spPr>
            <a:xfrm>
              <a:off x="838200" y="352062"/>
              <a:ext cx="0" cy="1460500"/>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10" name="Straight Connector 9">
              <a:extLst>
                <a:ext uri="{FF2B5EF4-FFF2-40B4-BE49-F238E27FC236}">
                  <a16:creationId xmlns:a16="http://schemas.microsoft.com/office/drawing/2014/main" id="{E158F96F-95AD-45F6-8155-D3EC3E8363F7}"/>
                </a:ext>
              </a:extLst>
            </p:cNvPr>
            <p:cNvCxnSpPr/>
            <p:nvPr userDrawn="1"/>
          </p:nvCxnSpPr>
          <p:spPr>
            <a:xfrm flipH="1">
              <a:off x="666206" y="1690688"/>
              <a:ext cx="10687593" cy="0"/>
            </a:xfrm>
            <a:prstGeom prst="line">
              <a:avLst/>
            </a:prstGeom>
            <a:ln w="28575"/>
          </p:spPr>
          <p:style>
            <a:lnRef idx="1">
              <a:schemeClr val="accent2"/>
            </a:lnRef>
            <a:fillRef idx="0">
              <a:schemeClr val="accent2"/>
            </a:fillRef>
            <a:effectRef idx="0">
              <a:schemeClr val="accent2"/>
            </a:effectRef>
            <a:fontRef idx="minor">
              <a:schemeClr val="tx1"/>
            </a:fontRef>
          </p:style>
        </p:cxnSp>
      </p:grpSp>
    </p:spTree>
    <p:extLst>
      <p:ext uri="{BB962C8B-B14F-4D97-AF65-F5344CB8AC3E}">
        <p14:creationId xmlns:p14="http://schemas.microsoft.com/office/powerpoint/2010/main" val="39328232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4B345-7A4D-449C-A3FA-53D8BAC9C7C8}"/>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2549BEEE-A25D-4673-9B05-DC16FFAC05A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11CBDAC-1F20-43F1-9B52-48CBA4FD750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F78970E9-BF7B-4F94-859D-AA39100E47C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3EF477F-C799-4FC4-90BE-1488FB7DD48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41775028-6D99-472A-BD10-68BA9786CDB8}"/>
              </a:ext>
            </a:extLst>
          </p:cNvPr>
          <p:cNvSpPr>
            <a:spLocks noGrp="1"/>
          </p:cNvSpPr>
          <p:nvPr>
            <p:ph type="dt" sz="half" idx="10"/>
          </p:nvPr>
        </p:nvSpPr>
        <p:spPr/>
        <p:txBody>
          <a:bodyPr/>
          <a:lstStyle/>
          <a:p>
            <a:r>
              <a:rPr lang="en-US" dirty="0"/>
              <a:t>31/12/2023</a:t>
            </a:r>
            <a:endParaRPr lang="en-PK" dirty="0"/>
          </a:p>
        </p:txBody>
      </p:sp>
      <p:sp>
        <p:nvSpPr>
          <p:cNvPr id="8" name="Footer Placeholder 7">
            <a:extLst>
              <a:ext uri="{FF2B5EF4-FFF2-40B4-BE49-F238E27FC236}">
                <a16:creationId xmlns:a16="http://schemas.microsoft.com/office/drawing/2014/main" id="{5C99B0A5-D0B2-468E-8128-CBB070D76317}"/>
              </a:ext>
            </a:extLst>
          </p:cNvPr>
          <p:cNvSpPr>
            <a:spLocks noGrp="1"/>
          </p:cNvSpPr>
          <p:nvPr>
            <p:ph type="ftr" sz="quarter" idx="11"/>
          </p:nvPr>
        </p:nvSpPr>
        <p:spPr/>
        <p:txBody>
          <a:bodyPr/>
          <a:lstStyle/>
          <a:p>
            <a:endParaRPr lang="en-PK" dirty="0"/>
          </a:p>
        </p:txBody>
      </p:sp>
      <p:sp>
        <p:nvSpPr>
          <p:cNvPr id="9" name="Slide Number Placeholder 8">
            <a:extLst>
              <a:ext uri="{FF2B5EF4-FFF2-40B4-BE49-F238E27FC236}">
                <a16:creationId xmlns:a16="http://schemas.microsoft.com/office/drawing/2014/main" id="{6A2FB328-87D3-4FE7-BF31-18568998677F}"/>
              </a:ext>
            </a:extLst>
          </p:cNvPr>
          <p:cNvSpPr>
            <a:spLocks noGrp="1"/>
          </p:cNvSpPr>
          <p:nvPr>
            <p:ph type="sldNum" sz="quarter" idx="12"/>
          </p:nvPr>
        </p:nvSpPr>
        <p:spPr/>
        <p:txBody>
          <a:bodyPr/>
          <a:lstStyle/>
          <a:p>
            <a:fld id="{88A73313-125E-462B-A143-CE867BAE2D9E}" type="slidenum">
              <a:rPr lang="en-PK" smtClean="0"/>
              <a:t>‹#›</a:t>
            </a:fld>
            <a:endParaRPr lang="en-PK" dirty="0"/>
          </a:p>
        </p:txBody>
      </p:sp>
      <p:grpSp>
        <p:nvGrpSpPr>
          <p:cNvPr id="10" name="Group 9">
            <a:extLst>
              <a:ext uri="{FF2B5EF4-FFF2-40B4-BE49-F238E27FC236}">
                <a16:creationId xmlns:a16="http://schemas.microsoft.com/office/drawing/2014/main" id="{A18474E3-503B-4CAF-BBE7-D2016C09CC44}"/>
              </a:ext>
            </a:extLst>
          </p:cNvPr>
          <p:cNvGrpSpPr/>
          <p:nvPr userDrawn="1"/>
        </p:nvGrpSpPr>
        <p:grpSpPr>
          <a:xfrm>
            <a:off x="666206" y="365125"/>
            <a:ext cx="10687593" cy="1460500"/>
            <a:chOff x="666206" y="352062"/>
            <a:chExt cx="10687593" cy="1460500"/>
          </a:xfrm>
        </p:grpSpPr>
        <p:cxnSp>
          <p:nvCxnSpPr>
            <p:cNvPr id="11" name="Straight Connector 10">
              <a:extLst>
                <a:ext uri="{FF2B5EF4-FFF2-40B4-BE49-F238E27FC236}">
                  <a16:creationId xmlns:a16="http://schemas.microsoft.com/office/drawing/2014/main" id="{496E9EBD-BADE-4BC9-AF5F-41F9914CF875}"/>
                </a:ext>
              </a:extLst>
            </p:cNvPr>
            <p:cNvCxnSpPr>
              <a:cxnSpLocks/>
            </p:cNvCxnSpPr>
            <p:nvPr userDrawn="1"/>
          </p:nvCxnSpPr>
          <p:spPr>
            <a:xfrm>
              <a:off x="838200" y="352062"/>
              <a:ext cx="0" cy="1460500"/>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12" name="Straight Connector 11">
              <a:extLst>
                <a:ext uri="{FF2B5EF4-FFF2-40B4-BE49-F238E27FC236}">
                  <a16:creationId xmlns:a16="http://schemas.microsoft.com/office/drawing/2014/main" id="{12466390-1577-41E8-BAB0-9289BE6AA48A}"/>
                </a:ext>
              </a:extLst>
            </p:cNvPr>
            <p:cNvCxnSpPr/>
            <p:nvPr userDrawn="1"/>
          </p:nvCxnSpPr>
          <p:spPr>
            <a:xfrm flipH="1">
              <a:off x="666206" y="1690688"/>
              <a:ext cx="10687593" cy="0"/>
            </a:xfrm>
            <a:prstGeom prst="line">
              <a:avLst/>
            </a:prstGeom>
            <a:ln w="28575"/>
          </p:spPr>
          <p:style>
            <a:lnRef idx="1">
              <a:schemeClr val="accent2"/>
            </a:lnRef>
            <a:fillRef idx="0">
              <a:schemeClr val="accent2"/>
            </a:fillRef>
            <a:effectRef idx="0">
              <a:schemeClr val="accent2"/>
            </a:effectRef>
            <a:fontRef idx="minor">
              <a:schemeClr val="tx1"/>
            </a:fontRef>
          </p:style>
        </p:cxnSp>
      </p:grpSp>
    </p:spTree>
    <p:extLst>
      <p:ext uri="{BB962C8B-B14F-4D97-AF65-F5344CB8AC3E}">
        <p14:creationId xmlns:p14="http://schemas.microsoft.com/office/powerpoint/2010/main" val="24808139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DCC77-AF9D-42C5-BD5E-47AA20AEB4EF}"/>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BCD236B5-14B3-4FB2-905E-32A41F432569}"/>
              </a:ext>
            </a:extLst>
          </p:cNvPr>
          <p:cNvSpPr>
            <a:spLocks noGrp="1"/>
          </p:cNvSpPr>
          <p:nvPr>
            <p:ph type="dt" sz="half" idx="10"/>
          </p:nvPr>
        </p:nvSpPr>
        <p:spPr/>
        <p:txBody>
          <a:bodyPr/>
          <a:lstStyle/>
          <a:p>
            <a:r>
              <a:rPr lang="en-US" dirty="0"/>
              <a:t>31/12/2023</a:t>
            </a:r>
            <a:endParaRPr lang="en-PK" dirty="0"/>
          </a:p>
        </p:txBody>
      </p:sp>
      <p:sp>
        <p:nvSpPr>
          <p:cNvPr id="4" name="Footer Placeholder 3">
            <a:extLst>
              <a:ext uri="{FF2B5EF4-FFF2-40B4-BE49-F238E27FC236}">
                <a16:creationId xmlns:a16="http://schemas.microsoft.com/office/drawing/2014/main" id="{F1362770-95A9-4C33-A3DA-271D55D20D84}"/>
              </a:ext>
            </a:extLst>
          </p:cNvPr>
          <p:cNvSpPr>
            <a:spLocks noGrp="1"/>
          </p:cNvSpPr>
          <p:nvPr>
            <p:ph type="ftr" sz="quarter" idx="11"/>
          </p:nvPr>
        </p:nvSpPr>
        <p:spPr/>
        <p:txBody>
          <a:bodyPr/>
          <a:lstStyle/>
          <a:p>
            <a:endParaRPr lang="en-PK" dirty="0"/>
          </a:p>
        </p:txBody>
      </p:sp>
      <p:sp>
        <p:nvSpPr>
          <p:cNvPr id="5" name="Slide Number Placeholder 4">
            <a:extLst>
              <a:ext uri="{FF2B5EF4-FFF2-40B4-BE49-F238E27FC236}">
                <a16:creationId xmlns:a16="http://schemas.microsoft.com/office/drawing/2014/main" id="{8C32660A-4D60-4457-A90C-ED08E3242FE7}"/>
              </a:ext>
            </a:extLst>
          </p:cNvPr>
          <p:cNvSpPr>
            <a:spLocks noGrp="1"/>
          </p:cNvSpPr>
          <p:nvPr>
            <p:ph type="sldNum" sz="quarter" idx="12"/>
          </p:nvPr>
        </p:nvSpPr>
        <p:spPr/>
        <p:txBody>
          <a:bodyPr/>
          <a:lstStyle/>
          <a:p>
            <a:fld id="{88A73313-125E-462B-A143-CE867BAE2D9E}" type="slidenum">
              <a:rPr lang="en-PK" smtClean="0"/>
              <a:t>‹#›</a:t>
            </a:fld>
            <a:endParaRPr lang="en-PK" dirty="0"/>
          </a:p>
        </p:txBody>
      </p:sp>
      <p:grpSp>
        <p:nvGrpSpPr>
          <p:cNvPr id="6" name="Group 5">
            <a:extLst>
              <a:ext uri="{FF2B5EF4-FFF2-40B4-BE49-F238E27FC236}">
                <a16:creationId xmlns:a16="http://schemas.microsoft.com/office/drawing/2014/main" id="{C956EC3D-197F-4258-A8C8-C94B14233AB3}"/>
              </a:ext>
            </a:extLst>
          </p:cNvPr>
          <p:cNvGrpSpPr/>
          <p:nvPr userDrawn="1"/>
        </p:nvGrpSpPr>
        <p:grpSpPr>
          <a:xfrm>
            <a:off x="666206" y="365125"/>
            <a:ext cx="10687593" cy="1460500"/>
            <a:chOff x="666206" y="352062"/>
            <a:chExt cx="10687593" cy="1460500"/>
          </a:xfrm>
        </p:grpSpPr>
        <p:cxnSp>
          <p:nvCxnSpPr>
            <p:cNvPr id="7" name="Straight Connector 6">
              <a:extLst>
                <a:ext uri="{FF2B5EF4-FFF2-40B4-BE49-F238E27FC236}">
                  <a16:creationId xmlns:a16="http://schemas.microsoft.com/office/drawing/2014/main" id="{BCE10AA7-A28E-4CDD-A844-648FAA6A2B27}"/>
                </a:ext>
              </a:extLst>
            </p:cNvPr>
            <p:cNvCxnSpPr>
              <a:cxnSpLocks/>
            </p:cNvCxnSpPr>
            <p:nvPr userDrawn="1"/>
          </p:nvCxnSpPr>
          <p:spPr>
            <a:xfrm>
              <a:off x="838200" y="352062"/>
              <a:ext cx="0" cy="1460500"/>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8" name="Straight Connector 7">
              <a:extLst>
                <a:ext uri="{FF2B5EF4-FFF2-40B4-BE49-F238E27FC236}">
                  <a16:creationId xmlns:a16="http://schemas.microsoft.com/office/drawing/2014/main" id="{CD0EFF74-A936-4440-A77D-AC3893BCC712}"/>
                </a:ext>
              </a:extLst>
            </p:cNvPr>
            <p:cNvCxnSpPr/>
            <p:nvPr userDrawn="1"/>
          </p:nvCxnSpPr>
          <p:spPr>
            <a:xfrm flipH="1">
              <a:off x="666206" y="1690688"/>
              <a:ext cx="10687593" cy="0"/>
            </a:xfrm>
            <a:prstGeom prst="line">
              <a:avLst/>
            </a:prstGeom>
            <a:ln w="28575"/>
          </p:spPr>
          <p:style>
            <a:lnRef idx="1">
              <a:schemeClr val="accent2"/>
            </a:lnRef>
            <a:fillRef idx="0">
              <a:schemeClr val="accent2"/>
            </a:fillRef>
            <a:effectRef idx="0">
              <a:schemeClr val="accent2"/>
            </a:effectRef>
            <a:fontRef idx="minor">
              <a:schemeClr val="tx1"/>
            </a:fontRef>
          </p:style>
        </p:cxnSp>
      </p:grpSp>
    </p:spTree>
    <p:extLst>
      <p:ext uri="{BB962C8B-B14F-4D97-AF65-F5344CB8AC3E}">
        <p14:creationId xmlns:p14="http://schemas.microsoft.com/office/powerpoint/2010/main" val="42480683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45FD7FB-366E-41D3-A733-815197E7DBCB}"/>
              </a:ext>
            </a:extLst>
          </p:cNvPr>
          <p:cNvSpPr>
            <a:spLocks noGrp="1"/>
          </p:cNvSpPr>
          <p:nvPr>
            <p:ph type="dt" sz="half" idx="10"/>
          </p:nvPr>
        </p:nvSpPr>
        <p:spPr/>
        <p:txBody>
          <a:bodyPr/>
          <a:lstStyle/>
          <a:p>
            <a:r>
              <a:rPr lang="en-US" dirty="0"/>
              <a:t>31/12/2023</a:t>
            </a:r>
            <a:endParaRPr lang="en-PK" dirty="0"/>
          </a:p>
        </p:txBody>
      </p:sp>
      <p:sp>
        <p:nvSpPr>
          <p:cNvPr id="3" name="Footer Placeholder 2">
            <a:extLst>
              <a:ext uri="{FF2B5EF4-FFF2-40B4-BE49-F238E27FC236}">
                <a16:creationId xmlns:a16="http://schemas.microsoft.com/office/drawing/2014/main" id="{7F3B2CC6-7A96-4826-9764-B002075C2EAE}"/>
              </a:ext>
            </a:extLst>
          </p:cNvPr>
          <p:cNvSpPr>
            <a:spLocks noGrp="1"/>
          </p:cNvSpPr>
          <p:nvPr>
            <p:ph type="ftr" sz="quarter" idx="11"/>
          </p:nvPr>
        </p:nvSpPr>
        <p:spPr/>
        <p:txBody>
          <a:bodyPr/>
          <a:lstStyle/>
          <a:p>
            <a:endParaRPr lang="en-PK" dirty="0"/>
          </a:p>
        </p:txBody>
      </p:sp>
      <p:sp>
        <p:nvSpPr>
          <p:cNvPr id="4" name="Slide Number Placeholder 3">
            <a:extLst>
              <a:ext uri="{FF2B5EF4-FFF2-40B4-BE49-F238E27FC236}">
                <a16:creationId xmlns:a16="http://schemas.microsoft.com/office/drawing/2014/main" id="{310AACF4-07AF-4D38-B00D-7D050503F65D}"/>
              </a:ext>
            </a:extLst>
          </p:cNvPr>
          <p:cNvSpPr>
            <a:spLocks noGrp="1"/>
          </p:cNvSpPr>
          <p:nvPr>
            <p:ph type="sldNum" sz="quarter" idx="12"/>
          </p:nvPr>
        </p:nvSpPr>
        <p:spPr/>
        <p:txBody>
          <a:bodyPr/>
          <a:lstStyle/>
          <a:p>
            <a:fld id="{88A73313-125E-462B-A143-CE867BAE2D9E}" type="slidenum">
              <a:rPr lang="en-PK" smtClean="0"/>
              <a:t>‹#›</a:t>
            </a:fld>
            <a:endParaRPr lang="en-PK" dirty="0"/>
          </a:p>
        </p:txBody>
      </p:sp>
    </p:spTree>
    <p:extLst>
      <p:ext uri="{BB962C8B-B14F-4D97-AF65-F5344CB8AC3E}">
        <p14:creationId xmlns:p14="http://schemas.microsoft.com/office/powerpoint/2010/main" val="20730983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08F36-F3E0-4A28-ABF1-2EDDF550E0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E188D939-77D9-4ED0-BAFB-BE9F78054BD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4E68ACDF-EA03-407C-9375-D5C9E6CAB1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99AEA1-1094-4F68-98E4-217E1E092E75}"/>
              </a:ext>
            </a:extLst>
          </p:cNvPr>
          <p:cNvSpPr>
            <a:spLocks noGrp="1"/>
          </p:cNvSpPr>
          <p:nvPr>
            <p:ph type="dt" sz="half" idx="10"/>
          </p:nvPr>
        </p:nvSpPr>
        <p:spPr/>
        <p:txBody>
          <a:bodyPr/>
          <a:lstStyle/>
          <a:p>
            <a:r>
              <a:rPr lang="en-US" dirty="0"/>
              <a:t>31/12/2023</a:t>
            </a:r>
            <a:endParaRPr lang="en-PK" dirty="0"/>
          </a:p>
        </p:txBody>
      </p:sp>
      <p:sp>
        <p:nvSpPr>
          <p:cNvPr id="6" name="Footer Placeholder 5">
            <a:extLst>
              <a:ext uri="{FF2B5EF4-FFF2-40B4-BE49-F238E27FC236}">
                <a16:creationId xmlns:a16="http://schemas.microsoft.com/office/drawing/2014/main" id="{A7F3BE70-E1C9-45A4-B6D4-0AEAF4849BF8}"/>
              </a:ext>
            </a:extLst>
          </p:cNvPr>
          <p:cNvSpPr>
            <a:spLocks noGrp="1"/>
          </p:cNvSpPr>
          <p:nvPr>
            <p:ph type="ftr" sz="quarter" idx="11"/>
          </p:nvPr>
        </p:nvSpPr>
        <p:spPr/>
        <p:txBody>
          <a:bodyPr/>
          <a:lstStyle/>
          <a:p>
            <a:endParaRPr lang="en-PK" dirty="0"/>
          </a:p>
        </p:txBody>
      </p:sp>
      <p:sp>
        <p:nvSpPr>
          <p:cNvPr id="7" name="Slide Number Placeholder 6">
            <a:extLst>
              <a:ext uri="{FF2B5EF4-FFF2-40B4-BE49-F238E27FC236}">
                <a16:creationId xmlns:a16="http://schemas.microsoft.com/office/drawing/2014/main" id="{825D7AAE-8E21-49A6-8D55-7DCEDB825E61}"/>
              </a:ext>
            </a:extLst>
          </p:cNvPr>
          <p:cNvSpPr>
            <a:spLocks noGrp="1"/>
          </p:cNvSpPr>
          <p:nvPr>
            <p:ph type="sldNum" sz="quarter" idx="12"/>
          </p:nvPr>
        </p:nvSpPr>
        <p:spPr/>
        <p:txBody>
          <a:bodyPr/>
          <a:lstStyle/>
          <a:p>
            <a:fld id="{88A73313-125E-462B-A143-CE867BAE2D9E}" type="slidenum">
              <a:rPr lang="en-PK" smtClean="0"/>
              <a:t>‹#›</a:t>
            </a:fld>
            <a:endParaRPr lang="en-PK" dirty="0"/>
          </a:p>
        </p:txBody>
      </p:sp>
    </p:spTree>
    <p:extLst>
      <p:ext uri="{BB962C8B-B14F-4D97-AF65-F5344CB8AC3E}">
        <p14:creationId xmlns:p14="http://schemas.microsoft.com/office/powerpoint/2010/main" val="7465435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6EE07-48F5-493A-9C18-721134D714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A2C24A63-0F36-47D3-B716-81AAE43FC7E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dirty="0"/>
          </a:p>
        </p:txBody>
      </p:sp>
      <p:sp>
        <p:nvSpPr>
          <p:cNvPr id="4" name="Text Placeholder 3">
            <a:extLst>
              <a:ext uri="{FF2B5EF4-FFF2-40B4-BE49-F238E27FC236}">
                <a16:creationId xmlns:a16="http://schemas.microsoft.com/office/drawing/2014/main" id="{3F50FFEC-DEDD-4D55-BB98-8BED16D025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4FB6686-BCF6-4A63-846B-CC36145CDBDA}"/>
              </a:ext>
            </a:extLst>
          </p:cNvPr>
          <p:cNvSpPr>
            <a:spLocks noGrp="1"/>
          </p:cNvSpPr>
          <p:nvPr>
            <p:ph type="dt" sz="half" idx="10"/>
          </p:nvPr>
        </p:nvSpPr>
        <p:spPr/>
        <p:txBody>
          <a:bodyPr/>
          <a:lstStyle/>
          <a:p>
            <a:r>
              <a:rPr lang="en-US" dirty="0"/>
              <a:t>31/12/2023</a:t>
            </a:r>
            <a:endParaRPr lang="en-PK" dirty="0"/>
          </a:p>
        </p:txBody>
      </p:sp>
      <p:sp>
        <p:nvSpPr>
          <p:cNvPr id="6" name="Footer Placeholder 5">
            <a:extLst>
              <a:ext uri="{FF2B5EF4-FFF2-40B4-BE49-F238E27FC236}">
                <a16:creationId xmlns:a16="http://schemas.microsoft.com/office/drawing/2014/main" id="{1A836ED4-4B84-421C-900F-98D2D3CAC0AE}"/>
              </a:ext>
            </a:extLst>
          </p:cNvPr>
          <p:cNvSpPr>
            <a:spLocks noGrp="1"/>
          </p:cNvSpPr>
          <p:nvPr>
            <p:ph type="ftr" sz="quarter" idx="11"/>
          </p:nvPr>
        </p:nvSpPr>
        <p:spPr/>
        <p:txBody>
          <a:bodyPr/>
          <a:lstStyle/>
          <a:p>
            <a:endParaRPr lang="en-PK" dirty="0"/>
          </a:p>
        </p:txBody>
      </p:sp>
      <p:sp>
        <p:nvSpPr>
          <p:cNvPr id="7" name="Slide Number Placeholder 6">
            <a:extLst>
              <a:ext uri="{FF2B5EF4-FFF2-40B4-BE49-F238E27FC236}">
                <a16:creationId xmlns:a16="http://schemas.microsoft.com/office/drawing/2014/main" id="{C166B990-BC1A-4AD8-96CE-170D219DA844}"/>
              </a:ext>
            </a:extLst>
          </p:cNvPr>
          <p:cNvSpPr>
            <a:spLocks noGrp="1"/>
          </p:cNvSpPr>
          <p:nvPr>
            <p:ph type="sldNum" sz="quarter" idx="12"/>
          </p:nvPr>
        </p:nvSpPr>
        <p:spPr/>
        <p:txBody>
          <a:bodyPr/>
          <a:lstStyle/>
          <a:p>
            <a:fld id="{88A73313-125E-462B-A143-CE867BAE2D9E}" type="slidenum">
              <a:rPr lang="en-PK" smtClean="0"/>
              <a:t>‹#›</a:t>
            </a:fld>
            <a:endParaRPr lang="en-PK" dirty="0"/>
          </a:p>
        </p:txBody>
      </p:sp>
    </p:spTree>
    <p:extLst>
      <p:ext uri="{BB962C8B-B14F-4D97-AF65-F5344CB8AC3E}">
        <p14:creationId xmlns:p14="http://schemas.microsoft.com/office/powerpoint/2010/main" val="39881783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27449-6BC7-4319-895C-445D5A400A10}"/>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A7734E58-AEED-488F-BBAF-A418A862738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6BC66355-DB20-44CE-B51F-7D23DAC04C01}"/>
              </a:ext>
            </a:extLst>
          </p:cNvPr>
          <p:cNvSpPr>
            <a:spLocks noGrp="1"/>
          </p:cNvSpPr>
          <p:nvPr>
            <p:ph type="dt" sz="half" idx="10"/>
          </p:nvPr>
        </p:nvSpPr>
        <p:spPr/>
        <p:txBody>
          <a:bodyPr/>
          <a:lstStyle/>
          <a:p>
            <a:r>
              <a:rPr lang="en-US" dirty="0"/>
              <a:t>31/12/2023</a:t>
            </a:r>
            <a:endParaRPr lang="en-PK" dirty="0"/>
          </a:p>
        </p:txBody>
      </p:sp>
      <p:sp>
        <p:nvSpPr>
          <p:cNvPr id="5" name="Footer Placeholder 4">
            <a:extLst>
              <a:ext uri="{FF2B5EF4-FFF2-40B4-BE49-F238E27FC236}">
                <a16:creationId xmlns:a16="http://schemas.microsoft.com/office/drawing/2014/main" id="{70E1E173-4539-498F-8D15-B36309D5115A}"/>
              </a:ext>
            </a:extLst>
          </p:cNvPr>
          <p:cNvSpPr>
            <a:spLocks noGrp="1"/>
          </p:cNvSpPr>
          <p:nvPr>
            <p:ph type="ftr" sz="quarter" idx="11"/>
          </p:nvPr>
        </p:nvSpPr>
        <p:spPr/>
        <p:txBody>
          <a:bodyPr/>
          <a:lstStyle/>
          <a:p>
            <a:endParaRPr lang="en-PK" dirty="0"/>
          </a:p>
        </p:txBody>
      </p:sp>
      <p:sp>
        <p:nvSpPr>
          <p:cNvPr id="6" name="Slide Number Placeholder 5">
            <a:extLst>
              <a:ext uri="{FF2B5EF4-FFF2-40B4-BE49-F238E27FC236}">
                <a16:creationId xmlns:a16="http://schemas.microsoft.com/office/drawing/2014/main" id="{FBAE100D-1574-4BB2-B04D-7E1CE8556867}"/>
              </a:ext>
            </a:extLst>
          </p:cNvPr>
          <p:cNvSpPr>
            <a:spLocks noGrp="1"/>
          </p:cNvSpPr>
          <p:nvPr>
            <p:ph type="sldNum" sz="quarter" idx="12"/>
          </p:nvPr>
        </p:nvSpPr>
        <p:spPr/>
        <p:txBody>
          <a:bodyPr/>
          <a:lstStyle/>
          <a:p>
            <a:fld id="{88A73313-125E-462B-A143-CE867BAE2D9E}" type="slidenum">
              <a:rPr lang="en-PK" smtClean="0"/>
              <a:t>‹#›</a:t>
            </a:fld>
            <a:endParaRPr lang="en-PK" dirty="0"/>
          </a:p>
        </p:txBody>
      </p:sp>
      <p:grpSp>
        <p:nvGrpSpPr>
          <p:cNvPr id="7" name="Group 6">
            <a:extLst>
              <a:ext uri="{FF2B5EF4-FFF2-40B4-BE49-F238E27FC236}">
                <a16:creationId xmlns:a16="http://schemas.microsoft.com/office/drawing/2014/main" id="{B831C629-FFB8-48CB-9329-F8DDD55525AA}"/>
              </a:ext>
            </a:extLst>
          </p:cNvPr>
          <p:cNvGrpSpPr/>
          <p:nvPr userDrawn="1"/>
        </p:nvGrpSpPr>
        <p:grpSpPr>
          <a:xfrm>
            <a:off x="666206" y="365125"/>
            <a:ext cx="10687593" cy="1460500"/>
            <a:chOff x="666206" y="352062"/>
            <a:chExt cx="10687593" cy="1460500"/>
          </a:xfrm>
        </p:grpSpPr>
        <p:cxnSp>
          <p:nvCxnSpPr>
            <p:cNvPr id="8" name="Straight Connector 7">
              <a:extLst>
                <a:ext uri="{FF2B5EF4-FFF2-40B4-BE49-F238E27FC236}">
                  <a16:creationId xmlns:a16="http://schemas.microsoft.com/office/drawing/2014/main" id="{83B0DC12-DFFC-41B9-B306-E09B2E10A1A8}"/>
                </a:ext>
              </a:extLst>
            </p:cNvPr>
            <p:cNvCxnSpPr>
              <a:cxnSpLocks/>
            </p:cNvCxnSpPr>
            <p:nvPr userDrawn="1"/>
          </p:nvCxnSpPr>
          <p:spPr>
            <a:xfrm>
              <a:off x="838200" y="352062"/>
              <a:ext cx="0" cy="1460500"/>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9" name="Straight Connector 8">
              <a:extLst>
                <a:ext uri="{FF2B5EF4-FFF2-40B4-BE49-F238E27FC236}">
                  <a16:creationId xmlns:a16="http://schemas.microsoft.com/office/drawing/2014/main" id="{8271E872-D12B-4FF7-913D-15DB97C9A93A}"/>
                </a:ext>
              </a:extLst>
            </p:cNvPr>
            <p:cNvCxnSpPr/>
            <p:nvPr userDrawn="1"/>
          </p:nvCxnSpPr>
          <p:spPr>
            <a:xfrm flipH="1">
              <a:off x="666206" y="1690688"/>
              <a:ext cx="10687593" cy="0"/>
            </a:xfrm>
            <a:prstGeom prst="line">
              <a:avLst/>
            </a:prstGeom>
            <a:ln w="28575"/>
          </p:spPr>
          <p:style>
            <a:lnRef idx="1">
              <a:schemeClr val="accent2"/>
            </a:lnRef>
            <a:fillRef idx="0">
              <a:schemeClr val="accent2"/>
            </a:fillRef>
            <a:effectRef idx="0">
              <a:schemeClr val="accent2"/>
            </a:effectRef>
            <a:fontRef idx="minor">
              <a:schemeClr val="tx1"/>
            </a:fontRef>
          </p:style>
        </p:cxnSp>
      </p:grpSp>
    </p:spTree>
    <p:extLst>
      <p:ext uri="{BB962C8B-B14F-4D97-AF65-F5344CB8AC3E}">
        <p14:creationId xmlns:p14="http://schemas.microsoft.com/office/powerpoint/2010/main" val="28189127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02C6E51-0EA7-4DC7-9FBE-A404CA20C95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F02104DD-0BD0-42DF-86E0-519CDA5D2A7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A02A70A0-2604-4108-AA99-9810D2602E47}"/>
              </a:ext>
            </a:extLst>
          </p:cNvPr>
          <p:cNvSpPr>
            <a:spLocks noGrp="1"/>
          </p:cNvSpPr>
          <p:nvPr>
            <p:ph type="dt" sz="half" idx="10"/>
          </p:nvPr>
        </p:nvSpPr>
        <p:spPr/>
        <p:txBody>
          <a:bodyPr/>
          <a:lstStyle/>
          <a:p>
            <a:r>
              <a:rPr lang="en-US" dirty="0"/>
              <a:t>31/12/2023</a:t>
            </a:r>
            <a:endParaRPr lang="en-PK" dirty="0"/>
          </a:p>
        </p:txBody>
      </p:sp>
      <p:sp>
        <p:nvSpPr>
          <p:cNvPr id="5" name="Footer Placeholder 4">
            <a:extLst>
              <a:ext uri="{FF2B5EF4-FFF2-40B4-BE49-F238E27FC236}">
                <a16:creationId xmlns:a16="http://schemas.microsoft.com/office/drawing/2014/main" id="{56B3865F-B416-433E-A888-98BD730D1336}"/>
              </a:ext>
            </a:extLst>
          </p:cNvPr>
          <p:cNvSpPr>
            <a:spLocks noGrp="1"/>
          </p:cNvSpPr>
          <p:nvPr>
            <p:ph type="ftr" sz="quarter" idx="11"/>
          </p:nvPr>
        </p:nvSpPr>
        <p:spPr/>
        <p:txBody>
          <a:bodyPr/>
          <a:lstStyle/>
          <a:p>
            <a:endParaRPr lang="en-PK" dirty="0"/>
          </a:p>
        </p:txBody>
      </p:sp>
      <p:sp>
        <p:nvSpPr>
          <p:cNvPr id="6" name="Slide Number Placeholder 5">
            <a:extLst>
              <a:ext uri="{FF2B5EF4-FFF2-40B4-BE49-F238E27FC236}">
                <a16:creationId xmlns:a16="http://schemas.microsoft.com/office/drawing/2014/main" id="{2DB3AE48-8A8C-4FFC-9796-7DEA524ADA5D}"/>
              </a:ext>
            </a:extLst>
          </p:cNvPr>
          <p:cNvSpPr>
            <a:spLocks noGrp="1"/>
          </p:cNvSpPr>
          <p:nvPr>
            <p:ph type="sldNum" sz="quarter" idx="12"/>
          </p:nvPr>
        </p:nvSpPr>
        <p:spPr/>
        <p:txBody>
          <a:bodyPr/>
          <a:lstStyle/>
          <a:p>
            <a:fld id="{88A73313-125E-462B-A143-CE867BAE2D9E}" type="slidenum">
              <a:rPr lang="en-PK" smtClean="0"/>
              <a:t>‹#›</a:t>
            </a:fld>
            <a:endParaRPr lang="en-PK" dirty="0"/>
          </a:p>
        </p:txBody>
      </p:sp>
    </p:spTree>
    <p:extLst>
      <p:ext uri="{BB962C8B-B14F-4D97-AF65-F5344CB8AC3E}">
        <p14:creationId xmlns:p14="http://schemas.microsoft.com/office/powerpoint/2010/main" val="27411301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0161DA2-781F-4F7B-AE0C-AA8CB4414E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PK" dirty="0"/>
          </a:p>
        </p:txBody>
      </p:sp>
      <p:sp>
        <p:nvSpPr>
          <p:cNvPr id="3" name="Text Placeholder 2">
            <a:extLst>
              <a:ext uri="{FF2B5EF4-FFF2-40B4-BE49-F238E27FC236}">
                <a16:creationId xmlns:a16="http://schemas.microsoft.com/office/drawing/2014/main" id="{1E63385B-E93C-43F1-A4AD-E857EFFD2FA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a:t>
            </a:r>
            <a:r>
              <a:rPr lang="en-US" dirty="0" err="1"/>
              <a:t>leve</a:t>
            </a:r>
            <a:endParaRPr lang="en-US" dirty="0"/>
          </a:p>
          <a:p>
            <a:pPr lvl="2"/>
            <a:r>
              <a:rPr lang="en-US" dirty="0"/>
              <a:t>Third level</a:t>
            </a:r>
          </a:p>
          <a:p>
            <a:pPr lvl="3"/>
            <a:r>
              <a:rPr lang="en-US" dirty="0"/>
              <a:t>Fourth level</a:t>
            </a:r>
          </a:p>
          <a:p>
            <a:pPr lvl="4"/>
            <a:r>
              <a:rPr lang="en-US" dirty="0"/>
              <a:t>Fifth level</a:t>
            </a:r>
            <a:endParaRPr lang="en-PK" dirty="0"/>
          </a:p>
        </p:txBody>
      </p:sp>
      <p:sp>
        <p:nvSpPr>
          <p:cNvPr id="4" name="Date Placeholder 3">
            <a:extLst>
              <a:ext uri="{FF2B5EF4-FFF2-40B4-BE49-F238E27FC236}">
                <a16:creationId xmlns:a16="http://schemas.microsoft.com/office/drawing/2014/main" id="{18601490-3176-492A-A07F-7ACCAD7538C1}"/>
              </a:ext>
            </a:extLst>
          </p:cNvPr>
          <p:cNvSpPr>
            <a:spLocks noGrp="1"/>
          </p:cNvSpPr>
          <p:nvPr>
            <p:ph type="dt" sz="half" idx="2"/>
          </p:nvPr>
        </p:nvSpPr>
        <p:spPr>
          <a:xfrm>
            <a:off x="838200" y="6356350"/>
            <a:ext cx="938349" cy="365125"/>
          </a:xfrm>
          <a:prstGeom prst="rect">
            <a:avLst/>
          </a:prstGeom>
          <a:noFill/>
          <a:ln>
            <a:noFill/>
          </a:ln>
        </p:spPr>
        <p:style>
          <a:lnRef idx="0">
            <a:scrgbClr r="0" g="0" b="0"/>
          </a:lnRef>
          <a:fillRef idx="0">
            <a:scrgbClr r="0" g="0" b="0"/>
          </a:fillRef>
          <a:effectRef idx="0">
            <a:scrgbClr r="0" g="0" b="0"/>
          </a:effectRef>
          <a:fontRef idx="minor">
            <a:schemeClr val="accent6"/>
          </a:fontRef>
        </p:style>
        <p:txBody>
          <a:bodyPr vert="horz" lIns="91440" tIns="45720" rIns="91440" bIns="45720" rtlCol="0" anchor="ctr"/>
          <a:lstStyle>
            <a:lvl1pPr algn="l">
              <a:defRPr sz="1200">
                <a:solidFill>
                  <a:schemeClr val="tx1">
                    <a:tint val="75000"/>
                  </a:schemeClr>
                </a:solidFill>
              </a:defRPr>
            </a:lvl1pPr>
          </a:lstStyle>
          <a:p>
            <a:r>
              <a:rPr lang="en-US" dirty="0"/>
              <a:t>31/12/2023</a:t>
            </a:r>
            <a:endParaRPr lang="en-PK" dirty="0"/>
          </a:p>
        </p:txBody>
      </p:sp>
      <p:sp>
        <p:nvSpPr>
          <p:cNvPr id="5" name="Footer Placeholder 4">
            <a:extLst>
              <a:ext uri="{FF2B5EF4-FFF2-40B4-BE49-F238E27FC236}">
                <a16:creationId xmlns:a16="http://schemas.microsoft.com/office/drawing/2014/main" id="{067FD45A-CC0B-43D1-82C4-970286DC6AD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K" dirty="0"/>
          </a:p>
        </p:txBody>
      </p:sp>
      <p:sp>
        <p:nvSpPr>
          <p:cNvPr id="6" name="Slide Number Placeholder 5">
            <a:extLst>
              <a:ext uri="{FF2B5EF4-FFF2-40B4-BE49-F238E27FC236}">
                <a16:creationId xmlns:a16="http://schemas.microsoft.com/office/drawing/2014/main" id="{92CFBB82-4055-439A-81DB-4361DD292F8F}"/>
              </a:ext>
            </a:extLst>
          </p:cNvPr>
          <p:cNvSpPr>
            <a:spLocks noGrp="1"/>
          </p:cNvSpPr>
          <p:nvPr>
            <p:ph type="sldNum" sz="quarter" idx="4"/>
          </p:nvPr>
        </p:nvSpPr>
        <p:spPr>
          <a:xfrm>
            <a:off x="10884352" y="6356350"/>
            <a:ext cx="469447" cy="365125"/>
          </a:xfrm>
          <a:prstGeom prst="rect">
            <a:avLst/>
          </a:prstGeom>
          <a:noFill/>
          <a:ln>
            <a:noFill/>
          </a:ln>
        </p:spPr>
        <p:style>
          <a:lnRef idx="0">
            <a:scrgbClr r="0" g="0" b="0"/>
          </a:lnRef>
          <a:fillRef idx="0">
            <a:scrgbClr r="0" g="0" b="0"/>
          </a:fillRef>
          <a:effectRef idx="0">
            <a:scrgbClr r="0" g="0" b="0"/>
          </a:effectRef>
          <a:fontRef idx="minor">
            <a:schemeClr val="dk1"/>
          </a:fontRef>
        </p:style>
        <p:txBody>
          <a:bodyPr vert="horz" lIns="91440" tIns="45720" rIns="91440" bIns="45720" rtlCol="0" anchor="ctr"/>
          <a:lstStyle>
            <a:lvl1pPr algn="r">
              <a:defRPr sz="1200">
                <a:solidFill>
                  <a:schemeClr val="tx1">
                    <a:tint val="75000"/>
                  </a:schemeClr>
                </a:solidFill>
              </a:defRPr>
            </a:lvl1pPr>
          </a:lstStyle>
          <a:p>
            <a:fld id="{619785DB-2F33-40B3-A0D9-68D0CB3DBE5D}" type="slidenum">
              <a:rPr lang="en-PK" smtClean="0"/>
              <a:pPr/>
              <a:t>‹#›</a:t>
            </a:fld>
            <a:endParaRPr lang="en-PK" dirty="0"/>
          </a:p>
        </p:txBody>
      </p:sp>
    </p:spTree>
    <p:extLst>
      <p:ext uri="{BB962C8B-B14F-4D97-AF65-F5344CB8AC3E}">
        <p14:creationId xmlns:p14="http://schemas.microsoft.com/office/powerpoint/2010/main" val="1031722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b="0"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1.xml"/><Relationship Id="rId4" Type="http://schemas.microsoft.com/office/2007/relationships/hdphoto" Target="../media/hdphoto1.wdp"/></Relationships>
</file>

<file path=ppt/slides/_rels/slide2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8.png"/><Relationship Id="rId1" Type="http://schemas.openxmlformats.org/officeDocument/2006/relationships/slideLayout" Target="../slideLayouts/slideLayout2.xml"/><Relationship Id="rId5" Type="http://schemas.microsoft.com/office/2007/relationships/hdphoto" Target="../media/hdphoto5.wdp"/><Relationship Id="rId4" Type="http://schemas.openxmlformats.org/officeDocument/2006/relationships/image" Target="../media/image9.png"/></Relationships>
</file>

<file path=ppt/slides/_rels/slide33.xml.rels><?xml version="1.0" encoding="UTF-8" standalone="yes"?>
<Relationships xmlns="http://schemas.openxmlformats.org/package/2006/relationships"><Relationship Id="rId3" Type="http://schemas.microsoft.com/office/2007/relationships/hdphoto" Target="../media/hdphoto6.wdp"/><Relationship Id="rId7" Type="http://schemas.microsoft.com/office/2007/relationships/hdphoto" Target="../media/hdphoto8.wdp"/><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2.png"/><Relationship Id="rId5" Type="http://schemas.microsoft.com/office/2007/relationships/hdphoto" Target="../media/hdphoto7.wdp"/><Relationship Id="rId4" Type="http://schemas.openxmlformats.org/officeDocument/2006/relationships/image" Target="../media/image11.png"/></Relationships>
</file>

<file path=ppt/slides/_rels/slide3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microsoft.com/office/2007/relationships/hdphoto" Target="../media/hdphoto10.wdp"/><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microsoft.com/office/2007/relationships/hdphoto" Target="../media/hdphoto11.wdp"/><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7.gif"/><Relationship Id="rId4" Type="http://schemas.openxmlformats.org/officeDocument/2006/relationships/hyperlink" Target="https://www.slideserve.com/vida/8-5-equivalence-relations"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16944-1C3E-45F2-A5B6-D4FCC6945599}"/>
              </a:ext>
            </a:extLst>
          </p:cNvPr>
          <p:cNvSpPr>
            <a:spLocks noGrp="1"/>
          </p:cNvSpPr>
          <p:nvPr>
            <p:ph type="ctrTitle"/>
          </p:nvPr>
        </p:nvSpPr>
        <p:spPr/>
        <p:txBody>
          <a:bodyPr/>
          <a:lstStyle/>
          <a:p>
            <a:r>
              <a:rPr lang="en-US" dirty="0">
                <a:latin typeface="+mj-lt"/>
              </a:rPr>
              <a:t>RELATIONS AND THEIR PROPERTIES</a:t>
            </a:r>
            <a:endParaRPr lang="en-PK" dirty="0">
              <a:latin typeface="+mj-lt"/>
            </a:endParaRPr>
          </a:p>
        </p:txBody>
      </p:sp>
      <p:sp>
        <p:nvSpPr>
          <p:cNvPr id="3" name="Subtitle 2">
            <a:extLst>
              <a:ext uri="{FF2B5EF4-FFF2-40B4-BE49-F238E27FC236}">
                <a16:creationId xmlns:a16="http://schemas.microsoft.com/office/drawing/2014/main" id="{B827987A-1CC3-4CAC-A51F-DD2384CD117C}"/>
              </a:ext>
            </a:extLst>
          </p:cNvPr>
          <p:cNvSpPr>
            <a:spLocks noGrp="1"/>
          </p:cNvSpPr>
          <p:nvPr>
            <p:ph type="subTitle" idx="1"/>
          </p:nvPr>
        </p:nvSpPr>
        <p:spPr/>
        <p:txBody>
          <a:bodyPr>
            <a:normAutofit/>
          </a:bodyPr>
          <a:lstStyle/>
          <a:p>
            <a:r>
              <a:rPr lang="en-US" dirty="0"/>
              <a:t>Discrete Structures</a:t>
            </a:r>
          </a:p>
          <a:p>
            <a:r>
              <a:rPr lang="en-US" dirty="0"/>
              <a:t>MA-216</a:t>
            </a:r>
          </a:p>
        </p:txBody>
      </p:sp>
      <p:sp>
        <p:nvSpPr>
          <p:cNvPr id="4" name="TextBox 3">
            <a:extLst>
              <a:ext uri="{FF2B5EF4-FFF2-40B4-BE49-F238E27FC236}">
                <a16:creationId xmlns:a16="http://schemas.microsoft.com/office/drawing/2014/main" id="{15884C34-F82D-4E7D-9770-F00308E1EF3E}"/>
              </a:ext>
            </a:extLst>
          </p:cNvPr>
          <p:cNvSpPr txBox="1"/>
          <p:nvPr/>
        </p:nvSpPr>
        <p:spPr>
          <a:xfrm>
            <a:off x="1524000" y="4796135"/>
            <a:ext cx="1669774" cy="461665"/>
          </a:xfrm>
          <a:prstGeom prst="rect">
            <a:avLst/>
          </a:prstGeom>
          <a:noFill/>
        </p:spPr>
        <p:txBody>
          <a:bodyPr wrap="square" rtlCol="0">
            <a:spAutoFit/>
          </a:bodyPr>
          <a:lstStyle/>
          <a:p>
            <a:r>
              <a:rPr lang="en-US" sz="2400" dirty="0"/>
              <a:t>Group #3</a:t>
            </a:r>
          </a:p>
        </p:txBody>
      </p:sp>
      <p:sp>
        <p:nvSpPr>
          <p:cNvPr id="5" name="TextBox 4">
            <a:extLst>
              <a:ext uri="{FF2B5EF4-FFF2-40B4-BE49-F238E27FC236}">
                <a16:creationId xmlns:a16="http://schemas.microsoft.com/office/drawing/2014/main" id="{62493B82-7AAB-463F-8289-BC631E4C2F6B}"/>
              </a:ext>
            </a:extLst>
          </p:cNvPr>
          <p:cNvSpPr txBox="1"/>
          <p:nvPr/>
        </p:nvSpPr>
        <p:spPr>
          <a:xfrm>
            <a:off x="8998226" y="4796134"/>
            <a:ext cx="1669774" cy="461665"/>
          </a:xfrm>
          <a:prstGeom prst="rect">
            <a:avLst/>
          </a:prstGeom>
          <a:noFill/>
        </p:spPr>
        <p:txBody>
          <a:bodyPr wrap="square" rtlCol="0">
            <a:spAutoFit/>
          </a:bodyPr>
          <a:lstStyle/>
          <a:p>
            <a:pPr algn="r"/>
            <a:r>
              <a:rPr lang="en-US" sz="2400" dirty="0"/>
              <a:t>Chapter #9</a:t>
            </a:r>
            <a:endParaRPr lang="en-PK" sz="2400" dirty="0"/>
          </a:p>
        </p:txBody>
      </p:sp>
    </p:spTree>
    <p:extLst>
      <p:ext uri="{BB962C8B-B14F-4D97-AF65-F5344CB8AC3E}">
        <p14:creationId xmlns:p14="http://schemas.microsoft.com/office/powerpoint/2010/main" val="4149949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bg/>
                                          </p:spTgt>
                                        </p:tgtEl>
                                        <p:attrNameLst>
                                          <p:attrName>style.visibility</p:attrName>
                                        </p:attrNameLst>
                                      </p:cBhvr>
                                      <p:to>
                                        <p:strVal val="visible"/>
                                      </p:to>
                                    </p:set>
                                    <p:animEffect transition="in" filter="fade">
                                      <p:cBhvr>
                                        <p:cTn id="10" dur="500"/>
                                        <p:tgtEl>
                                          <p:spTgt spid="3">
                                            <p:bg/>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500"/>
                                        <p:tgtEl>
                                          <p:spTgt spid="3">
                                            <p:txEl>
                                              <p:pRg st="0" end="0"/>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fade">
                                      <p:cBhvr>
                                        <p:cTn id="16" dur="500"/>
                                        <p:tgtEl>
                                          <p:spTgt spid="3">
                                            <p:txEl>
                                              <p:pRg st="1" end="1"/>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uiExpand="1" build="p" animBg="1"/>
      <p:bldP spid="4" grpId="0"/>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C91C2-33DA-48F6-ADDB-00714B6D015B}"/>
              </a:ext>
            </a:extLst>
          </p:cNvPr>
          <p:cNvSpPr>
            <a:spLocks noGrp="1"/>
          </p:cNvSpPr>
          <p:nvPr>
            <p:ph type="title"/>
          </p:nvPr>
        </p:nvSpPr>
        <p:spPr/>
        <p:txBody>
          <a:bodyPr/>
          <a:lstStyle/>
          <a:p>
            <a:r>
              <a:rPr lang="en-US" dirty="0"/>
              <a:t>Table of Contents</a:t>
            </a:r>
            <a:endParaRPr lang="en-PK" dirty="0"/>
          </a:p>
        </p:txBody>
      </p:sp>
      <p:sp>
        <p:nvSpPr>
          <p:cNvPr id="3" name="Content Placeholder 2">
            <a:extLst>
              <a:ext uri="{FF2B5EF4-FFF2-40B4-BE49-F238E27FC236}">
                <a16:creationId xmlns:a16="http://schemas.microsoft.com/office/drawing/2014/main" id="{88BA7DF2-1A60-4F71-9E62-388D327A1E3E}"/>
              </a:ext>
            </a:extLst>
          </p:cNvPr>
          <p:cNvSpPr>
            <a:spLocks noGrp="1"/>
          </p:cNvSpPr>
          <p:nvPr>
            <p:ph idx="1"/>
          </p:nvPr>
        </p:nvSpPr>
        <p:spPr/>
        <p:txBody>
          <a:bodyPr numCol="1">
            <a:noAutofit/>
          </a:bodyPr>
          <a:lstStyle/>
          <a:p>
            <a:pPr>
              <a:lnSpc>
                <a:spcPct val="107000"/>
              </a:lnSpc>
              <a:buSzPct val="90000"/>
            </a:pPr>
            <a:r>
              <a:rPr lang="en-US" sz="2400" dirty="0">
                <a:effectLst/>
                <a:latin typeface="Calibri" panose="020F0502020204030204" pitchFamily="34" charset="0"/>
                <a:ea typeface="Calibri" panose="020F0502020204030204" pitchFamily="34" charset="0"/>
                <a:cs typeface="Times New Roman" panose="02020603050405020304" pitchFamily="18" charset="0"/>
              </a:rPr>
              <a:t>Relations </a:t>
            </a:r>
            <a:r>
              <a:rPr lang="en-US" sz="2400" dirty="0">
                <a:solidFill>
                  <a:schemeClr val="accent1"/>
                </a:solidFill>
                <a:effectLst/>
                <a:latin typeface="Calibri" panose="020F0502020204030204" pitchFamily="34" charset="0"/>
                <a:ea typeface="Calibri" panose="020F0502020204030204" pitchFamily="34" charset="0"/>
                <a:cs typeface="Times New Roman" panose="02020603050405020304" pitchFamily="18" charset="0"/>
              </a:rPr>
              <a:t>(Muhammad Sameer)</a:t>
            </a:r>
            <a:endParaRPr lang="en-US" sz="2400" dirty="0">
              <a:solidFill>
                <a:schemeClr val="accent1"/>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buSzPct val="90000"/>
            </a:pPr>
            <a:r>
              <a:rPr lang="en-US" sz="2400" dirty="0">
                <a:effectLst/>
                <a:latin typeface="Calibri" panose="020F0502020204030204" pitchFamily="34" charset="0"/>
                <a:ea typeface="Calibri" panose="020F0502020204030204" pitchFamily="34" charset="0"/>
                <a:cs typeface="Times New Roman" panose="02020603050405020304" pitchFamily="18" charset="0"/>
              </a:rPr>
              <a:t>Representing Relations </a:t>
            </a:r>
            <a:r>
              <a:rPr lang="en-US" sz="2400" dirty="0">
                <a:solidFill>
                  <a:schemeClr val="accent1"/>
                </a:solidFill>
                <a:effectLst/>
                <a:latin typeface="Calibri" panose="020F0502020204030204" pitchFamily="34" charset="0"/>
                <a:ea typeface="Calibri" panose="020F0502020204030204" pitchFamily="34" charset="0"/>
                <a:cs typeface="Times New Roman" panose="02020603050405020304" pitchFamily="18" charset="0"/>
              </a:rPr>
              <a:t>(Shahzaib Ali)</a:t>
            </a:r>
            <a:endParaRPr lang="en-PK" sz="2400" dirty="0">
              <a:solidFill>
                <a:schemeClr val="accent1"/>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buSzPct val="90000"/>
            </a:pPr>
            <a:r>
              <a:rPr lang="en-US" sz="2400" dirty="0">
                <a:effectLst/>
                <a:latin typeface="Calibri" panose="020F0502020204030204" pitchFamily="34" charset="0"/>
                <a:ea typeface="Calibri" panose="020F0502020204030204" pitchFamily="34" charset="0"/>
                <a:cs typeface="Times New Roman" panose="02020603050405020304" pitchFamily="18" charset="0"/>
              </a:rPr>
              <a:t>Properties of Relations </a:t>
            </a:r>
            <a:r>
              <a:rPr lang="en-US" sz="2400" dirty="0">
                <a:solidFill>
                  <a:schemeClr val="accent1"/>
                </a:solidFill>
                <a:effectLst/>
                <a:latin typeface="Calibri" panose="020F0502020204030204" pitchFamily="34" charset="0"/>
                <a:ea typeface="Calibri" panose="020F0502020204030204" pitchFamily="34" charset="0"/>
                <a:cs typeface="Times New Roman" panose="02020603050405020304" pitchFamily="18" charset="0"/>
              </a:rPr>
              <a:t>(Haseeb Khan)</a:t>
            </a:r>
          </a:p>
          <a:p>
            <a:pPr>
              <a:lnSpc>
                <a:spcPct val="107000"/>
              </a:lnSpc>
              <a:buSzPct val="90000"/>
            </a:pPr>
            <a:r>
              <a:rPr lang="en-US" sz="2400" dirty="0">
                <a:effectLst/>
                <a:latin typeface="Calibri" panose="020F0502020204030204" pitchFamily="34" charset="0"/>
                <a:ea typeface="Calibri" panose="020F0502020204030204" pitchFamily="34" charset="0"/>
                <a:cs typeface="Times New Roman" panose="02020603050405020304" pitchFamily="18" charset="0"/>
              </a:rPr>
              <a:t>Combining Relations </a:t>
            </a:r>
            <a:r>
              <a:rPr lang="en-US" sz="2400" dirty="0">
                <a:solidFill>
                  <a:schemeClr val="accent1"/>
                </a:solidFill>
                <a:effectLst/>
                <a:latin typeface="Calibri" panose="020F0502020204030204" pitchFamily="34" charset="0"/>
                <a:ea typeface="Calibri" panose="020F0502020204030204" pitchFamily="34" charset="0"/>
                <a:cs typeface="Times New Roman" panose="02020603050405020304" pitchFamily="18" charset="0"/>
              </a:rPr>
              <a:t>(Ubaidullah)</a:t>
            </a:r>
            <a:endParaRPr lang="en-PK" sz="2400" dirty="0">
              <a:solidFill>
                <a:schemeClr val="accent1"/>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buSzPct val="90000"/>
            </a:pPr>
            <a:r>
              <a:rPr lang="en-US" sz="2400" dirty="0">
                <a:effectLst/>
                <a:latin typeface="Calibri" panose="020F0502020204030204" pitchFamily="34" charset="0"/>
                <a:ea typeface="Calibri" panose="020F0502020204030204" pitchFamily="34" charset="0"/>
                <a:cs typeface="Times New Roman" panose="02020603050405020304" pitchFamily="18" charset="0"/>
              </a:rPr>
              <a:t>Applications of Relations </a:t>
            </a:r>
            <a:r>
              <a:rPr lang="en-US" sz="2400" dirty="0">
                <a:solidFill>
                  <a:schemeClr val="accent1"/>
                </a:solidFill>
                <a:effectLst/>
                <a:latin typeface="Calibri" panose="020F0502020204030204" pitchFamily="34" charset="0"/>
                <a:ea typeface="Calibri" panose="020F0502020204030204" pitchFamily="34" charset="0"/>
                <a:cs typeface="Times New Roman" panose="02020603050405020304" pitchFamily="18" charset="0"/>
              </a:rPr>
              <a:t>(Hussain Ali)</a:t>
            </a:r>
          </a:p>
          <a:p>
            <a:pPr>
              <a:lnSpc>
                <a:spcPct val="107000"/>
              </a:lnSpc>
              <a:buSzPct val="90000"/>
            </a:pPr>
            <a:r>
              <a:rPr lang="en-US" sz="2400" dirty="0">
                <a:latin typeface="Calibri" panose="020F0502020204030204" pitchFamily="34" charset="0"/>
                <a:ea typeface="Calibri" panose="020F0502020204030204" pitchFamily="34" charset="0"/>
                <a:cs typeface="Times New Roman" panose="02020603050405020304" pitchFamily="18" charset="0"/>
              </a:rPr>
              <a:t>Database and Relations </a:t>
            </a:r>
            <a:r>
              <a:rPr lang="en-US" sz="2400"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(Malik Hassan Awan)</a:t>
            </a:r>
            <a:endParaRPr lang="en-PK" sz="2400" dirty="0">
              <a:solidFill>
                <a:schemeClr val="accent1"/>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buSzPct val="90000"/>
            </a:pPr>
            <a:r>
              <a:rPr lang="en-US" sz="2400" dirty="0">
                <a:effectLst/>
                <a:latin typeface="Calibri" panose="020F0502020204030204" pitchFamily="34" charset="0"/>
                <a:ea typeface="Calibri" panose="020F0502020204030204" pitchFamily="34" charset="0"/>
                <a:cs typeface="Times New Roman" panose="02020603050405020304" pitchFamily="18" charset="0"/>
              </a:rPr>
              <a:t>Relations and Matrices </a:t>
            </a:r>
            <a:r>
              <a:rPr lang="en-US" sz="2400" dirty="0">
                <a:solidFill>
                  <a:schemeClr val="accent1"/>
                </a:solidFill>
                <a:effectLst/>
                <a:latin typeface="Calibri" panose="020F0502020204030204" pitchFamily="34" charset="0"/>
                <a:ea typeface="Calibri" panose="020F0502020204030204" pitchFamily="34" charset="0"/>
                <a:cs typeface="Times New Roman" panose="02020603050405020304" pitchFamily="18" charset="0"/>
              </a:rPr>
              <a:t>(Hussain Ali)</a:t>
            </a:r>
            <a:endParaRPr lang="en-PK" sz="2400" dirty="0">
              <a:solidFill>
                <a:schemeClr val="accent1"/>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buSzPct val="90000"/>
            </a:pPr>
            <a:r>
              <a:rPr lang="en-US" sz="2400" dirty="0">
                <a:effectLst/>
                <a:latin typeface="Calibri" panose="020F0502020204030204" pitchFamily="34" charset="0"/>
                <a:ea typeface="Calibri" panose="020F0502020204030204" pitchFamily="34" charset="0"/>
                <a:cs typeface="Times New Roman" panose="02020603050405020304" pitchFamily="18" charset="0"/>
              </a:rPr>
              <a:t>Relations and Digraphs </a:t>
            </a:r>
            <a:r>
              <a:rPr lang="en-US" sz="2400" dirty="0">
                <a:solidFill>
                  <a:schemeClr val="accent1"/>
                </a:solidFill>
                <a:effectLst/>
                <a:latin typeface="Calibri" panose="020F0502020204030204" pitchFamily="34" charset="0"/>
                <a:ea typeface="Calibri" panose="020F0502020204030204" pitchFamily="34" charset="0"/>
                <a:cs typeface="Times New Roman" panose="02020603050405020304" pitchFamily="18" charset="0"/>
              </a:rPr>
              <a:t>(Umair Aamir)</a:t>
            </a:r>
            <a:endParaRPr lang="en-PK" sz="2400" dirty="0">
              <a:solidFill>
                <a:schemeClr val="accent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Date Placeholder 3">
            <a:extLst>
              <a:ext uri="{FF2B5EF4-FFF2-40B4-BE49-F238E27FC236}">
                <a16:creationId xmlns:a16="http://schemas.microsoft.com/office/drawing/2014/main" id="{CF3C8BE3-C8AF-42FF-A245-68DE0098A28E}"/>
              </a:ext>
            </a:extLst>
          </p:cNvPr>
          <p:cNvSpPr>
            <a:spLocks noGrp="1"/>
          </p:cNvSpPr>
          <p:nvPr>
            <p:ph type="dt" sz="half" idx="10"/>
          </p:nvPr>
        </p:nvSpPr>
        <p:spPr/>
        <p:txBody>
          <a:bodyPr/>
          <a:lstStyle/>
          <a:p>
            <a:r>
              <a:rPr lang="en-US" dirty="0"/>
              <a:t>31/12/2023</a:t>
            </a:r>
            <a:endParaRPr lang="en-PK" dirty="0"/>
          </a:p>
        </p:txBody>
      </p:sp>
      <p:sp>
        <p:nvSpPr>
          <p:cNvPr id="5" name="Slide Number Placeholder 4">
            <a:extLst>
              <a:ext uri="{FF2B5EF4-FFF2-40B4-BE49-F238E27FC236}">
                <a16:creationId xmlns:a16="http://schemas.microsoft.com/office/drawing/2014/main" id="{76FDA8F5-9CF0-4B6F-8CC9-C1B671639271}"/>
              </a:ext>
            </a:extLst>
          </p:cNvPr>
          <p:cNvSpPr>
            <a:spLocks noGrp="1"/>
          </p:cNvSpPr>
          <p:nvPr>
            <p:ph type="sldNum" sz="quarter" idx="12"/>
          </p:nvPr>
        </p:nvSpPr>
        <p:spPr/>
        <p:txBody>
          <a:bodyPr/>
          <a:lstStyle/>
          <a:p>
            <a:r>
              <a:rPr dirty="0"/>
              <a:t>2</a:t>
            </a:r>
          </a:p>
        </p:txBody>
      </p:sp>
    </p:spTree>
    <p:extLst>
      <p:ext uri="{BB962C8B-B14F-4D97-AF65-F5344CB8AC3E}">
        <p14:creationId xmlns:p14="http://schemas.microsoft.com/office/powerpoint/2010/main" val="2643918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C91C2-33DA-48F6-ADDB-00714B6D015B}"/>
              </a:ext>
            </a:extLst>
          </p:cNvPr>
          <p:cNvSpPr>
            <a:spLocks noGrp="1"/>
          </p:cNvSpPr>
          <p:nvPr>
            <p:ph type="title"/>
          </p:nvPr>
        </p:nvSpPr>
        <p:spPr/>
        <p:txBody>
          <a:bodyPr/>
          <a:lstStyle/>
          <a:p>
            <a:r>
              <a:rPr lang="en-US" dirty="0"/>
              <a:t>Cartesian Product</a:t>
            </a:r>
            <a:endParaRPr lang="en-PK" dirty="0"/>
          </a:p>
        </p:txBody>
      </p:sp>
      <p:sp>
        <p:nvSpPr>
          <p:cNvPr id="3" name="Content Placeholder 2">
            <a:extLst>
              <a:ext uri="{FF2B5EF4-FFF2-40B4-BE49-F238E27FC236}">
                <a16:creationId xmlns:a16="http://schemas.microsoft.com/office/drawing/2014/main" id="{88BA7DF2-1A60-4F71-9E62-388D327A1E3E}"/>
              </a:ext>
            </a:extLst>
          </p:cNvPr>
          <p:cNvSpPr>
            <a:spLocks noGrp="1"/>
          </p:cNvSpPr>
          <p:nvPr>
            <p:ph idx="1"/>
          </p:nvPr>
        </p:nvSpPr>
        <p:spPr/>
        <p:txBody>
          <a:bodyPr>
            <a:normAutofit/>
          </a:bodyPr>
          <a:lstStyle/>
          <a:p>
            <a:pPr>
              <a:lnSpc>
                <a:spcPct val="100000"/>
              </a:lnSpc>
              <a:buFont typeface="Wingdings" panose="05000000000000000000" pitchFamily="2" charset="2"/>
              <a:buChar char="§"/>
            </a:pPr>
            <a:r>
              <a:rPr lang="en-US" sz="2400" b="1" dirty="0"/>
              <a:t>Definition:</a:t>
            </a:r>
          </a:p>
          <a:p>
            <a:pPr marL="0" indent="0">
              <a:lnSpc>
                <a:spcPct val="100000"/>
              </a:lnSpc>
              <a:buNone/>
            </a:pPr>
            <a:r>
              <a:rPr lang="en-US" sz="2400" dirty="0"/>
              <a:t>An </a:t>
            </a:r>
            <a:r>
              <a:rPr lang="en-US" sz="2400" dirty="0">
                <a:solidFill>
                  <a:schemeClr val="accent1"/>
                </a:solidFill>
              </a:rPr>
              <a:t>ordered n-tuple </a:t>
            </a:r>
            <a:r>
              <a:rPr lang="en-US" sz="2400" i="1" dirty="0"/>
              <a:t>(a</a:t>
            </a:r>
            <a:r>
              <a:rPr lang="en-US" sz="2400" i="1" baseline="-25000" dirty="0"/>
              <a:t>1</a:t>
            </a:r>
            <a:r>
              <a:rPr lang="en-US" sz="2400" i="1" dirty="0"/>
              <a:t>, a</a:t>
            </a:r>
            <a:r>
              <a:rPr lang="en-US" sz="2400" i="1" baseline="-25000" dirty="0"/>
              <a:t>2</a:t>
            </a:r>
            <a:r>
              <a:rPr lang="en-US" sz="2400" i="1" dirty="0"/>
              <a:t>, ..., a</a:t>
            </a:r>
            <a:r>
              <a:rPr lang="en-US" sz="2400" i="1" baseline="-25000" dirty="0"/>
              <a:t>n</a:t>
            </a:r>
            <a:r>
              <a:rPr lang="en-US" sz="2400" i="1" dirty="0"/>
              <a:t>)</a:t>
            </a:r>
            <a:r>
              <a:rPr lang="en-US" sz="2400" dirty="0"/>
              <a:t> is the ordered collection that has </a:t>
            </a:r>
            <a:r>
              <a:rPr lang="en-US" sz="2400" i="1" dirty="0"/>
              <a:t>a₁ </a:t>
            </a:r>
            <a:r>
              <a:rPr lang="en-US" sz="2400" dirty="0"/>
              <a:t>as its first element, </a:t>
            </a:r>
            <a:r>
              <a:rPr lang="en-US" sz="2400" i="1" dirty="0"/>
              <a:t>a</a:t>
            </a:r>
            <a:r>
              <a:rPr lang="en-US" sz="2400" i="1" baseline="-25000" dirty="0"/>
              <a:t>2</a:t>
            </a:r>
            <a:r>
              <a:rPr lang="en-US" sz="2400" dirty="0"/>
              <a:t> as its second element..., and </a:t>
            </a:r>
            <a:r>
              <a:rPr lang="en-US" sz="2400" i="1" dirty="0"/>
              <a:t>a</a:t>
            </a:r>
            <a:r>
              <a:rPr lang="en-US" sz="2400" i="1" baseline="-25000" dirty="0"/>
              <a:t>n</a:t>
            </a:r>
            <a:r>
              <a:rPr lang="en-US" sz="2400" dirty="0"/>
              <a:t> as its </a:t>
            </a:r>
            <a:r>
              <a:rPr lang="en-US" sz="2400" i="1" dirty="0"/>
              <a:t>nth</a:t>
            </a:r>
            <a:r>
              <a:rPr lang="en-US" sz="2400" dirty="0"/>
              <a:t> element.</a:t>
            </a:r>
          </a:p>
          <a:p>
            <a:pPr>
              <a:lnSpc>
                <a:spcPct val="100000"/>
              </a:lnSpc>
              <a:buFont typeface="Wingdings" panose="05000000000000000000" pitchFamily="2" charset="2"/>
              <a:buChar char="§"/>
            </a:pPr>
            <a:r>
              <a:rPr lang="en-US" sz="2400" b="1" dirty="0"/>
              <a:t>Ordered 2-tuples</a:t>
            </a:r>
            <a:r>
              <a:rPr lang="en-US" sz="2400" dirty="0"/>
              <a:t> are called </a:t>
            </a:r>
            <a:r>
              <a:rPr lang="en-US" sz="2400" dirty="0">
                <a:solidFill>
                  <a:schemeClr val="accent1"/>
                </a:solidFill>
              </a:rPr>
              <a:t>ordered pairs</a:t>
            </a:r>
            <a:r>
              <a:rPr lang="en-US" sz="2400" dirty="0"/>
              <a:t>.</a:t>
            </a:r>
          </a:p>
          <a:p>
            <a:pPr marL="0" indent="0">
              <a:lnSpc>
                <a:spcPct val="100000"/>
              </a:lnSpc>
              <a:buNone/>
            </a:pPr>
            <a:r>
              <a:rPr lang="en-US" sz="2400" dirty="0"/>
              <a:t>	</a:t>
            </a:r>
            <a:r>
              <a:rPr lang="en-US" sz="2400" i="1" dirty="0"/>
              <a:t>(a, b) = (c, d)</a:t>
            </a:r>
            <a:r>
              <a:rPr lang="en-US" sz="2400" dirty="0"/>
              <a:t> if and only if </a:t>
            </a:r>
            <a:r>
              <a:rPr lang="en-US" sz="2400" i="1" dirty="0"/>
              <a:t>a = c </a:t>
            </a:r>
            <a:r>
              <a:rPr lang="en-US" sz="2400" dirty="0"/>
              <a:t>and </a:t>
            </a:r>
            <a:r>
              <a:rPr lang="en-US" sz="2400" i="1" dirty="0"/>
              <a:t>b = d</a:t>
            </a:r>
          </a:p>
          <a:p>
            <a:pPr marL="0" indent="0">
              <a:lnSpc>
                <a:spcPct val="100000"/>
              </a:lnSpc>
              <a:buNone/>
            </a:pPr>
            <a:r>
              <a:rPr lang="en-US" sz="2400" dirty="0"/>
              <a:t>	</a:t>
            </a:r>
            <a:r>
              <a:rPr lang="en-US" sz="2400" i="1" dirty="0"/>
              <a:t>(a, b) ≠ (b, a) </a:t>
            </a:r>
            <a:r>
              <a:rPr lang="en-US" sz="2400" dirty="0"/>
              <a:t>unless </a:t>
            </a:r>
            <a:r>
              <a:rPr lang="en-US" sz="2400" i="1" dirty="0"/>
              <a:t>a = b</a:t>
            </a:r>
          </a:p>
          <a:p>
            <a:pPr algn="l"/>
            <a:r>
              <a:rPr lang="en-US" sz="2400" b="1" dirty="0"/>
              <a:t>Example:</a:t>
            </a:r>
          </a:p>
          <a:p>
            <a:pPr marL="0" indent="0" algn="l">
              <a:buNone/>
            </a:pPr>
            <a:r>
              <a:rPr lang="en-US" sz="2400" dirty="0"/>
              <a:t>Let A = </a:t>
            </a:r>
            <a:r>
              <a:rPr lang="en-US" sz="2400" i="1" dirty="0"/>
              <a:t>{1, 2, 3} </a:t>
            </a:r>
            <a:r>
              <a:rPr lang="en-US" sz="2400" dirty="0"/>
              <a:t>and B = </a:t>
            </a:r>
            <a:r>
              <a:rPr lang="en-US" sz="2400" i="1" dirty="0"/>
              <a:t>{x, y, z}</a:t>
            </a:r>
            <a:endParaRPr lang="en-US" sz="2400" dirty="0"/>
          </a:p>
          <a:p>
            <a:pPr marL="0" indent="0" algn="l">
              <a:buNone/>
            </a:pPr>
            <a:r>
              <a:rPr lang="en-US" sz="2400" dirty="0"/>
              <a:t>	</a:t>
            </a:r>
            <a:r>
              <a:rPr lang="en-US" sz="2400" dirty="0">
                <a:solidFill>
                  <a:schemeClr val="accent1"/>
                </a:solidFill>
              </a:rPr>
              <a:t>A × B</a:t>
            </a:r>
            <a:r>
              <a:rPr lang="en-US" sz="2400" dirty="0"/>
              <a:t> = </a:t>
            </a:r>
            <a:r>
              <a:rPr lang="en-US" sz="2400" i="1" dirty="0"/>
              <a:t>{ (1, x), (1, y), (1, z), (2, x), (2, y), (2, z), (3, x), (3, y), (3, z) }</a:t>
            </a:r>
          </a:p>
        </p:txBody>
      </p:sp>
      <p:sp>
        <p:nvSpPr>
          <p:cNvPr id="4" name="Date Placeholder 3">
            <a:extLst>
              <a:ext uri="{FF2B5EF4-FFF2-40B4-BE49-F238E27FC236}">
                <a16:creationId xmlns:a16="http://schemas.microsoft.com/office/drawing/2014/main" id="{CF3C8BE3-C8AF-42FF-A245-68DE0098A28E}"/>
              </a:ext>
            </a:extLst>
          </p:cNvPr>
          <p:cNvSpPr>
            <a:spLocks noGrp="1"/>
          </p:cNvSpPr>
          <p:nvPr>
            <p:ph type="dt" sz="half" idx="10"/>
          </p:nvPr>
        </p:nvSpPr>
        <p:spPr/>
        <p:txBody>
          <a:bodyPr/>
          <a:lstStyle/>
          <a:p>
            <a:r>
              <a:rPr lang="en-US" dirty="0"/>
              <a:t>31/12/2023</a:t>
            </a:r>
            <a:endParaRPr lang="en-PK" dirty="0"/>
          </a:p>
        </p:txBody>
      </p:sp>
      <p:sp>
        <p:nvSpPr>
          <p:cNvPr id="5" name="Slide Number Placeholder 4">
            <a:extLst>
              <a:ext uri="{FF2B5EF4-FFF2-40B4-BE49-F238E27FC236}">
                <a16:creationId xmlns:a16="http://schemas.microsoft.com/office/drawing/2014/main" id="{76FDA8F5-9CF0-4B6F-8CC9-C1B671639271}"/>
              </a:ext>
            </a:extLst>
          </p:cNvPr>
          <p:cNvSpPr>
            <a:spLocks noGrp="1"/>
          </p:cNvSpPr>
          <p:nvPr>
            <p:ph type="sldNum" sz="quarter" idx="12"/>
          </p:nvPr>
        </p:nvSpPr>
        <p:spPr/>
        <p:txBody>
          <a:bodyPr/>
          <a:lstStyle/>
          <a:p>
            <a:r>
              <a:rPr dirty="0"/>
              <a:t>3</a:t>
            </a:r>
          </a:p>
        </p:txBody>
      </p:sp>
    </p:spTree>
    <p:extLst>
      <p:ext uri="{BB962C8B-B14F-4D97-AF65-F5344CB8AC3E}">
        <p14:creationId xmlns:p14="http://schemas.microsoft.com/office/powerpoint/2010/main" val="2605733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C91C2-33DA-48F6-ADDB-00714B6D015B}"/>
              </a:ext>
            </a:extLst>
          </p:cNvPr>
          <p:cNvSpPr>
            <a:spLocks noGrp="1"/>
          </p:cNvSpPr>
          <p:nvPr>
            <p:ph type="title"/>
          </p:nvPr>
        </p:nvSpPr>
        <p:spPr/>
        <p:txBody>
          <a:bodyPr/>
          <a:lstStyle/>
          <a:p>
            <a:r>
              <a:rPr lang="en-US" dirty="0"/>
              <a:t>Relations</a:t>
            </a:r>
            <a:endParaRPr lang="en-PK" dirty="0"/>
          </a:p>
        </p:txBody>
      </p:sp>
      <p:sp>
        <p:nvSpPr>
          <p:cNvPr id="3" name="Content Placeholder 2">
            <a:extLst>
              <a:ext uri="{FF2B5EF4-FFF2-40B4-BE49-F238E27FC236}">
                <a16:creationId xmlns:a16="http://schemas.microsoft.com/office/drawing/2014/main" id="{88BA7DF2-1A60-4F71-9E62-388D327A1E3E}"/>
              </a:ext>
            </a:extLst>
          </p:cNvPr>
          <p:cNvSpPr>
            <a:spLocks noGrp="1"/>
          </p:cNvSpPr>
          <p:nvPr>
            <p:ph idx="1"/>
          </p:nvPr>
        </p:nvSpPr>
        <p:spPr/>
        <p:txBody>
          <a:bodyPr>
            <a:noAutofit/>
          </a:bodyPr>
          <a:lstStyle/>
          <a:p>
            <a:pPr>
              <a:lnSpc>
                <a:spcPct val="100000"/>
              </a:lnSpc>
              <a:buFont typeface="Wingdings" panose="05000000000000000000" pitchFamily="2" charset="2"/>
              <a:buChar char="§"/>
            </a:pPr>
            <a:r>
              <a:rPr lang="en-US" sz="2400" b="1" dirty="0"/>
              <a:t>Definition:</a:t>
            </a:r>
          </a:p>
          <a:p>
            <a:pPr marL="0" indent="0">
              <a:lnSpc>
                <a:spcPct val="100000"/>
              </a:lnSpc>
              <a:buNone/>
            </a:pPr>
            <a:r>
              <a:rPr lang="en-US" sz="2400" dirty="0"/>
              <a:t>A </a:t>
            </a:r>
            <a:r>
              <a:rPr lang="en-US" sz="2400" dirty="0">
                <a:solidFill>
                  <a:schemeClr val="accent1"/>
                </a:solidFill>
              </a:rPr>
              <a:t>binary relation R from A to B </a:t>
            </a:r>
            <a:r>
              <a:rPr lang="en-US" sz="2400" dirty="0"/>
              <a:t>is a subset of the Cartesian product</a:t>
            </a:r>
          </a:p>
          <a:p>
            <a:pPr marL="0" indent="0">
              <a:lnSpc>
                <a:spcPct val="100000"/>
              </a:lnSpc>
              <a:buNone/>
            </a:pPr>
            <a:r>
              <a:rPr lang="en-US" sz="2400" dirty="0"/>
              <a:t>A × B.</a:t>
            </a:r>
          </a:p>
          <a:p>
            <a:pPr>
              <a:lnSpc>
                <a:spcPct val="100000"/>
              </a:lnSpc>
            </a:pPr>
            <a:r>
              <a:rPr lang="en-US" sz="2400" b="1" dirty="0"/>
              <a:t>Notation:</a:t>
            </a:r>
          </a:p>
          <a:p>
            <a:pPr marL="0" indent="0">
              <a:lnSpc>
                <a:spcPct val="100000"/>
              </a:lnSpc>
              <a:buNone/>
            </a:pPr>
            <a:r>
              <a:rPr lang="en-US" sz="2400" i="1" dirty="0">
                <a:solidFill>
                  <a:schemeClr val="accent1"/>
                </a:solidFill>
              </a:rPr>
              <a:t>xRy</a:t>
            </a:r>
            <a:r>
              <a:rPr lang="en-US" sz="2400" dirty="0">
                <a:solidFill>
                  <a:schemeClr val="accent1"/>
                </a:solidFill>
              </a:rPr>
              <a:t> </a:t>
            </a:r>
            <a:r>
              <a:rPr lang="en-US" sz="2400" dirty="0"/>
              <a:t>means </a:t>
            </a:r>
            <a:r>
              <a:rPr lang="en-US" sz="2400" i="1" dirty="0"/>
              <a:t>(x, y) </a:t>
            </a:r>
            <a:r>
              <a:rPr lang="en-US" sz="2400" b="0" i="1" dirty="0">
                <a:effectLst/>
                <a:latin typeface="KaTeX_Math"/>
                <a:sym typeface="Symbol" panose="05050102010706020507" pitchFamily="18" charset="2"/>
              </a:rPr>
              <a:t> </a:t>
            </a:r>
            <a:r>
              <a:rPr lang="en-US" sz="2400" i="1" dirty="0"/>
              <a:t>R</a:t>
            </a:r>
            <a:r>
              <a:rPr lang="en-US" sz="2400" dirty="0"/>
              <a:t> --- </a:t>
            </a:r>
            <a:r>
              <a:rPr lang="en-US" sz="2400" dirty="0">
                <a:solidFill>
                  <a:schemeClr val="accent1"/>
                </a:solidFill>
              </a:rPr>
              <a:t>read as x is related to y under R</a:t>
            </a:r>
          </a:p>
          <a:p>
            <a:pPr marL="0" indent="0">
              <a:lnSpc>
                <a:spcPct val="100000"/>
              </a:lnSpc>
              <a:buNone/>
            </a:pPr>
            <a:r>
              <a:rPr lang="en-US" sz="2400" i="1" dirty="0">
                <a:solidFill>
                  <a:schemeClr val="accent1"/>
                </a:solidFill>
              </a:rPr>
              <a:t>x</a:t>
            </a:r>
            <a:r>
              <a:rPr lang="en-US" sz="2400" i="1" strike="sngStrike" dirty="0">
                <a:solidFill>
                  <a:schemeClr val="accent1"/>
                </a:solidFill>
              </a:rPr>
              <a:t>R</a:t>
            </a:r>
            <a:r>
              <a:rPr lang="en-US" sz="2400" i="1" dirty="0">
                <a:solidFill>
                  <a:schemeClr val="accent1"/>
                </a:solidFill>
              </a:rPr>
              <a:t>y</a:t>
            </a:r>
            <a:r>
              <a:rPr lang="en-US" sz="2400" dirty="0">
                <a:solidFill>
                  <a:schemeClr val="accent1"/>
                </a:solidFill>
              </a:rPr>
              <a:t> </a:t>
            </a:r>
            <a:r>
              <a:rPr lang="en-US" sz="2400" dirty="0"/>
              <a:t>means </a:t>
            </a:r>
            <a:r>
              <a:rPr lang="en-US" sz="2400" i="1" dirty="0"/>
              <a:t>(x, y) </a:t>
            </a:r>
            <a:r>
              <a:rPr lang="en-US" sz="2400" i="1" dirty="0">
                <a:sym typeface="Symbol" panose="05050102010706020507" pitchFamily="18" charset="2"/>
              </a:rPr>
              <a:t></a:t>
            </a:r>
            <a:r>
              <a:rPr lang="en-US" sz="2400" i="1" dirty="0"/>
              <a:t> R</a:t>
            </a:r>
          </a:p>
          <a:p>
            <a:pPr>
              <a:lnSpc>
                <a:spcPct val="100000"/>
              </a:lnSpc>
            </a:pPr>
            <a:r>
              <a:rPr lang="en-US" sz="2400" b="1" dirty="0"/>
              <a:t>Example:</a:t>
            </a:r>
          </a:p>
          <a:p>
            <a:pPr marL="0" indent="0" algn="l">
              <a:buNone/>
            </a:pPr>
            <a:r>
              <a:rPr lang="en-US" sz="2400" dirty="0"/>
              <a:t>Let A = </a:t>
            </a:r>
            <a:r>
              <a:rPr lang="en-US" sz="2400" i="1" dirty="0"/>
              <a:t>{1, 2, 3} </a:t>
            </a:r>
            <a:r>
              <a:rPr lang="en-US" sz="2400" dirty="0"/>
              <a:t>and B = </a:t>
            </a:r>
            <a:r>
              <a:rPr lang="en-US" sz="2400" i="1" dirty="0"/>
              <a:t>{x, y, z}		</a:t>
            </a:r>
            <a:r>
              <a:rPr lang="en-US" sz="2400" dirty="0">
                <a:solidFill>
                  <a:schemeClr val="accent1"/>
                </a:solidFill>
              </a:rPr>
              <a:t>R</a:t>
            </a:r>
            <a:r>
              <a:rPr lang="en-US" sz="2400" dirty="0"/>
              <a:t> = </a:t>
            </a:r>
            <a:r>
              <a:rPr lang="en-US" sz="2400" i="1" dirty="0"/>
              <a:t>{ (1, x), (2, y), (3, z) }</a:t>
            </a:r>
          </a:p>
          <a:p>
            <a:pPr>
              <a:lnSpc>
                <a:spcPct val="100000"/>
              </a:lnSpc>
            </a:pPr>
            <a:endParaRPr lang="en-US" sz="2400" dirty="0"/>
          </a:p>
        </p:txBody>
      </p:sp>
      <p:sp>
        <p:nvSpPr>
          <p:cNvPr id="4" name="Date Placeholder 3">
            <a:extLst>
              <a:ext uri="{FF2B5EF4-FFF2-40B4-BE49-F238E27FC236}">
                <a16:creationId xmlns:a16="http://schemas.microsoft.com/office/drawing/2014/main" id="{CF3C8BE3-C8AF-42FF-A245-68DE0098A28E}"/>
              </a:ext>
            </a:extLst>
          </p:cNvPr>
          <p:cNvSpPr>
            <a:spLocks noGrp="1"/>
          </p:cNvSpPr>
          <p:nvPr>
            <p:ph type="dt" sz="half" idx="10"/>
          </p:nvPr>
        </p:nvSpPr>
        <p:spPr/>
        <p:txBody>
          <a:bodyPr/>
          <a:lstStyle/>
          <a:p>
            <a:r>
              <a:rPr lang="en-US" dirty="0"/>
              <a:t>31/12/2023</a:t>
            </a:r>
            <a:endParaRPr lang="en-PK" dirty="0"/>
          </a:p>
        </p:txBody>
      </p:sp>
      <p:sp>
        <p:nvSpPr>
          <p:cNvPr id="5" name="Slide Number Placeholder 4">
            <a:extLst>
              <a:ext uri="{FF2B5EF4-FFF2-40B4-BE49-F238E27FC236}">
                <a16:creationId xmlns:a16="http://schemas.microsoft.com/office/drawing/2014/main" id="{76FDA8F5-9CF0-4B6F-8CC9-C1B671639271}"/>
              </a:ext>
            </a:extLst>
          </p:cNvPr>
          <p:cNvSpPr>
            <a:spLocks noGrp="1"/>
          </p:cNvSpPr>
          <p:nvPr>
            <p:ph type="sldNum" sz="quarter" idx="12"/>
          </p:nvPr>
        </p:nvSpPr>
        <p:spPr/>
        <p:txBody>
          <a:bodyPr/>
          <a:lstStyle/>
          <a:p>
            <a:r>
              <a:rPr dirty="0"/>
              <a:t>4</a:t>
            </a:r>
          </a:p>
        </p:txBody>
      </p:sp>
    </p:spTree>
    <p:extLst>
      <p:ext uri="{BB962C8B-B14F-4D97-AF65-F5344CB8AC3E}">
        <p14:creationId xmlns:p14="http://schemas.microsoft.com/office/powerpoint/2010/main" val="2224078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C91C2-33DA-48F6-ADDB-00714B6D015B}"/>
              </a:ext>
            </a:extLst>
          </p:cNvPr>
          <p:cNvSpPr>
            <a:spLocks noGrp="1"/>
          </p:cNvSpPr>
          <p:nvPr>
            <p:ph type="title"/>
          </p:nvPr>
        </p:nvSpPr>
        <p:spPr/>
        <p:txBody>
          <a:bodyPr/>
          <a:lstStyle/>
          <a:p>
            <a:r>
              <a:rPr lang="en-US" dirty="0"/>
              <a:t>Relations</a:t>
            </a:r>
            <a:endParaRPr lang="en-PK" dirty="0"/>
          </a:p>
        </p:txBody>
      </p:sp>
      <p:sp>
        <p:nvSpPr>
          <p:cNvPr id="3" name="Content Placeholder 2">
            <a:extLst>
              <a:ext uri="{FF2B5EF4-FFF2-40B4-BE49-F238E27FC236}">
                <a16:creationId xmlns:a16="http://schemas.microsoft.com/office/drawing/2014/main" id="{88BA7DF2-1A60-4F71-9E62-388D327A1E3E}"/>
              </a:ext>
            </a:extLst>
          </p:cNvPr>
          <p:cNvSpPr>
            <a:spLocks noGrp="1"/>
          </p:cNvSpPr>
          <p:nvPr>
            <p:ph idx="1"/>
          </p:nvPr>
        </p:nvSpPr>
        <p:spPr/>
        <p:txBody>
          <a:bodyPr>
            <a:noAutofit/>
          </a:bodyPr>
          <a:lstStyle/>
          <a:p>
            <a:pPr>
              <a:lnSpc>
                <a:spcPct val="100000"/>
              </a:lnSpc>
            </a:pPr>
            <a:r>
              <a:rPr lang="en-US" sz="2400" b="1" dirty="0"/>
              <a:t>Example:</a:t>
            </a:r>
          </a:p>
          <a:p>
            <a:pPr marL="0" indent="0">
              <a:lnSpc>
                <a:spcPct val="100000"/>
              </a:lnSpc>
              <a:buNone/>
            </a:pPr>
            <a:r>
              <a:rPr lang="en-US" sz="2400" dirty="0"/>
              <a:t>Consider two sets:</a:t>
            </a:r>
          </a:p>
          <a:p>
            <a:pPr marL="0" indent="0">
              <a:lnSpc>
                <a:spcPct val="100000"/>
              </a:lnSpc>
              <a:buNone/>
            </a:pPr>
            <a:endParaRPr lang="en-US" sz="200" dirty="0"/>
          </a:p>
          <a:p>
            <a:pPr marL="0" indent="0">
              <a:lnSpc>
                <a:spcPct val="100000"/>
              </a:lnSpc>
              <a:buNone/>
            </a:pPr>
            <a:r>
              <a:rPr lang="en-US" sz="2400" dirty="0"/>
              <a:t>Set S represents a set of students: </a:t>
            </a:r>
            <a:r>
              <a:rPr lang="en-US" sz="2400" dirty="0">
                <a:solidFill>
                  <a:schemeClr val="accent1"/>
                </a:solidFill>
              </a:rPr>
              <a:t>S</a:t>
            </a:r>
            <a:r>
              <a:rPr lang="en-US" sz="2400" dirty="0"/>
              <a:t> = {Alice, Bob, Charlie}</a:t>
            </a:r>
          </a:p>
          <a:p>
            <a:pPr marL="0" indent="0">
              <a:lnSpc>
                <a:spcPct val="100000"/>
              </a:lnSpc>
              <a:buNone/>
            </a:pPr>
            <a:r>
              <a:rPr lang="en-US" sz="2400" dirty="0"/>
              <a:t>Set C represents a set of courses: </a:t>
            </a:r>
            <a:r>
              <a:rPr lang="en-US" sz="2400" dirty="0">
                <a:solidFill>
                  <a:schemeClr val="accent1"/>
                </a:solidFill>
              </a:rPr>
              <a:t>C</a:t>
            </a:r>
            <a:r>
              <a:rPr lang="en-US" sz="2400" dirty="0"/>
              <a:t> = {Math, English, History}</a:t>
            </a:r>
          </a:p>
          <a:p>
            <a:pPr marL="0" indent="0">
              <a:lnSpc>
                <a:spcPct val="100000"/>
              </a:lnSpc>
              <a:buNone/>
            </a:pPr>
            <a:endParaRPr lang="en-US" sz="300" dirty="0"/>
          </a:p>
          <a:p>
            <a:pPr marL="0" indent="0">
              <a:lnSpc>
                <a:spcPct val="100000"/>
              </a:lnSpc>
              <a:buNone/>
            </a:pPr>
            <a:r>
              <a:rPr lang="en-US" sz="2400" dirty="0"/>
              <a:t>Now, let's define </a:t>
            </a:r>
            <a:r>
              <a:rPr lang="en-US" sz="2400" dirty="0">
                <a:solidFill>
                  <a:schemeClr val="accent1"/>
                </a:solidFill>
              </a:rPr>
              <a:t>a relation R</a:t>
            </a:r>
            <a:r>
              <a:rPr lang="en-US" sz="2400" dirty="0"/>
              <a:t> that </a:t>
            </a:r>
            <a:r>
              <a:rPr lang="en-US" sz="2400" dirty="0">
                <a:solidFill>
                  <a:schemeClr val="accent1"/>
                </a:solidFill>
              </a:rPr>
              <a:t>represents the enrollment of students in courses</a:t>
            </a:r>
            <a:r>
              <a:rPr lang="en-US" sz="2400" dirty="0"/>
              <a:t>:</a:t>
            </a:r>
          </a:p>
          <a:p>
            <a:pPr marL="0" indent="0">
              <a:lnSpc>
                <a:spcPct val="100000"/>
              </a:lnSpc>
              <a:buNone/>
            </a:pPr>
            <a:endParaRPr lang="en-US" sz="700" dirty="0"/>
          </a:p>
          <a:p>
            <a:pPr marL="0" indent="0">
              <a:lnSpc>
                <a:spcPct val="100000"/>
              </a:lnSpc>
              <a:buNone/>
            </a:pPr>
            <a:r>
              <a:rPr lang="en-US" sz="2400" dirty="0"/>
              <a:t>R = { (Alice, Math), (Bob, English), (Charlie, History), (Alice, History) }</a:t>
            </a:r>
          </a:p>
        </p:txBody>
      </p:sp>
      <p:sp>
        <p:nvSpPr>
          <p:cNvPr id="4" name="Date Placeholder 3">
            <a:extLst>
              <a:ext uri="{FF2B5EF4-FFF2-40B4-BE49-F238E27FC236}">
                <a16:creationId xmlns:a16="http://schemas.microsoft.com/office/drawing/2014/main" id="{CF3C8BE3-C8AF-42FF-A245-68DE0098A28E}"/>
              </a:ext>
            </a:extLst>
          </p:cNvPr>
          <p:cNvSpPr>
            <a:spLocks noGrp="1"/>
          </p:cNvSpPr>
          <p:nvPr>
            <p:ph type="dt" sz="half" idx="10"/>
          </p:nvPr>
        </p:nvSpPr>
        <p:spPr/>
        <p:txBody>
          <a:bodyPr/>
          <a:lstStyle/>
          <a:p>
            <a:r>
              <a:rPr lang="en-US" dirty="0"/>
              <a:t>31/12/2023</a:t>
            </a:r>
            <a:endParaRPr lang="en-PK" dirty="0"/>
          </a:p>
        </p:txBody>
      </p:sp>
      <p:sp>
        <p:nvSpPr>
          <p:cNvPr id="5" name="Slide Number Placeholder 4">
            <a:extLst>
              <a:ext uri="{FF2B5EF4-FFF2-40B4-BE49-F238E27FC236}">
                <a16:creationId xmlns:a16="http://schemas.microsoft.com/office/drawing/2014/main" id="{76FDA8F5-9CF0-4B6F-8CC9-C1B671639271}"/>
              </a:ext>
            </a:extLst>
          </p:cNvPr>
          <p:cNvSpPr>
            <a:spLocks noGrp="1"/>
          </p:cNvSpPr>
          <p:nvPr>
            <p:ph type="sldNum" sz="quarter" idx="12"/>
          </p:nvPr>
        </p:nvSpPr>
        <p:spPr/>
        <p:txBody>
          <a:bodyPr/>
          <a:lstStyle/>
          <a:p>
            <a:r>
              <a:rPr dirty="0"/>
              <a:t>5</a:t>
            </a:r>
          </a:p>
        </p:txBody>
      </p:sp>
    </p:spTree>
    <p:extLst>
      <p:ext uri="{BB962C8B-B14F-4D97-AF65-F5344CB8AC3E}">
        <p14:creationId xmlns:p14="http://schemas.microsoft.com/office/powerpoint/2010/main" val="301079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1555C-FC96-43AE-9196-D3EAE72BD96F}"/>
              </a:ext>
            </a:extLst>
          </p:cNvPr>
          <p:cNvSpPr>
            <a:spLocks noGrp="1"/>
          </p:cNvSpPr>
          <p:nvPr>
            <p:ph type="title"/>
          </p:nvPr>
        </p:nvSpPr>
        <p:spPr/>
        <p:txBody>
          <a:bodyPr/>
          <a:lstStyle/>
          <a:p>
            <a:r>
              <a:rPr lang="en-US" dirty="0"/>
              <a:t>Representing relations</a:t>
            </a:r>
            <a:endParaRPr lang="en-PK" dirty="0"/>
          </a:p>
        </p:txBody>
      </p:sp>
      <p:sp>
        <p:nvSpPr>
          <p:cNvPr id="3" name="Content Placeholder 2">
            <a:extLst>
              <a:ext uri="{FF2B5EF4-FFF2-40B4-BE49-F238E27FC236}">
                <a16:creationId xmlns:a16="http://schemas.microsoft.com/office/drawing/2014/main" id="{C189D6F8-B905-4C81-B7AC-BFBCBE6B6898}"/>
              </a:ext>
            </a:extLst>
          </p:cNvPr>
          <p:cNvSpPr>
            <a:spLocks noGrp="1"/>
          </p:cNvSpPr>
          <p:nvPr>
            <p:ph idx="1"/>
          </p:nvPr>
        </p:nvSpPr>
        <p:spPr>
          <a:xfrm>
            <a:off x="838200" y="1825625"/>
            <a:ext cx="5585460" cy="1991995"/>
          </a:xfrm>
        </p:spPr>
        <p:txBody>
          <a:bodyPr>
            <a:noAutofit/>
          </a:bodyPr>
          <a:lstStyle/>
          <a:p>
            <a:pPr>
              <a:spcAft>
                <a:spcPts val="800"/>
              </a:spcAft>
              <a:defRPr sz="2400">
                <a:latin typeface="Aptos"/>
              </a:defRPr>
            </a:pPr>
            <a:r>
              <a:rPr dirty="0"/>
              <a:t>Consider the relation</a:t>
            </a:r>
          </a:p>
          <a:p>
            <a:pPr marL="0" indent="0">
              <a:spcAft>
                <a:spcPts val="800"/>
              </a:spcAft>
              <a:buNone/>
              <a:defRPr sz="2400">
                <a:latin typeface="Aptos"/>
              </a:defRPr>
            </a:pPr>
            <a:r>
              <a:rPr dirty="0">
                <a:solidFill>
                  <a:schemeClr val="accent1"/>
                </a:solidFill>
                <a:latin typeface="Söhne"/>
              </a:rPr>
              <a:t>R = { (a, 2), (b, 1), (b, 2), (c, 3), (d, 2) }</a:t>
            </a:r>
          </a:p>
          <a:p>
            <a:pPr marL="0" indent="0">
              <a:spcAft>
                <a:spcPts val="800"/>
              </a:spcAft>
              <a:buNone/>
              <a:defRPr sz="2400">
                <a:latin typeface="Aptos"/>
              </a:defRPr>
            </a:pPr>
            <a:r>
              <a:rPr dirty="0"/>
              <a:t>on sets</a:t>
            </a:r>
          </a:p>
          <a:p>
            <a:pPr marL="0" indent="0">
              <a:spcAft>
                <a:spcPts val="800"/>
              </a:spcAft>
              <a:buNone/>
              <a:defRPr sz="2400">
                <a:latin typeface="Aptos"/>
              </a:defRPr>
            </a:pPr>
            <a:r>
              <a:rPr i="1" dirty="0"/>
              <a:t>A = {a, b, c, d} </a:t>
            </a:r>
            <a:r>
              <a:rPr dirty="0"/>
              <a:t>and </a:t>
            </a:r>
            <a:r>
              <a:rPr i="1" dirty="0"/>
              <a:t>B = {1, 2, 3, 4}</a:t>
            </a:r>
          </a:p>
        </p:txBody>
      </p:sp>
      <p:sp>
        <p:nvSpPr>
          <p:cNvPr id="4" name="Date Placeholder 3">
            <a:extLst>
              <a:ext uri="{FF2B5EF4-FFF2-40B4-BE49-F238E27FC236}">
                <a16:creationId xmlns:a16="http://schemas.microsoft.com/office/drawing/2014/main" id="{495DB796-489C-49AF-9422-868F5A246992}"/>
              </a:ext>
            </a:extLst>
          </p:cNvPr>
          <p:cNvSpPr>
            <a:spLocks noGrp="1"/>
          </p:cNvSpPr>
          <p:nvPr>
            <p:ph type="dt" sz="half" idx="10"/>
          </p:nvPr>
        </p:nvSpPr>
        <p:spPr/>
        <p:txBody>
          <a:bodyPr/>
          <a:lstStyle/>
          <a:p>
            <a:r>
              <a:rPr lang="en-US" dirty="0"/>
              <a:t>31/12/2023</a:t>
            </a:r>
            <a:endParaRPr lang="en-PK" dirty="0"/>
          </a:p>
        </p:txBody>
      </p:sp>
      <p:sp>
        <p:nvSpPr>
          <p:cNvPr id="5" name="Slide Number Placeholder 4">
            <a:extLst>
              <a:ext uri="{FF2B5EF4-FFF2-40B4-BE49-F238E27FC236}">
                <a16:creationId xmlns:a16="http://schemas.microsoft.com/office/drawing/2014/main" id="{99766694-E378-4893-9483-F289AE6BE396}"/>
              </a:ext>
            </a:extLst>
          </p:cNvPr>
          <p:cNvSpPr>
            <a:spLocks noGrp="1"/>
          </p:cNvSpPr>
          <p:nvPr>
            <p:ph type="sldNum" sz="quarter" idx="12"/>
          </p:nvPr>
        </p:nvSpPr>
        <p:spPr/>
        <p:txBody>
          <a:bodyPr/>
          <a:lstStyle/>
          <a:p>
            <a:r>
              <a:rPr dirty="0"/>
              <a:t>6</a:t>
            </a:r>
          </a:p>
        </p:txBody>
      </p:sp>
      <p:grpSp>
        <p:nvGrpSpPr>
          <p:cNvPr id="50" name="Group 49">
            <a:extLst>
              <a:ext uri="{FF2B5EF4-FFF2-40B4-BE49-F238E27FC236}">
                <a16:creationId xmlns:a16="http://schemas.microsoft.com/office/drawing/2014/main" id="{F47F1C7E-E03D-49D2-94AB-EE397A07D5F4}"/>
              </a:ext>
            </a:extLst>
          </p:cNvPr>
          <p:cNvGrpSpPr/>
          <p:nvPr/>
        </p:nvGrpSpPr>
        <p:grpSpPr>
          <a:xfrm>
            <a:off x="1339215" y="4093025"/>
            <a:ext cx="2316480" cy="2395399"/>
            <a:chOff x="9037319" y="1825625"/>
            <a:chExt cx="2316480" cy="2395399"/>
          </a:xfrm>
        </p:grpSpPr>
        <p:sp>
          <p:nvSpPr>
            <p:cNvPr id="6" name="TextBox 5">
              <a:extLst>
                <a:ext uri="{FF2B5EF4-FFF2-40B4-BE49-F238E27FC236}">
                  <a16:creationId xmlns:a16="http://schemas.microsoft.com/office/drawing/2014/main" id="{30D59337-76E3-45D6-A997-AF8E3A34977E}"/>
                </a:ext>
              </a:extLst>
            </p:cNvPr>
            <p:cNvSpPr txBox="1"/>
            <p:nvPr/>
          </p:nvSpPr>
          <p:spPr>
            <a:xfrm>
              <a:off x="9037319" y="1825625"/>
              <a:ext cx="2316480" cy="2395399"/>
            </a:xfrm>
            <a:prstGeom prst="rect">
              <a:avLst/>
            </a:prstGeom>
            <a:noFill/>
          </p:spPr>
          <p:txBody>
            <a:bodyPr wrap="square" rtlCol="0">
              <a:spAutoFit/>
            </a:bodyPr>
            <a:lstStyle/>
            <a:p>
              <a:r>
                <a:rPr lang="en-US" sz="2800" dirty="0"/>
                <a:t>a  		</a:t>
              </a:r>
            </a:p>
            <a:p>
              <a:r>
                <a:rPr lang="en-US" sz="2800" dirty="0"/>
                <a:t>b  		1</a:t>
              </a:r>
            </a:p>
            <a:p>
              <a:r>
                <a:rPr lang="en-US" sz="2800" dirty="0"/>
                <a:t>c  		2</a:t>
              </a:r>
            </a:p>
            <a:p>
              <a:r>
                <a:rPr lang="en-US" sz="2800" dirty="0"/>
                <a:t>d		3</a:t>
              </a:r>
            </a:p>
            <a:p>
              <a:pPr algn="ctr">
                <a:lnSpc>
                  <a:spcPct val="150000"/>
                </a:lnSpc>
              </a:pPr>
              <a:r>
                <a:rPr lang="en-US" sz="2800" dirty="0"/>
                <a:t>Arrow </a:t>
              </a:r>
            </a:p>
          </p:txBody>
        </p:sp>
        <p:cxnSp>
          <p:nvCxnSpPr>
            <p:cNvPr id="18" name="Straight Arrow Connector 17">
              <a:extLst>
                <a:ext uri="{FF2B5EF4-FFF2-40B4-BE49-F238E27FC236}">
                  <a16:creationId xmlns:a16="http://schemas.microsoft.com/office/drawing/2014/main" id="{42BE4564-05DF-4D21-9673-BB8417761439}"/>
                </a:ext>
              </a:extLst>
            </p:cNvPr>
            <p:cNvCxnSpPr>
              <a:cxnSpLocks/>
            </p:cNvCxnSpPr>
            <p:nvPr/>
          </p:nvCxnSpPr>
          <p:spPr>
            <a:xfrm>
              <a:off x="9418320" y="2080260"/>
              <a:ext cx="1434465" cy="852935"/>
            </a:xfrm>
            <a:prstGeom prst="straightConnector1">
              <a:avLst/>
            </a:prstGeom>
            <a:ln>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7B2C2539-06ED-49A4-81C7-EA1BEE654BB4}"/>
                </a:ext>
              </a:extLst>
            </p:cNvPr>
            <p:cNvCxnSpPr>
              <a:cxnSpLocks/>
            </p:cNvCxnSpPr>
            <p:nvPr/>
          </p:nvCxnSpPr>
          <p:spPr>
            <a:xfrm>
              <a:off x="9439682" y="2506727"/>
              <a:ext cx="1413103" cy="465073"/>
            </a:xfrm>
            <a:prstGeom prst="straightConnector1">
              <a:avLst/>
            </a:prstGeom>
            <a:ln>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B6BE5826-4B09-4744-81E5-A7C6EC4B0009}"/>
                </a:ext>
              </a:extLst>
            </p:cNvPr>
            <p:cNvCxnSpPr>
              <a:cxnSpLocks/>
            </p:cNvCxnSpPr>
            <p:nvPr/>
          </p:nvCxnSpPr>
          <p:spPr>
            <a:xfrm>
              <a:off x="9439682" y="2971800"/>
              <a:ext cx="1467529" cy="403860"/>
            </a:xfrm>
            <a:prstGeom prst="straightConnector1">
              <a:avLst/>
            </a:prstGeom>
            <a:ln>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F238A35C-0067-488D-8FBE-56777693A82C}"/>
                </a:ext>
              </a:extLst>
            </p:cNvPr>
            <p:cNvCxnSpPr>
              <a:cxnSpLocks/>
            </p:cNvCxnSpPr>
            <p:nvPr/>
          </p:nvCxnSpPr>
          <p:spPr>
            <a:xfrm flipV="1">
              <a:off x="9439682" y="2995883"/>
              <a:ext cx="1413103" cy="379777"/>
            </a:xfrm>
            <a:prstGeom prst="straightConnector1">
              <a:avLst/>
            </a:prstGeom>
            <a:ln>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5F8FED14-7183-4A52-8ACC-17EC9864E5F0}"/>
                </a:ext>
              </a:extLst>
            </p:cNvPr>
            <p:cNvCxnSpPr>
              <a:cxnSpLocks/>
            </p:cNvCxnSpPr>
            <p:nvPr/>
          </p:nvCxnSpPr>
          <p:spPr>
            <a:xfrm>
              <a:off x="9439682" y="2506727"/>
              <a:ext cx="1427254" cy="0"/>
            </a:xfrm>
            <a:prstGeom prst="straightConnector1">
              <a:avLst/>
            </a:prstGeom>
            <a:ln>
              <a:headEnd type="oval" w="med" len="med"/>
              <a:tailEnd type="triangle" w="med" len="med"/>
            </a:ln>
          </p:spPr>
          <p:style>
            <a:lnRef idx="1">
              <a:schemeClr val="accent1"/>
            </a:lnRef>
            <a:fillRef idx="0">
              <a:schemeClr val="accent1"/>
            </a:fillRef>
            <a:effectRef idx="0">
              <a:schemeClr val="accent1"/>
            </a:effectRef>
            <a:fontRef idx="minor">
              <a:schemeClr val="tx1"/>
            </a:fontRef>
          </p:style>
        </p:cxnSp>
      </p:grpSp>
      <p:graphicFrame>
        <p:nvGraphicFramePr>
          <p:cNvPr id="43" name="Table 43">
            <a:extLst>
              <a:ext uri="{FF2B5EF4-FFF2-40B4-BE49-F238E27FC236}">
                <a16:creationId xmlns:a16="http://schemas.microsoft.com/office/drawing/2014/main" id="{5B466C3C-B5B9-46EB-BB0E-AF9E99EC00F2}"/>
              </a:ext>
            </a:extLst>
          </p:cNvPr>
          <p:cNvGraphicFramePr>
            <a:graphicFrameLocks noGrp="1"/>
          </p:cNvGraphicFramePr>
          <p:nvPr>
            <p:extLst>
              <p:ext uri="{D42A27DB-BD31-4B8C-83A1-F6EECF244321}">
                <p14:modId xmlns:p14="http://schemas.microsoft.com/office/powerpoint/2010/main" val="3059413122"/>
              </p:ext>
            </p:extLst>
          </p:nvPr>
        </p:nvGraphicFramePr>
        <p:xfrm>
          <a:off x="5138237" y="3996773"/>
          <a:ext cx="1930400" cy="1981200"/>
        </p:xfrm>
        <a:graphic>
          <a:graphicData uri="http://schemas.openxmlformats.org/drawingml/2006/table">
            <a:tbl>
              <a:tblPr firstRow="1" bandRow="1">
                <a:tableStyleId>{2D5ABB26-0587-4C30-8999-92F81FD0307C}</a:tableStyleId>
              </a:tblPr>
              <a:tblGrid>
                <a:gridCol w="386080">
                  <a:extLst>
                    <a:ext uri="{9D8B030D-6E8A-4147-A177-3AD203B41FA5}">
                      <a16:colId xmlns:a16="http://schemas.microsoft.com/office/drawing/2014/main" val="680677508"/>
                    </a:ext>
                  </a:extLst>
                </a:gridCol>
                <a:gridCol w="386080">
                  <a:extLst>
                    <a:ext uri="{9D8B030D-6E8A-4147-A177-3AD203B41FA5}">
                      <a16:colId xmlns:a16="http://schemas.microsoft.com/office/drawing/2014/main" val="1655424674"/>
                    </a:ext>
                  </a:extLst>
                </a:gridCol>
                <a:gridCol w="386080">
                  <a:extLst>
                    <a:ext uri="{9D8B030D-6E8A-4147-A177-3AD203B41FA5}">
                      <a16:colId xmlns:a16="http://schemas.microsoft.com/office/drawing/2014/main" val="673293229"/>
                    </a:ext>
                  </a:extLst>
                </a:gridCol>
                <a:gridCol w="386080">
                  <a:extLst>
                    <a:ext uri="{9D8B030D-6E8A-4147-A177-3AD203B41FA5}">
                      <a16:colId xmlns:a16="http://schemas.microsoft.com/office/drawing/2014/main" val="3842577041"/>
                    </a:ext>
                  </a:extLst>
                </a:gridCol>
                <a:gridCol w="386080">
                  <a:extLst>
                    <a:ext uri="{9D8B030D-6E8A-4147-A177-3AD203B41FA5}">
                      <a16:colId xmlns:a16="http://schemas.microsoft.com/office/drawing/2014/main" val="841474637"/>
                    </a:ext>
                  </a:extLst>
                </a:gridCol>
              </a:tblGrid>
              <a:tr h="370840">
                <a:tc>
                  <a:txBody>
                    <a:bodyPr/>
                    <a:lstStyle/>
                    <a:p>
                      <a:pPr algn="ctr"/>
                      <a:r>
                        <a:rPr lang="en-US" sz="2000" dirty="0"/>
                        <a:t>R</a:t>
                      </a:r>
                      <a:endParaRPr lang="en-PK" sz="20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t>1</a:t>
                      </a:r>
                      <a:endParaRPr lang="en-PK" sz="20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t>2</a:t>
                      </a:r>
                      <a:endParaRPr lang="en-PK"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t>3</a:t>
                      </a:r>
                      <a:endParaRPr lang="en-PK"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t>4</a:t>
                      </a:r>
                      <a:endParaRPr lang="en-PK"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6671940"/>
                  </a:ext>
                </a:extLst>
              </a:tr>
              <a:tr h="370840">
                <a:tc>
                  <a:txBody>
                    <a:bodyPr/>
                    <a:lstStyle/>
                    <a:p>
                      <a:pPr algn="ctr"/>
                      <a:r>
                        <a:rPr lang="en-US" sz="2000" dirty="0"/>
                        <a:t>a</a:t>
                      </a:r>
                      <a:endParaRPr lang="en-PK" sz="20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PK" sz="2000"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000" dirty="0">
                          <a:solidFill>
                            <a:schemeClr val="accent1"/>
                          </a:solidFill>
                        </a:rPr>
                        <a:t>x</a:t>
                      </a:r>
                      <a:endParaRPr lang="en-PK" sz="2000" dirty="0">
                        <a:solidFill>
                          <a:schemeClr val="accent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PK" sz="2000" dirty="0">
                        <a:solidFill>
                          <a:schemeClr val="accent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PK" sz="2000" dirty="0">
                        <a:solidFill>
                          <a:schemeClr val="accent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461474694"/>
                  </a:ext>
                </a:extLst>
              </a:tr>
              <a:tr h="370840">
                <a:tc>
                  <a:txBody>
                    <a:bodyPr/>
                    <a:lstStyle/>
                    <a:p>
                      <a:pPr algn="ctr"/>
                      <a:r>
                        <a:rPr lang="en-US" sz="2000" dirty="0"/>
                        <a:t>b</a:t>
                      </a:r>
                      <a:endParaRPr lang="en-PK" sz="20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000" dirty="0">
                          <a:solidFill>
                            <a:schemeClr val="accent1"/>
                          </a:solidFill>
                        </a:rPr>
                        <a:t>x</a:t>
                      </a:r>
                      <a:endParaRPr lang="en-PK" sz="2000"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000" dirty="0">
                          <a:solidFill>
                            <a:schemeClr val="accent1"/>
                          </a:solidFill>
                        </a:rPr>
                        <a:t>x</a:t>
                      </a:r>
                      <a:endParaRPr lang="en-PK" sz="2000" dirty="0">
                        <a:solidFill>
                          <a:schemeClr val="accent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PK" sz="2000" dirty="0">
                        <a:solidFill>
                          <a:schemeClr val="accent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PK" sz="2000" dirty="0">
                        <a:solidFill>
                          <a:schemeClr val="accent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42340046"/>
                  </a:ext>
                </a:extLst>
              </a:tr>
              <a:tr h="0">
                <a:tc>
                  <a:txBody>
                    <a:bodyPr/>
                    <a:lstStyle/>
                    <a:p>
                      <a:pPr algn="ctr"/>
                      <a:r>
                        <a:rPr lang="en-US" sz="2000" dirty="0"/>
                        <a:t>c</a:t>
                      </a:r>
                      <a:endParaRPr lang="en-PK" sz="20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PK" sz="2000"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PK" sz="2000" dirty="0">
                        <a:solidFill>
                          <a:schemeClr val="accent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PK" sz="2000" dirty="0">
                        <a:solidFill>
                          <a:schemeClr val="accent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000" dirty="0">
                          <a:solidFill>
                            <a:schemeClr val="accent1"/>
                          </a:solidFill>
                        </a:rPr>
                        <a:t>x</a:t>
                      </a:r>
                      <a:endParaRPr lang="en-PK" sz="2000" dirty="0">
                        <a:solidFill>
                          <a:schemeClr val="accent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091431953"/>
                  </a:ext>
                </a:extLst>
              </a:tr>
              <a:tr h="0">
                <a:tc>
                  <a:txBody>
                    <a:bodyPr/>
                    <a:lstStyle/>
                    <a:p>
                      <a:pPr algn="ctr"/>
                      <a:r>
                        <a:rPr lang="en-US" sz="2000" dirty="0"/>
                        <a:t>d</a:t>
                      </a:r>
                      <a:endParaRPr lang="en-PK" sz="20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PK" sz="2000"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000" dirty="0">
                          <a:solidFill>
                            <a:schemeClr val="accent1"/>
                          </a:solidFill>
                        </a:rPr>
                        <a:t>x</a:t>
                      </a:r>
                      <a:endParaRPr lang="en-PK" sz="2000" dirty="0">
                        <a:solidFill>
                          <a:schemeClr val="accent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PK" sz="2000" dirty="0">
                        <a:solidFill>
                          <a:schemeClr val="accent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PK" sz="2000" dirty="0">
                        <a:solidFill>
                          <a:schemeClr val="accent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504494055"/>
                  </a:ext>
                </a:extLst>
              </a:tr>
            </a:tbl>
          </a:graphicData>
        </a:graphic>
      </p:graphicFrame>
      <p:graphicFrame>
        <p:nvGraphicFramePr>
          <p:cNvPr id="45" name="Table 43">
            <a:extLst>
              <a:ext uri="{FF2B5EF4-FFF2-40B4-BE49-F238E27FC236}">
                <a16:creationId xmlns:a16="http://schemas.microsoft.com/office/drawing/2014/main" id="{ABCA6120-B4BD-416F-AF9F-D6C3A01014F8}"/>
              </a:ext>
            </a:extLst>
          </p:cNvPr>
          <p:cNvGraphicFramePr>
            <a:graphicFrameLocks noGrp="1"/>
          </p:cNvGraphicFramePr>
          <p:nvPr>
            <p:extLst>
              <p:ext uri="{D42A27DB-BD31-4B8C-83A1-F6EECF244321}">
                <p14:modId xmlns:p14="http://schemas.microsoft.com/office/powerpoint/2010/main" val="1771747750"/>
              </p:ext>
            </p:extLst>
          </p:nvPr>
        </p:nvGraphicFramePr>
        <p:xfrm>
          <a:off x="8892633" y="3908399"/>
          <a:ext cx="1960152" cy="1981200"/>
        </p:xfrm>
        <a:graphic>
          <a:graphicData uri="http://schemas.openxmlformats.org/drawingml/2006/table">
            <a:tbl>
              <a:tblPr firstRow="1" bandRow="1">
                <a:tableStyleId>{2D5ABB26-0587-4C30-8999-92F81FD0307C}</a:tableStyleId>
              </a:tblPr>
              <a:tblGrid>
                <a:gridCol w="275771">
                  <a:extLst>
                    <a:ext uri="{9D8B030D-6E8A-4147-A177-3AD203B41FA5}">
                      <a16:colId xmlns:a16="http://schemas.microsoft.com/office/drawing/2014/main" val="680677508"/>
                    </a:ext>
                  </a:extLst>
                </a:gridCol>
                <a:gridCol w="208280">
                  <a:extLst>
                    <a:ext uri="{9D8B030D-6E8A-4147-A177-3AD203B41FA5}">
                      <a16:colId xmlns:a16="http://schemas.microsoft.com/office/drawing/2014/main" val="1307947629"/>
                    </a:ext>
                  </a:extLst>
                </a:gridCol>
                <a:gridCol w="373017">
                  <a:extLst>
                    <a:ext uri="{9D8B030D-6E8A-4147-A177-3AD203B41FA5}">
                      <a16:colId xmlns:a16="http://schemas.microsoft.com/office/drawing/2014/main" val="1655424674"/>
                    </a:ext>
                  </a:extLst>
                </a:gridCol>
                <a:gridCol w="275771">
                  <a:extLst>
                    <a:ext uri="{9D8B030D-6E8A-4147-A177-3AD203B41FA5}">
                      <a16:colId xmlns:a16="http://schemas.microsoft.com/office/drawing/2014/main" val="673293229"/>
                    </a:ext>
                  </a:extLst>
                </a:gridCol>
                <a:gridCol w="275771">
                  <a:extLst>
                    <a:ext uri="{9D8B030D-6E8A-4147-A177-3AD203B41FA5}">
                      <a16:colId xmlns:a16="http://schemas.microsoft.com/office/drawing/2014/main" val="3842577041"/>
                    </a:ext>
                  </a:extLst>
                </a:gridCol>
                <a:gridCol w="343262">
                  <a:extLst>
                    <a:ext uri="{9D8B030D-6E8A-4147-A177-3AD203B41FA5}">
                      <a16:colId xmlns:a16="http://schemas.microsoft.com/office/drawing/2014/main" val="841474637"/>
                    </a:ext>
                  </a:extLst>
                </a:gridCol>
                <a:gridCol w="208280">
                  <a:extLst>
                    <a:ext uri="{9D8B030D-6E8A-4147-A177-3AD203B41FA5}">
                      <a16:colId xmlns:a16="http://schemas.microsoft.com/office/drawing/2014/main" val="32664454"/>
                    </a:ext>
                  </a:extLst>
                </a:gridCol>
              </a:tblGrid>
              <a:tr h="370840">
                <a:tc>
                  <a:txBody>
                    <a:bodyPr/>
                    <a:lstStyle/>
                    <a:p>
                      <a:pPr algn="ctr"/>
                      <a:endParaRPr lang="en-PK"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PK"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solidFill>
                            <a:schemeClr val="accent1"/>
                          </a:solidFill>
                        </a:rPr>
                        <a:t>1</a:t>
                      </a:r>
                      <a:endParaRPr lang="en-PK" sz="2000" dirty="0">
                        <a:solidFill>
                          <a:schemeClr val="accent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000" dirty="0">
                          <a:solidFill>
                            <a:schemeClr val="accent1"/>
                          </a:solidFill>
                        </a:rPr>
                        <a:t>2</a:t>
                      </a:r>
                      <a:endParaRPr lang="en-PK" sz="2000" dirty="0">
                        <a:solidFill>
                          <a:schemeClr val="accent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000" dirty="0">
                          <a:solidFill>
                            <a:schemeClr val="accent1"/>
                          </a:solidFill>
                        </a:rPr>
                        <a:t>3</a:t>
                      </a:r>
                      <a:endParaRPr lang="en-PK" sz="2000" dirty="0">
                        <a:solidFill>
                          <a:schemeClr val="accent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000" dirty="0">
                          <a:solidFill>
                            <a:schemeClr val="accent1"/>
                          </a:solidFill>
                        </a:rPr>
                        <a:t>4</a:t>
                      </a:r>
                      <a:endParaRPr lang="en-PK" sz="2000" dirty="0">
                        <a:solidFill>
                          <a:schemeClr val="accent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PK"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6671940"/>
                  </a:ext>
                </a:extLst>
              </a:tr>
              <a:tr h="370840">
                <a:tc>
                  <a:txBody>
                    <a:bodyPr/>
                    <a:lstStyle/>
                    <a:p>
                      <a:pPr algn="ctr"/>
                      <a:r>
                        <a:rPr lang="en-US" sz="2000" dirty="0">
                          <a:solidFill>
                            <a:schemeClr val="accent1"/>
                          </a:solidFill>
                        </a:rPr>
                        <a:t>a</a:t>
                      </a:r>
                      <a:endParaRPr lang="en-PK" sz="2000" dirty="0">
                        <a:solidFill>
                          <a:schemeClr val="accent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PK" sz="2000"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000" dirty="0">
                          <a:solidFill>
                            <a:schemeClr val="tx1"/>
                          </a:solidFill>
                        </a:rPr>
                        <a:t>0</a:t>
                      </a:r>
                      <a:endParaRPr lang="en-PK" sz="20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solidFill>
                            <a:schemeClr val="tx1"/>
                          </a:solidFill>
                        </a:rPr>
                        <a:t>1</a:t>
                      </a:r>
                      <a:endParaRPr lang="en-PK" sz="20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000" dirty="0">
                          <a:solidFill>
                            <a:schemeClr val="tx1"/>
                          </a:solidFill>
                        </a:rPr>
                        <a:t>0</a:t>
                      </a:r>
                      <a:endParaRPr lang="en-PK" sz="20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000" dirty="0">
                          <a:solidFill>
                            <a:schemeClr val="tx1"/>
                          </a:solidFill>
                        </a:rPr>
                        <a:t>0</a:t>
                      </a:r>
                      <a:endParaRPr lang="en-PK" sz="20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PK" sz="2000" dirty="0">
                        <a:solidFill>
                          <a:schemeClr val="accent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461474694"/>
                  </a:ext>
                </a:extLst>
              </a:tr>
              <a:tr h="370840">
                <a:tc>
                  <a:txBody>
                    <a:bodyPr/>
                    <a:lstStyle/>
                    <a:p>
                      <a:pPr algn="ctr"/>
                      <a:r>
                        <a:rPr lang="en-US" sz="2000" dirty="0">
                          <a:solidFill>
                            <a:schemeClr val="accent1"/>
                          </a:solidFill>
                        </a:rPr>
                        <a:t>b</a:t>
                      </a:r>
                      <a:endParaRPr lang="en-PK" sz="2000" dirty="0">
                        <a:solidFill>
                          <a:schemeClr val="accent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PK" sz="2000"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000" dirty="0">
                          <a:solidFill>
                            <a:schemeClr val="tx1"/>
                          </a:solidFill>
                        </a:rPr>
                        <a:t>1</a:t>
                      </a:r>
                      <a:endParaRPr lang="en-PK" sz="20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solidFill>
                            <a:schemeClr val="tx1"/>
                          </a:solidFill>
                        </a:rPr>
                        <a:t>1</a:t>
                      </a:r>
                      <a:endParaRPr lang="en-PK" sz="20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000" dirty="0">
                          <a:solidFill>
                            <a:schemeClr val="tx1"/>
                          </a:solidFill>
                        </a:rPr>
                        <a:t>0</a:t>
                      </a:r>
                      <a:endParaRPr lang="en-PK" sz="20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000" dirty="0">
                          <a:solidFill>
                            <a:schemeClr val="tx1"/>
                          </a:solidFill>
                        </a:rPr>
                        <a:t>0</a:t>
                      </a:r>
                      <a:endParaRPr lang="en-PK" sz="20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PK" sz="2000" dirty="0">
                        <a:solidFill>
                          <a:schemeClr val="accent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42340046"/>
                  </a:ext>
                </a:extLst>
              </a:tr>
              <a:tr h="0">
                <a:tc>
                  <a:txBody>
                    <a:bodyPr/>
                    <a:lstStyle/>
                    <a:p>
                      <a:pPr algn="ctr"/>
                      <a:r>
                        <a:rPr lang="en-US" sz="2000" dirty="0">
                          <a:solidFill>
                            <a:schemeClr val="accent1"/>
                          </a:solidFill>
                        </a:rPr>
                        <a:t>c</a:t>
                      </a:r>
                      <a:endParaRPr lang="en-PK" sz="2000" dirty="0">
                        <a:solidFill>
                          <a:schemeClr val="accent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PK" sz="2000"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000" dirty="0">
                          <a:solidFill>
                            <a:schemeClr val="tx1"/>
                          </a:solidFill>
                        </a:rPr>
                        <a:t>0</a:t>
                      </a:r>
                      <a:endParaRPr lang="en-PK" sz="20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solidFill>
                            <a:schemeClr val="tx1"/>
                          </a:solidFill>
                        </a:rPr>
                        <a:t>0</a:t>
                      </a:r>
                      <a:endParaRPr lang="en-PK" sz="20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000" dirty="0">
                          <a:solidFill>
                            <a:schemeClr val="tx1"/>
                          </a:solidFill>
                        </a:rPr>
                        <a:t>0</a:t>
                      </a:r>
                      <a:endParaRPr lang="en-PK" sz="20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000" dirty="0">
                          <a:solidFill>
                            <a:schemeClr val="tx1"/>
                          </a:solidFill>
                        </a:rPr>
                        <a:t>1</a:t>
                      </a:r>
                      <a:endParaRPr lang="en-PK" sz="20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PK" sz="2000" dirty="0">
                        <a:solidFill>
                          <a:schemeClr val="accent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091431953"/>
                  </a:ext>
                </a:extLst>
              </a:tr>
              <a:tr h="0">
                <a:tc>
                  <a:txBody>
                    <a:bodyPr/>
                    <a:lstStyle/>
                    <a:p>
                      <a:pPr algn="ctr"/>
                      <a:r>
                        <a:rPr lang="en-US" sz="2000" dirty="0">
                          <a:solidFill>
                            <a:schemeClr val="accent1"/>
                          </a:solidFill>
                        </a:rPr>
                        <a:t>d</a:t>
                      </a:r>
                      <a:endParaRPr lang="en-PK" sz="2000" dirty="0">
                        <a:solidFill>
                          <a:schemeClr val="accent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PK" sz="2000"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solidFill>
                            <a:schemeClr val="tx1"/>
                          </a:solidFill>
                        </a:rPr>
                        <a:t>0</a:t>
                      </a:r>
                      <a:endParaRPr lang="en-PK" sz="20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solidFill>
                            <a:schemeClr val="tx1"/>
                          </a:solidFill>
                        </a:rPr>
                        <a:t>1</a:t>
                      </a:r>
                      <a:endParaRPr lang="en-PK" sz="20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000" dirty="0">
                          <a:solidFill>
                            <a:schemeClr val="tx1"/>
                          </a:solidFill>
                        </a:rPr>
                        <a:t>0</a:t>
                      </a:r>
                      <a:endParaRPr lang="en-PK" sz="20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000" dirty="0">
                          <a:solidFill>
                            <a:schemeClr val="tx1"/>
                          </a:solidFill>
                        </a:rPr>
                        <a:t>0</a:t>
                      </a:r>
                      <a:endParaRPr lang="en-PK" sz="20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PK" sz="2000" dirty="0">
                        <a:solidFill>
                          <a:schemeClr val="accent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04494055"/>
                  </a:ext>
                </a:extLst>
              </a:tr>
            </a:tbl>
          </a:graphicData>
        </a:graphic>
      </p:graphicFrame>
      <p:sp>
        <p:nvSpPr>
          <p:cNvPr id="46" name="TextBox 45">
            <a:extLst>
              <a:ext uri="{FF2B5EF4-FFF2-40B4-BE49-F238E27FC236}">
                <a16:creationId xmlns:a16="http://schemas.microsoft.com/office/drawing/2014/main" id="{E547A446-D9B3-4FA2-AE04-FAFBE768A65D}"/>
              </a:ext>
            </a:extLst>
          </p:cNvPr>
          <p:cNvSpPr txBox="1"/>
          <p:nvPr/>
        </p:nvSpPr>
        <p:spPr>
          <a:xfrm>
            <a:off x="9005206" y="5889599"/>
            <a:ext cx="1960152" cy="523220"/>
          </a:xfrm>
          <a:prstGeom prst="rect">
            <a:avLst/>
          </a:prstGeom>
          <a:noFill/>
        </p:spPr>
        <p:txBody>
          <a:bodyPr wrap="square" rtlCol="0">
            <a:spAutoFit/>
          </a:bodyPr>
          <a:lstStyle/>
          <a:p>
            <a:pPr algn="ctr"/>
            <a:r>
              <a:rPr lang="en-US" sz="2800" dirty="0"/>
              <a:t>Matrix</a:t>
            </a:r>
            <a:endParaRPr lang="en-PK" dirty="0"/>
          </a:p>
        </p:txBody>
      </p:sp>
      <p:sp>
        <p:nvSpPr>
          <p:cNvPr id="51" name="TextBox 50">
            <a:extLst>
              <a:ext uri="{FF2B5EF4-FFF2-40B4-BE49-F238E27FC236}">
                <a16:creationId xmlns:a16="http://schemas.microsoft.com/office/drawing/2014/main" id="{487273EF-1B7F-423D-9483-6EBCFAA1F305}"/>
              </a:ext>
            </a:extLst>
          </p:cNvPr>
          <p:cNvSpPr txBox="1"/>
          <p:nvPr/>
        </p:nvSpPr>
        <p:spPr>
          <a:xfrm>
            <a:off x="5115924" y="5889599"/>
            <a:ext cx="1960152" cy="523220"/>
          </a:xfrm>
          <a:prstGeom prst="rect">
            <a:avLst/>
          </a:prstGeom>
          <a:noFill/>
        </p:spPr>
        <p:txBody>
          <a:bodyPr wrap="square" rtlCol="0">
            <a:spAutoFit/>
          </a:bodyPr>
          <a:lstStyle/>
          <a:p>
            <a:pPr algn="ctr"/>
            <a:r>
              <a:rPr lang="en-US" sz="2800" dirty="0"/>
              <a:t>Table</a:t>
            </a:r>
            <a:endParaRPr lang="en-PK" dirty="0"/>
          </a:p>
        </p:txBody>
      </p:sp>
    </p:spTree>
    <p:extLst>
      <p:ext uri="{BB962C8B-B14F-4D97-AF65-F5344CB8AC3E}">
        <p14:creationId xmlns:p14="http://schemas.microsoft.com/office/powerpoint/2010/main" val="2020601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1555C-FC96-43AE-9196-D3EAE72BD96F}"/>
              </a:ext>
            </a:extLst>
          </p:cNvPr>
          <p:cNvSpPr>
            <a:spLocks noGrp="1"/>
          </p:cNvSpPr>
          <p:nvPr>
            <p:ph type="title"/>
          </p:nvPr>
        </p:nvSpPr>
        <p:spPr/>
        <p:txBody>
          <a:bodyPr/>
          <a:lstStyle/>
          <a:p>
            <a:r>
              <a:rPr lang="en-US" dirty="0"/>
              <a:t>Functions as Relations </a:t>
            </a:r>
            <a:endParaRPr lang="en-PK" dirty="0"/>
          </a:p>
        </p:txBody>
      </p:sp>
      <p:sp>
        <p:nvSpPr>
          <p:cNvPr id="3" name="Content Placeholder 2">
            <a:extLst>
              <a:ext uri="{FF2B5EF4-FFF2-40B4-BE49-F238E27FC236}">
                <a16:creationId xmlns:a16="http://schemas.microsoft.com/office/drawing/2014/main" id="{C189D6F8-B905-4C81-B7AC-BFBCBE6B6898}"/>
              </a:ext>
            </a:extLst>
          </p:cNvPr>
          <p:cNvSpPr>
            <a:spLocks noGrp="1"/>
          </p:cNvSpPr>
          <p:nvPr>
            <p:ph idx="1"/>
          </p:nvPr>
        </p:nvSpPr>
        <p:spPr/>
        <p:txBody>
          <a:bodyPr/>
          <a:lstStyle/>
          <a:p>
            <a:pPr>
              <a:spcAft>
                <a:spcPts val="800"/>
              </a:spcAft>
              <a:defRPr sz="2400">
                <a:latin typeface="Aptos"/>
              </a:defRPr>
            </a:pPr>
            <a:r>
              <a:rPr dirty="0"/>
              <a:t>A </a:t>
            </a:r>
            <a:r>
              <a:rPr dirty="0">
                <a:solidFill>
                  <a:schemeClr val="accent1"/>
                </a:solidFill>
                <a:latin typeface="Söhne"/>
              </a:rPr>
              <a:t>function is a special type of relation </a:t>
            </a:r>
            <a:r>
              <a:rPr dirty="0"/>
              <a:t>between two sets where each element in the domain is associated with exactly one element in the codomain.</a:t>
            </a:r>
          </a:p>
          <a:p>
            <a:pPr>
              <a:spcAft>
                <a:spcPts val="800"/>
              </a:spcAft>
              <a:defRPr sz="2400">
                <a:latin typeface="Aptos"/>
              </a:defRPr>
            </a:pPr>
            <a:r>
              <a:rPr b="1" dirty="0"/>
              <a:t>Example:</a:t>
            </a:r>
          </a:p>
          <a:p>
            <a:pPr marL="0" indent="0">
              <a:spcAft>
                <a:spcPts val="800"/>
              </a:spcAft>
              <a:buNone/>
              <a:defRPr sz="2400">
                <a:latin typeface="Aptos"/>
              </a:defRPr>
            </a:pPr>
            <a:r>
              <a:rPr dirty="0"/>
              <a:t>Let </a:t>
            </a:r>
            <a:r>
              <a:rPr i="1" dirty="0"/>
              <a:t>A = {a, b, c} </a:t>
            </a:r>
            <a:r>
              <a:rPr dirty="0"/>
              <a:t>and </a:t>
            </a:r>
            <a:r>
              <a:rPr i="1" dirty="0"/>
              <a:t>B = {1, 2, 3}</a:t>
            </a:r>
          </a:p>
          <a:p>
            <a:pPr marL="0" indent="0">
              <a:spcAft>
                <a:spcPts val="800"/>
              </a:spcAft>
              <a:buNone/>
              <a:defRPr sz="2400">
                <a:latin typeface="Aptos"/>
              </a:defRPr>
            </a:pPr>
            <a:r>
              <a:rPr dirty="0"/>
              <a:t>A relation </a:t>
            </a:r>
            <a:r>
              <a:rPr dirty="0">
                <a:solidFill>
                  <a:schemeClr val="accent1"/>
                </a:solidFill>
                <a:latin typeface="Söhne"/>
              </a:rPr>
              <a:t>R = { (a, 1), (b, 2), (c, 3), (a, 2) } </a:t>
            </a:r>
            <a:r>
              <a:rPr dirty="0"/>
              <a:t>is not a function because a maps to two values.</a:t>
            </a:r>
          </a:p>
          <a:p>
            <a:pPr marL="0" indent="0">
              <a:spcAft>
                <a:spcPts val="800"/>
              </a:spcAft>
              <a:buNone/>
              <a:defRPr sz="2400">
                <a:latin typeface="Aptos"/>
              </a:defRPr>
            </a:pPr>
            <a:r>
              <a:rPr dirty="0"/>
              <a:t>A function </a:t>
            </a:r>
            <a:r>
              <a:rPr dirty="0">
                <a:solidFill>
                  <a:schemeClr val="accent1"/>
                </a:solidFill>
                <a:latin typeface="Söhne"/>
              </a:rPr>
              <a:t>f = { (a, 1), (b, 2), (c, 3) } </a:t>
            </a:r>
            <a:r>
              <a:rPr dirty="0"/>
              <a:t>maps every element of </a:t>
            </a:r>
            <a:r>
              <a:rPr i="1" dirty="0"/>
              <a:t>A </a:t>
            </a:r>
            <a:r>
              <a:rPr dirty="0"/>
              <a:t>to exactly one element of </a:t>
            </a:r>
            <a:r>
              <a:rPr i="1" dirty="0"/>
              <a:t>B</a:t>
            </a:r>
            <a:r>
              <a:rPr dirty="0"/>
              <a:t>.</a:t>
            </a:r>
          </a:p>
        </p:txBody>
      </p:sp>
      <p:sp>
        <p:nvSpPr>
          <p:cNvPr id="4" name="Date Placeholder 3">
            <a:extLst>
              <a:ext uri="{FF2B5EF4-FFF2-40B4-BE49-F238E27FC236}">
                <a16:creationId xmlns:a16="http://schemas.microsoft.com/office/drawing/2014/main" id="{495DB796-489C-49AF-9422-868F5A246992}"/>
              </a:ext>
            </a:extLst>
          </p:cNvPr>
          <p:cNvSpPr>
            <a:spLocks noGrp="1"/>
          </p:cNvSpPr>
          <p:nvPr>
            <p:ph type="dt" sz="half" idx="10"/>
          </p:nvPr>
        </p:nvSpPr>
        <p:spPr/>
        <p:txBody>
          <a:bodyPr/>
          <a:lstStyle/>
          <a:p>
            <a:r>
              <a:rPr lang="en-US" dirty="0"/>
              <a:t>31/12/2023</a:t>
            </a:r>
            <a:endParaRPr lang="en-PK" dirty="0"/>
          </a:p>
        </p:txBody>
      </p:sp>
      <p:sp>
        <p:nvSpPr>
          <p:cNvPr id="5" name="Slide Number Placeholder 4">
            <a:extLst>
              <a:ext uri="{FF2B5EF4-FFF2-40B4-BE49-F238E27FC236}">
                <a16:creationId xmlns:a16="http://schemas.microsoft.com/office/drawing/2014/main" id="{99766694-E378-4893-9483-F289AE6BE396}"/>
              </a:ext>
            </a:extLst>
          </p:cNvPr>
          <p:cNvSpPr>
            <a:spLocks noGrp="1"/>
          </p:cNvSpPr>
          <p:nvPr>
            <p:ph type="sldNum" sz="quarter" idx="12"/>
          </p:nvPr>
        </p:nvSpPr>
        <p:spPr/>
        <p:txBody>
          <a:bodyPr/>
          <a:lstStyle/>
          <a:p>
            <a:r>
              <a:rPr dirty="0"/>
              <a:t>7</a:t>
            </a:r>
          </a:p>
        </p:txBody>
      </p:sp>
    </p:spTree>
    <p:extLst>
      <p:ext uri="{BB962C8B-B14F-4D97-AF65-F5344CB8AC3E}">
        <p14:creationId xmlns:p14="http://schemas.microsoft.com/office/powerpoint/2010/main" val="3010656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1555C-FC96-43AE-9196-D3EAE72BD96F}"/>
              </a:ext>
            </a:extLst>
          </p:cNvPr>
          <p:cNvSpPr>
            <a:spLocks noGrp="1"/>
          </p:cNvSpPr>
          <p:nvPr>
            <p:ph type="title"/>
          </p:nvPr>
        </p:nvSpPr>
        <p:spPr/>
        <p:txBody>
          <a:bodyPr/>
          <a:lstStyle/>
          <a:p>
            <a:r>
              <a:rPr lang="en-US" dirty="0"/>
              <a:t>Relations on a Set </a:t>
            </a:r>
            <a:endParaRPr lang="en-PK" dirty="0"/>
          </a:p>
        </p:txBody>
      </p:sp>
      <p:sp>
        <p:nvSpPr>
          <p:cNvPr id="4" name="Date Placeholder 3">
            <a:extLst>
              <a:ext uri="{FF2B5EF4-FFF2-40B4-BE49-F238E27FC236}">
                <a16:creationId xmlns:a16="http://schemas.microsoft.com/office/drawing/2014/main" id="{495DB796-489C-49AF-9422-868F5A246992}"/>
              </a:ext>
            </a:extLst>
          </p:cNvPr>
          <p:cNvSpPr>
            <a:spLocks noGrp="1"/>
          </p:cNvSpPr>
          <p:nvPr>
            <p:ph type="dt" sz="half" idx="10"/>
          </p:nvPr>
        </p:nvSpPr>
        <p:spPr/>
        <p:txBody>
          <a:bodyPr/>
          <a:lstStyle/>
          <a:p>
            <a:r>
              <a:rPr lang="en-US" dirty="0"/>
              <a:t>31/12/2023</a:t>
            </a:r>
            <a:endParaRPr lang="en-PK" dirty="0"/>
          </a:p>
        </p:txBody>
      </p:sp>
      <p:sp>
        <p:nvSpPr>
          <p:cNvPr id="5" name="Slide Number Placeholder 4">
            <a:extLst>
              <a:ext uri="{FF2B5EF4-FFF2-40B4-BE49-F238E27FC236}">
                <a16:creationId xmlns:a16="http://schemas.microsoft.com/office/drawing/2014/main" id="{99766694-E378-4893-9483-F289AE6BE396}"/>
              </a:ext>
            </a:extLst>
          </p:cNvPr>
          <p:cNvSpPr>
            <a:spLocks noGrp="1"/>
          </p:cNvSpPr>
          <p:nvPr>
            <p:ph type="sldNum" sz="quarter" idx="12"/>
          </p:nvPr>
        </p:nvSpPr>
        <p:spPr/>
        <p:txBody>
          <a:bodyPr/>
          <a:lstStyle/>
          <a:p>
            <a:r>
              <a:rPr dirty="0"/>
              <a:t>8</a:t>
            </a:r>
          </a:p>
        </p:txBody>
      </p:sp>
      <p:grpSp>
        <p:nvGrpSpPr>
          <p:cNvPr id="6" name="Group 4">
            <a:extLst>
              <a:ext uri="{FF2B5EF4-FFF2-40B4-BE49-F238E27FC236}">
                <a16:creationId xmlns:a16="http://schemas.microsoft.com/office/drawing/2014/main" id="{4EAB5857-CDA9-4B37-9A3C-D6CE62FFF883}"/>
              </a:ext>
            </a:extLst>
          </p:cNvPr>
          <p:cNvGrpSpPr>
            <a:grpSpLocks/>
          </p:cNvGrpSpPr>
          <p:nvPr/>
        </p:nvGrpSpPr>
        <p:grpSpPr bwMode="auto">
          <a:xfrm>
            <a:off x="1824849" y="4511675"/>
            <a:ext cx="2314188" cy="2089150"/>
            <a:chOff x="864" y="2256"/>
            <a:chExt cx="1652" cy="1632"/>
          </a:xfrm>
        </p:grpSpPr>
        <p:sp>
          <p:nvSpPr>
            <p:cNvPr id="7" name="AutoShape 5">
              <a:extLst>
                <a:ext uri="{FF2B5EF4-FFF2-40B4-BE49-F238E27FC236}">
                  <a16:creationId xmlns:a16="http://schemas.microsoft.com/office/drawing/2014/main" id="{4E82BBFF-C54A-4648-BD58-6EC5FEE0B63B}"/>
                </a:ext>
              </a:extLst>
            </p:cNvPr>
            <p:cNvSpPr>
              <a:spLocks noChangeArrowheads="1"/>
            </p:cNvSpPr>
            <p:nvPr/>
          </p:nvSpPr>
          <p:spPr bwMode="auto">
            <a:xfrm>
              <a:off x="1152" y="2784"/>
              <a:ext cx="96" cy="96"/>
            </a:xfrm>
            <a:prstGeom prst="octagon">
              <a:avLst>
                <a:gd name="adj" fmla="val 29287"/>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PK" altLang="en-PK" dirty="0"/>
            </a:p>
          </p:txBody>
        </p:sp>
        <p:sp>
          <p:nvSpPr>
            <p:cNvPr id="8" name="AutoShape 6">
              <a:extLst>
                <a:ext uri="{FF2B5EF4-FFF2-40B4-BE49-F238E27FC236}">
                  <a16:creationId xmlns:a16="http://schemas.microsoft.com/office/drawing/2014/main" id="{5BFEB440-938E-4A1B-A549-67C9978353C5}"/>
                </a:ext>
              </a:extLst>
            </p:cNvPr>
            <p:cNvSpPr>
              <a:spLocks noChangeArrowheads="1"/>
            </p:cNvSpPr>
            <p:nvPr/>
          </p:nvSpPr>
          <p:spPr bwMode="auto">
            <a:xfrm>
              <a:off x="1152" y="3216"/>
              <a:ext cx="96" cy="96"/>
            </a:xfrm>
            <a:prstGeom prst="octagon">
              <a:avLst>
                <a:gd name="adj" fmla="val 29287"/>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PK" altLang="en-PK" dirty="0"/>
            </a:p>
          </p:txBody>
        </p:sp>
        <p:sp>
          <p:nvSpPr>
            <p:cNvPr id="9" name="AutoShape 7">
              <a:extLst>
                <a:ext uri="{FF2B5EF4-FFF2-40B4-BE49-F238E27FC236}">
                  <a16:creationId xmlns:a16="http://schemas.microsoft.com/office/drawing/2014/main" id="{F9E77785-5D86-4B05-8A87-E38BB06C8134}"/>
                </a:ext>
              </a:extLst>
            </p:cNvPr>
            <p:cNvSpPr>
              <a:spLocks noChangeArrowheads="1"/>
            </p:cNvSpPr>
            <p:nvPr/>
          </p:nvSpPr>
          <p:spPr bwMode="auto">
            <a:xfrm>
              <a:off x="1152" y="3696"/>
              <a:ext cx="96" cy="96"/>
            </a:xfrm>
            <a:prstGeom prst="octagon">
              <a:avLst>
                <a:gd name="adj" fmla="val 29287"/>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PK" altLang="en-PK" dirty="0"/>
            </a:p>
          </p:txBody>
        </p:sp>
        <p:sp>
          <p:nvSpPr>
            <p:cNvPr id="10" name="AutoShape 8">
              <a:extLst>
                <a:ext uri="{FF2B5EF4-FFF2-40B4-BE49-F238E27FC236}">
                  <a16:creationId xmlns:a16="http://schemas.microsoft.com/office/drawing/2014/main" id="{E356D6AC-B1BB-412C-8522-AB99BBEB1C31}"/>
                </a:ext>
              </a:extLst>
            </p:cNvPr>
            <p:cNvSpPr>
              <a:spLocks noChangeArrowheads="1"/>
            </p:cNvSpPr>
            <p:nvPr/>
          </p:nvSpPr>
          <p:spPr bwMode="auto">
            <a:xfrm>
              <a:off x="1152" y="2352"/>
              <a:ext cx="96" cy="96"/>
            </a:xfrm>
            <a:prstGeom prst="octagon">
              <a:avLst>
                <a:gd name="adj" fmla="val 29287"/>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PK" altLang="en-PK" dirty="0"/>
            </a:p>
          </p:txBody>
        </p:sp>
        <p:sp>
          <p:nvSpPr>
            <p:cNvPr id="11" name="AutoShape 9">
              <a:extLst>
                <a:ext uri="{FF2B5EF4-FFF2-40B4-BE49-F238E27FC236}">
                  <a16:creationId xmlns:a16="http://schemas.microsoft.com/office/drawing/2014/main" id="{85040851-61AC-48EA-A6F3-1BBB014CE881}"/>
                </a:ext>
              </a:extLst>
            </p:cNvPr>
            <p:cNvSpPr>
              <a:spLocks noChangeArrowheads="1"/>
            </p:cNvSpPr>
            <p:nvPr/>
          </p:nvSpPr>
          <p:spPr bwMode="auto">
            <a:xfrm>
              <a:off x="2112" y="2784"/>
              <a:ext cx="96" cy="96"/>
            </a:xfrm>
            <a:prstGeom prst="octagon">
              <a:avLst>
                <a:gd name="adj" fmla="val 29287"/>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PK" altLang="en-PK" dirty="0"/>
            </a:p>
          </p:txBody>
        </p:sp>
        <p:sp>
          <p:nvSpPr>
            <p:cNvPr id="12" name="AutoShape 10">
              <a:extLst>
                <a:ext uri="{FF2B5EF4-FFF2-40B4-BE49-F238E27FC236}">
                  <a16:creationId xmlns:a16="http://schemas.microsoft.com/office/drawing/2014/main" id="{8F980ACB-A734-41C6-AA6D-F0D9BE9E53BA}"/>
                </a:ext>
              </a:extLst>
            </p:cNvPr>
            <p:cNvSpPr>
              <a:spLocks noChangeArrowheads="1"/>
            </p:cNvSpPr>
            <p:nvPr/>
          </p:nvSpPr>
          <p:spPr bwMode="auto">
            <a:xfrm>
              <a:off x="2112" y="3696"/>
              <a:ext cx="96" cy="96"/>
            </a:xfrm>
            <a:prstGeom prst="octagon">
              <a:avLst>
                <a:gd name="adj" fmla="val 29287"/>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PK" altLang="en-PK" dirty="0"/>
            </a:p>
          </p:txBody>
        </p:sp>
        <p:sp>
          <p:nvSpPr>
            <p:cNvPr id="13" name="AutoShape 11">
              <a:extLst>
                <a:ext uri="{FF2B5EF4-FFF2-40B4-BE49-F238E27FC236}">
                  <a16:creationId xmlns:a16="http://schemas.microsoft.com/office/drawing/2014/main" id="{1164744A-B0B1-4925-953E-A2FE090FBB68}"/>
                </a:ext>
              </a:extLst>
            </p:cNvPr>
            <p:cNvSpPr>
              <a:spLocks noChangeArrowheads="1"/>
            </p:cNvSpPr>
            <p:nvPr/>
          </p:nvSpPr>
          <p:spPr bwMode="auto">
            <a:xfrm>
              <a:off x="2112" y="3216"/>
              <a:ext cx="96" cy="96"/>
            </a:xfrm>
            <a:prstGeom prst="octagon">
              <a:avLst>
                <a:gd name="adj" fmla="val 29287"/>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PK" altLang="en-PK" dirty="0"/>
            </a:p>
          </p:txBody>
        </p:sp>
        <p:cxnSp>
          <p:nvCxnSpPr>
            <p:cNvPr id="14" name="AutoShape 12">
              <a:extLst>
                <a:ext uri="{FF2B5EF4-FFF2-40B4-BE49-F238E27FC236}">
                  <a16:creationId xmlns:a16="http://schemas.microsoft.com/office/drawing/2014/main" id="{773B7775-3B63-4599-8C7A-73CD0F66889E}"/>
                </a:ext>
              </a:extLst>
            </p:cNvPr>
            <p:cNvCxnSpPr>
              <a:cxnSpLocks noChangeShapeType="1"/>
              <a:stCxn id="8" idx="2"/>
              <a:endCxn id="13" idx="3"/>
            </p:cNvCxnSpPr>
            <p:nvPr/>
          </p:nvCxnSpPr>
          <p:spPr bwMode="auto">
            <a:xfrm>
              <a:off x="1248" y="3264"/>
              <a:ext cx="864"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5" name="Text Box 13">
              <a:extLst>
                <a:ext uri="{FF2B5EF4-FFF2-40B4-BE49-F238E27FC236}">
                  <a16:creationId xmlns:a16="http://schemas.microsoft.com/office/drawing/2014/main" id="{ECC2D097-B937-48FF-9863-30469658E51B}"/>
                </a:ext>
              </a:extLst>
            </p:cNvPr>
            <p:cNvSpPr txBox="1">
              <a:spLocks noChangeArrowheads="1"/>
            </p:cNvSpPr>
            <p:nvPr/>
          </p:nvSpPr>
          <p:spPr bwMode="auto">
            <a:xfrm>
              <a:off x="864" y="312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PK" sz="2400" dirty="0">
                  <a:latin typeface="Times New Roman" panose="02020603050405020304" pitchFamily="18" charset="0"/>
                </a:rPr>
                <a:t>3</a:t>
              </a:r>
            </a:p>
          </p:txBody>
        </p:sp>
        <p:sp>
          <p:nvSpPr>
            <p:cNvPr id="16" name="Text Box 14">
              <a:extLst>
                <a:ext uri="{FF2B5EF4-FFF2-40B4-BE49-F238E27FC236}">
                  <a16:creationId xmlns:a16="http://schemas.microsoft.com/office/drawing/2014/main" id="{22BC3616-AD0A-4C72-868E-69A265BD3DD7}"/>
                </a:ext>
              </a:extLst>
            </p:cNvPr>
            <p:cNvSpPr txBox="1">
              <a:spLocks noChangeArrowheads="1"/>
            </p:cNvSpPr>
            <p:nvPr/>
          </p:nvSpPr>
          <p:spPr bwMode="auto">
            <a:xfrm>
              <a:off x="864" y="268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PK" sz="2400" dirty="0">
                  <a:latin typeface="Times New Roman" panose="02020603050405020304" pitchFamily="18" charset="0"/>
                </a:rPr>
                <a:t>2</a:t>
              </a:r>
            </a:p>
          </p:txBody>
        </p:sp>
        <p:sp>
          <p:nvSpPr>
            <p:cNvPr id="17" name="Text Box 15">
              <a:extLst>
                <a:ext uri="{FF2B5EF4-FFF2-40B4-BE49-F238E27FC236}">
                  <a16:creationId xmlns:a16="http://schemas.microsoft.com/office/drawing/2014/main" id="{F876E643-4CD1-4046-8FA1-370769329A8E}"/>
                </a:ext>
              </a:extLst>
            </p:cNvPr>
            <p:cNvSpPr txBox="1">
              <a:spLocks noChangeArrowheads="1"/>
            </p:cNvSpPr>
            <p:nvPr/>
          </p:nvSpPr>
          <p:spPr bwMode="auto">
            <a:xfrm>
              <a:off x="864" y="360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PK" sz="2400" dirty="0">
                  <a:latin typeface="Times New Roman" panose="02020603050405020304" pitchFamily="18" charset="0"/>
                </a:rPr>
                <a:t>4</a:t>
              </a:r>
            </a:p>
          </p:txBody>
        </p:sp>
        <p:sp>
          <p:nvSpPr>
            <p:cNvPr id="18" name="Text Box 16">
              <a:extLst>
                <a:ext uri="{FF2B5EF4-FFF2-40B4-BE49-F238E27FC236}">
                  <a16:creationId xmlns:a16="http://schemas.microsoft.com/office/drawing/2014/main" id="{0079B06F-620D-421B-AC6D-D2B8E6032EEE}"/>
                </a:ext>
              </a:extLst>
            </p:cNvPr>
            <p:cNvSpPr txBox="1">
              <a:spLocks noChangeArrowheads="1"/>
            </p:cNvSpPr>
            <p:nvPr/>
          </p:nvSpPr>
          <p:spPr bwMode="auto">
            <a:xfrm>
              <a:off x="2304" y="312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PK" sz="2400" dirty="0">
                  <a:latin typeface="Times New Roman" panose="02020603050405020304" pitchFamily="18" charset="0"/>
                </a:rPr>
                <a:t>3</a:t>
              </a:r>
            </a:p>
          </p:txBody>
        </p:sp>
        <p:sp>
          <p:nvSpPr>
            <p:cNvPr id="19" name="Text Box 17">
              <a:extLst>
                <a:ext uri="{FF2B5EF4-FFF2-40B4-BE49-F238E27FC236}">
                  <a16:creationId xmlns:a16="http://schemas.microsoft.com/office/drawing/2014/main" id="{4CD13997-9FCB-4729-96C5-C29F1530B98F}"/>
                </a:ext>
              </a:extLst>
            </p:cNvPr>
            <p:cNvSpPr txBox="1">
              <a:spLocks noChangeArrowheads="1"/>
            </p:cNvSpPr>
            <p:nvPr/>
          </p:nvSpPr>
          <p:spPr bwMode="auto">
            <a:xfrm>
              <a:off x="2304" y="360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PK" sz="2400" dirty="0">
                  <a:latin typeface="Times New Roman" panose="02020603050405020304" pitchFamily="18" charset="0"/>
                </a:rPr>
                <a:t>4</a:t>
              </a:r>
            </a:p>
          </p:txBody>
        </p:sp>
        <p:sp>
          <p:nvSpPr>
            <p:cNvPr id="20" name="Text Box 18">
              <a:extLst>
                <a:ext uri="{FF2B5EF4-FFF2-40B4-BE49-F238E27FC236}">
                  <a16:creationId xmlns:a16="http://schemas.microsoft.com/office/drawing/2014/main" id="{400A2831-CA10-499E-B663-25D4F24A3221}"/>
                </a:ext>
              </a:extLst>
            </p:cNvPr>
            <p:cNvSpPr txBox="1">
              <a:spLocks noChangeArrowheads="1"/>
            </p:cNvSpPr>
            <p:nvPr/>
          </p:nvSpPr>
          <p:spPr bwMode="auto">
            <a:xfrm>
              <a:off x="864" y="22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PK" sz="2400" dirty="0">
                  <a:latin typeface="Times New Roman" panose="02020603050405020304" pitchFamily="18" charset="0"/>
                </a:rPr>
                <a:t>1</a:t>
              </a:r>
            </a:p>
          </p:txBody>
        </p:sp>
        <p:cxnSp>
          <p:nvCxnSpPr>
            <p:cNvPr id="21" name="AutoShape 19">
              <a:extLst>
                <a:ext uri="{FF2B5EF4-FFF2-40B4-BE49-F238E27FC236}">
                  <a16:creationId xmlns:a16="http://schemas.microsoft.com/office/drawing/2014/main" id="{1D79A82F-A4C6-46BE-AFA3-BB11819715D1}"/>
                </a:ext>
              </a:extLst>
            </p:cNvPr>
            <p:cNvCxnSpPr>
              <a:cxnSpLocks noChangeShapeType="1"/>
              <a:stCxn id="7" idx="2"/>
              <a:endCxn id="11" idx="3"/>
            </p:cNvCxnSpPr>
            <p:nvPr/>
          </p:nvCxnSpPr>
          <p:spPr bwMode="auto">
            <a:xfrm>
              <a:off x="1248" y="2832"/>
              <a:ext cx="864"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2" name="AutoShape 20">
              <a:extLst>
                <a:ext uri="{FF2B5EF4-FFF2-40B4-BE49-F238E27FC236}">
                  <a16:creationId xmlns:a16="http://schemas.microsoft.com/office/drawing/2014/main" id="{DABA7535-107F-46CF-AE4C-1AE5F780C03A}"/>
                </a:ext>
              </a:extLst>
            </p:cNvPr>
            <p:cNvCxnSpPr>
              <a:cxnSpLocks noChangeShapeType="1"/>
              <a:stCxn id="10" idx="2"/>
              <a:endCxn id="26" idx="3"/>
            </p:cNvCxnSpPr>
            <p:nvPr/>
          </p:nvCxnSpPr>
          <p:spPr bwMode="auto">
            <a:xfrm>
              <a:off x="1248" y="2400"/>
              <a:ext cx="864"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3" name="AutoShape 21">
              <a:extLst>
                <a:ext uri="{FF2B5EF4-FFF2-40B4-BE49-F238E27FC236}">
                  <a16:creationId xmlns:a16="http://schemas.microsoft.com/office/drawing/2014/main" id="{50E74BC2-DEB5-497A-823B-C94D3DEC967F}"/>
                </a:ext>
              </a:extLst>
            </p:cNvPr>
            <p:cNvCxnSpPr>
              <a:cxnSpLocks noChangeShapeType="1"/>
              <a:stCxn id="9" idx="2"/>
              <a:endCxn id="12" idx="3"/>
            </p:cNvCxnSpPr>
            <p:nvPr/>
          </p:nvCxnSpPr>
          <p:spPr bwMode="auto">
            <a:xfrm>
              <a:off x="1248" y="3744"/>
              <a:ext cx="864"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4" name="Text Box 22">
              <a:extLst>
                <a:ext uri="{FF2B5EF4-FFF2-40B4-BE49-F238E27FC236}">
                  <a16:creationId xmlns:a16="http://schemas.microsoft.com/office/drawing/2014/main" id="{05E7CBD8-C247-48D4-ADF1-B743B71C171B}"/>
                </a:ext>
              </a:extLst>
            </p:cNvPr>
            <p:cNvSpPr txBox="1">
              <a:spLocks noChangeArrowheads="1"/>
            </p:cNvSpPr>
            <p:nvPr/>
          </p:nvSpPr>
          <p:spPr bwMode="auto">
            <a:xfrm>
              <a:off x="2304" y="268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PK" sz="2400" dirty="0">
                  <a:latin typeface="Times New Roman" panose="02020603050405020304" pitchFamily="18" charset="0"/>
                </a:rPr>
                <a:t>2</a:t>
              </a:r>
            </a:p>
          </p:txBody>
        </p:sp>
        <p:sp>
          <p:nvSpPr>
            <p:cNvPr id="25" name="Text Box 23">
              <a:extLst>
                <a:ext uri="{FF2B5EF4-FFF2-40B4-BE49-F238E27FC236}">
                  <a16:creationId xmlns:a16="http://schemas.microsoft.com/office/drawing/2014/main" id="{E26FEC61-5116-4BE3-AD59-25E527CE904F}"/>
                </a:ext>
              </a:extLst>
            </p:cNvPr>
            <p:cNvSpPr txBox="1">
              <a:spLocks noChangeArrowheads="1"/>
            </p:cNvSpPr>
            <p:nvPr/>
          </p:nvSpPr>
          <p:spPr bwMode="auto">
            <a:xfrm>
              <a:off x="2304" y="22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PK" sz="2400" dirty="0">
                  <a:latin typeface="Times New Roman" panose="02020603050405020304" pitchFamily="18" charset="0"/>
                </a:rPr>
                <a:t>1</a:t>
              </a:r>
            </a:p>
          </p:txBody>
        </p:sp>
        <p:sp>
          <p:nvSpPr>
            <p:cNvPr id="26" name="AutoShape 24">
              <a:extLst>
                <a:ext uri="{FF2B5EF4-FFF2-40B4-BE49-F238E27FC236}">
                  <a16:creationId xmlns:a16="http://schemas.microsoft.com/office/drawing/2014/main" id="{D83621E1-3A2E-4827-AD57-792C4EDCD1B6}"/>
                </a:ext>
              </a:extLst>
            </p:cNvPr>
            <p:cNvSpPr>
              <a:spLocks noChangeArrowheads="1"/>
            </p:cNvSpPr>
            <p:nvPr/>
          </p:nvSpPr>
          <p:spPr bwMode="auto">
            <a:xfrm>
              <a:off x="2112" y="2352"/>
              <a:ext cx="96" cy="96"/>
            </a:xfrm>
            <a:prstGeom prst="octagon">
              <a:avLst>
                <a:gd name="adj" fmla="val 29287"/>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PK" altLang="en-PK" dirty="0"/>
            </a:p>
          </p:txBody>
        </p:sp>
        <p:cxnSp>
          <p:nvCxnSpPr>
            <p:cNvPr id="28" name="AutoShape 26">
              <a:extLst>
                <a:ext uri="{FF2B5EF4-FFF2-40B4-BE49-F238E27FC236}">
                  <a16:creationId xmlns:a16="http://schemas.microsoft.com/office/drawing/2014/main" id="{0AC3A41F-4CCB-4A68-A106-5E012891E1EE}"/>
                </a:ext>
              </a:extLst>
            </p:cNvPr>
            <p:cNvCxnSpPr>
              <a:cxnSpLocks noChangeShapeType="1"/>
              <a:stCxn id="10" idx="2"/>
              <a:endCxn id="13" idx="3"/>
            </p:cNvCxnSpPr>
            <p:nvPr/>
          </p:nvCxnSpPr>
          <p:spPr bwMode="auto">
            <a:xfrm>
              <a:off x="1248" y="2400"/>
              <a:ext cx="864" cy="864"/>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0" name="AutoShape 28">
              <a:extLst>
                <a:ext uri="{FF2B5EF4-FFF2-40B4-BE49-F238E27FC236}">
                  <a16:creationId xmlns:a16="http://schemas.microsoft.com/office/drawing/2014/main" id="{0CB1A090-ECD1-4216-AED7-41E607DFC13E}"/>
                </a:ext>
              </a:extLst>
            </p:cNvPr>
            <p:cNvCxnSpPr>
              <a:cxnSpLocks noChangeShapeType="1"/>
              <a:stCxn id="7" idx="2"/>
              <a:endCxn id="12" idx="3"/>
            </p:cNvCxnSpPr>
            <p:nvPr/>
          </p:nvCxnSpPr>
          <p:spPr bwMode="auto">
            <a:xfrm>
              <a:off x="1248" y="2832"/>
              <a:ext cx="864" cy="91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grpSp>
      <p:graphicFrame>
        <p:nvGraphicFramePr>
          <p:cNvPr id="31" name="Table 43">
            <a:extLst>
              <a:ext uri="{FF2B5EF4-FFF2-40B4-BE49-F238E27FC236}">
                <a16:creationId xmlns:a16="http://schemas.microsoft.com/office/drawing/2014/main" id="{B52804DD-F2DF-41CA-A16F-D8E62E64F12C}"/>
              </a:ext>
            </a:extLst>
          </p:cNvPr>
          <p:cNvGraphicFramePr>
            <a:graphicFrameLocks noGrp="1"/>
          </p:cNvGraphicFramePr>
          <p:nvPr>
            <p:extLst>
              <p:ext uri="{D42A27DB-BD31-4B8C-83A1-F6EECF244321}">
                <p14:modId xmlns:p14="http://schemas.microsoft.com/office/powerpoint/2010/main" val="567970811"/>
              </p:ext>
            </p:extLst>
          </p:nvPr>
        </p:nvGraphicFramePr>
        <p:xfrm>
          <a:off x="5125686" y="4511675"/>
          <a:ext cx="1930400" cy="1981200"/>
        </p:xfrm>
        <a:graphic>
          <a:graphicData uri="http://schemas.openxmlformats.org/drawingml/2006/table">
            <a:tbl>
              <a:tblPr firstRow="1" bandRow="1">
                <a:tableStyleId>{2D5ABB26-0587-4C30-8999-92F81FD0307C}</a:tableStyleId>
              </a:tblPr>
              <a:tblGrid>
                <a:gridCol w="386080">
                  <a:extLst>
                    <a:ext uri="{9D8B030D-6E8A-4147-A177-3AD203B41FA5}">
                      <a16:colId xmlns:a16="http://schemas.microsoft.com/office/drawing/2014/main" val="680677508"/>
                    </a:ext>
                  </a:extLst>
                </a:gridCol>
                <a:gridCol w="386080">
                  <a:extLst>
                    <a:ext uri="{9D8B030D-6E8A-4147-A177-3AD203B41FA5}">
                      <a16:colId xmlns:a16="http://schemas.microsoft.com/office/drawing/2014/main" val="1655424674"/>
                    </a:ext>
                  </a:extLst>
                </a:gridCol>
                <a:gridCol w="386080">
                  <a:extLst>
                    <a:ext uri="{9D8B030D-6E8A-4147-A177-3AD203B41FA5}">
                      <a16:colId xmlns:a16="http://schemas.microsoft.com/office/drawing/2014/main" val="673293229"/>
                    </a:ext>
                  </a:extLst>
                </a:gridCol>
                <a:gridCol w="386080">
                  <a:extLst>
                    <a:ext uri="{9D8B030D-6E8A-4147-A177-3AD203B41FA5}">
                      <a16:colId xmlns:a16="http://schemas.microsoft.com/office/drawing/2014/main" val="3842577041"/>
                    </a:ext>
                  </a:extLst>
                </a:gridCol>
                <a:gridCol w="386080">
                  <a:extLst>
                    <a:ext uri="{9D8B030D-6E8A-4147-A177-3AD203B41FA5}">
                      <a16:colId xmlns:a16="http://schemas.microsoft.com/office/drawing/2014/main" val="841474637"/>
                    </a:ext>
                  </a:extLst>
                </a:gridCol>
              </a:tblGrid>
              <a:tr h="370840">
                <a:tc>
                  <a:txBody>
                    <a:bodyPr/>
                    <a:lstStyle/>
                    <a:p>
                      <a:pPr algn="ctr"/>
                      <a:r>
                        <a:rPr lang="en-US" sz="2000" dirty="0"/>
                        <a:t>R</a:t>
                      </a:r>
                      <a:endParaRPr lang="en-PK" sz="20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t>1</a:t>
                      </a:r>
                      <a:endParaRPr lang="en-PK" sz="20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t>2</a:t>
                      </a:r>
                      <a:endParaRPr lang="en-PK"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t>3</a:t>
                      </a:r>
                      <a:endParaRPr lang="en-PK"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t>4</a:t>
                      </a:r>
                      <a:endParaRPr lang="en-PK"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6671940"/>
                  </a:ext>
                </a:extLst>
              </a:tr>
              <a:tr h="370840">
                <a:tc>
                  <a:txBody>
                    <a:bodyPr/>
                    <a:lstStyle/>
                    <a:p>
                      <a:pPr algn="ctr"/>
                      <a:r>
                        <a:rPr lang="en-US" sz="2000" dirty="0"/>
                        <a:t>1</a:t>
                      </a:r>
                      <a:endParaRPr lang="en-PK" sz="20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000" dirty="0">
                          <a:solidFill>
                            <a:schemeClr val="accent1"/>
                          </a:solidFill>
                        </a:rPr>
                        <a:t>x</a:t>
                      </a:r>
                      <a:endParaRPr lang="en-PK" sz="2000"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PK" sz="2000" dirty="0">
                        <a:solidFill>
                          <a:schemeClr val="accent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000" dirty="0">
                          <a:solidFill>
                            <a:schemeClr val="accent1"/>
                          </a:solidFill>
                        </a:rPr>
                        <a:t>x</a:t>
                      </a:r>
                      <a:endParaRPr lang="en-PK" sz="2000" dirty="0">
                        <a:solidFill>
                          <a:schemeClr val="accent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PK" sz="2000" dirty="0">
                        <a:solidFill>
                          <a:schemeClr val="accent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461474694"/>
                  </a:ext>
                </a:extLst>
              </a:tr>
              <a:tr h="370840">
                <a:tc>
                  <a:txBody>
                    <a:bodyPr/>
                    <a:lstStyle/>
                    <a:p>
                      <a:pPr algn="ctr"/>
                      <a:r>
                        <a:rPr lang="en-US" sz="2000" dirty="0"/>
                        <a:t>2</a:t>
                      </a:r>
                      <a:endParaRPr lang="en-PK" sz="20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PK" sz="2000"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000" dirty="0">
                          <a:solidFill>
                            <a:schemeClr val="accent1"/>
                          </a:solidFill>
                        </a:rPr>
                        <a:t>x</a:t>
                      </a:r>
                      <a:endParaRPr lang="en-PK" sz="2000" dirty="0">
                        <a:solidFill>
                          <a:schemeClr val="accent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PK" sz="2000" dirty="0">
                        <a:solidFill>
                          <a:schemeClr val="accent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000" dirty="0">
                          <a:solidFill>
                            <a:schemeClr val="accent1"/>
                          </a:solidFill>
                        </a:rPr>
                        <a:t>x</a:t>
                      </a:r>
                      <a:endParaRPr lang="en-PK" sz="2000" dirty="0">
                        <a:solidFill>
                          <a:schemeClr val="accent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42340046"/>
                  </a:ext>
                </a:extLst>
              </a:tr>
              <a:tr h="0">
                <a:tc>
                  <a:txBody>
                    <a:bodyPr/>
                    <a:lstStyle/>
                    <a:p>
                      <a:pPr algn="ctr"/>
                      <a:r>
                        <a:rPr lang="en-US" sz="2000" dirty="0"/>
                        <a:t>3</a:t>
                      </a:r>
                      <a:endParaRPr lang="en-PK" sz="20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PK" sz="2000"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PK" sz="2000" dirty="0">
                        <a:solidFill>
                          <a:schemeClr val="accent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000" dirty="0">
                          <a:solidFill>
                            <a:schemeClr val="accent1"/>
                          </a:solidFill>
                        </a:rPr>
                        <a:t>x</a:t>
                      </a:r>
                      <a:endParaRPr lang="en-PK" sz="2000" dirty="0">
                        <a:solidFill>
                          <a:schemeClr val="accent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PK" sz="2000" dirty="0">
                        <a:solidFill>
                          <a:schemeClr val="accent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091431953"/>
                  </a:ext>
                </a:extLst>
              </a:tr>
              <a:tr h="0">
                <a:tc>
                  <a:txBody>
                    <a:bodyPr/>
                    <a:lstStyle/>
                    <a:p>
                      <a:pPr algn="ctr"/>
                      <a:r>
                        <a:rPr lang="en-US" sz="2000" dirty="0"/>
                        <a:t>4</a:t>
                      </a:r>
                      <a:endParaRPr lang="en-PK" sz="20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PK" sz="2000"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PK" sz="2000" dirty="0">
                        <a:solidFill>
                          <a:schemeClr val="accent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PK" sz="2000" dirty="0">
                        <a:solidFill>
                          <a:schemeClr val="accent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000" dirty="0">
                          <a:solidFill>
                            <a:schemeClr val="accent1"/>
                          </a:solidFill>
                        </a:rPr>
                        <a:t>x</a:t>
                      </a:r>
                      <a:endParaRPr lang="en-PK" sz="2000" dirty="0">
                        <a:solidFill>
                          <a:schemeClr val="accent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504494055"/>
                  </a:ext>
                </a:extLst>
              </a:tr>
            </a:tbl>
          </a:graphicData>
        </a:graphic>
      </p:graphicFrame>
      <p:graphicFrame>
        <p:nvGraphicFramePr>
          <p:cNvPr id="34" name="Table 43">
            <a:extLst>
              <a:ext uri="{FF2B5EF4-FFF2-40B4-BE49-F238E27FC236}">
                <a16:creationId xmlns:a16="http://schemas.microsoft.com/office/drawing/2014/main" id="{36829E56-BA41-481D-A323-B474220BB205}"/>
              </a:ext>
            </a:extLst>
          </p:cNvPr>
          <p:cNvGraphicFramePr>
            <a:graphicFrameLocks noGrp="1"/>
          </p:cNvGraphicFramePr>
          <p:nvPr>
            <p:extLst>
              <p:ext uri="{D42A27DB-BD31-4B8C-83A1-F6EECF244321}">
                <p14:modId xmlns:p14="http://schemas.microsoft.com/office/powerpoint/2010/main" val="35436894"/>
              </p:ext>
            </p:extLst>
          </p:nvPr>
        </p:nvGraphicFramePr>
        <p:xfrm>
          <a:off x="8224867" y="4511675"/>
          <a:ext cx="1960152" cy="1981200"/>
        </p:xfrm>
        <a:graphic>
          <a:graphicData uri="http://schemas.openxmlformats.org/drawingml/2006/table">
            <a:tbl>
              <a:tblPr firstRow="1" bandRow="1">
                <a:tableStyleId>{2D5ABB26-0587-4C30-8999-92F81FD0307C}</a:tableStyleId>
              </a:tblPr>
              <a:tblGrid>
                <a:gridCol w="275771">
                  <a:extLst>
                    <a:ext uri="{9D8B030D-6E8A-4147-A177-3AD203B41FA5}">
                      <a16:colId xmlns:a16="http://schemas.microsoft.com/office/drawing/2014/main" val="680677508"/>
                    </a:ext>
                  </a:extLst>
                </a:gridCol>
                <a:gridCol w="208280">
                  <a:extLst>
                    <a:ext uri="{9D8B030D-6E8A-4147-A177-3AD203B41FA5}">
                      <a16:colId xmlns:a16="http://schemas.microsoft.com/office/drawing/2014/main" val="1307947629"/>
                    </a:ext>
                  </a:extLst>
                </a:gridCol>
                <a:gridCol w="373017">
                  <a:extLst>
                    <a:ext uri="{9D8B030D-6E8A-4147-A177-3AD203B41FA5}">
                      <a16:colId xmlns:a16="http://schemas.microsoft.com/office/drawing/2014/main" val="1655424674"/>
                    </a:ext>
                  </a:extLst>
                </a:gridCol>
                <a:gridCol w="275771">
                  <a:extLst>
                    <a:ext uri="{9D8B030D-6E8A-4147-A177-3AD203B41FA5}">
                      <a16:colId xmlns:a16="http://schemas.microsoft.com/office/drawing/2014/main" val="673293229"/>
                    </a:ext>
                  </a:extLst>
                </a:gridCol>
                <a:gridCol w="275771">
                  <a:extLst>
                    <a:ext uri="{9D8B030D-6E8A-4147-A177-3AD203B41FA5}">
                      <a16:colId xmlns:a16="http://schemas.microsoft.com/office/drawing/2014/main" val="3842577041"/>
                    </a:ext>
                  </a:extLst>
                </a:gridCol>
                <a:gridCol w="343262">
                  <a:extLst>
                    <a:ext uri="{9D8B030D-6E8A-4147-A177-3AD203B41FA5}">
                      <a16:colId xmlns:a16="http://schemas.microsoft.com/office/drawing/2014/main" val="841474637"/>
                    </a:ext>
                  </a:extLst>
                </a:gridCol>
                <a:gridCol w="208280">
                  <a:extLst>
                    <a:ext uri="{9D8B030D-6E8A-4147-A177-3AD203B41FA5}">
                      <a16:colId xmlns:a16="http://schemas.microsoft.com/office/drawing/2014/main" val="32664454"/>
                    </a:ext>
                  </a:extLst>
                </a:gridCol>
              </a:tblGrid>
              <a:tr h="370840">
                <a:tc>
                  <a:txBody>
                    <a:bodyPr/>
                    <a:lstStyle/>
                    <a:p>
                      <a:pPr algn="ctr"/>
                      <a:endParaRPr lang="en-PK"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PK"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solidFill>
                            <a:schemeClr val="accent1"/>
                          </a:solidFill>
                        </a:rPr>
                        <a:t>1</a:t>
                      </a:r>
                      <a:endParaRPr lang="en-PK" sz="2000" dirty="0">
                        <a:solidFill>
                          <a:schemeClr val="accent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000" dirty="0">
                          <a:solidFill>
                            <a:schemeClr val="accent1"/>
                          </a:solidFill>
                        </a:rPr>
                        <a:t>2</a:t>
                      </a:r>
                      <a:endParaRPr lang="en-PK" sz="2000" dirty="0">
                        <a:solidFill>
                          <a:schemeClr val="accent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000" dirty="0">
                          <a:solidFill>
                            <a:schemeClr val="accent1"/>
                          </a:solidFill>
                        </a:rPr>
                        <a:t>3</a:t>
                      </a:r>
                      <a:endParaRPr lang="en-PK" sz="2000" dirty="0">
                        <a:solidFill>
                          <a:schemeClr val="accent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000" dirty="0">
                          <a:solidFill>
                            <a:schemeClr val="accent1"/>
                          </a:solidFill>
                        </a:rPr>
                        <a:t>4</a:t>
                      </a:r>
                      <a:endParaRPr lang="en-PK" sz="2000" dirty="0">
                        <a:solidFill>
                          <a:schemeClr val="accent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PK"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6671940"/>
                  </a:ext>
                </a:extLst>
              </a:tr>
              <a:tr h="370840">
                <a:tc>
                  <a:txBody>
                    <a:bodyPr/>
                    <a:lstStyle/>
                    <a:p>
                      <a:pPr algn="ctr"/>
                      <a:r>
                        <a:rPr lang="en-US" sz="2000" dirty="0">
                          <a:solidFill>
                            <a:schemeClr val="accent1"/>
                          </a:solidFill>
                        </a:rPr>
                        <a:t>1</a:t>
                      </a:r>
                      <a:endParaRPr lang="en-PK" sz="2000" dirty="0">
                        <a:solidFill>
                          <a:schemeClr val="accent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PK" sz="2000"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000" dirty="0">
                          <a:solidFill>
                            <a:schemeClr val="tx1"/>
                          </a:solidFill>
                        </a:rPr>
                        <a:t>1</a:t>
                      </a:r>
                      <a:endParaRPr lang="en-PK" sz="20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solidFill>
                            <a:schemeClr val="tx1"/>
                          </a:solidFill>
                        </a:rPr>
                        <a:t>0</a:t>
                      </a:r>
                      <a:endParaRPr lang="en-PK" sz="20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000" dirty="0">
                          <a:solidFill>
                            <a:schemeClr val="tx1"/>
                          </a:solidFill>
                        </a:rPr>
                        <a:t>1</a:t>
                      </a:r>
                      <a:endParaRPr lang="en-PK" sz="20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000" dirty="0">
                          <a:solidFill>
                            <a:schemeClr val="tx1"/>
                          </a:solidFill>
                        </a:rPr>
                        <a:t>0</a:t>
                      </a:r>
                      <a:endParaRPr lang="en-PK" sz="20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PK" sz="2000" dirty="0">
                        <a:solidFill>
                          <a:schemeClr val="accent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461474694"/>
                  </a:ext>
                </a:extLst>
              </a:tr>
              <a:tr h="370840">
                <a:tc>
                  <a:txBody>
                    <a:bodyPr/>
                    <a:lstStyle/>
                    <a:p>
                      <a:pPr algn="ctr"/>
                      <a:r>
                        <a:rPr lang="en-US" sz="2000" dirty="0">
                          <a:solidFill>
                            <a:schemeClr val="accent1"/>
                          </a:solidFill>
                        </a:rPr>
                        <a:t>2</a:t>
                      </a:r>
                      <a:endParaRPr lang="en-PK" sz="2000" dirty="0">
                        <a:solidFill>
                          <a:schemeClr val="accent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PK" sz="2000"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000" dirty="0">
                          <a:solidFill>
                            <a:schemeClr val="tx1"/>
                          </a:solidFill>
                        </a:rPr>
                        <a:t>0</a:t>
                      </a:r>
                      <a:endParaRPr lang="en-PK" sz="20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solidFill>
                            <a:schemeClr val="tx1"/>
                          </a:solidFill>
                        </a:rPr>
                        <a:t>1</a:t>
                      </a:r>
                      <a:endParaRPr lang="en-PK" sz="20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000" dirty="0">
                          <a:solidFill>
                            <a:schemeClr val="tx1"/>
                          </a:solidFill>
                        </a:rPr>
                        <a:t>0</a:t>
                      </a:r>
                      <a:endParaRPr lang="en-PK" sz="20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000" dirty="0">
                          <a:solidFill>
                            <a:schemeClr val="tx1"/>
                          </a:solidFill>
                        </a:rPr>
                        <a:t>1</a:t>
                      </a:r>
                      <a:endParaRPr lang="en-PK" sz="20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PK" sz="2000" dirty="0">
                        <a:solidFill>
                          <a:schemeClr val="accent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42340046"/>
                  </a:ext>
                </a:extLst>
              </a:tr>
              <a:tr h="0">
                <a:tc>
                  <a:txBody>
                    <a:bodyPr/>
                    <a:lstStyle/>
                    <a:p>
                      <a:pPr algn="ctr"/>
                      <a:r>
                        <a:rPr lang="en-US" sz="2000" dirty="0">
                          <a:solidFill>
                            <a:schemeClr val="accent1"/>
                          </a:solidFill>
                        </a:rPr>
                        <a:t>3</a:t>
                      </a:r>
                      <a:endParaRPr lang="en-PK" sz="2000" dirty="0">
                        <a:solidFill>
                          <a:schemeClr val="accent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PK" sz="2000"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000" dirty="0">
                          <a:solidFill>
                            <a:schemeClr val="tx1"/>
                          </a:solidFill>
                        </a:rPr>
                        <a:t>0</a:t>
                      </a:r>
                      <a:endParaRPr lang="en-PK" sz="20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solidFill>
                            <a:schemeClr val="tx1"/>
                          </a:solidFill>
                        </a:rPr>
                        <a:t>0</a:t>
                      </a:r>
                      <a:endParaRPr lang="en-PK" sz="20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000" dirty="0">
                          <a:solidFill>
                            <a:schemeClr val="tx1"/>
                          </a:solidFill>
                        </a:rPr>
                        <a:t>1</a:t>
                      </a:r>
                      <a:endParaRPr lang="en-PK" sz="20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000" dirty="0">
                          <a:solidFill>
                            <a:schemeClr val="tx1"/>
                          </a:solidFill>
                        </a:rPr>
                        <a:t>0</a:t>
                      </a:r>
                      <a:endParaRPr lang="en-PK" sz="20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PK" sz="2000" dirty="0">
                        <a:solidFill>
                          <a:schemeClr val="accent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091431953"/>
                  </a:ext>
                </a:extLst>
              </a:tr>
              <a:tr h="0">
                <a:tc>
                  <a:txBody>
                    <a:bodyPr/>
                    <a:lstStyle/>
                    <a:p>
                      <a:pPr algn="ctr"/>
                      <a:r>
                        <a:rPr lang="en-US" sz="2000" dirty="0">
                          <a:solidFill>
                            <a:schemeClr val="accent1"/>
                          </a:solidFill>
                        </a:rPr>
                        <a:t>4</a:t>
                      </a:r>
                      <a:endParaRPr lang="en-PK" sz="2000" dirty="0">
                        <a:solidFill>
                          <a:schemeClr val="accent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PK" sz="2000"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solidFill>
                            <a:schemeClr val="tx1"/>
                          </a:solidFill>
                        </a:rPr>
                        <a:t>0</a:t>
                      </a:r>
                      <a:endParaRPr lang="en-PK" sz="20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solidFill>
                            <a:schemeClr val="tx1"/>
                          </a:solidFill>
                        </a:rPr>
                        <a:t>0</a:t>
                      </a:r>
                      <a:endParaRPr lang="en-PK" sz="20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000" dirty="0">
                          <a:solidFill>
                            <a:schemeClr val="tx1"/>
                          </a:solidFill>
                        </a:rPr>
                        <a:t>0</a:t>
                      </a:r>
                      <a:endParaRPr lang="en-PK" sz="20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000" dirty="0">
                          <a:solidFill>
                            <a:schemeClr val="tx1"/>
                          </a:solidFill>
                        </a:rPr>
                        <a:t>1</a:t>
                      </a:r>
                      <a:endParaRPr lang="en-PK" sz="20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PK" sz="2000" dirty="0">
                        <a:solidFill>
                          <a:schemeClr val="accent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04494055"/>
                  </a:ext>
                </a:extLst>
              </a:tr>
            </a:tbl>
          </a:graphicData>
        </a:graphic>
      </p:graphicFrame>
      <p:sp>
        <p:nvSpPr>
          <p:cNvPr id="27" name="Content Placeholder 2">
            <a:extLst>
              <a:ext uri="{FF2B5EF4-FFF2-40B4-BE49-F238E27FC236}">
                <a16:creationId xmlns:a16="http://schemas.microsoft.com/office/drawing/2014/main" id="{F4CDD305-99CF-FE1C-A20C-E1023C49959B}"/>
              </a:ext>
            </a:extLst>
          </p:cNvPr>
          <p:cNvSpPr txBox="1">
            <a:spLocks/>
          </p:cNvSpPr>
          <p:nvPr/>
        </p:nvSpPr>
        <p:spPr>
          <a:xfrm>
            <a:off x="838200" y="1825625"/>
            <a:ext cx="10515600" cy="43513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Wingdings" panose="05000000000000000000" pitchFamily="2" charset="2"/>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PK" sz="2400" b="1" dirty="0"/>
              <a:t>Definition:</a:t>
            </a:r>
          </a:p>
          <a:p>
            <a:pPr marL="0" indent="0">
              <a:buFont typeface="Wingdings" panose="05000000000000000000" pitchFamily="2" charset="2"/>
              <a:buNone/>
            </a:pPr>
            <a:r>
              <a:rPr lang="en-US" altLang="en-PK" sz="2400" dirty="0"/>
              <a:t>A relation R on</a:t>
            </a:r>
            <a:r>
              <a:rPr lang="en-US" altLang="en-PK" sz="2400" i="1" dirty="0"/>
              <a:t> </a:t>
            </a:r>
            <a:r>
              <a:rPr lang="en-US" altLang="en-PK" sz="2400" dirty="0"/>
              <a:t>a set</a:t>
            </a:r>
            <a:r>
              <a:rPr lang="en-US" altLang="en-PK" sz="2400" i="1" dirty="0"/>
              <a:t> A </a:t>
            </a:r>
            <a:r>
              <a:rPr lang="en-US" altLang="en-PK" sz="2400" dirty="0"/>
              <a:t>is </a:t>
            </a:r>
            <a:r>
              <a:rPr lang="en-US" altLang="en-PK" sz="2400" dirty="0">
                <a:solidFill>
                  <a:schemeClr val="accent1"/>
                </a:solidFill>
              </a:rPr>
              <a:t>a relation from </a:t>
            </a:r>
            <a:r>
              <a:rPr lang="en-US" altLang="en-PK" sz="2400" i="1" dirty="0">
                <a:solidFill>
                  <a:schemeClr val="accent1"/>
                </a:solidFill>
              </a:rPr>
              <a:t>A</a:t>
            </a:r>
            <a:r>
              <a:rPr lang="en-US" altLang="en-PK" sz="2400" dirty="0">
                <a:solidFill>
                  <a:schemeClr val="accent1"/>
                </a:solidFill>
                <a:sym typeface="Symbol" panose="05050102010706020507" pitchFamily="18" charset="2"/>
              </a:rPr>
              <a:t> to </a:t>
            </a:r>
            <a:r>
              <a:rPr lang="en-US" altLang="en-PK" sz="2400" i="1" dirty="0">
                <a:solidFill>
                  <a:schemeClr val="accent1"/>
                </a:solidFill>
              </a:rPr>
              <a:t>A</a:t>
            </a:r>
            <a:r>
              <a:rPr lang="en-US" altLang="en-PK" sz="2400" dirty="0"/>
              <a:t>, that is, a subset of </a:t>
            </a:r>
            <a:r>
              <a:rPr lang="en-US" altLang="en-PK" sz="2400" i="1" dirty="0"/>
              <a:t>A</a:t>
            </a:r>
            <a:r>
              <a:rPr lang="en-US" altLang="en-PK" sz="2400" dirty="0">
                <a:sym typeface="Symbol" panose="05050102010706020507" pitchFamily="18" charset="2"/>
              </a:rPr>
              <a:t></a:t>
            </a:r>
            <a:r>
              <a:rPr lang="en-US" altLang="en-PK" sz="2400" i="1" dirty="0"/>
              <a:t>A.</a:t>
            </a:r>
            <a:endParaRPr lang="en-US" altLang="en-PK" sz="2400" dirty="0"/>
          </a:p>
          <a:p>
            <a:r>
              <a:rPr lang="en-US" altLang="en-PK" sz="2400" b="1" dirty="0"/>
              <a:t>Example:</a:t>
            </a:r>
          </a:p>
          <a:p>
            <a:pPr marL="0" indent="0">
              <a:buFont typeface="Wingdings" panose="05000000000000000000" pitchFamily="2" charset="2"/>
              <a:buNone/>
            </a:pPr>
            <a:r>
              <a:rPr lang="en-US" altLang="en-PK" sz="2400" dirty="0"/>
              <a:t>Let </a:t>
            </a:r>
            <a:r>
              <a:rPr lang="en-US" altLang="en-PK" sz="2400" i="1" dirty="0">
                <a:solidFill>
                  <a:schemeClr val="accent1"/>
                </a:solidFill>
              </a:rPr>
              <a:t>A</a:t>
            </a:r>
            <a:r>
              <a:rPr lang="en-US" altLang="en-PK" sz="2400" dirty="0">
                <a:solidFill>
                  <a:srgbClr val="0000FF"/>
                </a:solidFill>
              </a:rPr>
              <a:t> </a:t>
            </a:r>
            <a:r>
              <a:rPr lang="en-US" altLang="en-PK" sz="2400" dirty="0"/>
              <a:t>= {1, 2, 3, 4}, and </a:t>
            </a:r>
            <a:r>
              <a:rPr lang="en-US" altLang="en-PK" sz="2400" i="1" dirty="0"/>
              <a:t>R</a:t>
            </a:r>
            <a:r>
              <a:rPr lang="en-US" altLang="en-PK" sz="2400" dirty="0"/>
              <a:t> = { (</a:t>
            </a:r>
            <a:r>
              <a:rPr lang="en-US" altLang="en-PK" sz="2400" i="1" dirty="0"/>
              <a:t>a</a:t>
            </a:r>
            <a:r>
              <a:rPr lang="en-US" altLang="en-PK" sz="2400" dirty="0"/>
              <a:t>, </a:t>
            </a:r>
            <a:r>
              <a:rPr lang="en-US" altLang="en-PK" sz="2400" i="1" dirty="0"/>
              <a:t>b</a:t>
            </a:r>
            <a:r>
              <a:rPr lang="en-US" altLang="en-PK" sz="2400" dirty="0"/>
              <a:t>) | </a:t>
            </a:r>
            <a:r>
              <a:rPr lang="en-US" sz="2400" i="1" dirty="0">
                <a:latin typeface="KaTeX_Math"/>
              </a:rPr>
              <a:t>a</a:t>
            </a:r>
            <a:r>
              <a:rPr lang="en-US" sz="2400" i="1" dirty="0">
                <a:latin typeface="KaTeX_Main"/>
              </a:rPr>
              <a:t>, </a:t>
            </a:r>
            <a:r>
              <a:rPr lang="en-US" sz="2400" i="1" dirty="0">
                <a:latin typeface="KaTeX_Math"/>
              </a:rPr>
              <a:t>b </a:t>
            </a:r>
            <a:r>
              <a:rPr lang="en-US" sz="2400" i="1" dirty="0">
                <a:latin typeface="KaTeX_Math"/>
                <a:sym typeface="Symbol" panose="05050102010706020507" pitchFamily="18" charset="2"/>
              </a:rPr>
              <a:t></a:t>
            </a:r>
            <a:r>
              <a:rPr lang="en-US" sz="2400" i="1" dirty="0">
                <a:latin typeface="KaTeX_Main"/>
                <a:sym typeface="Symbol" panose="05050102010706020507" pitchFamily="18" charset="2"/>
              </a:rPr>
              <a:t> </a:t>
            </a:r>
            <a:r>
              <a:rPr lang="en-US" sz="2400" i="1" dirty="0">
                <a:latin typeface="KaTeX_Math"/>
              </a:rPr>
              <a:t>A</a:t>
            </a:r>
            <a:r>
              <a:rPr lang="en-US" sz="2400" dirty="0">
                <a:latin typeface="KaTeX_Main"/>
              </a:rPr>
              <a:t> </a:t>
            </a:r>
            <a:r>
              <a:rPr lang="en-US" sz="2400" dirty="0">
                <a:latin typeface="KaTeX_Main"/>
                <a:sym typeface="Symbol" panose="05050102010706020507" pitchFamily="18" charset="2"/>
              </a:rPr>
              <a:t></a:t>
            </a:r>
            <a:r>
              <a:rPr lang="en-US" sz="2400" dirty="0">
                <a:solidFill>
                  <a:srgbClr val="374151"/>
                </a:solidFill>
                <a:latin typeface="KaTeX_Main"/>
              </a:rPr>
              <a:t> </a:t>
            </a:r>
            <a:r>
              <a:rPr lang="en-US" altLang="en-PK" sz="2400" i="1" dirty="0">
                <a:solidFill>
                  <a:srgbClr val="0000FF"/>
                </a:solidFill>
              </a:rPr>
              <a:t> </a:t>
            </a:r>
            <a:r>
              <a:rPr lang="en-US" altLang="en-PK" sz="2400" i="1" dirty="0">
                <a:solidFill>
                  <a:schemeClr val="accent1"/>
                </a:solidFill>
              </a:rPr>
              <a:t>a + b is even</a:t>
            </a:r>
            <a:r>
              <a:rPr lang="en-US" sz="2400" dirty="0">
                <a:solidFill>
                  <a:srgbClr val="374151"/>
                </a:solidFill>
              </a:rPr>
              <a:t> </a:t>
            </a:r>
            <a:r>
              <a:rPr lang="en-US" altLang="en-PK" sz="2400" dirty="0"/>
              <a:t>}</a:t>
            </a:r>
          </a:p>
          <a:p>
            <a:pPr marL="609600" indent="-609600">
              <a:buFont typeface="Wingdings" panose="05000000000000000000" pitchFamily="2" charset="2"/>
              <a:buNone/>
            </a:pPr>
            <a:r>
              <a:rPr lang="en-US" altLang="en-PK" sz="2400" i="1" dirty="0"/>
              <a:t>R</a:t>
            </a:r>
            <a:r>
              <a:rPr lang="en-US" altLang="en-PK" sz="2400" dirty="0"/>
              <a:t> = </a:t>
            </a:r>
            <a:r>
              <a:rPr lang="en-US" sz="2400" dirty="0">
                <a:latin typeface="KaTeX_Main"/>
              </a:rPr>
              <a:t>{ </a:t>
            </a:r>
            <a:r>
              <a:rPr lang="en-US" altLang="en-PK" sz="2400" dirty="0"/>
              <a:t>(1,1), (1,3), (2,2), (2,4), (3,3), (4,4) </a:t>
            </a:r>
            <a:r>
              <a:rPr lang="en-US" sz="2400" dirty="0">
                <a:latin typeface="KaTeX_Main"/>
              </a:rPr>
              <a:t>}</a:t>
            </a:r>
          </a:p>
        </p:txBody>
      </p:sp>
    </p:spTree>
    <p:extLst>
      <p:ext uri="{BB962C8B-B14F-4D97-AF65-F5344CB8AC3E}">
        <p14:creationId xmlns:p14="http://schemas.microsoft.com/office/powerpoint/2010/main" val="681239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1555C-FC96-43AE-9196-D3EAE72BD96F}"/>
              </a:ext>
            </a:extLst>
          </p:cNvPr>
          <p:cNvSpPr>
            <a:spLocks noGrp="1"/>
          </p:cNvSpPr>
          <p:nvPr>
            <p:ph type="title"/>
          </p:nvPr>
        </p:nvSpPr>
        <p:spPr/>
        <p:txBody>
          <a:bodyPr/>
          <a:lstStyle/>
          <a:p>
            <a:r>
              <a:rPr lang="en-US" dirty="0"/>
              <a:t>Properties of Relations </a:t>
            </a:r>
            <a:endParaRPr lang="en-PK" dirty="0"/>
          </a:p>
        </p:txBody>
      </p:sp>
      <p:sp>
        <p:nvSpPr>
          <p:cNvPr id="3" name="Content Placeholder 2">
            <a:extLst>
              <a:ext uri="{FF2B5EF4-FFF2-40B4-BE49-F238E27FC236}">
                <a16:creationId xmlns:a16="http://schemas.microsoft.com/office/drawing/2014/main" id="{C189D6F8-B905-4C81-B7AC-BFBCBE6B6898}"/>
              </a:ext>
            </a:extLst>
          </p:cNvPr>
          <p:cNvSpPr>
            <a:spLocks noGrp="1"/>
          </p:cNvSpPr>
          <p:nvPr>
            <p:ph idx="1"/>
          </p:nvPr>
        </p:nvSpPr>
        <p:spPr/>
        <p:txBody>
          <a:bodyPr>
            <a:noAutofit/>
          </a:bodyPr>
          <a:lstStyle/>
          <a:p>
            <a:pPr marL="0" indent="0">
              <a:lnSpc>
                <a:spcPct val="90000"/>
              </a:lnSpc>
              <a:buNone/>
            </a:pPr>
            <a:r>
              <a:rPr lang="en-US" altLang="en-PK" sz="2400" b="1" dirty="0"/>
              <a:t>1. Reflexive:</a:t>
            </a:r>
          </a:p>
          <a:p>
            <a:pPr marL="0" indent="0" algn="l">
              <a:buNone/>
            </a:pPr>
            <a:r>
              <a:rPr lang="en-US" sz="2400" b="0" i="0" dirty="0">
                <a:effectLst/>
                <a:latin typeface="Söhne"/>
              </a:rPr>
              <a:t>A relation </a:t>
            </a:r>
            <a:r>
              <a:rPr lang="en-US" sz="2400" b="0" i="1" dirty="0">
                <a:effectLst/>
                <a:latin typeface="KaTeX_Math"/>
              </a:rPr>
              <a:t>R</a:t>
            </a:r>
            <a:r>
              <a:rPr lang="en-US" sz="2400" b="0" i="0" dirty="0">
                <a:effectLst/>
                <a:latin typeface="Söhne"/>
              </a:rPr>
              <a:t> on a set </a:t>
            </a:r>
            <a:r>
              <a:rPr lang="en-US" sz="2400" b="0" i="1" dirty="0">
                <a:effectLst/>
                <a:latin typeface="KaTeX_Math"/>
              </a:rPr>
              <a:t>A</a:t>
            </a:r>
            <a:r>
              <a:rPr lang="en-US" sz="2400" b="0" i="0" dirty="0">
                <a:effectLst/>
                <a:latin typeface="Söhne"/>
              </a:rPr>
              <a:t> is </a:t>
            </a:r>
            <a:r>
              <a:rPr lang="en-US" sz="2400" b="0" i="0" dirty="0">
                <a:solidFill>
                  <a:schemeClr val="accent1"/>
                </a:solidFill>
                <a:effectLst/>
                <a:latin typeface="Söhne"/>
              </a:rPr>
              <a:t>reflexive</a:t>
            </a:r>
            <a:r>
              <a:rPr lang="en-US" sz="2400" b="0" i="0" dirty="0">
                <a:effectLst/>
                <a:latin typeface="Söhne"/>
              </a:rPr>
              <a:t> if </a:t>
            </a:r>
            <a:r>
              <a:rPr lang="en-US" sz="2400" b="0" i="0" dirty="0">
                <a:effectLst/>
                <a:latin typeface="KaTeX_Main"/>
              </a:rPr>
              <a:t>(</a:t>
            </a:r>
            <a:r>
              <a:rPr lang="en-US" sz="2400" b="0" i="1" dirty="0">
                <a:effectLst/>
                <a:latin typeface="KaTeX_Math"/>
              </a:rPr>
              <a:t>a</a:t>
            </a:r>
            <a:r>
              <a:rPr lang="en-US" sz="2400" b="0" i="0" dirty="0">
                <a:effectLst/>
                <a:latin typeface="KaTeX_Main"/>
              </a:rPr>
              <a:t>, </a:t>
            </a:r>
            <a:r>
              <a:rPr lang="en-US" sz="2400" b="0" i="1" dirty="0">
                <a:effectLst/>
                <a:latin typeface="KaTeX_Math"/>
              </a:rPr>
              <a:t>a</a:t>
            </a:r>
            <a:r>
              <a:rPr lang="en-US" sz="2400" b="0" i="0" dirty="0">
                <a:effectLst/>
                <a:latin typeface="KaTeX_Main"/>
              </a:rPr>
              <a:t>)</a:t>
            </a:r>
            <a:r>
              <a:rPr lang="en-US" sz="2400" b="0" i="0" dirty="0">
                <a:effectLst/>
                <a:latin typeface="Söhne"/>
              </a:rPr>
              <a:t> belongs to </a:t>
            </a:r>
            <a:r>
              <a:rPr lang="en-US" sz="2400" b="0" i="1" dirty="0">
                <a:effectLst/>
                <a:latin typeface="KaTeX_Math"/>
              </a:rPr>
              <a:t>R</a:t>
            </a:r>
            <a:r>
              <a:rPr lang="en-US" sz="2400" b="0" i="0" dirty="0">
                <a:effectLst/>
                <a:latin typeface="Söhne"/>
              </a:rPr>
              <a:t> for every </a:t>
            </a:r>
            <a:r>
              <a:rPr lang="en-US" sz="2400" b="0" i="1" dirty="0">
                <a:effectLst/>
                <a:latin typeface="KaTeX_Math"/>
              </a:rPr>
              <a:t>a</a:t>
            </a:r>
            <a:r>
              <a:rPr lang="en-US" sz="2400" b="0" i="0" dirty="0">
                <a:effectLst/>
                <a:latin typeface="Söhne"/>
              </a:rPr>
              <a:t> in </a:t>
            </a:r>
            <a:r>
              <a:rPr lang="en-US" sz="2400" b="0" i="1" dirty="0">
                <a:effectLst/>
                <a:latin typeface="KaTeX_Math"/>
              </a:rPr>
              <a:t>A</a:t>
            </a:r>
            <a:r>
              <a:rPr lang="en-US" sz="2400" b="0" i="0" dirty="0">
                <a:effectLst/>
                <a:latin typeface="Söhne"/>
              </a:rPr>
              <a:t>.</a:t>
            </a:r>
          </a:p>
          <a:p>
            <a:pPr algn="l"/>
            <a:r>
              <a:rPr lang="en-US" sz="2400" b="1" i="0" dirty="0">
                <a:effectLst/>
                <a:latin typeface="Söhne"/>
              </a:rPr>
              <a:t>Example:</a:t>
            </a:r>
          </a:p>
          <a:p>
            <a:pPr marL="0" indent="0" algn="l">
              <a:buNone/>
            </a:pPr>
            <a:r>
              <a:rPr lang="en-US" sz="2400" b="0" i="1" dirty="0">
                <a:effectLst/>
                <a:latin typeface="KaTeX_Math"/>
              </a:rPr>
              <a:t>A </a:t>
            </a:r>
            <a:r>
              <a:rPr lang="en-US" sz="2400" b="0" i="0" dirty="0">
                <a:effectLst/>
                <a:latin typeface="KaTeX_Main"/>
              </a:rPr>
              <a:t>= {1, 2, 3}</a:t>
            </a:r>
          </a:p>
          <a:p>
            <a:pPr marL="0" indent="0" algn="l">
              <a:buNone/>
            </a:pPr>
            <a:r>
              <a:rPr lang="en-US" sz="2400" b="0" i="1" dirty="0">
                <a:effectLst/>
                <a:latin typeface="KaTeX_Math"/>
              </a:rPr>
              <a:t>R </a:t>
            </a:r>
            <a:r>
              <a:rPr lang="en-US" sz="2400" b="0" i="0" dirty="0">
                <a:effectLst/>
                <a:latin typeface="KaTeX_Main"/>
              </a:rPr>
              <a:t>= { (1, 1), (2, 2), (3, 3) }</a:t>
            </a:r>
            <a:endParaRPr lang="en-US" sz="2400" b="0" i="0" dirty="0">
              <a:effectLst/>
              <a:latin typeface="Söhne"/>
            </a:endParaRPr>
          </a:p>
          <a:p>
            <a:pPr marL="0" indent="0">
              <a:lnSpc>
                <a:spcPct val="90000"/>
              </a:lnSpc>
              <a:buNone/>
            </a:pPr>
            <a:endParaRPr lang="en-US" altLang="en-PK" sz="2400" dirty="0">
              <a:sym typeface="Symbol" panose="05050102010706020507" pitchFamily="18" charset="2"/>
            </a:endParaRPr>
          </a:p>
        </p:txBody>
      </p:sp>
      <p:sp>
        <p:nvSpPr>
          <p:cNvPr id="4" name="Date Placeholder 3">
            <a:extLst>
              <a:ext uri="{FF2B5EF4-FFF2-40B4-BE49-F238E27FC236}">
                <a16:creationId xmlns:a16="http://schemas.microsoft.com/office/drawing/2014/main" id="{495DB796-489C-49AF-9422-868F5A246992}"/>
              </a:ext>
            </a:extLst>
          </p:cNvPr>
          <p:cNvSpPr>
            <a:spLocks noGrp="1"/>
          </p:cNvSpPr>
          <p:nvPr>
            <p:ph type="dt" sz="half" idx="10"/>
          </p:nvPr>
        </p:nvSpPr>
        <p:spPr/>
        <p:txBody>
          <a:bodyPr/>
          <a:lstStyle/>
          <a:p>
            <a:r>
              <a:rPr lang="en-US" dirty="0"/>
              <a:t>31/12/2023</a:t>
            </a:r>
            <a:endParaRPr lang="en-PK" dirty="0"/>
          </a:p>
        </p:txBody>
      </p:sp>
      <p:sp>
        <p:nvSpPr>
          <p:cNvPr id="5" name="Slide Number Placeholder 4">
            <a:extLst>
              <a:ext uri="{FF2B5EF4-FFF2-40B4-BE49-F238E27FC236}">
                <a16:creationId xmlns:a16="http://schemas.microsoft.com/office/drawing/2014/main" id="{99766694-E378-4893-9483-F289AE6BE396}"/>
              </a:ext>
            </a:extLst>
          </p:cNvPr>
          <p:cNvSpPr>
            <a:spLocks noGrp="1"/>
          </p:cNvSpPr>
          <p:nvPr>
            <p:ph type="sldNum" sz="quarter" idx="12"/>
          </p:nvPr>
        </p:nvSpPr>
        <p:spPr/>
        <p:txBody>
          <a:bodyPr/>
          <a:lstStyle/>
          <a:p>
            <a:r>
              <a:rPr dirty="0"/>
              <a:t>9</a:t>
            </a:r>
          </a:p>
        </p:txBody>
      </p:sp>
    </p:spTree>
    <p:extLst>
      <p:ext uri="{BB962C8B-B14F-4D97-AF65-F5344CB8AC3E}">
        <p14:creationId xmlns:p14="http://schemas.microsoft.com/office/powerpoint/2010/main" val="1049536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1555C-FC96-43AE-9196-D3EAE72BD96F}"/>
              </a:ext>
            </a:extLst>
          </p:cNvPr>
          <p:cNvSpPr>
            <a:spLocks noGrp="1"/>
          </p:cNvSpPr>
          <p:nvPr>
            <p:ph type="title"/>
          </p:nvPr>
        </p:nvSpPr>
        <p:spPr/>
        <p:txBody>
          <a:bodyPr/>
          <a:lstStyle/>
          <a:p>
            <a:r>
              <a:rPr lang="en-US" dirty="0"/>
              <a:t>Properties of Relations </a:t>
            </a:r>
            <a:endParaRPr lang="en-PK" dirty="0"/>
          </a:p>
        </p:txBody>
      </p:sp>
      <p:sp>
        <p:nvSpPr>
          <p:cNvPr id="3" name="Content Placeholder 2">
            <a:extLst>
              <a:ext uri="{FF2B5EF4-FFF2-40B4-BE49-F238E27FC236}">
                <a16:creationId xmlns:a16="http://schemas.microsoft.com/office/drawing/2014/main" id="{C189D6F8-B905-4C81-B7AC-BFBCBE6B6898}"/>
              </a:ext>
            </a:extLst>
          </p:cNvPr>
          <p:cNvSpPr>
            <a:spLocks noGrp="1"/>
          </p:cNvSpPr>
          <p:nvPr>
            <p:ph idx="1"/>
          </p:nvPr>
        </p:nvSpPr>
        <p:spPr/>
        <p:txBody>
          <a:bodyPr>
            <a:noAutofit/>
          </a:bodyPr>
          <a:lstStyle/>
          <a:p>
            <a:pPr marL="0" indent="0">
              <a:buNone/>
            </a:pPr>
            <a:r>
              <a:rPr lang="en-US" altLang="en-PK" sz="2400" b="1" dirty="0"/>
              <a:t>2. Symmetric:</a:t>
            </a:r>
          </a:p>
          <a:p>
            <a:pPr algn="l"/>
            <a:r>
              <a:rPr lang="en-US" sz="2400" b="0" i="0" dirty="0">
                <a:effectLst/>
                <a:latin typeface="Söhne"/>
              </a:rPr>
              <a:t>A relation </a:t>
            </a:r>
            <a:r>
              <a:rPr lang="en-US" sz="2400" b="0" i="1" dirty="0">
                <a:effectLst/>
                <a:latin typeface="KaTeX_Math"/>
              </a:rPr>
              <a:t>R</a:t>
            </a:r>
            <a:r>
              <a:rPr lang="en-US" sz="2400" b="0" i="0" dirty="0">
                <a:effectLst/>
                <a:latin typeface="Söhne"/>
              </a:rPr>
              <a:t> on a set </a:t>
            </a:r>
            <a:r>
              <a:rPr lang="en-US" sz="2400" b="0" i="1" dirty="0">
                <a:effectLst/>
                <a:latin typeface="KaTeX_Math"/>
              </a:rPr>
              <a:t>A</a:t>
            </a:r>
            <a:r>
              <a:rPr lang="en-US" sz="2400" b="0" i="0" dirty="0">
                <a:effectLst/>
                <a:latin typeface="Söhne"/>
              </a:rPr>
              <a:t> is </a:t>
            </a:r>
            <a:r>
              <a:rPr lang="en-US" sz="2400" b="0" i="0" dirty="0">
                <a:solidFill>
                  <a:schemeClr val="accent1"/>
                </a:solidFill>
                <a:effectLst/>
                <a:latin typeface="Söhne"/>
              </a:rPr>
              <a:t>symmetric</a:t>
            </a:r>
            <a:r>
              <a:rPr lang="en-US" sz="2400" b="0" i="0" dirty="0">
                <a:effectLst/>
                <a:latin typeface="Söhne"/>
              </a:rPr>
              <a:t> if, for every </a:t>
            </a:r>
            <a:r>
              <a:rPr lang="en-US" sz="2400" b="0" i="0" dirty="0">
                <a:effectLst/>
                <a:latin typeface="KaTeX_Main"/>
              </a:rPr>
              <a:t>(</a:t>
            </a:r>
            <a:r>
              <a:rPr lang="en-US" sz="2400" b="0" i="1" dirty="0">
                <a:effectLst/>
                <a:latin typeface="KaTeX_Math"/>
              </a:rPr>
              <a:t>a</a:t>
            </a:r>
            <a:r>
              <a:rPr lang="en-US" sz="2400" b="0" i="0" dirty="0">
                <a:effectLst/>
                <a:latin typeface="KaTeX_Main"/>
              </a:rPr>
              <a:t>, </a:t>
            </a:r>
            <a:r>
              <a:rPr lang="en-US" sz="2400" b="0" i="1" dirty="0">
                <a:effectLst/>
                <a:latin typeface="KaTeX_Math"/>
              </a:rPr>
              <a:t>b</a:t>
            </a:r>
            <a:r>
              <a:rPr lang="en-US" sz="2400" b="0" i="0" dirty="0">
                <a:effectLst/>
                <a:latin typeface="KaTeX_Main"/>
              </a:rPr>
              <a:t>)</a:t>
            </a:r>
            <a:r>
              <a:rPr lang="en-US" sz="2400" b="0" i="0" dirty="0">
                <a:effectLst/>
                <a:latin typeface="Söhne"/>
              </a:rPr>
              <a:t> in </a:t>
            </a:r>
            <a:r>
              <a:rPr lang="en-US" sz="2400" b="0" i="1" dirty="0">
                <a:effectLst/>
                <a:latin typeface="KaTeX_Math"/>
              </a:rPr>
              <a:t>R</a:t>
            </a:r>
            <a:r>
              <a:rPr lang="en-US" sz="2400" b="0" i="0" dirty="0">
                <a:effectLst/>
                <a:latin typeface="Söhne"/>
              </a:rPr>
              <a:t>, </a:t>
            </a:r>
            <a:r>
              <a:rPr lang="en-US" sz="2400" b="0" i="0" dirty="0">
                <a:effectLst/>
                <a:latin typeface="KaTeX_Main"/>
              </a:rPr>
              <a:t>(</a:t>
            </a:r>
            <a:r>
              <a:rPr lang="en-US" sz="2400" b="0" i="1" dirty="0">
                <a:effectLst/>
                <a:latin typeface="KaTeX_Math"/>
              </a:rPr>
              <a:t>b</a:t>
            </a:r>
            <a:r>
              <a:rPr lang="en-US" sz="2400" b="0" i="0" dirty="0">
                <a:effectLst/>
                <a:latin typeface="KaTeX_Main"/>
              </a:rPr>
              <a:t>, </a:t>
            </a:r>
            <a:r>
              <a:rPr lang="en-US" sz="2400" b="0" i="1" dirty="0">
                <a:effectLst/>
                <a:latin typeface="KaTeX_Math"/>
              </a:rPr>
              <a:t>a</a:t>
            </a:r>
            <a:r>
              <a:rPr lang="en-US" sz="2400" b="0" i="0" dirty="0">
                <a:effectLst/>
                <a:latin typeface="KaTeX_Main"/>
              </a:rPr>
              <a:t>)</a:t>
            </a:r>
            <a:r>
              <a:rPr lang="en-US" sz="2400" b="0" i="0" dirty="0">
                <a:effectLst/>
                <a:latin typeface="Söhne"/>
              </a:rPr>
              <a:t> also belongs to </a:t>
            </a:r>
            <a:r>
              <a:rPr lang="en-US" sz="2400" b="0" i="1" dirty="0">
                <a:effectLst/>
                <a:latin typeface="KaTeX_Math"/>
              </a:rPr>
              <a:t>R</a:t>
            </a:r>
            <a:r>
              <a:rPr lang="en-US" sz="2400" b="0" i="0" dirty="0">
                <a:effectLst/>
                <a:latin typeface="Söhne"/>
              </a:rPr>
              <a:t>.</a:t>
            </a:r>
          </a:p>
          <a:p>
            <a:pPr algn="l"/>
            <a:r>
              <a:rPr lang="en-US" sz="2400" b="1" i="0" dirty="0">
                <a:effectLst/>
                <a:latin typeface="Söhne"/>
              </a:rPr>
              <a:t>Example:</a:t>
            </a:r>
            <a:endParaRPr lang="en-US" sz="2400" b="0" i="0" dirty="0">
              <a:effectLst/>
              <a:latin typeface="Söhne"/>
            </a:endParaRPr>
          </a:p>
          <a:p>
            <a:pPr marL="0" indent="0" algn="l">
              <a:buNone/>
            </a:pPr>
            <a:r>
              <a:rPr lang="en-US" sz="2400" b="0" i="1" dirty="0">
                <a:effectLst/>
                <a:latin typeface="KaTeX_Math"/>
              </a:rPr>
              <a:t>A </a:t>
            </a:r>
            <a:r>
              <a:rPr lang="en-US" sz="2400" b="0" i="0" dirty="0">
                <a:effectLst/>
                <a:latin typeface="KaTeX_Main"/>
              </a:rPr>
              <a:t>= {1, 2, 3}</a:t>
            </a:r>
            <a:r>
              <a:rPr lang="en-US" sz="2400" b="0" i="0" dirty="0">
                <a:effectLst/>
                <a:latin typeface="Söhne"/>
              </a:rPr>
              <a:t> </a:t>
            </a:r>
          </a:p>
          <a:p>
            <a:pPr marL="0" indent="0" algn="l">
              <a:buNone/>
            </a:pPr>
            <a:r>
              <a:rPr lang="en-US" sz="2400" b="0" i="1" dirty="0">
                <a:effectLst/>
                <a:latin typeface="KaTeX_Math"/>
              </a:rPr>
              <a:t>R </a:t>
            </a:r>
            <a:r>
              <a:rPr lang="en-US" sz="2400" b="0" i="0" dirty="0">
                <a:effectLst/>
                <a:latin typeface="KaTeX_Main"/>
              </a:rPr>
              <a:t>= { (1, 2), (2, 1), (2, 3), (3, 2), (3, 3) }</a:t>
            </a:r>
            <a:endParaRPr lang="en-US" sz="2400" b="0" i="0" dirty="0">
              <a:effectLst/>
              <a:latin typeface="Söhne"/>
            </a:endParaRPr>
          </a:p>
        </p:txBody>
      </p:sp>
      <p:sp>
        <p:nvSpPr>
          <p:cNvPr id="4" name="Date Placeholder 3">
            <a:extLst>
              <a:ext uri="{FF2B5EF4-FFF2-40B4-BE49-F238E27FC236}">
                <a16:creationId xmlns:a16="http://schemas.microsoft.com/office/drawing/2014/main" id="{495DB796-489C-49AF-9422-868F5A246992}"/>
              </a:ext>
            </a:extLst>
          </p:cNvPr>
          <p:cNvSpPr>
            <a:spLocks noGrp="1"/>
          </p:cNvSpPr>
          <p:nvPr>
            <p:ph type="dt" sz="half" idx="10"/>
          </p:nvPr>
        </p:nvSpPr>
        <p:spPr/>
        <p:txBody>
          <a:bodyPr/>
          <a:lstStyle/>
          <a:p>
            <a:r>
              <a:rPr lang="en-US" dirty="0"/>
              <a:t>31/12/2023</a:t>
            </a:r>
            <a:endParaRPr lang="en-PK" dirty="0"/>
          </a:p>
        </p:txBody>
      </p:sp>
      <p:sp>
        <p:nvSpPr>
          <p:cNvPr id="5" name="Slide Number Placeholder 4">
            <a:extLst>
              <a:ext uri="{FF2B5EF4-FFF2-40B4-BE49-F238E27FC236}">
                <a16:creationId xmlns:a16="http://schemas.microsoft.com/office/drawing/2014/main" id="{99766694-E378-4893-9483-F289AE6BE396}"/>
              </a:ext>
            </a:extLst>
          </p:cNvPr>
          <p:cNvSpPr>
            <a:spLocks noGrp="1"/>
          </p:cNvSpPr>
          <p:nvPr>
            <p:ph type="sldNum" sz="quarter" idx="12"/>
          </p:nvPr>
        </p:nvSpPr>
        <p:spPr/>
        <p:txBody>
          <a:bodyPr/>
          <a:lstStyle/>
          <a:p>
            <a:r>
              <a:rPr dirty="0"/>
              <a:t>10</a:t>
            </a:r>
          </a:p>
        </p:txBody>
      </p:sp>
    </p:spTree>
    <p:extLst>
      <p:ext uri="{BB962C8B-B14F-4D97-AF65-F5344CB8AC3E}">
        <p14:creationId xmlns:p14="http://schemas.microsoft.com/office/powerpoint/2010/main" val="12984664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1555C-FC96-43AE-9196-D3EAE72BD96F}"/>
              </a:ext>
            </a:extLst>
          </p:cNvPr>
          <p:cNvSpPr>
            <a:spLocks noGrp="1"/>
          </p:cNvSpPr>
          <p:nvPr>
            <p:ph type="title"/>
          </p:nvPr>
        </p:nvSpPr>
        <p:spPr/>
        <p:txBody>
          <a:bodyPr/>
          <a:lstStyle/>
          <a:p>
            <a:r>
              <a:rPr lang="en-US" dirty="0"/>
              <a:t>Properties of Relations </a:t>
            </a:r>
            <a:endParaRPr lang="en-PK" dirty="0"/>
          </a:p>
        </p:txBody>
      </p:sp>
      <p:sp>
        <p:nvSpPr>
          <p:cNvPr id="3" name="Content Placeholder 2">
            <a:extLst>
              <a:ext uri="{FF2B5EF4-FFF2-40B4-BE49-F238E27FC236}">
                <a16:creationId xmlns:a16="http://schemas.microsoft.com/office/drawing/2014/main" id="{C189D6F8-B905-4C81-B7AC-BFBCBE6B6898}"/>
              </a:ext>
            </a:extLst>
          </p:cNvPr>
          <p:cNvSpPr>
            <a:spLocks noGrp="1"/>
          </p:cNvSpPr>
          <p:nvPr>
            <p:ph idx="1"/>
          </p:nvPr>
        </p:nvSpPr>
        <p:spPr/>
        <p:txBody>
          <a:bodyPr>
            <a:noAutofit/>
          </a:bodyPr>
          <a:lstStyle/>
          <a:p>
            <a:pPr marL="0" indent="0">
              <a:buNone/>
            </a:pPr>
            <a:r>
              <a:rPr lang="en-US" altLang="en-PK" sz="2400" b="1" dirty="0">
                <a:sym typeface="Symbol" panose="05050102010706020507" pitchFamily="18" charset="2"/>
              </a:rPr>
              <a:t>3. Antisymmetric:</a:t>
            </a:r>
          </a:p>
          <a:p>
            <a:pPr marL="0" indent="0">
              <a:buNone/>
            </a:pPr>
            <a:r>
              <a:rPr lang="en-US" sz="2400" dirty="0">
                <a:latin typeface="Söhne"/>
              </a:rPr>
              <a:t>A relation </a:t>
            </a:r>
            <a:r>
              <a:rPr lang="en-US" sz="2400" i="1" dirty="0">
                <a:latin typeface="KaTeX_Math"/>
              </a:rPr>
              <a:t>R</a:t>
            </a:r>
            <a:r>
              <a:rPr lang="en-US" sz="2400" dirty="0">
                <a:latin typeface="Söhne"/>
              </a:rPr>
              <a:t> on a set </a:t>
            </a:r>
            <a:r>
              <a:rPr lang="en-US" sz="2400" i="1" dirty="0">
                <a:latin typeface="KaTeX_Math"/>
              </a:rPr>
              <a:t>A</a:t>
            </a:r>
            <a:r>
              <a:rPr lang="en-US" sz="2400" dirty="0">
                <a:latin typeface="Söhne"/>
              </a:rPr>
              <a:t> is </a:t>
            </a:r>
            <a:r>
              <a:rPr lang="en-US" sz="2400" dirty="0">
                <a:solidFill>
                  <a:schemeClr val="accent1"/>
                </a:solidFill>
                <a:latin typeface="Söhne"/>
              </a:rPr>
              <a:t>antisymmetric</a:t>
            </a:r>
            <a:r>
              <a:rPr lang="en-US" sz="2400" dirty="0">
                <a:latin typeface="Söhne"/>
              </a:rPr>
              <a:t> if, for every </a:t>
            </a:r>
            <a:r>
              <a:rPr lang="en-US" sz="2400" dirty="0">
                <a:latin typeface="KaTeX_Main"/>
              </a:rPr>
              <a:t>(</a:t>
            </a:r>
            <a:r>
              <a:rPr lang="en-US" sz="2400" i="1" dirty="0">
                <a:latin typeface="KaTeX_Math"/>
              </a:rPr>
              <a:t>a</a:t>
            </a:r>
            <a:r>
              <a:rPr lang="en-US" sz="2400" dirty="0">
                <a:latin typeface="KaTeX_Main"/>
              </a:rPr>
              <a:t>, </a:t>
            </a:r>
            <a:r>
              <a:rPr lang="en-US" sz="2400" i="1" dirty="0">
                <a:latin typeface="KaTeX_Math"/>
              </a:rPr>
              <a:t>b</a:t>
            </a:r>
            <a:r>
              <a:rPr lang="en-US" sz="2400" dirty="0">
                <a:latin typeface="KaTeX_Main"/>
              </a:rPr>
              <a:t>)</a:t>
            </a:r>
            <a:r>
              <a:rPr lang="en-US" sz="2400" dirty="0">
                <a:latin typeface="Söhne"/>
              </a:rPr>
              <a:t> belong to </a:t>
            </a:r>
            <a:r>
              <a:rPr lang="en-US" sz="2400" i="1" dirty="0">
                <a:latin typeface="KaTeX_Math"/>
              </a:rPr>
              <a:t>R</a:t>
            </a:r>
            <a:r>
              <a:rPr lang="en-US" sz="2400" dirty="0">
                <a:latin typeface="Söhne"/>
              </a:rPr>
              <a:t>, and </a:t>
            </a:r>
            <a:r>
              <a:rPr lang="en-US" sz="2400" dirty="0">
                <a:latin typeface="KaTeX_Main"/>
              </a:rPr>
              <a:t>(</a:t>
            </a:r>
            <a:r>
              <a:rPr lang="en-US" sz="2400" i="1" dirty="0">
                <a:latin typeface="KaTeX_Math"/>
              </a:rPr>
              <a:t>b</a:t>
            </a:r>
            <a:r>
              <a:rPr lang="en-US" sz="2400" dirty="0">
                <a:latin typeface="KaTeX_Main"/>
              </a:rPr>
              <a:t>, </a:t>
            </a:r>
            <a:r>
              <a:rPr lang="en-US" sz="2400" i="1" dirty="0">
                <a:latin typeface="KaTeX_Math"/>
              </a:rPr>
              <a:t>a</a:t>
            </a:r>
            <a:r>
              <a:rPr lang="en-US" sz="2400" dirty="0">
                <a:latin typeface="KaTeX_Main"/>
              </a:rPr>
              <a:t>)</a:t>
            </a:r>
            <a:r>
              <a:rPr lang="en-US" sz="2400" dirty="0">
                <a:latin typeface="Söhne"/>
              </a:rPr>
              <a:t> belong to </a:t>
            </a:r>
            <a:r>
              <a:rPr lang="en-US" sz="2400" i="1" dirty="0">
                <a:latin typeface="KaTeX_Math"/>
              </a:rPr>
              <a:t>R</a:t>
            </a:r>
            <a:r>
              <a:rPr lang="en-US" sz="2400" dirty="0">
                <a:latin typeface="Söhne"/>
              </a:rPr>
              <a:t>, then a </a:t>
            </a:r>
            <a:r>
              <a:rPr lang="en-US" sz="2400" dirty="0">
                <a:latin typeface="KaTeX_Main"/>
              </a:rPr>
              <a:t>= </a:t>
            </a:r>
            <a:r>
              <a:rPr lang="en-US" sz="2400" i="1" dirty="0">
                <a:latin typeface="KaTeX_Math"/>
              </a:rPr>
              <a:t>b</a:t>
            </a:r>
            <a:r>
              <a:rPr lang="en-US" sz="2400" dirty="0">
                <a:latin typeface="Söhne"/>
              </a:rPr>
              <a:t>.</a:t>
            </a:r>
          </a:p>
          <a:p>
            <a:r>
              <a:rPr lang="en-US" sz="2400" b="1" dirty="0">
                <a:latin typeface="Söhne"/>
              </a:rPr>
              <a:t>Example:</a:t>
            </a:r>
            <a:endParaRPr lang="en-US" sz="2400" dirty="0">
              <a:latin typeface="Söhne"/>
            </a:endParaRPr>
          </a:p>
          <a:p>
            <a:pPr marL="0" indent="0">
              <a:buNone/>
            </a:pPr>
            <a:r>
              <a:rPr lang="en-US" sz="2400" i="1" dirty="0">
                <a:latin typeface="KaTeX_Math"/>
              </a:rPr>
              <a:t>A </a:t>
            </a:r>
            <a:r>
              <a:rPr lang="en-US" sz="2400" dirty="0">
                <a:latin typeface="KaTeX_Main"/>
              </a:rPr>
              <a:t>= {1, 2, 3}</a:t>
            </a:r>
            <a:endParaRPr lang="en-US" sz="2400" dirty="0">
              <a:latin typeface="Söhne"/>
            </a:endParaRPr>
          </a:p>
          <a:p>
            <a:pPr marL="0" indent="0">
              <a:buNone/>
            </a:pPr>
            <a:r>
              <a:rPr lang="en-US" sz="2400" i="1" dirty="0">
                <a:latin typeface="KaTeX_Math"/>
              </a:rPr>
              <a:t>R </a:t>
            </a:r>
            <a:r>
              <a:rPr lang="en-US" sz="2400" dirty="0">
                <a:latin typeface="KaTeX_Main"/>
              </a:rPr>
              <a:t>= { (1, 2), (2, 3), (1, 1), (2, 2), (3, 3) }</a:t>
            </a:r>
          </a:p>
          <a:p>
            <a:pPr marL="0" indent="0">
              <a:buNone/>
            </a:pPr>
            <a:endParaRPr lang="en-US" altLang="en-PK" sz="2400" b="1" dirty="0">
              <a:solidFill>
                <a:srgbClr val="374151"/>
              </a:solidFill>
              <a:latin typeface="KaTeX_Main"/>
              <a:sym typeface="Symbol" panose="05050102010706020507" pitchFamily="18" charset="2"/>
            </a:endParaRPr>
          </a:p>
          <a:p>
            <a:pPr marL="0" indent="0">
              <a:buNone/>
            </a:pPr>
            <a:r>
              <a:rPr lang="en-US" altLang="en-PK" sz="2400" dirty="0">
                <a:solidFill>
                  <a:schemeClr val="accent1"/>
                </a:solidFill>
                <a:sym typeface="Symbol" panose="05050102010706020507" pitchFamily="18" charset="2"/>
              </a:rPr>
              <a:t>Note: Antisymmetric is not the opposite of symmetric, a relation can be both.</a:t>
            </a:r>
            <a:endParaRPr lang="en-US" altLang="en-PK" sz="2400" b="1" dirty="0">
              <a:solidFill>
                <a:schemeClr val="accent1"/>
              </a:solidFill>
              <a:sym typeface="Symbol" panose="05050102010706020507" pitchFamily="18" charset="2"/>
            </a:endParaRPr>
          </a:p>
          <a:p>
            <a:pPr marL="0" indent="0">
              <a:buNone/>
            </a:pPr>
            <a:endParaRPr lang="en-US" altLang="en-PK" sz="2400" b="1" dirty="0">
              <a:sym typeface="Symbol" panose="05050102010706020507" pitchFamily="18" charset="2"/>
            </a:endParaRPr>
          </a:p>
        </p:txBody>
      </p:sp>
      <p:sp>
        <p:nvSpPr>
          <p:cNvPr id="4" name="Date Placeholder 3">
            <a:extLst>
              <a:ext uri="{FF2B5EF4-FFF2-40B4-BE49-F238E27FC236}">
                <a16:creationId xmlns:a16="http://schemas.microsoft.com/office/drawing/2014/main" id="{495DB796-489C-49AF-9422-868F5A246992}"/>
              </a:ext>
            </a:extLst>
          </p:cNvPr>
          <p:cNvSpPr>
            <a:spLocks noGrp="1"/>
          </p:cNvSpPr>
          <p:nvPr>
            <p:ph type="dt" sz="half" idx="10"/>
          </p:nvPr>
        </p:nvSpPr>
        <p:spPr/>
        <p:txBody>
          <a:bodyPr/>
          <a:lstStyle/>
          <a:p>
            <a:r>
              <a:rPr lang="en-US" dirty="0"/>
              <a:t>31/12/2023</a:t>
            </a:r>
            <a:endParaRPr lang="en-PK" dirty="0"/>
          </a:p>
        </p:txBody>
      </p:sp>
      <p:sp>
        <p:nvSpPr>
          <p:cNvPr id="5" name="Slide Number Placeholder 4">
            <a:extLst>
              <a:ext uri="{FF2B5EF4-FFF2-40B4-BE49-F238E27FC236}">
                <a16:creationId xmlns:a16="http://schemas.microsoft.com/office/drawing/2014/main" id="{99766694-E378-4893-9483-F289AE6BE396}"/>
              </a:ext>
            </a:extLst>
          </p:cNvPr>
          <p:cNvSpPr>
            <a:spLocks noGrp="1"/>
          </p:cNvSpPr>
          <p:nvPr>
            <p:ph type="sldNum" sz="quarter" idx="12"/>
          </p:nvPr>
        </p:nvSpPr>
        <p:spPr/>
        <p:txBody>
          <a:bodyPr/>
          <a:lstStyle/>
          <a:p>
            <a:r>
              <a:rPr dirty="0"/>
              <a:t>11</a:t>
            </a:r>
          </a:p>
        </p:txBody>
      </p:sp>
    </p:spTree>
    <p:extLst>
      <p:ext uri="{BB962C8B-B14F-4D97-AF65-F5344CB8AC3E}">
        <p14:creationId xmlns:p14="http://schemas.microsoft.com/office/powerpoint/2010/main" val="1752913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1555C-FC96-43AE-9196-D3EAE72BD96F}"/>
              </a:ext>
            </a:extLst>
          </p:cNvPr>
          <p:cNvSpPr>
            <a:spLocks noGrp="1"/>
          </p:cNvSpPr>
          <p:nvPr>
            <p:ph type="title"/>
          </p:nvPr>
        </p:nvSpPr>
        <p:spPr/>
        <p:txBody>
          <a:bodyPr/>
          <a:lstStyle/>
          <a:p>
            <a:r>
              <a:rPr lang="en-US" dirty="0"/>
              <a:t>Properties of Relations </a:t>
            </a:r>
            <a:endParaRPr lang="en-PK" dirty="0"/>
          </a:p>
        </p:txBody>
      </p:sp>
      <p:sp>
        <p:nvSpPr>
          <p:cNvPr id="3" name="Content Placeholder 2">
            <a:extLst>
              <a:ext uri="{FF2B5EF4-FFF2-40B4-BE49-F238E27FC236}">
                <a16:creationId xmlns:a16="http://schemas.microsoft.com/office/drawing/2014/main" id="{C189D6F8-B905-4C81-B7AC-BFBCBE6B6898}"/>
              </a:ext>
            </a:extLst>
          </p:cNvPr>
          <p:cNvSpPr>
            <a:spLocks noGrp="1"/>
          </p:cNvSpPr>
          <p:nvPr>
            <p:ph idx="1"/>
          </p:nvPr>
        </p:nvSpPr>
        <p:spPr/>
        <p:txBody>
          <a:bodyPr>
            <a:noAutofit/>
          </a:bodyPr>
          <a:lstStyle/>
          <a:p>
            <a:pPr marL="0" indent="0">
              <a:lnSpc>
                <a:spcPct val="90000"/>
              </a:lnSpc>
              <a:buNone/>
            </a:pPr>
            <a:r>
              <a:rPr lang="en-US" altLang="en-PK" sz="2400" b="1" dirty="0">
                <a:sym typeface="Symbol" panose="05050102010706020507" pitchFamily="18" charset="2"/>
              </a:rPr>
              <a:t>4. Asymmetric:</a:t>
            </a:r>
          </a:p>
          <a:p>
            <a:pPr marL="0" indent="0">
              <a:buNone/>
            </a:pPr>
            <a:r>
              <a:rPr lang="en-US" altLang="en-PK" sz="2400" dirty="0">
                <a:sym typeface="Symbol" panose="05050102010706020507" pitchFamily="18" charset="2"/>
              </a:rPr>
              <a:t>A relation R on a set A is called </a:t>
            </a:r>
            <a:r>
              <a:rPr lang="en-US" altLang="en-PK" sz="2400" dirty="0">
                <a:solidFill>
                  <a:schemeClr val="accent1"/>
                </a:solidFill>
                <a:sym typeface="Symbol" panose="05050102010706020507" pitchFamily="18" charset="2"/>
              </a:rPr>
              <a:t>asymmetric</a:t>
            </a:r>
            <a:r>
              <a:rPr lang="en-US" altLang="en-PK" sz="2400" b="1" dirty="0">
                <a:sym typeface="Symbol" panose="05050102010706020507" pitchFamily="18" charset="2"/>
              </a:rPr>
              <a:t> </a:t>
            </a:r>
            <a:r>
              <a:rPr lang="en-US" altLang="en-PK" sz="2400" dirty="0">
                <a:sym typeface="Symbol" panose="05050102010706020507" pitchFamily="18" charset="2"/>
              </a:rPr>
              <a:t>if (a, b)  R </a:t>
            </a:r>
            <a:r>
              <a:rPr lang="en-US" altLang="en-PK" sz="2400" dirty="0">
                <a:sym typeface="Wingdings" panose="05000000000000000000" pitchFamily="2" charset="2"/>
              </a:rPr>
              <a:t> (b, a) </a:t>
            </a:r>
            <a:r>
              <a:rPr lang="en-US" altLang="en-PK" sz="2400" dirty="0">
                <a:sym typeface="Symbol" panose="05050102010706020507" pitchFamily="18" charset="2"/>
              </a:rPr>
              <a:t></a:t>
            </a:r>
            <a:r>
              <a:rPr lang="en-US" altLang="en-PK" sz="2400" dirty="0">
                <a:sym typeface="Wingdings" panose="05000000000000000000" pitchFamily="2" charset="2"/>
              </a:rPr>
              <a:t> R.</a:t>
            </a:r>
          </a:p>
          <a:p>
            <a:pPr algn="l"/>
            <a:r>
              <a:rPr lang="en-US" sz="2400" b="1" i="0" dirty="0">
                <a:effectLst/>
                <a:latin typeface="Söhne"/>
              </a:rPr>
              <a:t>Example:</a:t>
            </a:r>
            <a:endParaRPr lang="en-US" sz="2400" b="0" i="0" dirty="0">
              <a:effectLst/>
              <a:latin typeface="Söhne"/>
            </a:endParaRPr>
          </a:p>
          <a:p>
            <a:pPr marL="0" indent="0" algn="l">
              <a:buNone/>
            </a:pPr>
            <a:r>
              <a:rPr lang="en-US" sz="2400" b="0" i="1" dirty="0">
                <a:effectLst/>
                <a:latin typeface="KaTeX_Math"/>
              </a:rPr>
              <a:t>A </a:t>
            </a:r>
            <a:r>
              <a:rPr lang="en-US" sz="2400" b="0" i="0" dirty="0">
                <a:effectLst/>
                <a:latin typeface="KaTeX_Main"/>
              </a:rPr>
              <a:t>= {1, 2, 3}</a:t>
            </a:r>
            <a:endParaRPr lang="en-US" sz="2400" b="0" i="0" dirty="0">
              <a:effectLst/>
              <a:latin typeface="Söhne"/>
            </a:endParaRPr>
          </a:p>
          <a:p>
            <a:pPr marL="0" indent="0" algn="l">
              <a:buNone/>
            </a:pPr>
            <a:r>
              <a:rPr lang="en-US" sz="2400" b="0" i="1" dirty="0">
                <a:effectLst/>
                <a:latin typeface="KaTeX_Math"/>
              </a:rPr>
              <a:t>R </a:t>
            </a:r>
            <a:r>
              <a:rPr lang="en-US" sz="2400" b="0" i="0" dirty="0">
                <a:effectLst/>
                <a:latin typeface="KaTeX_Main"/>
              </a:rPr>
              <a:t>= { (1, 2), (2, 3), (1, 3) }</a:t>
            </a:r>
            <a:endParaRPr lang="en-US" sz="2400" b="0" i="0" dirty="0">
              <a:effectLst/>
              <a:latin typeface="Söhne"/>
            </a:endParaRPr>
          </a:p>
        </p:txBody>
      </p:sp>
      <p:sp>
        <p:nvSpPr>
          <p:cNvPr id="4" name="Date Placeholder 3">
            <a:extLst>
              <a:ext uri="{FF2B5EF4-FFF2-40B4-BE49-F238E27FC236}">
                <a16:creationId xmlns:a16="http://schemas.microsoft.com/office/drawing/2014/main" id="{495DB796-489C-49AF-9422-868F5A246992}"/>
              </a:ext>
            </a:extLst>
          </p:cNvPr>
          <p:cNvSpPr>
            <a:spLocks noGrp="1"/>
          </p:cNvSpPr>
          <p:nvPr>
            <p:ph type="dt" sz="half" idx="10"/>
          </p:nvPr>
        </p:nvSpPr>
        <p:spPr/>
        <p:txBody>
          <a:bodyPr/>
          <a:lstStyle/>
          <a:p>
            <a:r>
              <a:rPr lang="en-US" dirty="0"/>
              <a:t>31/12/2023</a:t>
            </a:r>
            <a:endParaRPr lang="en-PK" dirty="0"/>
          </a:p>
        </p:txBody>
      </p:sp>
      <p:sp>
        <p:nvSpPr>
          <p:cNvPr id="5" name="Slide Number Placeholder 4">
            <a:extLst>
              <a:ext uri="{FF2B5EF4-FFF2-40B4-BE49-F238E27FC236}">
                <a16:creationId xmlns:a16="http://schemas.microsoft.com/office/drawing/2014/main" id="{99766694-E378-4893-9483-F289AE6BE396}"/>
              </a:ext>
            </a:extLst>
          </p:cNvPr>
          <p:cNvSpPr>
            <a:spLocks noGrp="1"/>
          </p:cNvSpPr>
          <p:nvPr>
            <p:ph type="sldNum" sz="quarter" idx="12"/>
          </p:nvPr>
        </p:nvSpPr>
        <p:spPr/>
        <p:txBody>
          <a:bodyPr/>
          <a:lstStyle/>
          <a:p>
            <a:r>
              <a:rPr dirty="0"/>
              <a:t>12</a:t>
            </a:r>
          </a:p>
        </p:txBody>
      </p:sp>
    </p:spTree>
    <p:extLst>
      <p:ext uri="{BB962C8B-B14F-4D97-AF65-F5344CB8AC3E}">
        <p14:creationId xmlns:p14="http://schemas.microsoft.com/office/powerpoint/2010/main" val="1286459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1555C-FC96-43AE-9196-D3EAE72BD96F}"/>
              </a:ext>
            </a:extLst>
          </p:cNvPr>
          <p:cNvSpPr>
            <a:spLocks noGrp="1"/>
          </p:cNvSpPr>
          <p:nvPr>
            <p:ph type="title"/>
          </p:nvPr>
        </p:nvSpPr>
        <p:spPr/>
        <p:txBody>
          <a:bodyPr/>
          <a:lstStyle/>
          <a:p>
            <a:r>
              <a:rPr lang="en-US" dirty="0"/>
              <a:t>Properties of Relations </a:t>
            </a:r>
            <a:endParaRPr lang="en-PK" dirty="0"/>
          </a:p>
        </p:txBody>
      </p:sp>
      <p:sp>
        <p:nvSpPr>
          <p:cNvPr id="3" name="Content Placeholder 2">
            <a:extLst>
              <a:ext uri="{FF2B5EF4-FFF2-40B4-BE49-F238E27FC236}">
                <a16:creationId xmlns:a16="http://schemas.microsoft.com/office/drawing/2014/main" id="{C189D6F8-B905-4C81-B7AC-BFBCBE6B6898}"/>
              </a:ext>
            </a:extLst>
          </p:cNvPr>
          <p:cNvSpPr>
            <a:spLocks noGrp="1"/>
          </p:cNvSpPr>
          <p:nvPr>
            <p:ph idx="1"/>
          </p:nvPr>
        </p:nvSpPr>
        <p:spPr/>
        <p:txBody>
          <a:bodyPr>
            <a:noAutofit/>
          </a:bodyPr>
          <a:lstStyle/>
          <a:p>
            <a:pPr marL="0" indent="0">
              <a:lnSpc>
                <a:spcPct val="90000"/>
              </a:lnSpc>
              <a:buNone/>
            </a:pPr>
            <a:r>
              <a:rPr lang="en-US" altLang="en-PK" sz="2400" b="1" dirty="0"/>
              <a:t>5. Transitive:</a:t>
            </a:r>
          </a:p>
          <a:p>
            <a:pPr marL="0" indent="0">
              <a:lnSpc>
                <a:spcPct val="90000"/>
              </a:lnSpc>
              <a:buNone/>
            </a:pPr>
            <a:r>
              <a:rPr lang="en-US" sz="2400" dirty="0">
                <a:latin typeface="Söhne"/>
              </a:rPr>
              <a:t>A relation </a:t>
            </a:r>
            <a:r>
              <a:rPr lang="en-US" sz="2400" i="1" dirty="0">
                <a:latin typeface="KaTeX_Math"/>
              </a:rPr>
              <a:t>R</a:t>
            </a:r>
            <a:r>
              <a:rPr lang="en-US" sz="2400" dirty="0">
                <a:latin typeface="Söhne"/>
              </a:rPr>
              <a:t> on a set </a:t>
            </a:r>
            <a:r>
              <a:rPr lang="en-US" sz="2400" i="1" dirty="0">
                <a:latin typeface="KaTeX_Math"/>
              </a:rPr>
              <a:t>A</a:t>
            </a:r>
            <a:r>
              <a:rPr lang="en-US" sz="2400" dirty="0">
                <a:latin typeface="Söhne"/>
              </a:rPr>
              <a:t> is </a:t>
            </a:r>
            <a:r>
              <a:rPr lang="en-US" sz="2400" dirty="0">
                <a:solidFill>
                  <a:schemeClr val="accent1"/>
                </a:solidFill>
                <a:latin typeface="Söhne"/>
              </a:rPr>
              <a:t>transitive</a:t>
            </a:r>
            <a:r>
              <a:rPr lang="en-US" sz="2400" dirty="0">
                <a:latin typeface="Söhne"/>
              </a:rPr>
              <a:t> if, for every </a:t>
            </a:r>
            <a:r>
              <a:rPr lang="en-US" sz="2400" dirty="0">
                <a:latin typeface="KaTeX_Main"/>
              </a:rPr>
              <a:t>(</a:t>
            </a:r>
            <a:r>
              <a:rPr lang="en-US" sz="2400" i="1" dirty="0">
                <a:latin typeface="KaTeX_Math"/>
              </a:rPr>
              <a:t>a</a:t>
            </a:r>
            <a:r>
              <a:rPr lang="en-US" sz="2400" dirty="0">
                <a:latin typeface="KaTeX_Main"/>
              </a:rPr>
              <a:t>, </a:t>
            </a:r>
            <a:r>
              <a:rPr lang="en-US" sz="2400" i="1" dirty="0">
                <a:latin typeface="KaTeX_Math"/>
              </a:rPr>
              <a:t>b</a:t>
            </a:r>
            <a:r>
              <a:rPr lang="en-US" sz="2400" dirty="0">
                <a:latin typeface="KaTeX_Main"/>
              </a:rPr>
              <a:t>)</a:t>
            </a:r>
            <a:r>
              <a:rPr lang="en-US" sz="2400" dirty="0">
                <a:latin typeface="Söhne"/>
              </a:rPr>
              <a:t> and </a:t>
            </a:r>
            <a:r>
              <a:rPr lang="en-US" sz="2400" dirty="0">
                <a:latin typeface="KaTeX_Main"/>
              </a:rPr>
              <a:t>(</a:t>
            </a:r>
            <a:r>
              <a:rPr lang="en-US" sz="2400" i="1" dirty="0">
                <a:latin typeface="KaTeX_Math"/>
              </a:rPr>
              <a:t>b</a:t>
            </a:r>
            <a:r>
              <a:rPr lang="en-US" sz="2400" dirty="0">
                <a:latin typeface="KaTeX_Main"/>
              </a:rPr>
              <a:t>, </a:t>
            </a:r>
            <a:r>
              <a:rPr lang="en-US" sz="2400" i="1" dirty="0">
                <a:latin typeface="KaTeX_Math"/>
              </a:rPr>
              <a:t>c</a:t>
            </a:r>
            <a:r>
              <a:rPr lang="en-US" sz="2400" dirty="0">
                <a:latin typeface="KaTeX_Main"/>
              </a:rPr>
              <a:t>)</a:t>
            </a:r>
            <a:r>
              <a:rPr lang="en-US" sz="2400" dirty="0">
                <a:latin typeface="Söhne"/>
              </a:rPr>
              <a:t> in </a:t>
            </a:r>
            <a:r>
              <a:rPr lang="en-US" sz="2400" i="1" dirty="0">
                <a:latin typeface="KaTeX_Math"/>
              </a:rPr>
              <a:t>R</a:t>
            </a:r>
            <a:r>
              <a:rPr lang="en-US" sz="2400" dirty="0">
                <a:latin typeface="Söhne"/>
              </a:rPr>
              <a:t>,     </a:t>
            </a:r>
            <a:r>
              <a:rPr lang="en-US" sz="2400" dirty="0">
                <a:latin typeface="KaTeX_Main"/>
              </a:rPr>
              <a:t>(</a:t>
            </a:r>
            <a:r>
              <a:rPr lang="en-US" sz="2400" i="1" dirty="0">
                <a:latin typeface="KaTeX_Math"/>
              </a:rPr>
              <a:t>a</a:t>
            </a:r>
            <a:r>
              <a:rPr lang="en-US" sz="2400" dirty="0">
                <a:latin typeface="KaTeX_Main"/>
              </a:rPr>
              <a:t>, </a:t>
            </a:r>
            <a:r>
              <a:rPr lang="en-US" sz="2400" i="1" dirty="0">
                <a:latin typeface="KaTeX_Math"/>
              </a:rPr>
              <a:t>c</a:t>
            </a:r>
            <a:r>
              <a:rPr lang="en-US" sz="2400" dirty="0">
                <a:latin typeface="KaTeX_Main"/>
              </a:rPr>
              <a:t>)</a:t>
            </a:r>
            <a:r>
              <a:rPr lang="en-US" sz="2400" dirty="0">
                <a:latin typeface="Söhne"/>
              </a:rPr>
              <a:t> also belongs to </a:t>
            </a:r>
            <a:r>
              <a:rPr lang="en-US" sz="2400" i="1" dirty="0">
                <a:latin typeface="KaTeX_Math"/>
              </a:rPr>
              <a:t>R</a:t>
            </a:r>
            <a:r>
              <a:rPr lang="en-US" sz="2400" dirty="0">
                <a:latin typeface="Söhne"/>
              </a:rPr>
              <a:t>.</a:t>
            </a:r>
          </a:p>
          <a:p>
            <a:r>
              <a:rPr lang="en-US" sz="2400" b="1" dirty="0">
                <a:latin typeface="Söhne"/>
              </a:rPr>
              <a:t>Example:</a:t>
            </a:r>
            <a:endParaRPr lang="en-US" sz="2400" dirty="0">
              <a:latin typeface="Söhne"/>
            </a:endParaRPr>
          </a:p>
          <a:p>
            <a:pPr marL="0" indent="0">
              <a:buNone/>
            </a:pPr>
            <a:r>
              <a:rPr lang="en-US" sz="2400" i="1" dirty="0">
                <a:latin typeface="KaTeX_Math"/>
              </a:rPr>
              <a:t>A </a:t>
            </a:r>
            <a:r>
              <a:rPr lang="en-US" sz="2400" dirty="0">
                <a:latin typeface="KaTeX_Main"/>
              </a:rPr>
              <a:t>= {1, 2, 3}</a:t>
            </a:r>
            <a:endParaRPr lang="en-US" sz="2400" dirty="0">
              <a:latin typeface="Söhne"/>
            </a:endParaRPr>
          </a:p>
          <a:p>
            <a:pPr marL="0" indent="0">
              <a:buNone/>
            </a:pPr>
            <a:r>
              <a:rPr lang="en-US" sz="2400" i="1" dirty="0">
                <a:latin typeface="KaTeX_Math"/>
              </a:rPr>
              <a:t>R </a:t>
            </a:r>
            <a:r>
              <a:rPr lang="en-US" sz="2400" dirty="0">
                <a:latin typeface="KaTeX_Main"/>
              </a:rPr>
              <a:t>= { (1, 2), (2, 3), (1, 3), (3, 3) }</a:t>
            </a:r>
            <a:endParaRPr lang="en-US" sz="2400" dirty="0">
              <a:latin typeface="Söhne"/>
            </a:endParaRPr>
          </a:p>
          <a:p>
            <a:pPr marL="0" indent="0">
              <a:buNone/>
            </a:pPr>
            <a:endParaRPr lang="en-US" altLang="en-PK" sz="2400" dirty="0">
              <a:latin typeface="Söhne"/>
              <a:sym typeface="Symbol" panose="05050102010706020507" pitchFamily="18" charset="2"/>
            </a:endParaRPr>
          </a:p>
          <a:p>
            <a:pPr marL="0" indent="0">
              <a:buNone/>
            </a:pPr>
            <a:r>
              <a:rPr lang="en-US" altLang="en-PK" sz="2400" dirty="0">
                <a:solidFill>
                  <a:schemeClr val="accent1"/>
                </a:solidFill>
                <a:sym typeface="Symbol" panose="05050102010706020507" pitchFamily="18" charset="2"/>
              </a:rPr>
              <a:t>Note: A set with one ordered pair is Transitive.</a:t>
            </a:r>
          </a:p>
        </p:txBody>
      </p:sp>
      <p:sp>
        <p:nvSpPr>
          <p:cNvPr id="4" name="Date Placeholder 3">
            <a:extLst>
              <a:ext uri="{FF2B5EF4-FFF2-40B4-BE49-F238E27FC236}">
                <a16:creationId xmlns:a16="http://schemas.microsoft.com/office/drawing/2014/main" id="{495DB796-489C-49AF-9422-868F5A246992}"/>
              </a:ext>
            </a:extLst>
          </p:cNvPr>
          <p:cNvSpPr>
            <a:spLocks noGrp="1"/>
          </p:cNvSpPr>
          <p:nvPr>
            <p:ph type="dt" sz="half" idx="10"/>
          </p:nvPr>
        </p:nvSpPr>
        <p:spPr/>
        <p:txBody>
          <a:bodyPr/>
          <a:lstStyle/>
          <a:p>
            <a:r>
              <a:rPr lang="en-US" dirty="0"/>
              <a:t>31/12/2023</a:t>
            </a:r>
            <a:endParaRPr lang="en-PK" dirty="0"/>
          </a:p>
        </p:txBody>
      </p:sp>
      <p:sp>
        <p:nvSpPr>
          <p:cNvPr id="5" name="Slide Number Placeholder 4">
            <a:extLst>
              <a:ext uri="{FF2B5EF4-FFF2-40B4-BE49-F238E27FC236}">
                <a16:creationId xmlns:a16="http://schemas.microsoft.com/office/drawing/2014/main" id="{99766694-E378-4893-9483-F289AE6BE396}"/>
              </a:ext>
            </a:extLst>
          </p:cNvPr>
          <p:cNvSpPr>
            <a:spLocks noGrp="1"/>
          </p:cNvSpPr>
          <p:nvPr>
            <p:ph type="sldNum" sz="quarter" idx="12"/>
          </p:nvPr>
        </p:nvSpPr>
        <p:spPr/>
        <p:txBody>
          <a:bodyPr/>
          <a:lstStyle/>
          <a:p>
            <a:r>
              <a:rPr dirty="0"/>
              <a:t>13</a:t>
            </a:r>
          </a:p>
        </p:txBody>
      </p:sp>
    </p:spTree>
    <p:extLst>
      <p:ext uri="{BB962C8B-B14F-4D97-AF65-F5344CB8AC3E}">
        <p14:creationId xmlns:p14="http://schemas.microsoft.com/office/powerpoint/2010/main" val="161576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1555C-FC96-43AE-9196-D3EAE72BD96F}"/>
              </a:ext>
            </a:extLst>
          </p:cNvPr>
          <p:cNvSpPr>
            <a:spLocks noGrp="1"/>
          </p:cNvSpPr>
          <p:nvPr>
            <p:ph type="title"/>
          </p:nvPr>
        </p:nvSpPr>
        <p:spPr/>
        <p:txBody>
          <a:bodyPr/>
          <a:lstStyle/>
          <a:p>
            <a:r>
              <a:rPr lang="en-US" dirty="0"/>
              <a:t>Equivalence Relations</a:t>
            </a:r>
            <a:endParaRPr lang="en-PK" dirty="0"/>
          </a:p>
        </p:txBody>
      </p:sp>
      <p:sp>
        <p:nvSpPr>
          <p:cNvPr id="3" name="Content Placeholder 2">
            <a:extLst>
              <a:ext uri="{FF2B5EF4-FFF2-40B4-BE49-F238E27FC236}">
                <a16:creationId xmlns:a16="http://schemas.microsoft.com/office/drawing/2014/main" id="{C189D6F8-B905-4C81-B7AC-BFBCBE6B6898}"/>
              </a:ext>
            </a:extLst>
          </p:cNvPr>
          <p:cNvSpPr>
            <a:spLocks noGrp="1"/>
          </p:cNvSpPr>
          <p:nvPr>
            <p:ph idx="1"/>
          </p:nvPr>
        </p:nvSpPr>
        <p:spPr/>
        <p:txBody>
          <a:bodyPr>
            <a:noAutofit/>
          </a:bodyPr>
          <a:lstStyle/>
          <a:p>
            <a:pPr algn="l">
              <a:spcAft>
                <a:spcPts val="800"/>
              </a:spcAft>
              <a:defRPr sz="2400">
                <a:latin typeface="Aptos"/>
              </a:defRPr>
            </a:pPr>
            <a:r>
              <a:rPr b="1" dirty="0"/>
              <a:t>Definition:</a:t>
            </a:r>
            <a:endParaRPr lang="en-GB" b="1" dirty="0"/>
          </a:p>
          <a:p>
            <a:pPr marL="0" indent="0">
              <a:spcAft>
                <a:spcPts val="800"/>
              </a:spcAft>
              <a:buNone/>
              <a:defRPr sz="2400">
                <a:latin typeface="Aptos"/>
              </a:defRPr>
            </a:pPr>
            <a:r>
              <a:rPr lang="en-GB" dirty="0"/>
              <a:t>An equivalence relation on a set A satisfies three properties: </a:t>
            </a:r>
            <a:r>
              <a:rPr lang="en-GB" dirty="0">
                <a:solidFill>
                  <a:schemeClr val="accent1"/>
                </a:solidFill>
                <a:latin typeface="Söhne"/>
              </a:rPr>
              <a:t>reflexivity, symmetry, and transitivity.</a:t>
            </a:r>
          </a:p>
          <a:p>
            <a:pPr>
              <a:spcAft>
                <a:spcPts val="800"/>
              </a:spcAft>
              <a:defRPr sz="2400">
                <a:latin typeface="Aptos"/>
              </a:defRPr>
            </a:pPr>
            <a:r>
              <a:rPr b="1" dirty="0"/>
              <a:t>Example:</a:t>
            </a:r>
          </a:p>
          <a:p>
            <a:pPr marL="0" indent="0">
              <a:spcAft>
                <a:spcPts val="800"/>
              </a:spcAft>
              <a:buNone/>
              <a:defRPr sz="2400">
                <a:latin typeface="Aptos"/>
              </a:defRPr>
            </a:pPr>
            <a:r>
              <a:rPr dirty="0"/>
              <a:t>Let </a:t>
            </a:r>
            <a:r>
              <a:rPr i="1" dirty="0"/>
              <a:t>A = {1, 2, 3}</a:t>
            </a:r>
            <a:r>
              <a:rPr lang="en-GB" i="1" dirty="0"/>
              <a:t> </a:t>
            </a:r>
            <a:r>
              <a:rPr lang="en-GB" dirty="0"/>
              <a:t>and</a:t>
            </a:r>
            <a:endParaRPr dirty="0"/>
          </a:p>
          <a:p>
            <a:pPr marL="0" indent="0">
              <a:spcAft>
                <a:spcPts val="800"/>
              </a:spcAft>
              <a:buNone/>
              <a:defRPr sz="2400">
                <a:latin typeface="Aptos"/>
              </a:defRPr>
            </a:pPr>
            <a:r>
              <a:rPr i="1" dirty="0"/>
              <a:t>R = { (1,1), (2,2), (3,3), (1,2), (2,1), (1,3), (3,1), (2,3), (3,2) }</a:t>
            </a:r>
          </a:p>
          <a:p>
            <a:pPr>
              <a:spcAft>
                <a:spcPts val="800"/>
              </a:spcAft>
              <a:defRPr sz="2400">
                <a:latin typeface="Aptos"/>
              </a:defRPr>
            </a:pPr>
            <a:r>
              <a:rPr dirty="0"/>
              <a:t>This relates every element to every other element, so it is reflexive, symmetric, and transitive.</a:t>
            </a:r>
          </a:p>
        </p:txBody>
      </p:sp>
      <p:sp>
        <p:nvSpPr>
          <p:cNvPr id="4" name="Date Placeholder 3">
            <a:extLst>
              <a:ext uri="{FF2B5EF4-FFF2-40B4-BE49-F238E27FC236}">
                <a16:creationId xmlns:a16="http://schemas.microsoft.com/office/drawing/2014/main" id="{495DB796-489C-49AF-9422-868F5A246992}"/>
              </a:ext>
            </a:extLst>
          </p:cNvPr>
          <p:cNvSpPr>
            <a:spLocks noGrp="1"/>
          </p:cNvSpPr>
          <p:nvPr>
            <p:ph type="dt" sz="half" idx="10"/>
          </p:nvPr>
        </p:nvSpPr>
        <p:spPr/>
        <p:txBody>
          <a:bodyPr/>
          <a:lstStyle/>
          <a:p>
            <a:r>
              <a:rPr lang="en-US" dirty="0"/>
              <a:t>31/12/2023</a:t>
            </a:r>
            <a:endParaRPr lang="en-PK" dirty="0"/>
          </a:p>
        </p:txBody>
      </p:sp>
      <p:sp>
        <p:nvSpPr>
          <p:cNvPr id="5" name="Slide Number Placeholder 4">
            <a:extLst>
              <a:ext uri="{FF2B5EF4-FFF2-40B4-BE49-F238E27FC236}">
                <a16:creationId xmlns:a16="http://schemas.microsoft.com/office/drawing/2014/main" id="{99766694-E378-4893-9483-F289AE6BE396}"/>
              </a:ext>
            </a:extLst>
          </p:cNvPr>
          <p:cNvSpPr>
            <a:spLocks noGrp="1"/>
          </p:cNvSpPr>
          <p:nvPr>
            <p:ph type="sldNum" sz="quarter" idx="12"/>
          </p:nvPr>
        </p:nvSpPr>
        <p:spPr/>
        <p:txBody>
          <a:bodyPr/>
          <a:lstStyle/>
          <a:p>
            <a:r>
              <a:rPr dirty="0"/>
              <a:t>14</a:t>
            </a:r>
          </a:p>
        </p:txBody>
      </p:sp>
    </p:spTree>
    <p:extLst>
      <p:ext uri="{BB962C8B-B14F-4D97-AF65-F5344CB8AC3E}">
        <p14:creationId xmlns:p14="http://schemas.microsoft.com/office/powerpoint/2010/main" val="1737007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1555C-FC96-43AE-9196-D3EAE72BD96F}"/>
              </a:ext>
            </a:extLst>
          </p:cNvPr>
          <p:cNvSpPr>
            <a:spLocks noGrp="1"/>
          </p:cNvSpPr>
          <p:nvPr>
            <p:ph type="title"/>
          </p:nvPr>
        </p:nvSpPr>
        <p:spPr/>
        <p:txBody>
          <a:bodyPr/>
          <a:lstStyle/>
          <a:p>
            <a:r>
              <a:rPr lang="en-US" dirty="0"/>
              <a:t>Partial Order Relations</a:t>
            </a:r>
            <a:endParaRPr lang="en-PK" dirty="0"/>
          </a:p>
        </p:txBody>
      </p:sp>
      <p:sp>
        <p:nvSpPr>
          <p:cNvPr id="3" name="Content Placeholder 2">
            <a:extLst>
              <a:ext uri="{FF2B5EF4-FFF2-40B4-BE49-F238E27FC236}">
                <a16:creationId xmlns:a16="http://schemas.microsoft.com/office/drawing/2014/main" id="{C189D6F8-B905-4C81-B7AC-BFBCBE6B6898}"/>
              </a:ext>
            </a:extLst>
          </p:cNvPr>
          <p:cNvSpPr>
            <a:spLocks noGrp="1"/>
          </p:cNvSpPr>
          <p:nvPr>
            <p:ph idx="1"/>
          </p:nvPr>
        </p:nvSpPr>
        <p:spPr/>
        <p:txBody>
          <a:bodyPr>
            <a:noAutofit/>
          </a:bodyPr>
          <a:lstStyle/>
          <a:p>
            <a:pPr algn="l">
              <a:spcAft>
                <a:spcPts val="800"/>
              </a:spcAft>
              <a:defRPr sz="2400">
                <a:latin typeface="Aptos"/>
              </a:defRPr>
            </a:pPr>
            <a:r>
              <a:rPr b="1" dirty="0"/>
              <a:t>Definition:</a:t>
            </a:r>
          </a:p>
          <a:p>
            <a:pPr marL="0" indent="0">
              <a:spcAft>
                <a:spcPts val="800"/>
              </a:spcAft>
              <a:buNone/>
              <a:defRPr sz="2400">
                <a:latin typeface="Aptos"/>
              </a:defRPr>
            </a:pPr>
            <a:r>
              <a:rPr dirty="0"/>
              <a:t>A partial order on a set A is a relation that is </a:t>
            </a:r>
            <a:r>
              <a:rPr dirty="0">
                <a:solidFill>
                  <a:schemeClr val="accent1"/>
                </a:solidFill>
                <a:latin typeface="Söhne"/>
              </a:rPr>
              <a:t>reflexive, antisymmetric, and transitive</a:t>
            </a:r>
            <a:endParaRPr dirty="0"/>
          </a:p>
          <a:p>
            <a:pPr>
              <a:spcAft>
                <a:spcPts val="800"/>
              </a:spcAft>
              <a:defRPr sz="2400">
                <a:latin typeface="Aptos"/>
              </a:defRPr>
            </a:pPr>
            <a:r>
              <a:rPr b="1" dirty="0"/>
              <a:t>Example:</a:t>
            </a:r>
          </a:p>
          <a:p>
            <a:pPr marL="0" indent="0">
              <a:spcAft>
                <a:spcPts val="800"/>
              </a:spcAft>
              <a:buNone/>
              <a:defRPr sz="2400">
                <a:latin typeface="Aptos"/>
              </a:defRPr>
            </a:pPr>
            <a:r>
              <a:rPr dirty="0"/>
              <a:t>Let </a:t>
            </a:r>
            <a:r>
              <a:rPr i="1" dirty="0"/>
              <a:t>A = {1, 2, 3} </a:t>
            </a:r>
            <a:r>
              <a:rPr dirty="0"/>
              <a:t>and</a:t>
            </a:r>
          </a:p>
          <a:p>
            <a:pPr marL="0" indent="0">
              <a:spcAft>
                <a:spcPts val="800"/>
              </a:spcAft>
              <a:buNone/>
              <a:defRPr sz="2400">
                <a:latin typeface="Aptos"/>
              </a:defRPr>
            </a:pPr>
            <a:r>
              <a:rPr i="1" dirty="0"/>
              <a:t>R = { (1,1), (2,2), (3,3), (1,2), (2,3), (1,3) }</a:t>
            </a:r>
          </a:p>
          <a:p>
            <a:pPr>
              <a:spcAft>
                <a:spcPts val="800"/>
              </a:spcAft>
              <a:defRPr sz="2400">
                <a:latin typeface="Aptos"/>
              </a:defRPr>
            </a:pPr>
            <a:r>
              <a:rPr dirty="0"/>
              <a:t>The pair (1,3) is included to satisfy transitivity because 1 is related to 2 and 2 is related to 3.</a:t>
            </a:r>
          </a:p>
        </p:txBody>
      </p:sp>
      <p:sp>
        <p:nvSpPr>
          <p:cNvPr id="4" name="Date Placeholder 3">
            <a:extLst>
              <a:ext uri="{FF2B5EF4-FFF2-40B4-BE49-F238E27FC236}">
                <a16:creationId xmlns:a16="http://schemas.microsoft.com/office/drawing/2014/main" id="{495DB796-489C-49AF-9422-868F5A246992}"/>
              </a:ext>
            </a:extLst>
          </p:cNvPr>
          <p:cNvSpPr>
            <a:spLocks noGrp="1"/>
          </p:cNvSpPr>
          <p:nvPr>
            <p:ph type="dt" sz="half" idx="10"/>
          </p:nvPr>
        </p:nvSpPr>
        <p:spPr/>
        <p:txBody>
          <a:bodyPr/>
          <a:lstStyle/>
          <a:p>
            <a:r>
              <a:rPr lang="en-US" dirty="0"/>
              <a:t>31/12/2023</a:t>
            </a:r>
            <a:endParaRPr lang="en-PK" dirty="0"/>
          </a:p>
        </p:txBody>
      </p:sp>
      <p:sp>
        <p:nvSpPr>
          <p:cNvPr id="5" name="Slide Number Placeholder 4">
            <a:extLst>
              <a:ext uri="{FF2B5EF4-FFF2-40B4-BE49-F238E27FC236}">
                <a16:creationId xmlns:a16="http://schemas.microsoft.com/office/drawing/2014/main" id="{99766694-E378-4893-9483-F289AE6BE396}"/>
              </a:ext>
            </a:extLst>
          </p:cNvPr>
          <p:cNvSpPr>
            <a:spLocks noGrp="1"/>
          </p:cNvSpPr>
          <p:nvPr>
            <p:ph type="sldNum" sz="quarter" idx="12"/>
          </p:nvPr>
        </p:nvSpPr>
        <p:spPr/>
        <p:txBody>
          <a:bodyPr/>
          <a:lstStyle/>
          <a:p>
            <a:r>
              <a:rPr dirty="0"/>
              <a:t>15</a:t>
            </a:r>
          </a:p>
        </p:txBody>
      </p:sp>
    </p:spTree>
    <p:extLst>
      <p:ext uri="{BB962C8B-B14F-4D97-AF65-F5344CB8AC3E}">
        <p14:creationId xmlns:p14="http://schemas.microsoft.com/office/powerpoint/2010/main" val="6460488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1555C-FC96-43AE-9196-D3EAE72BD96F}"/>
              </a:ext>
            </a:extLst>
          </p:cNvPr>
          <p:cNvSpPr>
            <a:spLocks noGrp="1"/>
          </p:cNvSpPr>
          <p:nvPr>
            <p:ph type="title"/>
          </p:nvPr>
        </p:nvSpPr>
        <p:spPr/>
        <p:txBody>
          <a:bodyPr/>
          <a:lstStyle/>
          <a:p>
            <a:r>
              <a:rPr lang="en-US" dirty="0"/>
              <a:t>Combining Relations</a:t>
            </a:r>
            <a:endParaRPr lang="en-PK" dirty="0"/>
          </a:p>
        </p:txBody>
      </p:sp>
      <p:sp>
        <p:nvSpPr>
          <p:cNvPr id="3" name="Content Placeholder 2">
            <a:extLst>
              <a:ext uri="{FF2B5EF4-FFF2-40B4-BE49-F238E27FC236}">
                <a16:creationId xmlns:a16="http://schemas.microsoft.com/office/drawing/2014/main" id="{C189D6F8-B905-4C81-B7AC-BFBCBE6B6898}"/>
              </a:ext>
            </a:extLst>
          </p:cNvPr>
          <p:cNvSpPr>
            <a:spLocks noGrp="1"/>
          </p:cNvSpPr>
          <p:nvPr>
            <p:ph idx="1"/>
          </p:nvPr>
        </p:nvSpPr>
        <p:spPr>
          <a:xfrm>
            <a:off x="838200" y="1825625"/>
            <a:ext cx="10515600" cy="4351338"/>
          </a:xfrm>
        </p:spPr>
        <p:txBody>
          <a:bodyPr>
            <a:noAutofit/>
          </a:bodyPr>
          <a:lstStyle/>
          <a:p>
            <a:pPr algn="l"/>
            <a:r>
              <a:rPr lang="en-US" sz="2400" b="0" i="0" dirty="0">
                <a:effectLst/>
                <a:latin typeface="Söhne"/>
              </a:rPr>
              <a:t>Let </a:t>
            </a:r>
            <a:r>
              <a:rPr lang="en-US" sz="2400" b="0" i="1" dirty="0">
                <a:solidFill>
                  <a:schemeClr val="accent1"/>
                </a:solidFill>
                <a:effectLst/>
                <a:latin typeface="KaTeX_Math"/>
              </a:rPr>
              <a:t>R </a:t>
            </a:r>
            <a:r>
              <a:rPr lang="en-US" sz="2400" b="0" i="0" dirty="0">
                <a:solidFill>
                  <a:schemeClr val="accent1"/>
                </a:solidFill>
                <a:effectLst/>
                <a:latin typeface="KaTeX_Main"/>
              </a:rPr>
              <a:t>= { (1, 2), (2, 3), (3, 4) }</a:t>
            </a:r>
            <a:r>
              <a:rPr lang="en-US" sz="2400" b="0" i="0" dirty="0">
                <a:effectLst/>
                <a:latin typeface="Söhne"/>
              </a:rPr>
              <a:t> and </a:t>
            </a:r>
            <a:r>
              <a:rPr lang="en-US" sz="2400" b="0" i="1" dirty="0">
                <a:solidFill>
                  <a:schemeClr val="accent1"/>
                </a:solidFill>
                <a:effectLst/>
                <a:latin typeface="KaTeX_Math"/>
              </a:rPr>
              <a:t>S </a:t>
            </a:r>
            <a:r>
              <a:rPr lang="en-US" sz="2400" b="0" i="0" dirty="0">
                <a:solidFill>
                  <a:schemeClr val="accent1"/>
                </a:solidFill>
                <a:effectLst/>
                <a:latin typeface="KaTeX_Main"/>
              </a:rPr>
              <a:t>= { (2, 3), (3, 4), (4, 5) }</a:t>
            </a:r>
            <a:endParaRPr lang="en-US" sz="2400" b="0" i="0" dirty="0">
              <a:solidFill>
                <a:schemeClr val="accent1"/>
              </a:solidFill>
              <a:effectLst/>
              <a:latin typeface="Söhne"/>
            </a:endParaRPr>
          </a:p>
          <a:p>
            <a:pPr marL="0" indent="0" algn="l">
              <a:buNone/>
            </a:pPr>
            <a:r>
              <a:rPr lang="en-US" sz="2400" b="1" i="0" dirty="0">
                <a:effectLst/>
                <a:latin typeface="Söhne"/>
              </a:rPr>
              <a:t>1. Union:</a:t>
            </a:r>
            <a:r>
              <a:rPr lang="en-US" sz="2400" b="0" i="0" dirty="0">
                <a:effectLst/>
                <a:latin typeface="Söhne"/>
              </a:rPr>
              <a:t> </a:t>
            </a:r>
          </a:p>
          <a:p>
            <a:pPr marL="0" indent="0" algn="l">
              <a:buNone/>
            </a:pPr>
            <a:r>
              <a:rPr lang="en-US" sz="2400" b="0" i="1" dirty="0">
                <a:effectLst/>
                <a:latin typeface="KaTeX_Math"/>
              </a:rPr>
              <a:t>    </a:t>
            </a:r>
            <a:r>
              <a:rPr lang="en-US" sz="2400" b="0" i="1" dirty="0">
                <a:solidFill>
                  <a:schemeClr val="accent1"/>
                </a:solidFill>
                <a:effectLst/>
                <a:latin typeface="KaTeX_Math"/>
              </a:rPr>
              <a:t>R </a:t>
            </a:r>
            <a:r>
              <a:rPr lang="en-US" sz="2400" b="0" i="0" dirty="0">
                <a:solidFill>
                  <a:schemeClr val="accent1"/>
                </a:solidFill>
                <a:effectLst/>
                <a:latin typeface="KaTeX_Main"/>
              </a:rPr>
              <a:t>∪ </a:t>
            </a:r>
            <a:r>
              <a:rPr lang="en-US" sz="2400" b="0" i="1" dirty="0">
                <a:solidFill>
                  <a:schemeClr val="accent1"/>
                </a:solidFill>
                <a:effectLst/>
                <a:latin typeface="KaTeX_Math"/>
              </a:rPr>
              <a:t>S </a:t>
            </a:r>
            <a:r>
              <a:rPr lang="en-US" sz="2400" b="0" i="0" dirty="0">
                <a:effectLst/>
                <a:latin typeface="KaTeX_Main"/>
              </a:rPr>
              <a:t>= { (1, 2) ,(2, 3) ,(3, 4) ,(4, 5) }</a:t>
            </a:r>
            <a:endParaRPr lang="en-US" sz="2400" b="0" i="0" dirty="0">
              <a:effectLst/>
              <a:latin typeface="Söhne"/>
            </a:endParaRPr>
          </a:p>
          <a:p>
            <a:pPr marL="0" indent="0" algn="l">
              <a:buNone/>
            </a:pPr>
            <a:r>
              <a:rPr lang="en-US" sz="2400" b="1" i="0" dirty="0">
                <a:effectLst/>
                <a:latin typeface="Söhne"/>
              </a:rPr>
              <a:t>2. Intersection:</a:t>
            </a:r>
            <a:r>
              <a:rPr lang="en-US" sz="2400" b="0" i="0" dirty="0">
                <a:effectLst/>
                <a:latin typeface="Söhne"/>
              </a:rPr>
              <a:t> </a:t>
            </a:r>
          </a:p>
          <a:p>
            <a:pPr marL="0" indent="0" algn="l">
              <a:buNone/>
            </a:pPr>
            <a:r>
              <a:rPr lang="en-US" sz="2400" b="0" i="1" dirty="0">
                <a:effectLst/>
                <a:latin typeface="KaTeX_Math"/>
              </a:rPr>
              <a:t>    </a:t>
            </a:r>
            <a:r>
              <a:rPr lang="en-US" sz="2400" b="0" i="1" dirty="0">
                <a:solidFill>
                  <a:schemeClr val="accent1"/>
                </a:solidFill>
                <a:effectLst/>
                <a:latin typeface="KaTeX_Math"/>
              </a:rPr>
              <a:t>R </a:t>
            </a:r>
            <a:r>
              <a:rPr lang="en-US" sz="2400" b="0" i="0" dirty="0">
                <a:solidFill>
                  <a:schemeClr val="accent1"/>
                </a:solidFill>
                <a:effectLst/>
                <a:latin typeface="KaTeX_Main"/>
              </a:rPr>
              <a:t>∩ </a:t>
            </a:r>
            <a:r>
              <a:rPr lang="en-US" sz="2400" b="0" i="1" dirty="0">
                <a:solidFill>
                  <a:schemeClr val="accent1"/>
                </a:solidFill>
                <a:effectLst/>
                <a:latin typeface="KaTeX_Math"/>
              </a:rPr>
              <a:t>S </a:t>
            </a:r>
            <a:r>
              <a:rPr lang="en-US" sz="2400" b="0" i="0" dirty="0">
                <a:effectLst/>
                <a:latin typeface="KaTeX_Main"/>
              </a:rPr>
              <a:t>= { (2, 3), (3, 4) }</a:t>
            </a:r>
          </a:p>
          <a:p>
            <a:pPr marL="0" indent="0" algn="l">
              <a:buNone/>
            </a:pPr>
            <a:r>
              <a:rPr lang="en-US" sz="2400" b="1" i="0" dirty="0">
                <a:effectLst/>
                <a:latin typeface="Söhne"/>
              </a:rPr>
              <a:t>3. Difference:</a:t>
            </a:r>
            <a:r>
              <a:rPr lang="en-US" sz="2400" b="0" i="0" dirty="0">
                <a:effectLst/>
                <a:latin typeface="Söhne"/>
              </a:rPr>
              <a:t> </a:t>
            </a:r>
          </a:p>
          <a:p>
            <a:pPr marL="0" indent="0" algn="l">
              <a:buNone/>
            </a:pPr>
            <a:r>
              <a:rPr lang="en-US" sz="2400" b="0" i="1" dirty="0">
                <a:effectLst/>
                <a:latin typeface="KaTeX_Math"/>
              </a:rPr>
              <a:t>    </a:t>
            </a:r>
            <a:r>
              <a:rPr lang="en-US" sz="2400" b="0" i="1" dirty="0">
                <a:solidFill>
                  <a:schemeClr val="accent1"/>
                </a:solidFill>
                <a:effectLst/>
                <a:latin typeface="KaTeX_Math"/>
              </a:rPr>
              <a:t>R </a:t>
            </a:r>
            <a:r>
              <a:rPr lang="en-US" sz="2400" b="0" i="0" dirty="0">
                <a:solidFill>
                  <a:schemeClr val="accent1"/>
                </a:solidFill>
                <a:effectLst/>
                <a:latin typeface="KaTeX_Main"/>
              </a:rPr>
              <a:t>− </a:t>
            </a:r>
            <a:r>
              <a:rPr lang="en-US" sz="2400" b="0" i="1" dirty="0">
                <a:solidFill>
                  <a:schemeClr val="accent1"/>
                </a:solidFill>
                <a:effectLst/>
                <a:latin typeface="KaTeX_Math"/>
              </a:rPr>
              <a:t>S </a:t>
            </a:r>
            <a:r>
              <a:rPr lang="en-US" sz="2400" b="0" i="0" dirty="0">
                <a:effectLst/>
                <a:latin typeface="KaTeX_Main"/>
              </a:rPr>
              <a:t>= { (1, 2) }</a:t>
            </a:r>
          </a:p>
          <a:p>
            <a:pPr marL="0" indent="0" algn="l">
              <a:buNone/>
            </a:pPr>
            <a:r>
              <a:rPr lang="en-US" sz="2400" b="1" dirty="0">
                <a:latin typeface="KaTeX_Main"/>
              </a:rPr>
              <a:t>4. </a:t>
            </a:r>
            <a:r>
              <a:rPr lang="en-US" sz="2400" b="1" dirty="0"/>
              <a:t>Exclusive OR:</a:t>
            </a:r>
          </a:p>
          <a:p>
            <a:pPr marL="0" indent="0" algn="l">
              <a:buNone/>
            </a:pPr>
            <a:r>
              <a:rPr lang="en-US" sz="2400" b="1" i="0" dirty="0">
                <a:effectLst/>
                <a:latin typeface="Söhne"/>
              </a:rPr>
              <a:t>    </a:t>
            </a:r>
            <a:r>
              <a:rPr lang="en-US" sz="2400" b="0" i="0" dirty="0">
                <a:solidFill>
                  <a:schemeClr val="accent1"/>
                </a:solidFill>
                <a:effectLst/>
                <a:latin typeface="Söhne"/>
              </a:rPr>
              <a:t>R ⊕ S </a:t>
            </a:r>
            <a:r>
              <a:rPr lang="en-US" sz="2400" b="0" i="0" dirty="0">
                <a:effectLst/>
                <a:latin typeface="Söhne"/>
              </a:rPr>
              <a:t>= { (1, 2), (4, 5) }			</a:t>
            </a:r>
            <a:r>
              <a:rPr lang="en-US" sz="2400" b="0" i="1" dirty="0">
                <a:solidFill>
                  <a:schemeClr val="accent1"/>
                </a:solidFill>
                <a:effectLst/>
                <a:latin typeface="KaTeX_Math"/>
              </a:rPr>
              <a:t>R </a:t>
            </a:r>
            <a:r>
              <a:rPr lang="en-US" sz="2400" b="0" i="0" dirty="0">
                <a:solidFill>
                  <a:schemeClr val="accent1"/>
                </a:solidFill>
                <a:effectLst/>
                <a:latin typeface="KaTeX_Main"/>
              </a:rPr>
              <a:t>⊕ </a:t>
            </a:r>
            <a:r>
              <a:rPr lang="en-US" sz="2400" b="0" i="1" dirty="0">
                <a:solidFill>
                  <a:schemeClr val="accent1"/>
                </a:solidFill>
                <a:effectLst/>
                <a:latin typeface="KaTeX_Math"/>
              </a:rPr>
              <a:t>S</a:t>
            </a:r>
            <a:r>
              <a:rPr lang="en-US" sz="2400" dirty="0">
                <a:solidFill>
                  <a:schemeClr val="accent1"/>
                </a:solidFill>
                <a:latin typeface="Söhne"/>
              </a:rPr>
              <a:t> = </a:t>
            </a:r>
            <a:r>
              <a:rPr lang="en-US" sz="2400" b="0" i="1" dirty="0">
                <a:solidFill>
                  <a:schemeClr val="accent1"/>
                </a:solidFill>
                <a:effectLst/>
                <a:latin typeface="KaTeX_Math"/>
              </a:rPr>
              <a:t>R</a:t>
            </a:r>
            <a:r>
              <a:rPr lang="en-US" sz="2400" b="0" i="0" dirty="0">
                <a:solidFill>
                  <a:schemeClr val="accent1"/>
                </a:solidFill>
                <a:effectLst/>
                <a:latin typeface="KaTeX_Main"/>
              </a:rPr>
              <a:t> ∪ </a:t>
            </a:r>
            <a:r>
              <a:rPr lang="en-US" sz="2400" b="0" i="1" dirty="0">
                <a:solidFill>
                  <a:schemeClr val="accent1"/>
                </a:solidFill>
                <a:effectLst/>
                <a:latin typeface="KaTeX_Math"/>
              </a:rPr>
              <a:t>S </a:t>
            </a:r>
            <a:r>
              <a:rPr lang="en-US" sz="2400" b="0" i="0" dirty="0">
                <a:solidFill>
                  <a:schemeClr val="accent1"/>
                </a:solidFill>
                <a:effectLst/>
                <a:latin typeface="KaTeX_Main"/>
              </a:rPr>
              <a:t>− </a:t>
            </a:r>
            <a:r>
              <a:rPr lang="en-US" sz="2400" b="0" i="1" dirty="0">
                <a:solidFill>
                  <a:schemeClr val="accent1"/>
                </a:solidFill>
                <a:effectLst/>
                <a:latin typeface="KaTeX_Math"/>
              </a:rPr>
              <a:t>R </a:t>
            </a:r>
            <a:r>
              <a:rPr lang="en-US" sz="2400" b="0" i="0" dirty="0">
                <a:solidFill>
                  <a:schemeClr val="accent1"/>
                </a:solidFill>
                <a:effectLst/>
                <a:latin typeface="KaTeX_Main"/>
              </a:rPr>
              <a:t>∩ </a:t>
            </a:r>
            <a:r>
              <a:rPr lang="en-US" sz="2400" b="0" i="1" dirty="0">
                <a:solidFill>
                  <a:schemeClr val="accent1"/>
                </a:solidFill>
                <a:effectLst/>
                <a:latin typeface="KaTeX_Math"/>
              </a:rPr>
              <a:t>S</a:t>
            </a:r>
            <a:endParaRPr lang="en-US" sz="2400" b="0" i="0" dirty="0">
              <a:solidFill>
                <a:schemeClr val="accent1"/>
              </a:solidFill>
              <a:effectLst/>
              <a:latin typeface="Söhne"/>
            </a:endParaRPr>
          </a:p>
        </p:txBody>
      </p:sp>
      <p:sp>
        <p:nvSpPr>
          <p:cNvPr id="4" name="Date Placeholder 3">
            <a:extLst>
              <a:ext uri="{FF2B5EF4-FFF2-40B4-BE49-F238E27FC236}">
                <a16:creationId xmlns:a16="http://schemas.microsoft.com/office/drawing/2014/main" id="{495DB796-489C-49AF-9422-868F5A246992}"/>
              </a:ext>
            </a:extLst>
          </p:cNvPr>
          <p:cNvSpPr>
            <a:spLocks noGrp="1"/>
          </p:cNvSpPr>
          <p:nvPr>
            <p:ph type="dt" sz="half" idx="10"/>
          </p:nvPr>
        </p:nvSpPr>
        <p:spPr/>
        <p:txBody>
          <a:bodyPr/>
          <a:lstStyle/>
          <a:p>
            <a:r>
              <a:rPr lang="en-US" dirty="0"/>
              <a:t>31/12/2023</a:t>
            </a:r>
            <a:endParaRPr lang="en-PK" dirty="0"/>
          </a:p>
        </p:txBody>
      </p:sp>
      <p:sp>
        <p:nvSpPr>
          <p:cNvPr id="5" name="Slide Number Placeholder 4">
            <a:extLst>
              <a:ext uri="{FF2B5EF4-FFF2-40B4-BE49-F238E27FC236}">
                <a16:creationId xmlns:a16="http://schemas.microsoft.com/office/drawing/2014/main" id="{99766694-E378-4893-9483-F289AE6BE396}"/>
              </a:ext>
            </a:extLst>
          </p:cNvPr>
          <p:cNvSpPr>
            <a:spLocks noGrp="1"/>
          </p:cNvSpPr>
          <p:nvPr>
            <p:ph type="sldNum" sz="quarter" idx="12"/>
          </p:nvPr>
        </p:nvSpPr>
        <p:spPr/>
        <p:txBody>
          <a:bodyPr/>
          <a:lstStyle/>
          <a:p>
            <a:r>
              <a:rPr dirty="0"/>
              <a:t>16</a:t>
            </a:r>
          </a:p>
        </p:txBody>
      </p:sp>
    </p:spTree>
    <p:extLst>
      <p:ext uri="{BB962C8B-B14F-4D97-AF65-F5344CB8AC3E}">
        <p14:creationId xmlns:p14="http://schemas.microsoft.com/office/powerpoint/2010/main" val="1569276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1555C-FC96-43AE-9196-D3EAE72BD96F}"/>
              </a:ext>
            </a:extLst>
          </p:cNvPr>
          <p:cNvSpPr>
            <a:spLocks noGrp="1"/>
          </p:cNvSpPr>
          <p:nvPr>
            <p:ph type="title"/>
          </p:nvPr>
        </p:nvSpPr>
        <p:spPr/>
        <p:txBody>
          <a:bodyPr/>
          <a:lstStyle/>
          <a:p>
            <a:r>
              <a:rPr lang="en-US" dirty="0"/>
              <a:t>Composite Relations</a:t>
            </a:r>
            <a:endParaRPr lang="en-PK" dirty="0"/>
          </a:p>
        </p:txBody>
      </p:sp>
      <p:sp>
        <p:nvSpPr>
          <p:cNvPr id="3" name="Content Placeholder 2">
            <a:extLst>
              <a:ext uri="{FF2B5EF4-FFF2-40B4-BE49-F238E27FC236}">
                <a16:creationId xmlns:a16="http://schemas.microsoft.com/office/drawing/2014/main" id="{C189D6F8-B905-4C81-B7AC-BFBCBE6B6898}"/>
              </a:ext>
            </a:extLst>
          </p:cNvPr>
          <p:cNvSpPr>
            <a:spLocks noGrp="1"/>
          </p:cNvSpPr>
          <p:nvPr>
            <p:ph idx="1"/>
          </p:nvPr>
        </p:nvSpPr>
        <p:spPr/>
        <p:txBody>
          <a:bodyPr>
            <a:normAutofit/>
          </a:bodyPr>
          <a:lstStyle/>
          <a:p>
            <a:pPr eaLnBrk="1" hangingPunct="1"/>
            <a:r>
              <a:rPr lang="en-US" altLang="en-PK" sz="2400" b="1" dirty="0"/>
              <a:t>Definition:</a:t>
            </a:r>
          </a:p>
          <a:p>
            <a:pPr marL="0" indent="0" eaLnBrk="1" hangingPunct="1">
              <a:buNone/>
            </a:pPr>
            <a:r>
              <a:rPr lang="en-US" altLang="en-PK" sz="2400" dirty="0"/>
              <a:t>Let </a:t>
            </a:r>
            <a:r>
              <a:rPr lang="en-US" altLang="en-PK" sz="2400" i="1" dirty="0"/>
              <a:t>R</a:t>
            </a:r>
            <a:r>
              <a:rPr lang="en-US" altLang="en-PK" sz="2400" dirty="0"/>
              <a:t> be a relation from a set</a:t>
            </a:r>
            <a:r>
              <a:rPr lang="en-US" altLang="en-PK" sz="2400" i="1" dirty="0"/>
              <a:t> A </a:t>
            </a:r>
            <a:r>
              <a:rPr lang="en-US" altLang="en-PK" sz="2400" dirty="0"/>
              <a:t>to a set </a:t>
            </a:r>
            <a:r>
              <a:rPr lang="en-US" altLang="en-PK" sz="2400" i="1" dirty="0"/>
              <a:t>B,</a:t>
            </a:r>
            <a:r>
              <a:rPr lang="en-US" altLang="en-PK" sz="2400" dirty="0"/>
              <a:t> and </a:t>
            </a:r>
            <a:r>
              <a:rPr lang="en-US" altLang="en-PK" sz="2400" i="1" dirty="0"/>
              <a:t>S</a:t>
            </a:r>
            <a:r>
              <a:rPr lang="en-US" altLang="en-PK" sz="2400" dirty="0"/>
              <a:t> be a relation from </a:t>
            </a:r>
            <a:r>
              <a:rPr lang="en-US" altLang="en-PK" sz="2400" i="1" dirty="0"/>
              <a:t>B </a:t>
            </a:r>
            <a:r>
              <a:rPr lang="en-US" altLang="en-PK" sz="2400" dirty="0"/>
              <a:t>to a set </a:t>
            </a:r>
            <a:r>
              <a:rPr lang="en-US" altLang="en-PK" sz="2400" i="1" dirty="0"/>
              <a:t>C</a:t>
            </a:r>
            <a:r>
              <a:rPr lang="en-US" altLang="en-PK" sz="2400" dirty="0"/>
              <a:t>. The </a:t>
            </a:r>
            <a:r>
              <a:rPr lang="en-US" altLang="en-PK" sz="2400" i="1" dirty="0">
                <a:solidFill>
                  <a:schemeClr val="accent1"/>
                </a:solidFill>
              </a:rPr>
              <a:t>composition</a:t>
            </a:r>
            <a:r>
              <a:rPr lang="en-US" altLang="en-PK" sz="2400" dirty="0">
                <a:solidFill>
                  <a:schemeClr val="accent1"/>
                </a:solidFill>
              </a:rPr>
              <a:t> of </a:t>
            </a:r>
            <a:r>
              <a:rPr lang="en-US" altLang="en-PK" sz="2400" i="1" dirty="0">
                <a:solidFill>
                  <a:schemeClr val="accent1"/>
                </a:solidFill>
              </a:rPr>
              <a:t>R</a:t>
            </a:r>
            <a:r>
              <a:rPr lang="en-US" altLang="en-PK" sz="2400" dirty="0">
                <a:solidFill>
                  <a:schemeClr val="accent1"/>
                </a:solidFill>
              </a:rPr>
              <a:t> and </a:t>
            </a:r>
            <a:r>
              <a:rPr lang="en-US" altLang="en-PK" sz="2400" i="1" dirty="0">
                <a:solidFill>
                  <a:schemeClr val="accent1"/>
                </a:solidFill>
              </a:rPr>
              <a:t>S</a:t>
            </a:r>
            <a:r>
              <a:rPr lang="en-US" altLang="en-PK" sz="2400" dirty="0"/>
              <a:t>, denoted by </a:t>
            </a:r>
            <a:r>
              <a:rPr lang="en-US" altLang="en-PK" sz="2400" i="1" dirty="0">
                <a:solidFill>
                  <a:schemeClr val="accent1"/>
                </a:solidFill>
              </a:rPr>
              <a:t>S </a:t>
            </a:r>
            <a:r>
              <a:rPr lang="en-US" altLang="en-PK" sz="2400" dirty="0">
                <a:solidFill>
                  <a:schemeClr val="accent1"/>
                </a:solidFill>
              </a:rPr>
              <a:t>o </a:t>
            </a:r>
            <a:r>
              <a:rPr lang="en-US" altLang="en-PK" sz="2400" i="1" dirty="0">
                <a:solidFill>
                  <a:schemeClr val="accent1"/>
                </a:solidFill>
              </a:rPr>
              <a:t>R</a:t>
            </a:r>
            <a:r>
              <a:rPr lang="en-US" altLang="en-PK" sz="2400" dirty="0"/>
              <a:t>, is the relation consisting of ordered pairs (</a:t>
            </a:r>
            <a:r>
              <a:rPr lang="en-US" altLang="en-PK" sz="2400" i="1" dirty="0"/>
              <a:t>a</a:t>
            </a:r>
            <a:r>
              <a:rPr lang="en-US" altLang="en-PK" sz="2400" dirty="0"/>
              <a:t>, </a:t>
            </a:r>
            <a:r>
              <a:rPr lang="en-US" altLang="en-PK" sz="2400" i="1" dirty="0"/>
              <a:t>c</a:t>
            </a:r>
            <a:r>
              <a:rPr lang="en-US" altLang="en-PK" sz="2400" dirty="0"/>
              <a:t>), whenever (</a:t>
            </a:r>
            <a:r>
              <a:rPr lang="en-US" altLang="en-PK" sz="2400" i="1" dirty="0"/>
              <a:t>a</a:t>
            </a:r>
            <a:r>
              <a:rPr lang="en-US" altLang="en-PK" sz="2400" dirty="0"/>
              <a:t>, </a:t>
            </a:r>
            <a:r>
              <a:rPr lang="en-US" altLang="en-PK" sz="2400" i="1" dirty="0"/>
              <a:t>b</a:t>
            </a:r>
            <a:r>
              <a:rPr lang="en-US" altLang="en-PK" sz="2400" dirty="0"/>
              <a:t>) </a:t>
            </a:r>
            <a:r>
              <a:rPr lang="en-US" altLang="en-PK" sz="2400" dirty="0">
                <a:sym typeface="Symbol" panose="05050102010706020507" pitchFamily="18" charset="2"/>
              </a:rPr>
              <a:t> </a:t>
            </a:r>
            <a:r>
              <a:rPr lang="en-US" altLang="en-PK" sz="2400" i="1" dirty="0">
                <a:sym typeface="Symbol" panose="05050102010706020507" pitchFamily="18" charset="2"/>
              </a:rPr>
              <a:t>R</a:t>
            </a:r>
            <a:r>
              <a:rPr lang="en-US" altLang="en-PK" sz="2400" dirty="0">
                <a:sym typeface="Symbol" panose="05050102010706020507" pitchFamily="18" charset="2"/>
              </a:rPr>
              <a:t> and (</a:t>
            </a:r>
            <a:r>
              <a:rPr lang="en-US" altLang="en-PK" sz="2400" i="1" dirty="0">
                <a:sym typeface="Symbol" panose="05050102010706020507" pitchFamily="18" charset="2"/>
              </a:rPr>
              <a:t>b</a:t>
            </a:r>
            <a:r>
              <a:rPr lang="en-US" altLang="en-PK" sz="2400" dirty="0">
                <a:sym typeface="Symbol" panose="05050102010706020507" pitchFamily="18" charset="2"/>
              </a:rPr>
              <a:t>, </a:t>
            </a:r>
            <a:r>
              <a:rPr lang="en-US" altLang="en-PK" sz="2400" i="1" dirty="0">
                <a:sym typeface="Symbol" panose="05050102010706020507" pitchFamily="18" charset="2"/>
              </a:rPr>
              <a:t>c</a:t>
            </a:r>
            <a:r>
              <a:rPr lang="en-US" altLang="en-PK" sz="2400" dirty="0">
                <a:sym typeface="Symbol" panose="05050102010706020507" pitchFamily="18" charset="2"/>
              </a:rPr>
              <a:t>)  </a:t>
            </a:r>
            <a:r>
              <a:rPr lang="en-US" altLang="en-PK" sz="2400" i="1" dirty="0">
                <a:sym typeface="Symbol" panose="05050102010706020507" pitchFamily="18" charset="2"/>
              </a:rPr>
              <a:t>S</a:t>
            </a:r>
            <a:r>
              <a:rPr lang="en-US" altLang="en-PK" sz="2400" dirty="0"/>
              <a:t>.</a:t>
            </a:r>
          </a:p>
          <a:p>
            <a:r>
              <a:rPr lang="en-US" sz="2400" b="1" dirty="0"/>
              <a:t>Example:</a:t>
            </a:r>
          </a:p>
          <a:p>
            <a:pPr marL="0" indent="0">
              <a:buNone/>
            </a:pPr>
            <a:r>
              <a:rPr lang="en-US" altLang="en-PK" sz="2400" i="1" dirty="0"/>
              <a:t>R</a:t>
            </a:r>
            <a:r>
              <a:rPr lang="en-US" altLang="en-PK" sz="2400" baseline="-25000" dirty="0"/>
              <a:t> </a:t>
            </a:r>
            <a:r>
              <a:rPr lang="en-US" altLang="en-PK" sz="2400" dirty="0"/>
              <a:t>= {(1, </a:t>
            </a:r>
            <a:r>
              <a:rPr lang="en-US" altLang="en-PK" sz="2400" i="1" dirty="0"/>
              <a:t>x</a:t>
            </a:r>
            <a:r>
              <a:rPr lang="en-US" altLang="en-PK" sz="2400" dirty="0"/>
              <a:t>), (1, </a:t>
            </a:r>
            <a:r>
              <a:rPr lang="en-US" altLang="en-PK" sz="2400" i="1" dirty="0"/>
              <a:t>z</a:t>
            </a:r>
            <a:r>
              <a:rPr lang="en-US" altLang="en-PK" sz="2400" dirty="0"/>
              <a:t>), (2, </a:t>
            </a:r>
            <a:r>
              <a:rPr lang="en-US" altLang="en-PK" sz="2400" i="1" dirty="0"/>
              <a:t>w</a:t>
            </a:r>
            <a:r>
              <a:rPr lang="en-US" altLang="en-PK" sz="2400" dirty="0"/>
              <a:t>), (3, </a:t>
            </a:r>
            <a:r>
              <a:rPr lang="en-US" altLang="en-PK" sz="2400" i="1" dirty="0"/>
              <a:t>x</a:t>
            </a:r>
            <a:r>
              <a:rPr lang="en-US" altLang="en-PK" sz="2400" dirty="0"/>
              <a:t>), (3, </a:t>
            </a:r>
            <a:r>
              <a:rPr lang="en-US" altLang="en-PK" sz="2400" i="1" dirty="0"/>
              <a:t>z</a:t>
            </a:r>
            <a:r>
              <a:rPr lang="en-US" altLang="en-PK" sz="2400" dirty="0"/>
              <a:t>)}, and</a:t>
            </a:r>
          </a:p>
          <a:p>
            <a:pPr marL="0" indent="0">
              <a:buNone/>
            </a:pPr>
            <a:r>
              <a:rPr lang="en-US" altLang="en-PK" sz="2400" i="1" dirty="0"/>
              <a:t>S</a:t>
            </a:r>
            <a:r>
              <a:rPr lang="en-US" altLang="en-PK" sz="2400" baseline="-25000" dirty="0"/>
              <a:t> </a:t>
            </a:r>
            <a:r>
              <a:rPr lang="en-US" altLang="en-PK" sz="2400" dirty="0"/>
              <a:t>= {(</a:t>
            </a:r>
            <a:r>
              <a:rPr lang="en-US" altLang="en-PK" sz="2400" i="1" dirty="0"/>
              <a:t>x</a:t>
            </a:r>
            <a:r>
              <a:rPr lang="en-US" altLang="en-PK" sz="2400" dirty="0"/>
              <a:t>,0), (</a:t>
            </a:r>
            <a:r>
              <a:rPr lang="en-US" altLang="en-PK" sz="2400" i="1" dirty="0"/>
              <a:t>y</a:t>
            </a:r>
            <a:r>
              <a:rPr lang="en-US" altLang="en-PK" sz="2400" dirty="0"/>
              <a:t>,0), (</a:t>
            </a:r>
            <a:r>
              <a:rPr lang="en-US" altLang="en-PK" sz="2400" i="1" dirty="0"/>
              <a:t>w</a:t>
            </a:r>
            <a:r>
              <a:rPr lang="en-US" altLang="en-PK" sz="2400" dirty="0"/>
              <a:t>,1), (</a:t>
            </a:r>
            <a:r>
              <a:rPr lang="en-US" altLang="en-PK" sz="2400" i="1" dirty="0"/>
              <a:t>w</a:t>
            </a:r>
            <a:r>
              <a:rPr lang="en-US" altLang="en-PK" sz="2400" dirty="0"/>
              <a:t>,2), (</a:t>
            </a:r>
            <a:r>
              <a:rPr lang="en-US" altLang="en-PK" sz="2400" i="1" dirty="0"/>
              <a:t>z</a:t>
            </a:r>
            <a:r>
              <a:rPr lang="en-US" altLang="en-PK" sz="2400" dirty="0"/>
              <a:t>,1)}, then</a:t>
            </a:r>
          </a:p>
          <a:p>
            <a:pPr marL="0" indent="0">
              <a:buNone/>
            </a:pPr>
            <a:r>
              <a:rPr lang="en-US" altLang="en-PK" sz="2400" i="1" dirty="0">
                <a:solidFill>
                  <a:schemeClr val="accent1"/>
                </a:solidFill>
              </a:rPr>
              <a:t>S </a:t>
            </a:r>
            <a:r>
              <a:rPr lang="en-US" altLang="en-PK" sz="2400" dirty="0">
                <a:solidFill>
                  <a:schemeClr val="accent1"/>
                </a:solidFill>
                <a:sym typeface="Symbol" panose="05050102010706020507" pitchFamily="18" charset="2"/>
              </a:rPr>
              <a:t>o </a:t>
            </a:r>
            <a:r>
              <a:rPr lang="en-US" altLang="en-PK" sz="2400" i="1" dirty="0">
                <a:solidFill>
                  <a:schemeClr val="accent1"/>
                </a:solidFill>
              </a:rPr>
              <a:t>R </a:t>
            </a:r>
            <a:r>
              <a:rPr lang="en-US" altLang="en-PK" sz="2400" dirty="0"/>
              <a:t>= {(1,0), (1,1), (2,1), (2,2), (3,0), (3,1)}</a:t>
            </a:r>
          </a:p>
          <a:p>
            <a:endParaRPr lang="en-PK" sz="2400" dirty="0"/>
          </a:p>
        </p:txBody>
      </p:sp>
      <p:sp>
        <p:nvSpPr>
          <p:cNvPr id="4" name="Date Placeholder 3">
            <a:extLst>
              <a:ext uri="{FF2B5EF4-FFF2-40B4-BE49-F238E27FC236}">
                <a16:creationId xmlns:a16="http://schemas.microsoft.com/office/drawing/2014/main" id="{495DB796-489C-49AF-9422-868F5A246992}"/>
              </a:ext>
            </a:extLst>
          </p:cNvPr>
          <p:cNvSpPr>
            <a:spLocks noGrp="1"/>
          </p:cNvSpPr>
          <p:nvPr>
            <p:ph type="dt" sz="half" idx="10"/>
          </p:nvPr>
        </p:nvSpPr>
        <p:spPr/>
        <p:txBody>
          <a:bodyPr/>
          <a:lstStyle/>
          <a:p>
            <a:r>
              <a:rPr lang="en-US" dirty="0"/>
              <a:t>31/12/2023</a:t>
            </a:r>
            <a:endParaRPr lang="en-PK" dirty="0"/>
          </a:p>
        </p:txBody>
      </p:sp>
      <p:sp>
        <p:nvSpPr>
          <p:cNvPr id="5" name="Slide Number Placeholder 4">
            <a:extLst>
              <a:ext uri="{FF2B5EF4-FFF2-40B4-BE49-F238E27FC236}">
                <a16:creationId xmlns:a16="http://schemas.microsoft.com/office/drawing/2014/main" id="{99766694-E378-4893-9483-F289AE6BE396}"/>
              </a:ext>
            </a:extLst>
          </p:cNvPr>
          <p:cNvSpPr>
            <a:spLocks noGrp="1"/>
          </p:cNvSpPr>
          <p:nvPr>
            <p:ph type="sldNum" sz="quarter" idx="12"/>
          </p:nvPr>
        </p:nvSpPr>
        <p:spPr/>
        <p:txBody>
          <a:bodyPr/>
          <a:lstStyle/>
          <a:p>
            <a:r>
              <a:rPr dirty="0"/>
              <a:t>17</a:t>
            </a:r>
          </a:p>
        </p:txBody>
      </p:sp>
      <p:grpSp>
        <p:nvGrpSpPr>
          <p:cNvPr id="6" name="Group 4">
            <a:extLst>
              <a:ext uri="{FF2B5EF4-FFF2-40B4-BE49-F238E27FC236}">
                <a16:creationId xmlns:a16="http://schemas.microsoft.com/office/drawing/2014/main" id="{A271309F-DF11-4FD5-8DA8-46CF2636BEFB}"/>
              </a:ext>
            </a:extLst>
          </p:cNvPr>
          <p:cNvGrpSpPr>
            <a:grpSpLocks/>
          </p:cNvGrpSpPr>
          <p:nvPr/>
        </p:nvGrpSpPr>
        <p:grpSpPr bwMode="auto">
          <a:xfrm>
            <a:off x="7728069" y="3841291"/>
            <a:ext cx="4387516" cy="2140869"/>
            <a:chOff x="816" y="2352"/>
            <a:chExt cx="4032" cy="1872"/>
          </a:xfrm>
        </p:grpSpPr>
        <p:sp>
          <p:nvSpPr>
            <p:cNvPr id="7" name="Oval 5">
              <a:extLst>
                <a:ext uri="{FF2B5EF4-FFF2-40B4-BE49-F238E27FC236}">
                  <a16:creationId xmlns:a16="http://schemas.microsoft.com/office/drawing/2014/main" id="{0851A54A-0414-40AE-A8DB-37FFE7E23A44}"/>
                </a:ext>
              </a:extLst>
            </p:cNvPr>
            <p:cNvSpPr>
              <a:spLocks noChangeArrowheads="1"/>
            </p:cNvSpPr>
            <p:nvPr/>
          </p:nvSpPr>
          <p:spPr bwMode="auto">
            <a:xfrm>
              <a:off x="816" y="3168"/>
              <a:ext cx="816" cy="105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PK" altLang="en-PK" dirty="0"/>
            </a:p>
          </p:txBody>
        </p:sp>
        <p:sp>
          <p:nvSpPr>
            <p:cNvPr id="8" name="Oval 6">
              <a:extLst>
                <a:ext uri="{FF2B5EF4-FFF2-40B4-BE49-F238E27FC236}">
                  <a16:creationId xmlns:a16="http://schemas.microsoft.com/office/drawing/2014/main" id="{8A9EC0AB-B428-429D-A99D-DD0A33A50B6C}"/>
                </a:ext>
              </a:extLst>
            </p:cNvPr>
            <p:cNvSpPr>
              <a:spLocks noChangeArrowheads="1"/>
            </p:cNvSpPr>
            <p:nvPr/>
          </p:nvSpPr>
          <p:spPr bwMode="auto">
            <a:xfrm>
              <a:off x="2400" y="3168"/>
              <a:ext cx="816" cy="105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PK" altLang="en-PK" dirty="0"/>
            </a:p>
          </p:txBody>
        </p:sp>
        <p:sp>
          <p:nvSpPr>
            <p:cNvPr id="9" name="Oval 7">
              <a:extLst>
                <a:ext uri="{FF2B5EF4-FFF2-40B4-BE49-F238E27FC236}">
                  <a16:creationId xmlns:a16="http://schemas.microsoft.com/office/drawing/2014/main" id="{37BB7A93-892F-489D-9F50-5F02FE05495E}"/>
                </a:ext>
              </a:extLst>
            </p:cNvPr>
            <p:cNvSpPr>
              <a:spLocks noChangeArrowheads="1"/>
            </p:cNvSpPr>
            <p:nvPr/>
          </p:nvSpPr>
          <p:spPr bwMode="auto">
            <a:xfrm>
              <a:off x="4032" y="3168"/>
              <a:ext cx="816" cy="105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PK" altLang="en-PK" dirty="0"/>
            </a:p>
          </p:txBody>
        </p:sp>
        <p:sp>
          <p:nvSpPr>
            <p:cNvPr id="10" name="Arc 8">
              <a:extLst>
                <a:ext uri="{FF2B5EF4-FFF2-40B4-BE49-F238E27FC236}">
                  <a16:creationId xmlns:a16="http://schemas.microsoft.com/office/drawing/2014/main" id="{09573FD7-1096-45AB-ACF1-3B186B660E5B}"/>
                </a:ext>
              </a:extLst>
            </p:cNvPr>
            <p:cNvSpPr>
              <a:spLocks/>
            </p:cNvSpPr>
            <p:nvPr/>
          </p:nvSpPr>
          <p:spPr bwMode="auto">
            <a:xfrm rot="16452437" flipV="1">
              <a:off x="1880" y="2470"/>
              <a:ext cx="402" cy="1566"/>
            </a:xfrm>
            <a:custGeom>
              <a:avLst/>
              <a:gdLst>
                <a:gd name="T0" fmla="*/ 105 w 22609"/>
                <a:gd name="T1" fmla="*/ 0 h 42636"/>
                <a:gd name="T2" fmla="*/ 0 w 22609"/>
                <a:gd name="T3" fmla="*/ 1565 h 42636"/>
                <a:gd name="T4" fmla="*/ 18 w 22609"/>
                <a:gd name="T5" fmla="*/ 773 h 42636"/>
                <a:gd name="T6" fmla="*/ 0 60000 65536"/>
                <a:gd name="T7" fmla="*/ 0 60000 65536"/>
                <a:gd name="T8" fmla="*/ 0 60000 65536"/>
                <a:gd name="T9" fmla="*/ 0 w 22609"/>
                <a:gd name="T10" fmla="*/ 0 h 42636"/>
                <a:gd name="T11" fmla="*/ 22609 w 22609"/>
                <a:gd name="T12" fmla="*/ 42636 h 42636"/>
              </a:gdLst>
              <a:ahLst/>
              <a:cxnLst>
                <a:cxn ang="T6">
                  <a:pos x="T0" y="T1"/>
                </a:cxn>
                <a:cxn ang="T7">
                  <a:pos x="T2" y="T3"/>
                </a:cxn>
                <a:cxn ang="T8">
                  <a:pos x="T4" y="T5"/>
                </a:cxn>
              </a:cxnLst>
              <a:rect l="T9" t="T10" r="T11" b="T12"/>
              <a:pathLst>
                <a:path w="22609" h="42636" fill="none" extrusionOk="0">
                  <a:moveTo>
                    <a:pt x="5911" y="-1"/>
                  </a:moveTo>
                  <a:cubicBezTo>
                    <a:pt x="15689" y="2278"/>
                    <a:pt x="22609" y="10995"/>
                    <a:pt x="22609" y="21036"/>
                  </a:cubicBezTo>
                  <a:cubicBezTo>
                    <a:pt x="22609" y="32965"/>
                    <a:pt x="12938" y="42636"/>
                    <a:pt x="1009" y="42636"/>
                  </a:cubicBezTo>
                  <a:cubicBezTo>
                    <a:pt x="672" y="42636"/>
                    <a:pt x="336" y="42628"/>
                    <a:pt x="-1" y="42612"/>
                  </a:cubicBezTo>
                </a:path>
                <a:path w="22609" h="42636" stroke="0" extrusionOk="0">
                  <a:moveTo>
                    <a:pt x="5911" y="-1"/>
                  </a:moveTo>
                  <a:cubicBezTo>
                    <a:pt x="15689" y="2278"/>
                    <a:pt x="22609" y="10995"/>
                    <a:pt x="22609" y="21036"/>
                  </a:cubicBezTo>
                  <a:cubicBezTo>
                    <a:pt x="22609" y="32965"/>
                    <a:pt x="12938" y="42636"/>
                    <a:pt x="1009" y="42636"/>
                  </a:cubicBezTo>
                  <a:cubicBezTo>
                    <a:pt x="672" y="42636"/>
                    <a:pt x="336" y="42628"/>
                    <a:pt x="-1" y="42612"/>
                  </a:cubicBezTo>
                  <a:lnTo>
                    <a:pt x="1009" y="21036"/>
                  </a:lnTo>
                  <a:close/>
                </a:path>
              </a:pathLst>
            </a:custGeom>
            <a:noFill/>
            <a:ln w="9525">
              <a:solidFill>
                <a:schemeClr val="tx1"/>
              </a:solidFill>
              <a:round/>
              <a:headEnd type="arrow"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en-PK" dirty="0"/>
            </a:p>
          </p:txBody>
        </p:sp>
        <p:sp>
          <p:nvSpPr>
            <p:cNvPr id="11" name="Arc 9">
              <a:extLst>
                <a:ext uri="{FF2B5EF4-FFF2-40B4-BE49-F238E27FC236}">
                  <a16:creationId xmlns:a16="http://schemas.microsoft.com/office/drawing/2014/main" id="{B7B5BD96-8F94-4209-903C-9D6D65D6E05C}"/>
                </a:ext>
              </a:extLst>
            </p:cNvPr>
            <p:cNvSpPr>
              <a:spLocks/>
            </p:cNvSpPr>
            <p:nvPr/>
          </p:nvSpPr>
          <p:spPr bwMode="auto">
            <a:xfrm rot="16452437" flipV="1">
              <a:off x="3480" y="2472"/>
              <a:ext cx="402" cy="1566"/>
            </a:xfrm>
            <a:custGeom>
              <a:avLst/>
              <a:gdLst>
                <a:gd name="T0" fmla="*/ 105 w 22609"/>
                <a:gd name="T1" fmla="*/ 0 h 42636"/>
                <a:gd name="T2" fmla="*/ 0 w 22609"/>
                <a:gd name="T3" fmla="*/ 1565 h 42636"/>
                <a:gd name="T4" fmla="*/ 18 w 22609"/>
                <a:gd name="T5" fmla="*/ 773 h 42636"/>
                <a:gd name="T6" fmla="*/ 0 60000 65536"/>
                <a:gd name="T7" fmla="*/ 0 60000 65536"/>
                <a:gd name="T8" fmla="*/ 0 60000 65536"/>
                <a:gd name="T9" fmla="*/ 0 w 22609"/>
                <a:gd name="T10" fmla="*/ 0 h 42636"/>
                <a:gd name="T11" fmla="*/ 22609 w 22609"/>
                <a:gd name="T12" fmla="*/ 42636 h 42636"/>
              </a:gdLst>
              <a:ahLst/>
              <a:cxnLst>
                <a:cxn ang="T6">
                  <a:pos x="T0" y="T1"/>
                </a:cxn>
                <a:cxn ang="T7">
                  <a:pos x="T2" y="T3"/>
                </a:cxn>
                <a:cxn ang="T8">
                  <a:pos x="T4" y="T5"/>
                </a:cxn>
              </a:cxnLst>
              <a:rect l="T9" t="T10" r="T11" b="T12"/>
              <a:pathLst>
                <a:path w="22609" h="42636" fill="none" extrusionOk="0">
                  <a:moveTo>
                    <a:pt x="5911" y="-1"/>
                  </a:moveTo>
                  <a:cubicBezTo>
                    <a:pt x="15689" y="2278"/>
                    <a:pt x="22609" y="10995"/>
                    <a:pt x="22609" y="21036"/>
                  </a:cubicBezTo>
                  <a:cubicBezTo>
                    <a:pt x="22609" y="32965"/>
                    <a:pt x="12938" y="42636"/>
                    <a:pt x="1009" y="42636"/>
                  </a:cubicBezTo>
                  <a:cubicBezTo>
                    <a:pt x="672" y="42636"/>
                    <a:pt x="336" y="42628"/>
                    <a:pt x="-1" y="42612"/>
                  </a:cubicBezTo>
                </a:path>
                <a:path w="22609" h="42636" stroke="0" extrusionOk="0">
                  <a:moveTo>
                    <a:pt x="5911" y="-1"/>
                  </a:moveTo>
                  <a:cubicBezTo>
                    <a:pt x="15689" y="2278"/>
                    <a:pt x="22609" y="10995"/>
                    <a:pt x="22609" y="21036"/>
                  </a:cubicBezTo>
                  <a:cubicBezTo>
                    <a:pt x="22609" y="32965"/>
                    <a:pt x="12938" y="42636"/>
                    <a:pt x="1009" y="42636"/>
                  </a:cubicBezTo>
                  <a:cubicBezTo>
                    <a:pt x="672" y="42636"/>
                    <a:pt x="336" y="42628"/>
                    <a:pt x="-1" y="42612"/>
                  </a:cubicBezTo>
                  <a:lnTo>
                    <a:pt x="1009" y="21036"/>
                  </a:lnTo>
                  <a:close/>
                </a:path>
              </a:pathLst>
            </a:custGeom>
            <a:noFill/>
            <a:ln w="9525">
              <a:solidFill>
                <a:schemeClr val="tx1"/>
              </a:solidFill>
              <a:round/>
              <a:headEnd type="arrow"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en-PK" dirty="0"/>
            </a:p>
          </p:txBody>
        </p:sp>
        <p:sp>
          <p:nvSpPr>
            <p:cNvPr id="12" name="Arc 10">
              <a:extLst>
                <a:ext uri="{FF2B5EF4-FFF2-40B4-BE49-F238E27FC236}">
                  <a16:creationId xmlns:a16="http://schemas.microsoft.com/office/drawing/2014/main" id="{25E4828C-515E-4562-94C2-F97556CD937A}"/>
                </a:ext>
              </a:extLst>
            </p:cNvPr>
            <p:cNvSpPr>
              <a:spLocks/>
            </p:cNvSpPr>
            <p:nvPr/>
          </p:nvSpPr>
          <p:spPr bwMode="auto">
            <a:xfrm rot="16330108" flipV="1">
              <a:off x="2556" y="1445"/>
              <a:ext cx="663" cy="3247"/>
            </a:xfrm>
            <a:custGeom>
              <a:avLst/>
              <a:gdLst>
                <a:gd name="T0" fmla="*/ 85 w 22609"/>
                <a:gd name="T1" fmla="*/ 0 h 43117"/>
                <a:gd name="T2" fmla="*/ 0 w 22609"/>
                <a:gd name="T3" fmla="*/ 3245 h 43117"/>
                <a:gd name="T4" fmla="*/ 30 w 22609"/>
                <a:gd name="T5" fmla="*/ 1620 h 43117"/>
                <a:gd name="T6" fmla="*/ 0 60000 65536"/>
                <a:gd name="T7" fmla="*/ 0 60000 65536"/>
                <a:gd name="T8" fmla="*/ 0 60000 65536"/>
                <a:gd name="T9" fmla="*/ 0 w 22609"/>
                <a:gd name="T10" fmla="*/ 0 h 43117"/>
                <a:gd name="T11" fmla="*/ 22609 w 22609"/>
                <a:gd name="T12" fmla="*/ 43117 h 43117"/>
              </a:gdLst>
              <a:ahLst/>
              <a:cxnLst>
                <a:cxn ang="T6">
                  <a:pos x="T0" y="T1"/>
                </a:cxn>
                <a:cxn ang="T7">
                  <a:pos x="T2" y="T3"/>
                </a:cxn>
                <a:cxn ang="T8">
                  <a:pos x="T4" y="T5"/>
                </a:cxn>
              </a:cxnLst>
              <a:rect l="T9" t="T10" r="T11" b="T12"/>
              <a:pathLst>
                <a:path w="22609" h="43117" fill="none" extrusionOk="0">
                  <a:moveTo>
                    <a:pt x="2901" y="0"/>
                  </a:moveTo>
                  <a:cubicBezTo>
                    <a:pt x="14054" y="981"/>
                    <a:pt x="22609" y="10321"/>
                    <a:pt x="22609" y="21517"/>
                  </a:cubicBezTo>
                  <a:cubicBezTo>
                    <a:pt x="22609" y="33446"/>
                    <a:pt x="12938" y="43117"/>
                    <a:pt x="1009" y="43117"/>
                  </a:cubicBezTo>
                  <a:cubicBezTo>
                    <a:pt x="672" y="43117"/>
                    <a:pt x="336" y="43109"/>
                    <a:pt x="-1" y="43093"/>
                  </a:cubicBezTo>
                </a:path>
                <a:path w="22609" h="43117" stroke="0" extrusionOk="0">
                  <a:moveTo>
                    <a:pt x="2901" y="0"/>
                  </a:moveTo>
                  <a:cubicBezTo>
                    <a:pt x="14054" y="981"/>
                    <a:pt x="22609" y="10321"/>
                    <a:pt x="22609" y="21517"/>
                  </a:cubicBezTo>
                  <a:cubicBezTo>
                    <a:pt x="22609" y="33446"/>
                    <a:pt x="12938" y="43117"/>
                    <a:pt x="1009" y="43117"/>
                  </a:cubicBezTo>
                  <a:cubicBezTo>
                    <a:pt x="672" y="43117"/>
                    <a:pt x="336" y="43109"/>
                    <a:pt x="-1" y="43093"/>
                  </a:cubicBezTo>
                  <a:lnTo>
                    <a:pt x="1009" y="21517"/>
                  </a:lnTo>
                  <a:close/>
                </a:path>
              </a:pathLst>
            </a:custGeom>
            <a:noFill/>
            <a:ln w="9525">
              <a:solidFill>
                <a:schemeClr val="tx1"/>
              </a:solidFill>
              <a:round/>
              <a:headEnd type="arrow"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en-PK" dirty="0"/>
            </a:p>
          </p:txBody>
        </p:sp>
        <p:sp>
          <p:nvSpPr>
            <p:cNvPr id="13" name="Text Box 11">
              <a:extLst>
                <a:ext uri="{FF2B5EF4-FFF2-40B4-BE49-F238E27FC236}">
                  <a16:creationId xmlns:a16="http://schemas.microsoft.com/office/drawing/2014/main" id="{56BB25F7-255D-4341-AF76-61C9FA7CEC4E}"/>
                </a:ext>
              </a:extLst>
            </p:cNvPr>
            <p:cNvSpPr txBox="1">
              <a:spLocks noChangeArrowheads="1"/>
            </p:cNvSpPr>
            <p:nvPr/>
          </p:nvSpPr>
          <p:spPr bwMode="auto">
            <a:xfrm>
              <a:off x="1008" y="3792"/>
              <a:ext cx="28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PK" sz="2400" dirty="0">
                  <a:latin typeface="Times New Roman" panose="02020603050405020304" pitchFamily="18" charset="0"/>
                </a:rPr>
                <a:t>A</a:t>
              </a:r>
            </a:p>
          </p:txBody>
        </p:sp>
        <p:sp>
          <p:nvSpPr>
            <p:cNvPr id="14" name="Text Box 12">
              <a:extLst>
                <a:ext uri="{FF2B5EF4-FFF2-40B4-BE49-F238E27FC236}">
                  <a16:creationId xmlns:a16="http://schemas.microsoft.com/office/drawing/2014/main" id="{42A8FD2A-EFC5-44D5-8B99-2BC9F724D2D0}"/>
                </a:ext>
              </a:extLst>
            </p:cNvPr>
            <p:cNvSpPr txBox="1">
              <a:spLocks noChangeArrowheads="1"/>
            </p:cNvSpPr>
            <p:nvPr/>
          </p:nvSpPr>
          <p:spPr bwMode="auto">
            <a:xfrm>
              <a:off x="2688" y="3745"/>
              <a:ext cx="28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PK" sz="2400" dirty="0">
                  <a:latin typeface="Times New Roman" panose="02020603050405020304" pitchFamily="18" charset="0"/>
                </a:rPr>
                <a:t>B</a:t>
              </a:r>
            </a:p>
          </p:txBody>
        </p:sp>
        <p:sp>
          <p:nvSpPr>
            <p:cNvPr id="15" name="Text Box 13">
              <a:extLst>
                <a:ext uri="{FF2B5EF4-FFF2-40B4-BE49-F238E27FC236}">
                  <a16:creationId xmlns:a16="http://schemas.microsoft.com/office/drawing/2014/main" id="{1E698188-8C3A-4988-91B4-DF1D3E433605}"/>
                </a:ext>
              </a:extLst>
            </p:cNvPr>
            <p:cNvSpPr txBox="1">
              <a:spLocks noChangeArrowheads="1"/>
            </p:cNvSpPr>
            <p:nvPr/>
          </p:nvSpPr>
          <p:spPr bwMode="auto">
            <a:xfrm>
              <a:off x="4320" y="3745"/>
              <a:ext cx="28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PK" sz="2400" dirty="0">
                  <a:latin typeface="Times New Roman" panose="02020603050405020304" pitchFamily="18" charset="0"/>
                </a:rPr>
                <a:t>c</a:t>
              </a:r>
            </a:p>
          </p:txBody>
        </p:sp>
        <p:sp>
          <p:nvSpPr>
            <p:cNvPr id="16" name="Text Box 14">
              <a:extLst>
                <a:ext uri="{FF2B5EF4-FFF2-40B4-BE49-F238E27FC236}">
                  <a16:creationId xmlns:a16="http://schemas.microsoft.com/office/drawing/2014/main" id="{227655B2-F9BF-462F-B5C6-4FC38C444FCB}"/>
                </a:ext>
              </a:extLst>
            </p:cNvPr>
            <p:cNvSpPr txBox="1">
              <a:spLocks noChangeArrowheads="1"/>
            </p:cNvSpPr>
            <p:nvPr/>
          </p:nvSpPr>
          <p:spPr bwMode="auto">
            <a:xfrm>
              <a:off x="1728" y="3121"/>
              <a:ext cx="28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PK" sz="2400" i="1" dirty="0">
                  <a:latin typeface="Times New Roman" panose="02020603050405020304" pitchFamily="18" charset="0"/>
                </a:rPr>
                <a:t>R</a:t>
              </a:r>
            </a:p>
          </p:txBody>
        </p:sp>
        <p:sp>
          <p:nvSpPr>
            <p:cNvPr id="17" name="Text Box 15">
              <a:extLst>
                <a:ext uri="{FF2B5EF4-FFF2-40B4-BE49-F238E27FC236}">
                  <a16:creationId xmlns:a16="http://schemas.microsoft.com/office/drawing/2014/main" id="{F31A1E1F-B4B6-4536-947F-8CC0FF6D64C3}"/>
                </a:ext>
              </a:extLst>
            </p:cNvPr>
            <p:cNvSpPr txBox="1">
              <a:spLocks noChangeArrowheads="1"/>
            </p:cNvSpPr>
            <p:nvPr/>
          </p:nvSpPr>
          <p:spPr bwMode="auto">
            <a:xfrm>
              <a:off x="3504" y="3121"/>
              <a:ext cx="28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PK" sz="2400" i="1" dirty="0">
                  <a:latin typeface="Times New Roman" panose="02020603050405020304" pitchFamily="18" charset="0"/>
                </a:rPr>
                <a:t>S</a:t>
              </a:r>
            </a:p>
          </p:txBody>
        </p:sp>
        <p:sp>
          <p:nvSpPr>
            <p:cNvPr id="18" name="Text Box 16">
              <a:extLst>
                <a:ext uri="{FF2B5EF4-FFF2-40B4-BE49-F238E27FC236}">
                  <a16:creationId xmlns:a16="http://schemas.microsoft.com/office/drawing/2014/main" id="{4EFD6317-E1E6-4396-B5C6-36CF57ED51D4}"/>
                </a:ext>
              </a:extLst>
            </p:cNvPr>
            <p:cNvSpPr txBox="1">
              <a:spLocks noChangeArrowheads="1"/>
            </p:cNvSpPr>
            <p:nvPr/>
          </p:nvSpPr>
          <p:spPr bwMode="auto">
            <a:xfrm>
              <a:off x="2448" y="2352"/>
              <a:ext cx="768" cy="404"/>
            </a:xfrm>
            <a:prstGeom prst="rect">
              <a:avLst/>
            </a:prstGeom>
            <a:noFill/>
            <a:ln w="9525">
              <a:noFill/>
              <a:miter lim="800000"/>
              <a:headEnd/>
              <a:tailEnd/>
            </a:ln>
            <a:effectLst/>
          </p:spPr>
          <p:txBody>
            <a:bodyPr wrap="square">
              <a:spAutoFit/>
            </a:bodyPr>
            <a:lstStyle/>
            <a:p>
              <a:pPr algn="ctr">
                <a:spcBef>
                  <a:spcPct val="50000"/>
                </a:spcBef>
                <a:defRPr/>
              </a:pPr>
              <a:r>
                <a:rPr lang="en-US" sz="2400" i="1" dirty="0">
                  <a:solidFill>
                    <a:schemeClr val="hlink"/>
                  </a:solidFill>
                  <a:effectLst>
                    <a:outerShdw blurRad="38100" dist="38100" dir="2700000" algn="tl">
                      <a:srgbClr val="C0C0C0"/>
                    </a:outerShdw>
                  </a:effectLst>
                  <a:latin typeface="Times New Roman" pitchFamily="18" charset="0"/>
                </a:rPr>
                <a:t>S </a:t>
              </a:r>
              <a:r>
                <a:rPr lang="en-US" sz="2400" dirty="0">
                  <a:effectLst>
                    <a:outerShdw blurRad="38100" dist="38100" dir="2700000" algn="tl">
                      <a:srgbClr val="C0C0C0"/>
                    </a:outerShdw>
                  </a:effectLst>
                  <a:latin typeface="Times New Roman" pitchFamily="18" charset="0"/>
                </a:rPr>
                <a:t>o</a:t>
              </a:r>
              <a:r>
                <a:rPr lang="en-US" sz="2400" dirty="0">
                  <a:solidFill>
                    <a:schemeClr val="hlink"/>
                  </a:solidFill>
                  <a:effectLst>
                    <a:outerShdw blurRad="38100" dist="38100" dir="2700000" algn="tl">
                      <a:srgbClr val="C0C0C0"/>
                    </a:outerShdw>
                  </a:effectLst>
                  <a:latin typeface="Times New Roman" pitchFamily="18" charset="0"/>
                </a:rPr>
                <a:t> </a:t>
              </a:r>
              <a:r>
                <a:rPr lang="en-US" sz="2400" i="1" dirty="0">
                  <a:solidFill>
                    <a:schemeClr val="hlink"/>
                  </a:solidFill>
                  <a:effectLst>
                    <a:outerShdw blurRad="38100" dist="38100" dir="2700000" algn="tl">
                      <a:srgbClr val="C0C0C0"/>
                    </a:outerShdw>
                  </a:effectLst>
                  <a:latin typeface="Times New Roman" pitchFamily="18" charset="0"/>
                </a:rPr>
                <a:t>R</a:t>
              </a:r>
            </a:p>
          </p:txBody>
        </p:sp>
      </p:grpSp>
    </p:spTree>
    <p:extLst>
      <p:ext uri="{BB962C8B-B14F-4D97-AF65-F5344CB8AC3E}">
        <p14:creationId xmlns:p14="http://schemas.microsoft.com/office/powerpoint/2010/main" val="3245071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1555C-FC96-43AE-9196-D3EAE72BD96F}"/>
              </a:ext>
            </a:extLst>
          </p:cNvPr>
          <p:cNvSpPr>
            <a:spLocks noGrp="1"/>
          </p:cNvSpPr>
          <p:nvPr>
            <p:ph type="title"/>
          </p:nvPr>
        </p:nvSpPr>
        <p:spPr/>
        <p:txBody>
          <a:bodyPr/>
          <a:lstStyle/>
          <a:p>
            <a:r>
              <a:rPr lang="en-US" dirty="0"/>
              <a:t>Powers of Relations</a:t>
            </a:r>
            <a:endParaRPr lang="en-PK" dirty="0"/>
          </a:p>
        </p:txBody>
      </p:sp>
      <p:sp>
        <p:nvSpPr>
          <p:cNvPr id="3" name="Content Placeholder 2">
            <a:extLst>
              <a:ext uri="{FF2B5EF4-FFF2-40B4-BE49-F238E27FC236}">
                <a16:creationId xmlns:a16="http://schemas.microsoft.com/office/drawing/2014/main" id="{C189D6F8-B905-4C81-B7AC-BFBCBE6B6898}"/>
              </a:ext>
            </a:extLst>
          </p:cNvPr>
          <p:cNvSpPr>
            <a:spLocks noGrp="1"/>
          </p:cNvSpPr>
          <p:nvPr>
            <p:ph idx="1"/>
          </p:nvPr>
        </p:nvSpPr>
        <p:spPr/>
        <p:txBody>
          <a:bodyPr>
            <a:normAutofit/>
          </a:bodyPr>
          <a:lstStyle/>
          <a:p>
            <a:r>
              <a:rPr lang="en-US" altLang="en-PK" sz="2400" b="1" dirty="0"/>
              <a:t>Definition:</a:t>
            </a:r>
          </a:p>
          <a:p>
            <a:pPr marL="0" indent="0">
              <a:buNone/>
            </a:pPr>
            <a:r>
              <a:rPr lang="en-US" altLang="en-PK" sz="2400" dirty="0"/>
              <a:t>Let </a:t>
            </a:r>
            <a:r>
              <a:rPr lang="en-US" altLang="en-PK" sz="2400" i="1" dirty="0"/>
              <a:t>R</a:t>
            </a:r>
            <a:r>
              <a:rPr lang="en-US" altLang="en-PK" sz="2400" dirty="0"/>
              <a:t> be a relation on the set</a:t>
            </a:r>
            <a:r>
              <a:rPr lang="en-US" altLang="en-PK" sz="2400" i="1" dirty="0"/>
              <a:t> A</a:t>
            </a:r>
            <a:r>
              <a:rPr lang="en-US" altLang="en-PK" sz="2400" dirty="0"/>
              <a:t>. The </a:t>
            </a:r>
            <a:r>
              <a:rPr lang="en-US" altLang="en-PK" sz="2400" dirty="0">
                <a:solidFill>
                  <a:schemeClr val="accent1"/>
                </a:solidFill>
              </a:rPr>
              <a:t>powers </a:t>
            </a:r>
            <a:r>
              <a:rPr lang="en-US" altLang="en-PK" sz="2400" i="1" dirty="0">
                <a:solidFill>
                  <a:schemeClr val="accent1"/>
                </a:solidFill>
              </a:rPr>
              <a:t>R</a:t>
            </a:r>
            <a:r>
              <a:rPr lang="en-US" altLang="en-PK" sz="2400" i="1" baseline="30000" dirty="0">
                <a:solidFill>
                  <a:schemeClr val="accent1"/>
                </a:solidFill>
              </a:rPr>
              <a:t>n</a:t>
            </a:r>
            <a:r>
              <a:rPr lang="en-US" altLang="en-PK" sz="2400" dirty="0"/>
              <a:t>, </a:t>
            </a:r>
            <a:r>
              <a:rPr lang="en-US" altLang="en-PK" sz="2400" i="1" dirty="0"/>
              <a:t>n </a:t>
            </a:r>
            <a:r>
              <a:rPr lang="en-US" altLang="en-PK" sz="2400" dirty="0"/>
              <a:t>= 1, 2, 3,… are defined recursively by:</a:t>
            </a:r>
          </a:p>
          <a:p>
            <a:pPr marL="0" indent="0">
              <a:buNone/>
            </a:pPr>
            <a:r>
              <a:rPr lang="en-US" altLang="en-PK" sz="2400" i="1" dirty="0"/>
              <a:t>R</a:t>
            </a:r>
            <a:r>
              <a:rPr lang="en-US" altLang="en-PK" sz="2400" baseline="30000" dirty="0"/>
              <a:t>1</a:t>
            </a:r>
            <a:r>
              <a:rPr lang="en-US" altLang="en-PK" sz="2400" dirty="0"/>
              <a:t> = </a:t>
            </a:r>
            <a:r>
              <a:rPr lang="en-US" altLang="en-PK" sz="2400" i="1" dirty="0"/>
              <a:t>R</a:t>
            </a:r>
            <a:r>
              <a:rPr lang="en-US" altLang="en-PK" sz="2400" dirty="0"/>
              <a:t>,</a:t>
            </a:r>
          </a:p>
          <a:p>
            <a:pPr marL="0" indent="0">
              <a:buNone/>
            </a:pPr>
            <a:r>
              <a:rPr lang="en-US" altLang="en-PK" sz="2400" i="1" dirty="0"/>
              <a:t>R</a:t>
            </a:r>
            <a:r>
              <a:rPr lang="en-US" altLang="en-PK" sz="2400" i="1" baseline="30000" dirty="0"/>
              <a:t>n</a:t>
            </a:r>
            <a:r>
              <a:rPr lang="en-US" altLang="en-PK" sz="2400" baseline="30000" dirty="0"/>
              <a:t>+1 </a:t>
            </a:r>
            <a:r>
              <a:rPr lang="en-US" altLang="en-PK" sz="2400" dirty="0"/>
              <a:t>= </a:t>
            </a:r>
            <a:r>
              <a:rPr lang="en-US" altLang="en-PK" sz="2400" i="1" dirty="0"/>
              <a:t>R</a:t>
            </a:r>
            <a:r>
              <a:rPr lang="en-US" altLang="en-PK" sz="2400" i="1" baseline="30000" dirty="0"/>
              <a:t>n</a:t>
            </a:r>
            <a:r>
              <a:rPr lang="en-US" altLang="en-PK" sz="2400" dirty="0"/>
              <a:t> o </a:t>
            </a:r>
            <a:r>
              <a:rPr lang="en-US" altLang="en-PK" sz="2400" i="1" dirty="0"/>
              <a:t>R</a:t>
            </a:r>
            <a:r>
              <a:rPr lang="en-US" altLang="en-PK" sz="2400" dirty="0"/>
              <a:t>, for </a:t>
            </a:r>
            <a:r>
              <a:rPr lang="en-US" altLang="en-PK" sz="2400" i="1" dirty="0"/>
              <a:t>n </a:t>
            </a:r>
            <a:r>
              <a:rPr lang="en-US" altLang="en-PK" sz="2400" dirty="0">
                <a:sym typeface="Symbol" panose="05050102010706020507" pitchFamily="18" charset="2"/>
              </a:rPr>
              <a:t> 1</a:t>
            </a:r>
            <a:endParaRPr lang="en-US" altLang="en-PK" sz="2400" dirty="0"/>
          </a:p>
          <a:p>
            <a:pPr marL="0" indent="0">
              <a:buNone/>
            </a:pPr>
            <a:r>
              <a:rPr lang="en-US" altLang="en-PK" sz="2400" dirty="0"/>
              <a:t>So:</a:t>
            </a:r>
          </a:p>
          <a:p>
            <a:pPr marL="0" indent="0">
              <a:buNone/>
            </a:pPr>
            <a:r>
              <a:rPr lang="en-US" altLang="en-PK" sz="2400" i="1" dirty="0"/>
              <a:t>R</a:t>
            </a:r>
            <a:r>
              <a:rPr lang="en-US" altLang="en-PK" sz="2400" baseline="30000" dirty="0"/>
              <a:t>2 </a:t>
            </a:r>
            <a:r>
              <a:rPr lang="en-US" altLang="en-PK" sz="2400" dirty="0"/>
              <a:t>= </a:t>
            </a:r>
            <a:r>
              <a:rPr lang="en-US" altLang="en-PK" sz="2400" i="1" dirty="0"/>
              <a:t>R</a:t>
            </a:r>
            <a:r>
              <a:rPr lang="en-US" altLang="en-PK" sz="2400" dirty="0"/>
              <a:t>o</a:t>
            </a:r>
            <a:r>
              <a:rPr lang="en-US" altLang="en-PK" sz="2400" i="1" dirty="0"/>
              <a:t>R,</a:t>
            </a:r>
          </a:p>
          <a:p>
            <a:pPr marL="0" indent="0">
              <a:buNone/>
            </a:pPr>
            <a:r>
              <a:rPr lang="en-US" altLang="en-PK" sz="2400" i="1" dirty="0"/>
              <a:t>R</a:t>
            </a:r>
            <a:r>
              <a:rPr lang="en-US" altLang="en-PK" sz="2400" baseline="30000" dirty="0"/>
              <a:t>3</a:t>
            </a:r>
            <a:r>
              <a:rPr lang="en-US" altLang="en-PK" sz="2400" dirty="0"/>
              <a:t> = </a:t>
            </a:r>
            <a:r>
              <a:rPr lang="en-US" altLang="en-PK" sz="2400" i="1" dirty="0"/>
              <a:t>R</a:t>
            </a:r>
            <a:r>
              <a:rPr lang="en-US" altLang="en-PK" sz="2400" baseline="30000" dirty="0"/>
              <a:t>2</a:t>
            </a:r>
            <a:r>
              <a:rPr lang="en-US" altLang="en-PK" sz="2400" dirty="0"/>
              <a:t>o</a:t>
            </a:r>
            <a:r>
              <a:rPr lang="en-US" altLang="en-PK" sz="2400" i="1" dirty="0"/>
              <a:t>R =</a:t>
            </a:r>
            <a:r>
              <a:rPr lang="en-US" altLang="en-PK" sz="2400" dirty="0"/>
              <a:t> (</a:t>
            </a:r>
            <a:r>
              <a:rPr lang="en-US" altLang="en-PK" sz="2400" i="1" dirty="0"/>
              <a:t>R</a:t>
            </a:r>
            <a:r>
              <a:rPr lang="en-US" altLang="en-PK" sz="2400" dirty="0"/>
              <a:t>o</a:t>
            </a:r>
            <a:r>
              <a:rPr lang="en-US" altLang="en-PK" sz="2400" i="1" dirty="0"/>
              <a:t>R</a:t>
            </a:r>
            <a:r>
              <a:rPr lang="en-US" altLang="en-PK" sz="2400" dirty="0"/>
              <a:t>) o</a:t>
            </a:r>
            <a:r>
              <a:rPr lang="en-US" altLang="en-PK" sz="2400" i="1" dirty="0"/>
              <a:t> R</a:t>
            </a:r>
          </a:p>
          <a:p>
            <a:pPr marL="0" indent="0">
              <a:buNone/>
            </a:pPr>
            <a:r>
              <a:rPr lang="en-US" altLang="en-PK" sz="2400" i="1" dirty="0"/>
              <a:t>. . .</a:t>
            </a:r>
          </a:p>
        </p:txBody>
      </p:sp>
      <p:sp>
        <p:nvSpPr>
          <p:cNvPr id="4" name="Date Placeholder 3">
            <a:extLst>
              <a:ext uri="{FF2B5EF4-FFF2-40B4-BE49-F238E27FC236}">
                <a16:creationId xmlns:a16="http://schemas.microsoft.com/office/drawing/2014/main" id="{495DB796-489C-49AF-9422-868F5A246992}"/>
              </a:ext>
            </a:extLst>
          </p:cNvPr>
          <p:cNvSpPr>
            <a:spLocks noGrp="1"/>
          </p:cNvSpPr>
          <p:nvPr>
            <p:ph type="dt" sz="half" idx="10"/>
          </p:nvPr>
        </p:nvSpPr>
        <p:spPr/>
        <p:txBody>
          <a:bodyPr/>
          <a:lstStyle/>
          <a:p>
            <a:r>
              <a:rPr lang="en-US" dirty="0"/>
              <a:t>31/12/2023</a:t>
            </a:r>
            <a:endParaRPr lang="en-PK" dirty="0"/>
          </a:p>
        </p:txBody>
      </p:sp>
      <p:sp>
        <p:nvSpPr>
          <p:cNvPr id="5" name="Slide Number Placeholder 4">
            <a:extLst>
              <a:ext uri="{FF2B5EF4-FFF2-40B4-BE49-F238E27FC236}">
                <a16:creationId xmlns:a16="http://schemas.microsoft.com/office/drawing/2014/main" id="{99766694-E378-4893-9483-F289AE6BE396}"/>
              </a:ext>
            </a:extLst>
          </p:cNvPr>
          <p:cNvSpPr>
            <a:spLocks noGrp="1"/>
          </p:cNvSpPr>
          <p:nvPr>
            <p:ph type="sldNum" sz="quarter" idx="12"/>
          </p:nvPr>
        </p:nvSpPr>
        <p:spPr/>
        <p:txBody>
          <a:bodyPr/>
          <a:lstStyle/>
          <a:p>
            <a:r>
              <a:rPr dirty="0"/>
              <a:t>18</a:t>
            </a:r>
          </a:p>
        </p:txBody>
      </p:sp>
    </p:spTree>
    <p:extLst>
      <p:ext uri="{BB962C8B-B14F-4D97-AF65-F5344CB8AC3E}">
        <p14:creationId xmlns:p14="http://schemas.microsoft.com/office/powerpoint/2010/main" val="732520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1555C-FC96-43AE-9196-D3EAE72BD96F}"/>
              </a:ext>
            </a:extLst>
          </p:cNvPr>
          <p:cNvSpPr>
            <a:spLocks noGrp="1"/>
          </p:cNvSpPr>
          <p:nvPr>
            <p:ph type="title"/>
          </p:nvPr>
        </p:nvSpPr>
        <p:spPr/>
        <p:txBody>
          <a:bodyPr/>
          <a:lstStyle/>
          <a:p>
            <a:r>
              <a:rPr lang="en-US" dirty="0"/>
              <a:t>n-ary Relations </a:t>
            </a:r>
            <a:endParaRPr lang="en-PK" dirty="0"/>
          </a:p>
        </p:txBody>
      </p:sp>
      <p:sp>
        <p:nvSpPr>
          <p:cNvPr id="3" name="Content Placeholder 2">
            <a:extLst>
              <a:ext uri="{FF2B5EF4-FFF2-40B4-BE49-F238E27FC236}">
                <a16:creationId xmlns:a16="http://schemas.microsoft.com/office/drawing/2014/main" id="{C189D6F8-B905-4C81-B7AC-BFBCBE6B6898}"/>
              </a:ext>
            </a:extLst>
          </p:cNvPr>
          <p:cNvSpPr>
            <a:spLocks noGrp="1"/>
          </p:cNvSpPr>
          <p:nvPr>
            <p:ph idx="1"/>
          </p:nvPr>
        </p:nvSpPr>
        <p:spPr/>
        <p:txBody>
          <a:bodyPr>
            <a:noAutofit/>
          </a:bodyPr>
          <a:lstStyle/>
          <a:p>
            <a:r>
              <a:rPr lang="en-US" sz="2400" b="1" dirty="0">
                <a:effectLst/>
                <a:latin typeface="KaTeX_Math"/>
              </a:rPr>
              <a:t>Definition</a:t>
            </a:r>
            <a:r>
              <a:rPr lang="en-US" sz="2400" b="1" dirty="0">
                <a:effectLst/>
                <a:latin typeface="Söhne"/>
              </a:rPr>
              <a:t>:</a:t>
            </a:r>
            <a:r>
              <a:rPr lang="en-US" sz="2400" b="0" i="0" dirty="0">
                <a:effectLst/>
                <a:latin typeface="Söhne"/>
              </a:rPr>
              <a:t> </a:t>
            </a:r>
          </a:p>
          <a:p>
            <a:pPr marL="0" indent="0">
              <a:buNone/>
            </a:pPr>
            <a:r>
              <a:rPr lang="en-US" sz="2400" b="0" i="0" dirty="0">
                <a:effectLst/>
                <a:latin typeface="Söhne"/>
              </a:rPr>
              <a:t>An </a:t>
            </a:r>
            <a:r>
              <a:rPr lang="en-US" sz="2400" b="0" i="1" dirty="0">
                <a:solidFill>
                  <a:schemeClr val="accent1"/>
                </a:solidFill>
                <a:effectLst/>
                <a:latin typeface="KaTeX_Math"/>
              </a:rPr>
              <a:t>n</a:t>
            </a:r>
            <a:r>
              <a:rPr lang="en-US" sz="2400" b="0" i="0" dirty="0">
                <a:solidFill>
                  <a:schemeClr val="accent1"/>
                </a:solidFill>
                <a:effectLst/>
                <a:latin typeface="Söhne"/>
              </a:rPr>
              <a:t>-ary relation on sets </a:t>
            </a:r>
            <a:r>
              <a:rPr lang="en-US" sz="2400" b="0" i="1" dirty="0">
                <a:solidFill>
                  <a:schemeClr val="accent1"/>
                </a:solidFill>
                <a:effectLst/>
                <a:latin typeface="KaTeX_Math"/>
              </a:rPr>
              <a:t>A</a:t>
            </a:r>
            <a:r>
              <a:rPr lang="en-US" sz="2400" b="0" i="0" dirty="0">
                <a:solidFill>
                  <a:schemeClr val="accent1"/>
                </a:solidFill>
                <a:effectLst/>
                <a:latin typeface="KaTeX_Main"/>
              </a:rPr>
              <a:t>1​,</a:t>
            </a:r>
            <a:r>
              <a:rPr lang="en-US" sz="2400" b="0" i="1" dirty="0">
                <a:solidFill>
                  <a:schemeClr val="accent1"/>
                </a:solidFill>
                <a:effectLst/>
                <a:latin typeface="KaTeX_Math"/>
              </a:rPr>
              <a:t>A</a:t>
            </a:r>
            <a:r>
              <a:rPr lang="en-US" sz="2400" b="0" i="0" dirty="0">
                <a:solidFill>
                  <a:schemeClr val="accent1"/>
                </a:solidFill>
                <a:effectLst/>
                <a:latin typeface="KaTeX_Main"/>
              </a:rPr>
              <a:t>2​,…,</a:t>
            </a:r>
            <a:r>
              <a:rPr lang="en-US" sz="2400" b="0" i="1" dirty="0">
                <a:solidFill>
                  <a:schemeClr val="accent1"/>
                </a:solidFill>
                <a:effectLst/>
                <a:latin typeface="KaTeX_Math"/>
              </a:rPr>
              <a:t>An</a:t>
            </a:r>
            <a:r>
              <a:rPr lang="en-US" sz="2400" b="0" i="0" dirty="0">
                <a:effectLst/>
                <a:latin typeface="KaTeX_Main"/>
              </a:rPr>
              <a:t>​</a:t>
            </a:r>
            <a:r>
              <a:rPr lang="en-US" sz="2400" b="0" i="0" dirty="0">
                <a:effectLst/>
                <a:latin typeface="Söhne"/>
              </a:rPr>
              <a:t> is a subset of the Cartesian product </a:t>
            </a:r>
            <a:r>
              <a:rPr lang="en-US" sz="2400" b="0" i="1" dirty="0">
                <a:solidFill>
                  <a:schemeClr val="accent1"/>
                </a:solidFill>
                <a:effectLst/>
                <a:latin typeface="KaTeX_Math"/>
              </a:rPr>
              <a:t>A</a:t>
            </a:r>
            <a:r>
              <a:rPr lang="en-US" sz="2400" b="0" i="0" dirty="0">
                <a:solidFill>
                  <a:schemeClr val="accent1"/>
                </a:solidFill>
                <a:effectLst/>
                <a:latin typeface="KaTeX_Main"/>
              </a:rPr>
              <a:t>1​×</a:t>
            </a:r>
            <a:r>
              <a:rPr lang="en-US" sz="2400" b="0" i="1" dirty="0">
                <a:solidFill>
                  <a:schemeClr val="accent1"/>
                </a:solidFill>
                <a:effectLst/>
                <a:latin typeface="KaTeX_Math"/>
              </a:rPr>
              <a:t>A</a:t>
            </a:r>
            <a:r>
              <a:rPr lang="en-US" sz="2400" b="0" i="0" dirty="0">
                <a:solidFill>
                  <a:schemeClr val="accent1"/>
                </a:solidFill>
                <a:effectLst/>
                <a:latin typeface="KaTeX_Main"/>
              </a:rPr>
              <a:t>2​×…×</a:t>
            </a:r>
            <a:r>
              <a:rPr lang="en-US" sz="2400" b="0" i="1" dirty="0">
                <a:solidFill>
                  <a:schemeClr val="accent1"/>
                </a:solidFill>
                <a:effectLst/>
                <a:latin typeface="KaTeX_Math"/>
              </a:rPr>
              <a:t>An</a:t>
            </a:r>
            <a:r>
              <a:rPr lang="en-US" sz="2400" b="0" i="0" dirty="0">
                <a:effectLst/>
                <a:latin typeface="KaTeX_Main"/>
              </a:rPr>
              <a:t>​</a:t>
            </a:r>
            <a:r>
              <a:rPr lang="en-US" sz="2400" b="0" i="0" dirty="0">
                <a:effectLst/>
                <a:latin typeface="Söhne"/>
              </a:rPr>
              <a:t>. It consists of all possible </a:t>
            </a:r>
            <a:r>
              <a:rPr lang="en-US" sz="2400" b="0" i="1" dirty="0">
                <a:effectLst/>
                <a:latin typeface="KaTeX_Math"/>
              </a:rPr>
              <a:t>n</a:t>
            </a:r>
            <a:r>
              <a:rPr lang="en-US" sz="2400" b="0" i="0" dirty="0">
                <a:effectLst/>
                <a:latin typeface="Söhne"/>
              </a:rPr>
              <a:t>-tuples whose elements come from the respective sets </a:t>
            </a:r>
            <a:r>
              <a:rPr lang="en-US" sz="2400" b="0" i="1" dirty="0">
                <a:effectLst/>
                <a:latin typeface="KaTeX_Math"/>
              </a:rPr>
              <a:t>A</a:t>
            </a:r>
            <a:r>
              <a:rPr lang="en-US" sz="2400" b="0" i="0" dirty="0">
                <a:effectLst/>
                <a:latin typeface="KaTeX_Main"/>
              </a:rPr>
              <a:t>1​,</a:t>
            </a:r>
            <a:r>
              <a:rPr lang="en-US" sz="2400" b="0" i="1" dirty="0">
                <a:effectLst/>
                <a:latin typeface="KaTeX_Math"/>
              </a:rPr>
              <a:t>A</a:t>
            </a:r>
            <a:r>
              <a:rPr lang="en-US" sz="2400" b="0" i="0" dirty="0">
                <a:effectLst/>
                <a:latin typeface="KaTeX_Main"/>
              </a:rPr>
              <a:t>2​,…,</a:t>
            </a:r>
            <a:r>
              <a:rPr lang="en-US" sz="2400" b="0" i="1" dirty="0">
                <a:effectLst/>
                <a:latin typeface="KaTeX_Math"/>
              </a:rPr>
              <a:t>An</a:t>
            </a:r>
            <a:r>
              <a:rPr lang="en-US" sz="2400" b="0" i="0" dirty="0">
                <a:effectLst/>
                <a:latin typeface="KaTeX_Main"/>
              </a:rPr>
              <a:t>​</a:t>
            </a:r>
            <a:r>
              <a:rPr lang="en-US" sz="2400" b="0" i="0" dirty="0">
                <a:effectLst/>
                <a:latin typeface="Söhne"/>
              </a:rPr>
              <a:t>.</a:t>
            </a:r>
          </a:p>
          <a:p>
            <a:pPr algn="l"/>
            <a:r>
              <a:rPr lang="en-US" sz="2400" b="1" i="0" dirty="0">
                <a:effectLst/>
                <a:latin typeface="Söhne"/>
              </a:rPr>
              <a:t>Example:</a:t>
            </a:r>
          </a:p>
          <a:p>
            <a:pPr marL="0" indent="0" algn="l">
              <a:buNone/>
            </a:pPr>
            <a:r>
              <a:rPr lang="en-US" sz="2400" b="0" i="0" dirty="0">
                <a:effectLst/>
                <a:latin typeface="Söhne"/>
              </a:rPr>
              <a:t>Let's consider three sets </a:t>
            </a:r>
            <a:r>
              <a:rPr lang="en-US" sz="2400" b="0" i="1" dirty="0">
                <a:effectLst/>
                <a:latin typeface="KaTeX_Math"/>
              </a:rPr>
              <a:t>A</a:t>
            </a:r>
            <a:r>
              <a:rPr lang="en-US" sz="2400" b="0" i="0" dirty="0">
                <a:effectLst/>
                <a:latin typeface="Söhne"/>
              </a:rPr>
              <a:t>, </a:t>
            </a:r>
            <a:r>
              <a:rPr lang="en-US" sz="2400" b="0" i="1" dirty="0">
                <a:effectLst/>
                <a:latin typeface="KaTeX_Math"/>
              </a:rPr>
              <a:t>B</a:t>
            </a:r>
            <a:r>
              <a:rPr lang="en-US" sz="2400" b="0" i="0" dirty="0">
                <a:effectLst/>
                <a:latin typeface="Söhne"/>
              </a:rPr>
              <a:t>, and </a:t>
            </a:r>
            <a:r>
              <a:rPr lang="en-US" sz="2400" b="0" i="1" dirty="0">
                <a:effectLst/>
                <a:latin typeface="KaTeX_Math"/>
              </a:rPr>
              <a:t>C</a:t>
            </a:r>
            <a:r>
              <a:rPr lang="en-US" sz="2400" b="0" i="0" dirty="0">
                <a:effectLst/>
                <a:latin typeface="Söhne"/>
              </a:rPr>
              <a:t> as follows:</a:t>
            </a:r>
          </a:p>
          <a:p>
            <a:pPr marL="0" indent="0" algn="l">
              <a:buNone/>
            </a:pPr>
            <a:r>
              <a:rPr lang="en-US" sz="2400" b="0" i="1" dirty="0">
                <a:solidFill>
                  <a:schemeClr val="accent1"/>
                </a:solidFill>
                <a:effectLst/>
                <a:latin typeface="KaTeX_Math"/>
              </a:rPr>
              <a:t>A</a:t>
            </a:r>
            <a:r>
              <a:rPr lang="en-US" sz="2400" b="0" i="1" dirty="0">
                <a:effectLst/>
                <a:latin typeface="KaTeX_Math"/>
              </a:rPr>
              <a:t> </a:t>
            </a:r>
            <a:r>
              <a:rPr lang="en-US" sz="2400" b="0" i="0" dirty="0">
                <a:effectLst/>
                <a:latin typeface="KaTeX_Main"/>
              </a:rPr>
              <a:t>= {1, 2}</a:t>
            </a:r>
            <a:r>
              <a:rPr lang="en-US" sz="2400" dirty="0">
                <a:latin typeface="Söhne"/>
              </a:rPr>
              <a:t>, </a:t>
            </a:r>
            <a:r>
              <a:rPr lang="en-US" sz="2400" b="0" i="1" dirty="0">
                <a:solidFill>
                  <a:schemeClr val="accent1"/>
                </a:solidFill>
                <a:effectLst/>
                <a:latin typeface="KaTeX_Math"/>
              </a:rPr>
              <a:t>B</a:t>
            </a:r>
            <a:r>
              <a:rPr lang="en-US" sz="2400" b="0" i="1" dirty="0">
                <a:effectLst/>
                <a:latin typeface="KaTeX_Math"/>
              </a:rPr>
              <a:t> </a:t>
            </a:r>
            <a:r>
              <a:rPr lang="en-US" sz="2400" b="0" i="0" dirty="0">
                <a:effectLst/>
                <a:latin typeface="KaTeX_Main"/>
              </a:rPr>
              <a:t>= {</a:t>
            </a:r>
            <a:r>
              <a:rPr lang="en-US" sz="2400" b="0" i="1" dirty="0">
                <a:effectLst/>
                <a:latin typeface="KaTeX_Math"/>
              </a:rPr>
              <a:t>x</a:t>
            </a:r>
            <a:r>
              <a:rPr lang="en-US" sz="2400" b="0" i="0" dirty="0">
                <a:effectLst/>
                <a:latin typeface="KaTeX_Main"/>
              </a:rPr>
              <a:t>, </a:t>
            </a:r>
            <a:r>
              <a:rPr lang="en-US" sz="2400" b="0" i="1" dirty="0">
                <a:effectLst/>
                <a:latin typeface="KaTeX_Math"/>
              </a:rPr>
              <a:t>y</a:t>
            </a:r>
            <a:r>
              <a:rPr lang="en-US" sz="2400" b="0" i="0" dirty="0">
                <a:effectLst/>
                <a:latin typeface="KaTeX_Main"/>
              </a:rPr>
              <a:t>}</a:t>
            </a:r>
            <a:r>
              <a:rPr lang="en-US" sz="2400" dirty="0">
                <a:latin typeface="Söhne"/>
              </a:rPr>
              <a:t>,</a:t>
            </a:r>
            <a:r>
              <a:rPr lang="en-US" sz="2400" b="0" i="0" dirty="0">
                <a:effectLst/>
                <a:latin typeface="Söhne"/>
              </a:rPr>
              <a:t> </a:t>
            </a:r>
            <a:r>
              <a:rPr lang="en-US" sz="2400" b="0" i="1" dirty="0">
                <a:solidFill>
                  <a:schemeClr val="accent1"/>
                </a:solidFill>
                <a:effectLst/>
                <a:latin typeface="KaTeX_Math"/>
              </a:rPr>
              <a:t>C</a:t>
            </a:r>
            <a:r>
              <a:rPr lang="en-US" sz="2400" b="0" i="1" dirty="0">
                <a:effectLst/>
                <a:latin typeface="KaTeX_Math"/>
              </a:rPr>
              <a:t> </a:t>
            </a:r>
            <a:r>
              <a:rPr lang="en-US" sz="2400" b="0" i="0" dirty="0">
                <a:effectLst/>
                <a:latin typeface="KaTeX_Main"/>
              </a:rPr>
              <a:t>= {</a:t>
            </a:r>
            <a:r>
              <a:rPr lang="en-US" sz="2400" b="0" i="1" dirty="0">
                <a:effectLst/>
                <a:latin typeface="KaTeX_Math"/>
              </a:rPr>
              <a:t>red</a:t>
            </a:r>
            <a:r>
              <a:rPr lang="en-US" sz="2400" b="0" i="0" dirty="0">
                <a:effectLst/>
                <a:latin typeface="KaTeX_Main"/>
              </a:rPr>
              <a:t>, </a:t>
            </a:r>
            <a:r>
              <a:rPr lang="en-US" sz="2400" b="0" i="1" dirty="0">
                <a:effectLst/>
                <a:latin typeface="KaTeX_Math"/>
              </a:rPr>
              <a:t>blue</a:t>
            </a:r>
            <a:r>
              <a:rPr lang="en-US" sz="2400" b="0" i="0" dirty="0">
                <a:effectLst/>
                <a:latin typeface="KaTeX_Main"/>
              </a:rPr>
              <a:t>}</a:t>
            </a:r>
            <a:endParaRPr lang="en-US" sz="2400" b="0" i="0" dirty="0">
              <a:effectLst/>
              <a:latin typeface="Söhne"/>
            </a:endParaRPr>
          </a:p>
          <a:p>
            <a:pPr marL="0" indent="0" algn="l">
              <a:buNone/>
            </a:pPr>
            <a:r>
              <a:rPr lang="en-US" sz="2400" b="0" i="0" dirty="0">
                <a:effectLst/>
                <a:latin typeface="Söhne"/>
              </a:rPr>
              <a:t>The </a:t>
            </a:r>
            <a:r>
              <a:rPr lang="en-US" sz="2400" b="0" i="1" dirty="0">
                <a:effectLst/>
                <a:latin typeface="KaTeX_Math"/>
              </a:rPr>
              <a:t>n</a:t>
            </a:r>
            <a:r>
              <a:rPr lang="en-US" sz="2400" b="0" i="0" dirty="0">
                <a:effectLst/>
                <a:latin typeface="Söhne"/>
              </a:rPr>
              <a:t>-ary relation </a:t>
            </a:r>
            <a:r>
              <a:rPr lang="en-US" sz="2400" b="0" i="1" dirty="0">
                <a:effectLst/>
                <a:latin typeface="KaTeX_Math"/>
              </a:rPr>
              <a:t>R</a:t>
            </a:r>
            <a:r>
              <a:rPr lang="en-US" sz="2400" b="0" i="0" dirty="0">
                <a:effectLst/>
                <a:latin typeface="Söhne"/>
              </a:rPr>
              <a:t> is defined as the set of all 3-tuples </a:t>
            </a:r>
            <a:r>
              <a:rPr lang="en-US" sz="2400" b="0" i="0" dirty="0">
                <a:effectLst/>
                <a:latin typeface="KaTeX_Main"/>
              </a:rPr>
              <a:t>(</a:t>
            </a:r>
            <a:r>
              <a:rPr lang="en-US" sz="2400" b="0" i="1" dirty="0">
                <a:effectLst/>
                <a:latin typeface="KaTeX_Math"/>
              </a:rPr>
              <a:t>a</a:t>
            </a:r>
            <a:r>
              <a:rPr lang="en-US" sz="2400" b="0" i="0" dirty="0">
                <a:effectLst/>
                <a:latin typeface="KaTeX_Main"/>
              </a:rPr>
              <a:t>, </a:t>
            </a:r>
            <a:r>
              <a:rPr lang="en-US" sz="2400" b="0" i="1" dirty="0">
                <a:effectLst/>
                <a:latin typeface="KaTeX_Math"/>
              </a:rPr>
              <a:t>b</a:t>
            </a:r>
            <a:r>
              <a:rPr lang="en-US" sz="2400" b="0" i="0" dirty="0">
                <a:effectLst/>
                <a:latin typeface="KaTeX_Main"/>
              </a:rPr>
              <a:t>, </a:t>
            </a:r>
            <a:r>
              <a:rPr lang="en-US" sz="2400" b="0" i="1" dirty="0">
                <a:effectLst/>
                <a:latin typeface="KaTeX_Math"/>
              </a:rPr>
              <a:t>c</a:t>
            </a:r>
            <a:r>
              <a:rPr lang="en-US" sz="2400" b="0" i="0" dirty="0">
                <a:effectLst/>
                <a:latin typeface="KaTeX_Main"/>
              </a:rPr>
              <a:t>)</a:t>
            </a:r>
            <a:endParaRPr lang="en-US" sz="2400" b="0" i="0" dirty="0">
              <a:effectLst/>
              <a:latin typeface="Söhne"/>
            </a:endParaRPr>
          </a:p>
          <a:p>
            <a:pPr marL="0" indent="0" algn="l">
              <a:buNone/>
            </a:pPr>
            <a:r>
              <a:rPr lang="en-US" sz="2400" b="0" i="1" dirty="0">
                <a:solidFill>
                  <a:schemeClr val="accent1"/>
                </a:solidFill>
                <a:effectLst/>
                <a:latin typeface="KaTeX_Math"/>
              </a:rPr>
              <a:t>R</a:t>
            </a:r>
            <a:r>
              <a:rPr lang="en-US" sz="2400" b="0" i="1" dirty="0">
                <a:effectLst/>
                <a:latin typeface="KaTeX_Math"/>
              </a:rPr>
              <a:t> </a:t>
            </a:r>
            <a:r>
              <a:rPr lang="en-US" sz="2400" b="0" i="0" dirty="0">
                <a:effectLst/>
                <a:latin typeface="KaTeX_Main"/>
              </a:rPr>
              <a:t>= { (1, </a:t>
            </a:r>
            <a:r>
              <a:rPr lang="en-US" sz="2400" b="0" i="1" dirty="0">
                <a:effectLst/>
                <a:latin typeface="KaTeX_Math"/>
              </a:rPr>
              <a:t>x</a:t>
            </a:r>
            <a:r>
              <a:rPr lang="en-US" sz="2400" b="0" i="0" dirty="0">
                <a:effectLst/>
                <a:latin typeface="KaTeX_Main"/>
              </a:rPr>
              <a:t>, </a:t>
            </a:r>
            <a:r>
              <a:rPr lang="en-US" sz="2400" b="0" i="1" dirty="0">
                <a:effectLst/>
                <a:latin typeface="KaTeX_Math"/>
              </a:rPr>
              <a:t>red</a:t>
            </a:r>
            <a:r>
              <a:rPr lang="en-US" sz="2400" b="0" i="0" dirty="0">
                <a:effectLst/>
                <a:latin typeface="KaTeX_Main"/>
              </a:rPr>
              <a:t>), (1, </a:t>
            </a:r>
            <a:r>
              <a:rPr lang="en-US" sz="2400" b="0" i="1" dirty="0">
                <a:effectLst/>
                <a:latin typeface="KaTeX_Math"/>
              </a:rPr>
              <a:t>y</a:t>
            </a:r>
            <a:r>
              <a:rPr lang="en-US" sz="2400" b="0" i="0" dirty="0">
                <a:effectLst/>
                <a:latin typeface="KaTeX_Main"/>
              </a:rPr>
              <a:t>, </a:t>
            </a:r>
            <a:r>
              <a:rPr lang="en-US" sz="2400" b="0" i="1" dirty="0">
                <a:effectLst/>
                <a:latin typeface="KaTeX_Math"/>
              </a:rPr>
              <a:t>blue</a:t>
            </a:r>
            <a:r>
              <a:rPr lang="en-US" sz="2400" b="0" i="0" dirty="0">
                <a:effectLst/>
                <a:latin typeface="KaTeX_Main"/>
              </a:rPr>
              <a:t>), (2, </a:t>
            </a:r>
            <a:r>
              <a:rPr lang="en-US" sz="2400" b="0" i="1" dirty="0">
                <a:effectLst/>
                <a:latin typeface="KaTeX_Math"/>
              </a:rPr>
              <a:t>x</a:t>
            </a:r>
            <a:r>
              <a:rPr lang="en-US" sz="2400" b="0" i="0" dirty="0">
                <a:effectLst/>
                <a:latin typeface="KaTeX_Main"/>
              </a:rPr>
              <a:t>, </a:t>
            </a:r>
            <a:r>
              <a:rPr lang="en-US" sz="2400" b="0" i="1" dirty="0">
                <a:effectLst/>
                <a:latin typeface="KaTeX_Math"/>
              </a:rPr>
              <a:t>red</a:t>
            </a:r>
            <a:r>
              <a:rPr lang="en-US" sz="2400" b="0" i="0" dirty="0">
                <a:effectLst/>
                <a:latin typeface="KaTeX_Main"/>
              </a:rPr>
              <a:t>), (2, </a:t>
            </a:r>
            <a:r>
              <a:rPr lang="en-US" sz="2400" b="0" i="1" dirty="0">
                <a:effectLst/>
                <a:latin typeface="KaTeX_Math"/>
              </a:rPr>
              <a:t>y</a:t>
            </a:r>
            <a:r>
              <a:rPr lang="en-US" sz="2400" b="0" i="0" dirty="0">
                <a:effectLst/>
                <a:latin typeface="KaTeX_Main"/>
              </a:rPr>
              <a:t>, </a:t>
            </a:r>
            <a:r>
              <a:rPr lang="en-US" sz="2400" b="0" i="1" dirty="0">
                <a:effectLst/>
                <a:latin typeface="KaTeX_Math"/>
              </a:rPr>
              <a:t>blue</a:t>
            </a:r>
            <a:r>
              <a:rPr lang="en-US" sz="2400" b="0" i="0" dirty="0">
                <a:effectLst/>
                <a:latin typeface="KaTeX_Main"/>
              </a:rPr>
              <a:t>) }</a:t>
            </a:r>
            <a:endParaRPr lang="en-US" sz="2400" b="0" i="0" dirty="0">
              <a:effectLst/>
              <a:latin typeface="Söhne"/>
            </a:endParaRPr>
          </a:p>
          <a:p>
            <a:endParaRPr lang="en-PK" sz="2400" dirty="0"/>
          </a:p>
        </p:txBody>
      </p:sp>
      <p:sp>
        <p:nvSpPr>
          <p:cNvPr id="4" name="Date Placeholder 3">
            <a:extLst>
              <a:ext uri="{FF2B5EF4-FFF2-40B4-BE49-F238E27FC236}">
                <a16:creationId xmlns:a16="http://schemas.microsoft.com/office/drawing/2014/main" id="{495DB796-489C-49AF-9422-868F5A246992}"/>
              </a:ext>
            </a:extLst>
          </p:cNvPr>
          <p:cNvSpPr>
            <a:spLocks noGrp="1"/>
          </p:cNvSpPr>
          <p:nvPr>
            <p:ph type="dt" sz="half" idx="10"/>
          </p:nvPr>
        </p:nvSpPr>
        <p:spPr/>
        <p:txBody>
          <a:bodyPr/>
          <a:lstStyle/>
          <a:p>
            <a:r>
              <a:rPr lang="en-US" dirty="0"/>
              <a:t>31/12/2023</a:t>
            </a:r>
            <a:endParaRPr lang="en-PK" dirty="0"/>
          </a:p>
        </p:txBody>
      </p:sp>
      <p:sp>
        <p:nvSpPr>
          <p:cNvPr id="5" name="Slide Number Placeholder 4">
            <a:extLst>
              <a:ext uri="{FF2B5EF4-FFF2-40B4-BE49-F238E27FC236}">
                <a16:creationId xmlns:a16="http://schemas.microsoft.com/office/drawing/2014/main" id="{99766694-E378-4893-9483-F289AE6BE396}"/>
              </a:ext>
            </a:extLst>
          </p:cNvPr>
          <p:cNvSpPr>
            <a:spLocks noGrp="1"/>
          </p:cNvSpPr>
          <p:nvPr>
            <p:ph type="sldNum" sz="quarter" idx="12"/>
          </p:nvPr>
        </p:nvSpPr>
        <p:spPr/>
        <p:txBody>
          <a:bodyPr/>
          <a:lstStyle/>
          <a:p>
            <a:r>
              <a:rPr dirty="0"/>
              <a:t>19</a:t>
            </a:r>
          </a:p>
        </p:txBody>
      </p:sp>
    </p:spTree>
    <p:extLst>
      <p:ext uri="{BB962C8B-B14F-4D97-AF65-F5344CB8AC3E}">
        <p14:creationId xmlns:p14="http://schemas.microsoft.com/office/powerpoint/2010/main" val="2827241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3792A0B-A3F3-47D1-BA3E-0E95E22DA3A0}"/>
              </a:ext>
            </a:extLst>
          </p:cNvPr>
          <p:cNvPicPr>
            <a:picLocks noChangeAspect="1"/>
          </p:cNvPicPr>
          <p:nvPr/>
        </p:nvPicPr>
        <p:blipFill>
          <a:blip r:embed="rId2"/>
          <a:stretch>
            <a:fillRect/>
          </a:stretch>
        </p:blipFill>
        <p:spPr>
          <a:xfrm>
            <a:off x="3140115" y="1873250"/>
            <a:ext cx="5911770" cy="4665662"/>
          </a:xfrm>
          <a:prstGeom prst="rect">
            <a:avLst/>
          </a:prstGeom>
        </p:spPr>
      </p:pic>
      <p:sp>
        <p:nvSpPr>
          <p:cNvPr id="2" name="Title 1">
            <a:extLst>
              <a:ext uri="{FF2B5EF4-FFF2-40B4-BE49-F238E27FC236}">
                <a16:creationId xmlns:a16="http://schemas.microsoft.com/office/drawing/2014/main" id="{9621555C-FC96-43AE-9196-D3EAE72BD96F}"/>
              </a:ext>
            </a:extLst>
          </p:cNvPr>
          <p:cNvSpPr>
            <a:spLocks noGrp="1"/>
          </p:cNvSpPr>
          <p:nvPr>
            <p:ph type="title"/>
          </p:nvPr>
        </p:nvSpPr>
        <p:spPr/>
        <p:txBody>
          <a:bodyPr/>
          <a:lstStyle/>
          <a:p>
            <a:r>
              <a:rPr lang="en-US" dirty="0"/>
              <a:t>Databases and Relations</a:t>
            </a:r>
            <a:endParaRPr lang="en-PK" dirty="0"/>
          </a:p>
        </p:txBody>
      </p:sp>
      <p:sp>
        <p:nvSpPr>
          <p:cNvPr id="4" name="Date Placeholder 3">
            <a:extLst>
              <a:ext uri="{FF2B5EF4-FFF2-40B4-BE49-F238E27FC236}">
                <a16:creationId xmlns:a16="http://schemas.microsoft.com/office/drawing/2014/main" id="{495DB796-489C-49AF-9422-868F5A246992}"/>
              </a:ext>
            </a:extLst>
          </p:cNvPr>
          <p:cNvSpPr>
            <a:spLocks noGrp="1"/>
          </p:cNvSpPr>
          <p:nvPr>
            <p:ph type="dt" sz="half" idx="10"/>
          </p:nvPr>
        </p:nvSpPr>
        <p:spPr/>
        <p:txBody>
          <a:bodyPr/>
          <a:lstStyle/>
          <a:p>
            <a:r>
              <a:rPr lang="en-US" dirty="0"/>
              <a:t>31/12/2023</a:t>
            </a:r>
            <a:endParaRPr lang="en-PK" dirty="0"/>
          </a:p>
        </p:txBody>
      </p:sp>
      <p:sp>
        <p:nvSpPr>
          <p:cNvPr id="5" name="Slide Number Placeholder 4">
            <a:extLst>
              <a:ext uri="{FF2B5EF4-FFF2-40B4-BE49-F238E27FC236}">
                <a16:creationId xmlns:a16="http://schemas.microsoft.com/office/drawing/2014/main" id="{99766694-E378-4893-9483-F289AE6BE396}"/>
              </a:ext>
            </a:extLst>
          </p:cNvPr>
          <p:cNvSpPr>
            <a:spLocks noGrp="1"/>
          </p:cNvSpPr>
          <p:nvPr>
            <p:ph type="sldNum" sz="quarter" idx="12"/>
          </p:nvPr>
        </p:nvSpPr>
        <p:spPr/>
        <p:txBody>
          <a:bodyPr/>
          <a:lstStyle/>
          <a:p>
            <a:r>
              <a:rPr dirty="0"/>
              <a:t>20</a:t>
            </a:r>
          </a:p>
        </p:txBody>
      </p:sp>
      <p:sp>
        <p:nvSpPr>
          <p:cNvPr id="8" name="Rectangle 7">
            <a:extLst>
              <a:ext uri="{FF2B5EF4-FFF2-40B4-BE49-F238E27FC236}">
                <a16:creationId xmlns:a16="http://schemas.microsoft.com/office/drawing/2014/main" id="{4AC9FFF6-ADAD-4ED9-9AC7-CB20C46A1C1A}"/>
              </a:ext>
            </a:extLst>
          </p:cNvPr>
          <p:cNvSpPr/>
          <p:nvPr/>
        </p:nvSpPr>
        <p:spPr>
          <a:xfrm>
            <a:off x="3140115" y="2468881"/>
            <a:ext cx="1797645" cy="4023994"/>
          </a:xfrm>
          <a:prstGeom prst="rect">
            <a:avLst/>
          </a:prstGeom>
          <a:noFill/>
          <a:ln w="381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PK" dirty="0">
              <a:solidFill>
                <a:schemeClr val="accent1"/>
              </a:solidFill>
            </a:endParaRPr>
          </a:p>
        </p:txBody>
      </p:sp>
      <p:sp>
        <p:nvSpPr>
          <p:cNvPr id="9" name="Rectangle 8">
            <a:extLst>
              <a:ext uri="{FF2B5EF4-FFF2-40B4-BE49-F238E27FC236}">
                <a16:creationId xmlns:a16="http://schemas.microsoft.com/office/drawing/2014/main" id="{E115F2DA-D11E-4527-ABFB-D92C432C7A3A}"/>
              </a:ext>
            </a:extLst>
          </p:cNvPr>
          <p:cNvSpPr/>
          <p:nvPr/>
        </p:nvSpPr>
        <p:spPr>
          <a:xfrm>
            <a:off x="3140115" y="3040380"/>
            <a:ext cx="5911770" cy="571500"/>
          </a:xfrm>
          <a:prstGeom prst="rect">
            <a:avLst/>
          </a:prstGeom>
          <a:noFill/>
          <a:ln w="381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PK" dirty="0"/>
          </a:p>
        </p:txBody>
      </p:sp>
      <p:sp>
        <p:nvSpPr>
          <p:cNvPr id="10" name="TextBox 9">
            <a:extLst>
              <a:ext uri="{FF2B5EF4-FFF2-40B4-BE49-F238E27FC236}">
                <a16:creationId xmlns:a16="http://schemas.microsoft.com/office/drawing/2014/main" id="{AEDCCA8A-30EA-4F66-AC34-19217E2E8FA5}"/>
              </a:ext>
            </a:extLst>
          </p:cNvPr>
          <p:cNvSpPr txBox="1"/>
          <p:nvPr/>
        </p:nvSpPr>
        <p:spPr>
          <a:xfrm>
            <a:off x="1577340" y="2491741"/>
            <a:ext cx="1303020" cy="523220"/>
          </a:xfrm>
          <a:prstGeom prst="rect">
            <a:avLst/>
          </a:prstGeom>
          <a:noFill/>
        </p:spPr>
        <p:txBody>
          <a:bodyPr wrap="square" rtlCol="0">
            <a:spAutoFit/>
          </a:bodyPr>
          <a:lstStyle/>
          <a:p>
            <a:r>
              <a:rPr lang="en-US" sz="2800" b="1" dirty="0">
                <a:solidFill>
                  <a:schemeClr val="accent1"/>
                </a:solidFill>
              </a:rPr>
              <a:t>Field</a:t>
            </a:r>
          </a:p>
        </p:txBody>
      </p:sp>
      <p:sp>
        <p:nvSpPr>
          <p:cNvPr id="11" name="TextBox 10">
            <a:extLst>
              <a:ext uri="{FF2B5EF4-FFF2-40B4-BE49-F238E27FC236}">
                <a16:creationId xmlns:a16="http://schemas.microsoft.com/office/drawing/2014/main" id="{8A622CDB-8658-455A-B538-7F1488F7DF8D}"/>
              </a:ext>
            </a:extLst>
          </p:cNvPr>
          <p:cNvSpPr txBox="1"/>
          <p:nvPr/>
        </p:nvSpPr>
        <p:spPr>
          <a:xfrm>
            <a:off x="1577340" y="3040380"/>
            <a:ext cx="1303020" cy="523220"/>
          </a:xfrm>
          <a:prstGeom prst="rect">
            <a:avLst/>
          </a:prstGeom>
          <a:noFill/>
        </p:spPr>
        <p:txBody>
          <a:bodyPr wrap="square" rtlCol="0">
            <a:spAutoFit/>
          </a:bodyPr>
          <a:lstStyle/>
          <a:p>
            <a:r>
              <a:rPr lang="en-US" sz="2800" b="1" dirty="0">
                <a:solidFill>
                  <a:srgbClr val="FF0000"/>
                </a:solidFill>
              </a:rPr>
              <a:t>Record</a:t>
            </a:r>
          </a:p>
        </p:txBody>
      </p:sp>
    </p:spTree>
    <p:extLst>
      <p:ext uri="{BB962C8B-B14F-4D97-AF65-F5344CB8AC3E}">
        <p14:creationId xmlns:p14="http://schemas.microsoft.com/office/powerpoint/2010/main" val="25206933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p:bldP spid="1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1555C-FC96-43AE-9196-D3EAE72BD96F}"/>
              </a:ext>
            </a:extLst>
          </p:cNvPr>
          <p:cNvSpPr>
            <a:spLocks noGrp="1"/>
          </p:cNvSpPr>
          <p:nvPr>
            <p:ph type="title"/>
          </p:nvPr>
        </p:nvSpPr>
        <p:spPr/>
        <p:txBody>
          <a:bodyPr/>
          <a:lstStyle/>
          <a:p>
            <a:r>
              <a:rPr lang="en-US" dirty="0"/>
              <a:t>Databases and Relations</a:t>
            </a:r>
            <a:endParaRPr lang="en-PK" dirty="0"/>
          </a:p>
        </p:txBody>
      </p:sp>
      <p:sp>
        <p:nvSpPr>
          <p:cNvPr id="4" name="Date Placeholder 3">
            <a:extLst>
              <a:ext uri="{FF2B5EF4-FFF2-40B4-BE49-F238E27FC236}">
                <a16:creationId xmlns:a16="http://schemas.microsoft.com/office/drawing/2014/main" id="{495DB796-489C-49AF-9422-868F5A246992}"/>
              </a:ext>
            </a:extLst>
          </p:cNvPr>
          <p:cNvSpPr>
            <a:spLocks noGrp="1"/>
          </p:cNvSpPr>
          <p:nvPr>
            <p:ph type="dt" sz="half" idx="10"/>
          </p:nvPr>
        </p:nvSpPr>
        <p:spPr/>
        <p:txBody>
          <a:bodyPr/>
          <a:lstStyle/>
          <a:p>
            <a:r>
              <a:rPr lang="en-US" dirty="0"/>
              <a:t>31/12/2023</a:t>
            </a:r>
            <a:endParaRPr lang="en-PK" dirty="0"/>
          </a:p>
        </p:txBody>
      </p:sp>
      <p:sp>
        <p:nvSpPr>
          <p:cNvPr id="5" name="Slide Number Placeholder 4">
            <a:extLst>
              <a:ext uri="{FF2B5EF4-FFF2-40B4-BE49-F238E27FC236}">
                <a16:creationId xmlns:a16="http://schemas.microsoft.com/office/drawing/2014/main" id="{99766694-E378-4893-9483-F289AE6BE396}"/>
              </a:ext>
            </a:extLst>
          </p:cNvPr>
          <p:cNvSpPr>
            <a:spLocks noGrp="1"/>
          </p:cNvSpPr>
          <p:nvPr>
            <p:ph type="sldNum" sz="quarter" idx="12"/>
          </p:nvPr>
        </p:nvSpPr>
        <p:spPr/>
        <p:txBody>
          <a:bodyPr/>
          <a:lstStyle/>
          <a:p>
            <a:r>
              <a:rPr dirty="0"/>
              <a:t>21</a:t>
            </a:r>
          </a:p>
        </p:txBody>
      </p:sp>
      <p:sp>
        <p:nvSpPr>
          <p:cNvPr id="6" name="Content Placeholder 2">
            <a:extLst>
              <a:ext uri="{FF2B5EF4-FFF2-40B4-BE49-F238E27FC236}">
                <a16:creationId xmlns:a16="http://schemas.microsoft.com/office/drawing/2014/main" id="{AB5FF7CD-E74C-8565-FC4E-F5A7232AFEEC}"/>
              </a:ext>
            </a:extLst>
          </p:cNvPr>
          <p:cNvSpPr txBox="1">
            <a:spLocks/>
          </p:cNvSpPr>
          <p:nvPr/>
        </p:nvSpPr>
        <p:spPr>
          <a:xfrm>
            <a:off x="838200" y="1825625"/>
            <a:ext cx="10515600" cy="43513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Wingdings" panose="05000000000000000000" pitchFamily="2" charset="2"/>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300"/>
              </a:spcAft>
              <a:buClrTx/>
              <a:buSzTx/>
              <a:buFont typeface="Wingdings" panose="05000000000000000000" pitchFamily="2" charset="2"/>
              <a:buChar char="§"/>
              <a:tabLst/>
              <a:defRPr sz="1800">
                <a:latin typeface="Aptos"/>
              </a:defRPr>
            </a:pPr>
            <a:r>
              <a:rPr kumimoji="0" lang="nl-NL" sz="2400" b="1" i="0" u="none" strike="noStrike" kern="1200" cap="none" spc="0" normalizeH="0" baseline="0" noProof="0" dirty="0">
                <a:ln>
                  <a:noFill/>
                </a:ln>
                <a:solidFill>
                  <a:prstClr val="black"/>
                </a:solidFill>
                <a:effectLst/>
                <a:uLnTx/>
                <a:uFillTx/>
                <a:latin typeface="Aptos"/>
                <a:ea typeface="+mn-ea"/>
                <a:cs typeface="+mn-cs"/>
              </a:rPr>
              <a:t>Record: </a:t>
            </a:r>
            <a:r>
              <a:rPr kumimoji="0" lang="nl-NL" sz="2400" b="0" i="0" u="none" strike="noStrike" kern="1200" cap="none" spc="0" normalizeH="0" baseline="0" noProof="0" dirty="0">
                <a:ln>
                  <a:noFill/>
                </a:ln>
                <a:solidFill>
                  <a:prstClr val="black"/>
                </a:solidFill>
                <a:effectLst/>
                <a:uLnTx/>
                <a:uFillTx/>
                <a:latin typeface="Aptos"/>
                <a:ea typeface="+mn-ea"/>
                <a:cs typeface="+mn-cs"/>
              </a:rPr>
              <a:t>an </a:t>
            </a:r>
            <a:r>
              <a:rPr kumimoji="0" lang="nl-NL" sz="2400" b="0" i="0" u="none" strike="noStrike" kern="1200" cap="none" spc="0" normalizeH="0" baseline="0" noProof="0" dirty="0">
                <a:ln>
                  <a:noFill/>
                </a:ln>
                <a:solidFill>
                  <a:srgbClr val="4472C4"/>
                </a:solidFill>
                <a:effectLst/>
                <a:uLnTx/>
                <a:uFillTx/>
                <a:latin typeface="Aptos"/>
                <a:ea typeface="+mn-ea"/>
                <a:cs typeface="+mn-cs"/>
              </a:rPr>
              <a:t>n-tuple</a:t>
            </a:r>
            <a:r>
              <a:rPr kumimoji="0" lang="nl-NL" sz="2400" b="0" i="0" u="none" strike="noStrike" kern="1200" cap="none" spc="0" normalizeH="0" baseline="0" noProof="0" dirty="0">
                <a:ln>
                  <a:noFill/>
                </a:ln>
                <a:solidFill>
                  <a:srgbClr val="4472C4"/>
                </a:solidFill>
                <a:effectLst/>
                <a:uLnTx/>
                <a:uFillTx/>
                <a:latin typeface="Söhne"/>
                <a:ea typeface="+mn-ea"/>
                <a:cs typeface="+mn-cs"/>
              </a:rPr>
              <a:t> </a:t>
            </a:r>
            <a:r>
              <a:rPr kumimoji="0" lang="nl-NL" sz="2400" b="0" i="0" u="none" strike="noStrike" kern="1200" cap="none" spc="0" normalizeH="0" baseline="0" noProof="0" dirty="0">
                <a:ln>
                  <a:noFill/>
                </a:ln>
                <a:solidFill>
                  <a:prstClr val="black"/>
                </a:solidFill>
                <a:effectLst/>
                <a:uLnTx/>
                <a:uFillTx/>
                <a:latin typeface="Aptos"/>
                <a:ea typeface="+mn-ea"/>
                <a:cs typeface="+mn-cs"/>
              </a:rPr>
              <a:t>of fields, for example </a:t>
            </a:r>
            <a:r>
              <a:rPr kumimoji="0" lang="nl-NL" sz="2400" b="0" i="0" u="none" strike="noStrike" kern="1200" cap="none" spc="0" normalizeH="0" baseline="0" noProof="0" dirty="0">
                <a:ln>
                  <a:noFill/>
                </a:ln>
                <a:solidFill>
                  <a:srgbClr val="4472C4"/>
                </a:solidFill>
                <a:effectLst/>
                <a:uLnTx/>
                <a:uFillTx/>
                <a:latin typeface="Aptos"/>
                <a:ea typeface="+mn-ea"/>
                <a:cs typeface="+mn-cs"/>
              </a:rPr>
              <a:t>(Name, ID#, Major, GPA)</a:t>
            </a:r>
            <a:r>
              <a:rPr kumimoji="0" lang="nl-NL" sz="2400" b="0" i="0" u="none" strike="noStrike" kern="1200" cap="none" spc="0" normalizeH="0" baseline="0" noProof="0" dirty="0">
                <a:ln>
                  <a:noFill/>
                </a:ln>
                <a:solidFill>
                  <a:prstClr val="black"/>
                </a:solidFill>
                <a:effectLst/>
                <a:uLnTx/>
                <a:uFillTx/>
                <a:latin typeface="Aptos"/>
                <a:ea typeface="+mn-ea"/>
                <a:cs typeface="+mn-cs"/>
              </a:rPr>
              <a:t>.</a:t>
            </a:r>
          </a:p>
          <a:p>
            <a:pPr marL="228600" marR="0" lvl="0" indent="-228600" algn="l" defTabSz="914400" rtl="0" eaLnBrk="1" fontAlgn="auto" latinLnBrk="0" hangingPunct="1">
              <a:lnSpc>
                <a:spcPct val="90000"/>
              </a:lnSpc>
              <a:spcBef>
                <a:spcPts val="1000"/>
              </a:spcBef>
              <a:spcAft>
                <a:spcPts val="300"/>
              </a:spcAft>
              <a:buClrTx/>
              <a:buSzTx/>
              <a:buFont typeface="Wingdings" panose="05000000000000000000" pitchFamily="2" charset="2"/>
              <a:buChar char="§"/>
              <a:tabLst/>
              <a:defRPr sz="1800">
                <a:latin typeface="Aptos"/>
              </a:defRPr>
            </a:pPr>
            <a:r>
              <a:rPr kumimoji="0" lang="nl-NL" sz="2400" b="1" i="0" u="none" strike="noStrike" kern="1200" cap="none" spc="0" normalizeH="0" baseline="0" noProof="0" dirty="0">
                <a:ln>
                  <a:noFill/>
                </a:ln>
                <a:solidFill>
                  <a:prstClr val="black"/>
                </a:solidFill>
                <a:effectLst/>
                <a:uLnTx/>
                <a:uFillTx/>
                <a:latin typeface="Aptos"/>
                <a:ea typeface="+mn-ea"/>
                <a:cs typeface="+mn-cs"/>
              </a:rPr>
              <a:t>Relational database: </a:t>
            </a:r>
            <a:r>
              <a:rPr kumimoji="0" lang="nl-NL" sz="2400" b="0" i="0" u="none" strike="noStrike" kern="1200" cap="none" spc="0" normalizeH="0" baseline="0" noProof="0" dirty="0">
                <a:ln>
                  <a:noFill/>
                </a:ln>
                <a:solidFill>
                  <a:prstClr val="black"/>
                </a:solidFill>
                <a:effectLst/>
                <a:uLnTx/>
                <a:uFillTx/>
                <a:latin typeface="Aptos"/>
                <a:ea typeface="+mn-ea"/>
                <a:cs typeface="+mn-cs"/>
              </a:rPr>
              <a:t>a collection of records represented as a relation.</a:t>
            </a:r>
          </a:p>
          <a:p>
            <a:pPr marL="228600" marR="0" lvl="0" indent="-228600" algn="l" defTabSz="914400" rtl="0" eaLnBrk="1" fontAlgn="auto" latinLnBrk="0" hangingPunct="1">
              <a:lnSpc>
                <a:spcPct val="90000"/>
              </a:lnSpc>
              <a:spcBef>
                <a:spcPts val="1000"/>
              </a:spcBef>
              <a:spcAft>
                <a:spcPts val="300"/>
              </a:spcAft>
              <a:buClrTx/>
              <a:buSzTx/>
              <a:buFont typeface="Wingdings" panose="05000000000000000000" pitchFamily="2" charset="2"/>
              <a:buChar char="§"/>
              <a:tabLst/>
              <a:defRPr sz="1800">
                <a:latin typeface="Aptos"/>
              </a:defRPr>
            </a:pPr>
            <a:r>
              <a:rPr kumimoji="0" lang="nl-NL" sz="2400" b="1" i="0" u="none" strike="noStrike" kern="1200" cap="none" spc="0" normalizeH="0" baseline="0" noProof="0" dirty="0">
                <a:ln>
                  <a:noFill/>
                </a:ln>
                <a:solidFill>
                  <a:prstClr val="black"/>
                </a:solidFill>
                <a:effectLst/>
                <a:uLnTx/>
                <a:uFillTx/>
                <a:latin typeface="Aptos"/>
                <a:ea typeface="+mn-ea"/>
                <a:cs typeface="+mn-cs"/>
              </a:rPr>
              <a:t>Example: </a:t>
            </a:r>
            <a:r>
              <a:rPr kumimoji="0" lang="nl-NL" sz="2400" b="0" i="0" u="none" strike="noStrike" kern="1200" cap="none" spc="0" normalizeH="0" baseline="0" noProof="0" dirty="0">
                <a:ln>
                  <a:noFill/>
                </a:ln>
                <a:solidFill>
                  <a:prstClr val="black"/>
                </a:solidFill>
                <a:effectLst/>
                <a:uLnTx/>
                <a:uFillTx/>
                <a:latin typeface="Aptos"/>
                <a:ea typeface="+mn-ea"/>
                <a:cs typeface="+mn-cs"/>
              </a:rPr>
              <a:t>student database</a:t>
            </a:r>
            <a:endParaRPr kumimoji="0" lang="nl-NL" sz="2400" b="1"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90000"/>
              </a:lnSpc>
              <a:spcBef>
                <a:spcPts val="1000"/>
              </a:spcBef>
              <a:spcAft>
                <a:spcPts val="300"/>
              </a:spcAft>
              <a:buClrTx/>
              <a:buSzTx/>
              <a:buFont typeface="Wingdings" panose="05000000000000000000" pitchFamily="2" charset="2"/>
              <a:buNone/>
              <a:tabLst/>
              <a:defRPr sz="1800">
                <a:latin typeface="Aptos"/>
              </a:defRPr>
            </a:pPr>
            <a:r>
              <a:rPr kumimoji="0" lang="nl-NL" sz="2400" b="0" i="0" u="none" strike="noStrike" kern="1200" cap="none" spc="0" normalizeH="0" baseline="0" noProof="0" dirty="0">
                <a:ln>
                  <a:noFill/>
                </a:ln>
                <a:solidFill>
                  <a:prstClr val="black"/>
                </a:solidFill>
                <a:effectLst/>
                <a:uLnTx/>
                <a:uFillTx/>
                <a:latin typeface="Aptos"/>
                <a:ea typeface="+mn-ea"/>
                <a:cs typeface="+mn-cs"/>
              </a:rPr>
              <a:t>{ (Anderson, 231455, CSE, 3.88),</a:t>
            </a:r>
          </a:p>
          <a:p>
            <a:pPr marL="0" marR="0" lvl="0" indent="0" algn="l" defTabSz="914400" rtl="0" eaLnBrk="1" fontAlgn="auto" latinLnBrk="0" hangingPunct="1">
              <a:lnSpc>
                <a:spcPct val="90000"/>
              </a:lnSpc>
              <a:spcBef>
                <a:spcPts val="1000"/>
              </a:spcBef>
              <a:spcAft>
                <a:spcPts val="300"/>
              </a:spcAft>
              <a:buClrTx/>
              <a:buSzTx/>
              <a:buFont typeface="Wingdings" panose="05000000000000000000" pitchFamily="2" charset="2"/>
              <a:buNone/>
              <a:tabLst/>
              <a:defRPr sz="1800">
                <a:latin typeface="Aptos"/>
              </a:defRPr>
            </a:pPr>
            <a:r>
              <a:rPr kumimoji="0" lang="nl-NL" sz="2400" b="0" i="0" u="none" strike="noStrike" kern="1200" cap="none" spc="0" normalizeH="0" baseline="0" noProof="0" dirty="0">
                <a:ln>
                  <a:noFill/>
                </a:ln>
                <a:solidFill>
                  <a:prstClr val="black"/>
                </a:solidFill>
                <a:effectLst/>
                <a:uLnTx/>
                <a:uFillTx/>
                <a:latin typeface="Aptos"/>
                <a:ea typeface="+mn-ea"/>
                <a:cs typeface="+mn-cs"/>
              </a:rPr>
              <a:t>  (Adams, 888323, PHY, 3.45),</a:t>
            </a:r>
          </a:p>
          <a:p>
            <a:pPr marL="0" marR="0" lvl="0" indent="0" algn="l" defTabSz="914400" rtl="0" eaLnBrk="1" fontAlgn="auto" latinLnBrk="0" hangingPunct="1">
              <a:lnSpc>
                <a:spcPct val="90000"/>
              </a:lnSpc>
              <a:spcBef>
                <a:spcPts val="1000"/>
              </a:spcBef>
              <a:spcAft>
                <a:spcPts val="300"/>
              </a:spcAft>
              <a:buClrTx/>
              <a:buSzTx/>
              <a:buFont typeface="Wingdings" panose="05000000000000000000" pitchFamily="2" charset="2"/>
              <a:buNone/>
              <a:tabLst/>
              <a:defRPr sz="1800">
                <a:latin typeface="Aptos"/>
              </a:defRPr>
            </a:pPr>
            <a:r>
              <a:rPr kumimoji="0" lang="nl-NL" sz="2400" b="0" i="0" u="none" strike="noStrike" kern="1200" cap="none" spc="0" normalizeH="0" baseline="0" noProof="0" dirty="0">
                <a:ln>
                  <a:noFill/>
                </a:ln>
                <a:solidFill>
                  <a:prstClr val="black"/>
                </a:solidFill>
                <a:effectLst/>
                <a:uLnTx/>
                <a:uFillTx/>
                <a:latin typeface="Aptos"/>
                <a:ea typeface="+mn-ea"/>
                <a:cs typeface="+mn-cs"/>
              </a:rPr>
              <a:t>  (Chou, 102147, CSE, 3.49),</a:t>
            </a:r>
          </a:p>
          <a:p>
            <a:pPr marL="0" marR="0" lvl="0" indent="0" algn="l" defTabSz="914400" rtl="0" eaLnBrk="1" fontAlgn="auto" latinLnBrk="0" hangingPunct="1">
              <a:lnSpc>
                <a:spcPct val="90000"/>
              </a:lnSpc>
              <a:spcBef>
                <a:spcPts val="1000"/>
              </a:spcBef>
              <a:spcAft>
                <a:spcPts val="300"/>
              </a:spcAft>
              <a:buClrTx/>
              <a:buSzTx/>
              <a:buFont typeface="Wingdings" panose="05000000000000000000" pitchFamily="2" charset="2"/>
              <a:buNone/>
              <a:tabLst/>
              <a:defRPr sz="1800">
                <a:latin typeface="Aptos"/>
              </a:defRPr>
            </a:pPr>
            <a:r>
              <a:rPr kumimoji="0" lang="nl-NL" sz="2400" b="0" i="0" u="none" strike="noStrike" kern="1200" cap="none" spc="0" normalizeH="0" baseline="0" noProof="0" dirty="0">
                <a:ln>
                  <a:noFill/>
                </a:ln>
                <a:solidFill>
                  <a:prstClr val="black"/>
                </a:solidFill>
                <a:effectLst/>
                <a:uLnTx/>
                <a:uFillTx/>
                <a:latin typeface="Aptos"/>
                <a:ea typeface="+mn-ea"/>
                <a:cs typeface="+mn-cs"/>
              </a:rPr>
              <a:t>  (Gould, 453876, MTH, 3.45),</a:t>
            </a:r>
          </a:p>
          <a:p>
            <a:pPr marL="0" marR="0" lvl="0" indent="0" algn="l" defTabSz="914400" rtl="0" eaLnBrk="1" fontAlgn="auto" latinLnBrk="0" hangingPunct="1">
              <a:lnSpc>
                <a:spcPct val="90000"/>
              </a:lnSpc>
              <a:spcBef>
                <a:spcPts val="1000"/>
              </a:spcBef>
              <a:spcAft>
                <a:spcPts val="300"/>
              </a:spcAft>
              <a:buClrTx/>
              <a:buSzTx/>
              <a:buFont typeface="Wingdings" panose="05000000000000000000" pitchFamily="2" charset="2"/>
              <a:buNone/>
              <a:tabLst/>
              <a:defRPr sz="1800">
                <a:latin typeface="Aptos"/>
              </a:defRPr>
            </a:pPr>
            <a:r>
              <a:rPr kumimoji="0" lang="nl-NL" sz="2400" b="0" i="0" u="none" strike="noStrike" kern="1200" cap="none" spc="0" normalizeH="0" baseline="0" noProof="0" dirty="0">
                <a:ln>
                  <a:noFill/>
                </a:ln>
                <a:solidFill>
                  <a:prstClr val="black"/>
                </a:solidFill>
                <a:effectLst/>
                <a:uLnTx/>
                <a:uFillTx/>
                <a:latin typeface="Aptos"/>
                <a:ea typeface="+mn-ea"/>
                <a:cs typeface="+mn-cs"/>
              </a:rPr>
              <a:t>  (Rao, 678543, MTH, 3.90),</a:t>
            </a:r>
          </a:p>
          <a:p>
            <a:pPr marL="0" marR="0" lvl="0" indent="0" algn="l" defTabSz="914400" rtl="0" eaLnBrk="1" fontAlgn="auto" latinLnBrk="0" hangingPunct="1">
              <a:lnSpc>
                <a:spcPct val="90000"/>
              </a:lnSpc>
              <a:spcBef>
                <a:spcPts val="1000"/>
              </a:spcBef>
              <a:spcAft>
                <a:spcPts val="300"/>
              </a:spcAft>
              <a:buClrTx/>
              <a:buSzTx/>
              <a:buFont typeface="Wingdings" panose="05000000000000000000" pitchFamily="2" charset="2"/>
              <a:buNone/>
              <a:tabLst/>
              <a:defRPr sz="1800">
                <a:latin typeface="Aptos"/>
              </a:defRPr>
            </a:pPr>
            <a:r>
              <a:rPr kumimoji="0" lang="nl-NL" sz="2400" b="0" i="0" u="none" strike="noStrike" kern="1200" cap="none" spc="0" normalizeH="0" baseline="0" noProof="0" dirty="0">
                <a:ln>
                  <a:noFill/>
                </a:ln>
                <a:solidFill>
                  <a:prstClr val="black"/>
                </a:solidFill>
                <a:effectLst/>
                <a:uLnTx/>
                <a:uFillTx/>
                <a:latin typeface="Aptos"/>
                <a:ea typeface="+mn-ea"/>
                <a:cs typeface="+mn-cs"/>
              </a:rPr>
              <a:t>  (Stevens, 786576, PSY, 2.99) }</a:t>
            </a:r>
          </a:p>
          <a:p>
            <a:endParaRPr lang="en-PK" sz="2400" dirty="0"/>
          </a:p>
        </p:txBody>
      </p:sp>
    </p:spTree>
    <p:extLst>
      <p:ext uri="{BB962C8B-B14F-4D97-AF65-F5344CB8AC3E}">
        <p14:creationId xmlns:p14="http://schemas.microsoft.com/office/powerpoint/2010/main" val="2798615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1555C-FC96-43AE-9196-D3EAE72BD96F}"/>
              </a:ext>
            </a:extLst>
          </p:cNvPr>
          <p:cNvSpPr>
            <a:spLocks noGrp="1"/>
          </p:cNvSpPr>
          <p:nvPr>
            <p:ph type="title"/>
          </p:nvPr>
        </p:nvSpPr>
        <p:spPr/>
        <p:txBody>
          <a:bodyPr/>
          <a:lstStyle/>
          <a:p>
            <a:r>
              <a:rPr lang="en-US" dirty="0"/>
              <a:t>Primary Key</a:t>
            </a:r>
            <a:endParaRPr lang="en-PK" dirty="0"/>
          </a:p>
        </p:txBody>
      </p:sp>
      <p:sp>
        <p:nvSpPr>
          <p:cNvPr id="3" name="Content Placeholder 2">
            <a:extLst>
              <a:ext uri="{FF2B5EF4-FFF2-40B4-BE49-F238E27FC236}">
                <a16:creationId xmlns:a16="http://schemas.microsoft.com/office/drawing/2014/main" id="{C189D6F8-B905-4C81-B7AC-BFBCBE6B6898}"/>
              </a:ext>
            </a:extLst>
          </p:cNvPr>
          <p:cNvSpPr>
            <a:spLocks noGrp="1"/>
          </p:cNvSpPr>
          <p:nvPr>
            <p:ph idx="1"/>
          </p:nvPr>
        </p:nvSpPr>
        <p:spPr>
          <a:xfrm>
            <a:off x="841994" y="1838342"/>
            <a:ext cx="10058400" cy="1325562"/>
          </a:xfrm>
        </p:spPr>
        <p:txBody>
          <a:bodyPr wrap="square">
            <a:noAutofit/>
          </a:bodyPr>
          <a:lstStyle/>
          <a:p>
            <a:pPr>
              <a:spcAft>
                <a:spcPts val="300"/>
              </a:spcAft>
              <a:defRPr sz="1800">
                <a:latin typeface="Aptos"/>
              </a:defRPr>
            </a:pPr>
            <a:r>
              <a:rPr sz="2400" dirty="0"/>
              <a:t>A primary key uniquely identifies each row in a relation.</a:t>
            </a:r>
            <a:endParaRPr lang="en-PK" sz="2400" dirty="0"/>
          </a:p>
          <a:p>
            <a:pPr>
              <a:spcAft>
                <a:spcPts val="300"/>
              </a:spcAft>
              <a:defRPr sz="1800">
                <a:latin typeface="Aptos"/>
              </a:defRPr>
            </a:pPr>
            <a:r>
              <a:rPr sz="2400" dirty="0"/>
              <a:t>Its value should not repeat for different records.</a:t>
            </a:r>
          </a:p>
          <a:p>
            <a:pPr>
              <a:spcAft>
                <a:spcPts val="300"/>
              </a:spcAft>
              <a:defRPr sz="1800">
                <a:latin typeface="Aptos"/>
              </a:defRPr>
            </a:pPr>
            <a:r>
              <a:rPr sz="2400" b="1" dirty="0"/>
              <a:t>Example: </a:t>
            </a:r>
            <a:r>
              <a:rPr sz="2400" dirty="0">
                <a:solidFill>
                  <a:schemeClr val="accent1"/>
                </a:solidFill>
              </a:rPr>
              <a:t>StudentID </a:t>
            </a:r>
            <a:r>
              <a:rPr sz="2400" dirty="0"/>
              <a:t>uniquely identifies each student.</a:t>
            </a:r>
          </a:p>
        </p:txBody>
      </p:sp>
      <p:sp>
        <p:nvSpPr>
          <p:cNvPr id="4" name="Date Placeholder 3">
            <a:extLst>
              <a:ext uri="{FF2B5EF4-FFF2-40B4-BE49-F238E27FC236}">
                <a16:creationId xmlns:a16="http://schemas.microsoft.com/office/drawing/2014/main" id="{495DB796-489C-49AF-9422-868F5A246992}"/>
              </a:ext>
            </a:extLst>
          </p:cNvPr>
          <p:cNvSpPr>
            <a:spLocks noGrp="1"/>
          </p:cNvSpPr>
          <p:nvPr>
            <p:ph type="dt" sz="half" idx="10"/>
          </p:nvPr>
        </p:nvSpPr>
        <p:spPr/>
        <p:txBody>
          <a:bodyPr/>
          <a:lstStyle/>
          <a:p>
            <a:r>
              <a:rPr lang="en-US" dirty="0"/>
              <a:t>31/12/2023</a:t>
            </a:r>
            <a:endParaRPr lang="en-PK" dirty="0"/>
          </a:p>
        </p:txBody>
      </p:sp>
      <p:sp>
        <p:nvSpPr>
          <p:cNvPr id="5" name="Slide Number Placeholder 4">
            <a:extLst>
              <a:ext uri="{FF2B5EF4-FFF2-40B4-BE49-F238E27FC236}">
                <a16:creationId xmlns:a16="http://schemas.microsoft.com/office/drawing/2014/main" id="{99766694-E378-4893-9483-F289AE6BE396}"/>
              </a:ext>
            </a:extLst>
          </p:cNvPr>
          <p:cNvSpPr>
            <a:spLocks noGrp="1"/>
          </p:cNvSpPr>
          <p:nvPr>
            <p:ph type="sldNum" sz="quarter" idx="12"/>
          </p:nvPr>
        </p:nvSpPr>
        <p:spPr/>
        <p:txBody>
          <a:bodyPr/>
          <a:lstStyle/>
          <a:p>
            <a:r>
              <a:rPr dirty="0"/>
              <a:t>22</a:t>
            </a:r>
          </a:p>
        </p:txBody>
      </p:sp>
      <p:graphicFrame>
        <p:nvGraphicFramePr>
          <p:cNvPr id="6" name="Table 5">
            <a:extLst>
              <a:ext uri="{FF2B5EF4-FFF2-40B4-BE49-F238E27FC236}">
                <a16:creationId xmlns:a16="http://schemas.microsoft.com/office/drawing/2014/main" id="{967B50FD-9AB1-48CA-90AD-5DB231ACD08E}"/>
              </a:ext>
            </a:extLst>
          </p:cNvPr>
          <p:cNvGraphicFramePr>
            <a:graphicFrameLocks/>
          </p:cNvGraphicFramePr>
          <p:nvPr>
            <p:extLst>
              <p:ext uri="{D42A27DB-BD31-4B8C-83A1-F6EECF244321}">
                <p14:modId xmlns:p14="http://schemas.microsoft.com/office/powerpoint/2010/main" val="670896849"/>
              </p:ext>
            </p:extLst>
          </p:nvPr>
        </p:nvGraphicFramePr>
        <p:xfrm>
          <a:off x="1653871" y="3515008"/>
          <a:ext cx="8788005" cy="2685060"/>
        </p:xfrm>
        <a:graphic>
          <a:graphicData uri="http://schemas.openxmlformats.org/drawingml/2006/table">
            <a:tbl>
              <a:tblPr/>
              <a:tblGrid>
                <a:gridCol w="1757601">
                  <a:extLst>
                    <a:ext uri="{9D8B030D-6E8A-4147-A177-3AD203B41FA5}">
                      <a16:colId xmlns:a16="http://schemas.microsoft.com/office/drawing/2014/main" val="1665863334"/>
                    </a:ext>
                  </a:extLst>
                </a:gridCol>
                <a:gridCol w="1757601">
                  <a:extLst>
                    <a:ext uri="{9D8B030D-6E8A-4147-A177-3AD203B41FA5}">
                      <a16:colId xmlns:a16="http://schemas.microsoft.com/office/drawing/2014/main" val="437197419"/>
                    </a:ext>
                  </a:extLst>
                </a:gridCol>
                <a:gridCol w="1757601">
                  <a:extLst>
                    <a:ext uri="{9D8B030D-6E8A-4147-A177-3AD203B41FA5}">
                      <a16:colId xmlns:a16="http://schemas.microsoft.com/office/drawing/2014/main" val="28237610"/>
                    </a:ext>
                  </a:extLst>
                </a:gridCol>
                <a:gridCol w="1757601">
                  <a:extLst>
                    <a:ext uri="{9D8B030D-6E8A-4147-A177-3AD203B41FA5}">
                      <a16:colId xmlns:a16="http://schemas.microsoft.com/office/drawing/2014/main" val="3558263015"/>
                    </a:ext>
                  </a:extLst>
                </a:gridCol>
                <a:gridCol w="1757601">
                  <a:extLst>
                    <a:ext uri="{9D8B030D-6E8A-4147-A177-3AD203B41FA5}">
                      <a16:colId xmlns:a16="http://schemas.microsoft.com/office/drawing/2014/main" val="2736205655"/>
                    </a:ext>
                  </a:extLst>
                </a:gridCol>
              </a:tblGrid>
              <a:tr h="537012">
                <a:tc gridSpan="5">
                  <a:txBody>
                    <a:bodyPr/>
                    <a:lstStyle/>
                    <a:p>
                      <a:pPr algn="ctr" fontAlgn="b"/>
                      <a:r>
                        <a:rPr lang="en-US" sz="2800" b="1" dirty="0">
                          <a:effectLst/>
                          <a:latin typeface="+mj-lt"/>
                        </a:rPr>
                        <a:t>Student information</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b"/>
                      <a:endParaRPr lang="en-US" b="1"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b"/>
                      <a:endParaRPr lang="en-US" b="1">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b"/>
                      <a:endParaRPr lang="en-US" b="1">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b"/>
                      <a:endParaRPr lang="en-US" b="1" dirty="0">
                        <a:effectLst/>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1635282"/>
                  </a:ext>
                </a:extLst>
              </a:tr>
              <a:tr h="537012">
                <a:tc>
                  <a:txBody>
                    <a:bodyPr/>
                    <a:lstStyle/>
                    <a:p>
                      <a:pPr algn="ctr" fontAlgn="b"/>
                      <a:r>
                        <a:rPr lang="en-US" sz="2800" b="1" dirty="0">
                          <a:effectLst/>
                        </a:rPr>
                        <a:t>StudentID</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2800" b="1" dirty="0">
                          <a:effectLst/>
                        </a:rPr>
                        <a:t>FirstName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2800" b="1" dirty="0">
                          <a:effectLst/>
                        </a:rPr>
                        <a:t>LastName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2800" b="1" dirty="0">
                          <a:effectLst/>
                        </a:rPr>
                        <a:t>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2800" b="1" dirty="0">
                          <a:effectLst/>
                        </a:rPr>
                        <a:t>Gender</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7642069"/>
                  </a:ext>
                </a:extLst>
              </a:tr>
              <a:tr h="537012">
                <a:tc>
                  <a:txBody>
                    <a:bodyPr/>
                    <a:lstStyle/>
                    <a:p>
                      <a:pPr algn="ctr" fontAlgn="base"/>
                      <a:r>
                        <a:rPr lang="en-US" sz="2800" dirty="0">
                          <a:effectLst/>
                        </a:rPr>
                        <a:t>232992</a:t>
                      </a:r>
                      <a:endParaRPr lang="en-PK" sz="2800" dirty="0">
                        <a:effectLst/>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ase"/>
                      <a:r>
                        <a:rPr lang="en-US" sz="2800" dirty="0">
                          <a:effectLst/>
                        </a:rPr>
                        <a:t>Abdullah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ase"/>
                      <a:r>
                        <a:rPr lang="en-US" sz="2800" dirty="0">
                          <a:effectLst/>
                        </a:rPr>
                        <a:t>Haroon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ase"/>
                      <a:r>
                        <a:rPr lang="en-US" sz="2800" dirty="0">
                          <a:effectLst/>
                        </a:rPr>
                        <a:t>19</a:t>
                      </a:r>
                      <a:endParaRPr lang="en-PK" sz="280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ase"/>
                      <a:r>
                        <a:rPr lang="en-US" sz="2800" dirty="0">
                          <a:effectLst/>
                        </a:rPr>
                        <a:t>Male</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6579003"/>
                  </a:ext>
                </a:extLst>
              </a:tr>
              <a:tr h="537012">
                <a:tc>
                  <a:txBody>
                    <a:bodyPr/>
                    <a:lstStyle/>
                    <a:p>
                      <a:pPr algn="ctr" fontAlgn="base"/>
                      <a:r>
                        <a:rPr lang="en-US" sz="2800" dirty="0">
                          <a:effectLst/>
                        </a:rPr>
                        <a:t>232164</a:t>
                      </a:r>
                      <a:endParaRPr lang="en-PK" sz="2800" dirty="0">
                        <a:effectLst/>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ase"/>
                      <a:r>
                        <a:rPr lang="en-US" sz="2800" dirty="0">
                          <a:effectLst/>
                        </a:rPr>
                        <a:t>Dua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ase"/>
                      <a:r>
                        <a:rPr lang="en-US" sz="2800" dirty="0">
                          <a:effectLst/>
                        </a:rPr>
                        <a:t>Khan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ase"/>
                      <a:r>
                        <a:rPr lang="en-US" sz="2800" dirty="0">
                          <a:effectLst/>
                        </a:rPr>
                        <a:t>18</a:t>
                      </a:r>
                      <a:endParaRPr lang="en-PK" sz="280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ase"/>
                      <a:r>
                        <a:rPr lang="en-US" sz="2800" dirty="0">
                          <a:effectLst/>
                        </a:rPr>
                        <a:t>Female</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59233627"/>
                  </a:ext>
                </a:extLst>
              </a:tr>
              <a:tr h="537012">
                <a:tc>
                  <a:txBody>
                    <a:bodyPr/>
                    <a:lstStyle/>
                    <a:p>
                      <a:pPr algn="ctr" fontAlgn="base"/>
                      <a:r>
                        <a:rPr lang="en-US" sz="2800" dirty="0">
                          <a:effectLst/>
                        </a:rPr>
                        <a:t>232137</a:t>
                      </a:r>
                      <a:endParaRPr lang="en-PK" sz="2800" dirty="0">
                        <a:effectLst/>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US" sz="2800" dirty="0">
                          <a:effectLst/>
                        </a:rPr>
                        <a:t>Abdullah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l" fontAlgn="base"/>
                      <a:r>
                        <a:rPr lang="en-US" sz="2800" dirty="0">
                          <a:effectLst/>
                        </a:rPr>
                        <a:t>Sohail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fontAlgn="base"/>
                      <a:r>
                        <a:rPr lang="en-US" sz="2800" dirty="0">
                          <a:effectLst/>
                        </a:rPr>
                        <a:t>11</a:t>
                      </a:r>
                      <a:endParaRPr lang="en-PK" sz="280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l" fontAlgn="base"/>
                      <a:r>
                        <a:rPr lang="en-US" sz="2800" dirty="0">
                          <a:effectLst/>
                        </a:rPr>
                        <a:t>Male</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16771721"/>
                  </a:ext>
                </a:extLst>
              </a:tr>
            </a:tbl>
          </a:graphicData>
        </a:graphic>
      </p:graphicFrame>
      <p:sp>
        <p:nvSpPr>
          <p:cNvPr id="7" name="Rectangle 6">
            <a:extLst>
              <a:ext uri="{FF2B5EF4-FFF2-40B4-BE49-F238E27FC236}">
                <a16:creationId xmlns:a16="http://schemas.microsoft.com/office/drawing/2014/main" id="{5F13DDD2-56ED-431C-B38D-F8F3BB454C7E}"/>
              </a:ext>
            </a:extLst>
          </p:cNvPr>
          <p:cNvSpPr>
            <a:spLocks/>
          </p:cNvSpPr>
          <p:nvPr/>
        </p:nvSpPr>
        <p:spPr>
          <a:xfrm>
            <a:off x="1653871" y="4051674"/>
            <a:ext cx="1743568" cy="2148394"/>
          </a:xfrm>
          <a:prstGeom prst="rect">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PK" dirty="0"/>
          </a:p>
        </p:txBody>
      </p:sp>
    </p:spTree>
    <p:extLst>
      <p:ext uri="{BB962C8B-B14F-4D97-AF65-F5344CB8AC3E}">
        <p14:creationId xmlns:p14="http://schemas.microsoft.com/office/powerpoint/2010/main" val="3664285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5711ECB1-0FA0-B34C-3BED-D53E942307E9}"/>
              </a:ext>
            </a:extLst>
          </p:cNvPr>
          <p:cNvGraphicFramePr>
            <a:graphicFrameLocks/>
          </p:cNvGraphicFramePr>
          <p:nvPr>
            <p:extLst>
              <p:ext uri="{D42A27DB-BD31-4B8C-83A1-F6EECF244321}">
                <p14:modId xmlns:p14="http://schemas.microsoft.com/office/powerpoint/2010/main" val="1226361710"/>
              </p:ext>
            </p:extLst>
          </p:nvPr>
        </p:nvGraphicFramePr>
        <p:xfrm>
          <a:off x="1653871" y="3515008"/>
          <a:ext cx="8788005" cy="2685060"/>
        </p:xfrm>
        <a:graphic>
          <a:graphicData uri="http://schemas.openxmlformats.org/drawingml/2006/table">
            <a:tbl>
              <a:tblPr/>
              <a:tblGrid>
                <a:gridCol w="1757601">
                  <a:extLst>
                    <a:ext uri="{9D8B030D-6E8A-4147-A177-3AD203B41FA5}">
                      <a16:colId xmlns:a16="http://schemas.microsoft.com/office/drawing/2014/main" val="1665863334"/>
                    </a:ext>
                  </a:extLst>
                </a:gridCol>
                <a:gridCol w="1757601">
                  <a:extLst>
                    <a:ext uri="{9D8B030D-6E8A-4147-A177-3AD203B41FA5}">
                      <a16:colId xmlns:a16="http://schemas.microsoft.com/office/drawing/2014/main" val="437197419"/>
                    </a:ext>
                  </a:extLst>
                </a:gridCol>
                <a:gridCol w="1757601">
                  <a:extLst>
                    <a:ext uri="{9D8B030D-6E8A-4147-A177-3AD203B41FA5}">
                      <a16:colId xmlns:a16="http://schemas.microsoft.com/office/drawing/2014/main" val="28237610"/>
                    </a:ext>
                  </a:extLst>
                </a:gridCol>
                <a:gridCol w="1757601">
                  <a:extLst>
                    <a:ext uri="{9D8B030D-6E8A-4147-A177-3AD203B41FA5}">
                      <a16:colId xmlns:a16="http://schemas.microsoft.com/office/drawing/2014/main" val="3558263015"/>
                    </a:ext>
                  </a:extLst>
                </a:gridCol>
                <a:gridCol w="1757601">
                  <a:extLst>
                    <a:ext uri="{9D8B030D-6E8A-4147-A177-3AD203B41FA5}">
                      <a16:colId xmlns:a16="http://schemas.microsoft.com/office/drawing/2014/main" val="2736205655"/>
                    </a:ext>
                  </a:extLst>
                </a:gridCol>
              </a:tblGrid>
              <a:tr h="537012">
                <a:tc gridSpan="5">
                  <a:txBody>
                    <a:bodyPr/>
                    <a:lstStyle/>
                    <a:p>
                      <a:pPr algn="ctr" fontAlgn="b"/>
                      <a:r>
                        <a:rPr lang="en-US" sz="2800" b="1" dirty="0">
                          <a:effectLst/>
                          <a:latin typeface="+mj-lt"/>
                        </a:rPr>
                        <a:t>Student information</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b"/>
                      <a:endParaRPr lang="en-US" b="1"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b"/>
                      <a:endParaRPr lang="en-US" b="1">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b"/>
                      <a:endParaRPr lang="en-US" b="1">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b"/>
                      <a:endParaRPr lang="en-US" b="1" dirty="0">
                        <a:effectLst/>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1635282"/>
                  </a:ext>
                </a:extLst>
              </a:tr>
              <a:tr h="537012">
                <a:tc>
                  <a:txBody>
                    <a:bodyPr/>
                    <a:lstStyle/>
                    <a:p>
                      <a:pPr algn="ctr" fontAlgn="b"/>
                      <a:r>
                        <a:rPr lang="en-US" sz="2800" b="1" dirty="0">
                          <a:effectLst/>
                        </a:rPr>
                        <a:t>StudentID</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2800" b="1" dirty="0">
                          <a:effectLst/>
                        </a:rPr>
                        <a:t>FirstName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2800" b="1" dirty="0">
                          <a:effectLst/>
                        </a:rPr>
                        <a:t>LastName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2800" b="1" dirty="0">
                          <a:effectLst/>
                        </a:rPr>
                        <a:t>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2800" b="1" dirty="0">
                          <a:effectLst/>
                        </a:rPr>
                        <a:t>Gender</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7642069"/>
                  </a:ext>
                </a:extLst>
              </a:tr>
              <a:tr h="537012">
                <a:tc>
                  <a:txBody>
                    <a:bodyPr/>
                    <a:lstStyle/>
                    <a:p>
                      <a:pPr algn="ctr" fontAlgn="base"/>
                      <a:r>
                        <a:rPr lang="en-US" sz="2800" dirty="0">
                          <a:effectLst/>
                        </a:rPr>
                        <a:t>232992</a:t>
                      </a:r>
                      <a:endParaRPr lang="en-PK" sz="2800" dirty="0">
                        <a:effectLst/>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ase"/>
                      <a:r>
                        <a:rPr lang="en-US" sz="2800" dirty="0">
                          <a:effectLst/>
                        </a:rPr>
                        <a:t>Abdullah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ase"/>
                      <a:r>
                        <a:rPr lang="en-US" sz="2800" dirty="0">
                          <a:effectLst/>
                        </a:rPr>
                        <a:t>Haroon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ase"/>
                      <a:r>
                        <a:rPr lang="en-US" sz="2800" dirty="0">
                          <a:effectLst/>
                        </a:rPr>
                        <a:t>19</a:t>
                      </a:r>
                      <a:endParaRPr lang="en-PK" sz="280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ase"/>
                      <a:r>
                        <a:rPr lang="en-US" sz="2800" dirty="0">
                          <a:effectLst/>
                        </a:rPr>
                        <a:t>Male</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6579003"/>
                  </a:ext>
                </a:extLst>
              </a:tr>
              <a:tr h="537012">
                <a:tc>
                  <a:txBody>
                    <a:bodyPr/>
                    <a:lstStyle/>
                    <a:p>
                      <a:pPr algn="ctr" fontAlgn="base"/>
                      <a:r>
                        <a:rPr lang="en-US" sz="2800" dirty="0">
                          <a:effectLst/>
                        </a:rPr>
                        <a:t>232164</a:t>
                      </a:r>
                      <a:endParaRPr lang="en-PK" sz="2800" dirty="0">
                        <a:effectLst/>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ase"/>
                      <a:r>
                        <a:rPr lang="en-US" sz="2800" dirty="0">
                          <a:effectLst/>
                        </a:rPr>
                        <a:t>Dua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ase"/>
                      <a:r>
                        <a:rPr lang="en-US" sz="2800" dirty="0">
                          <a:effectLst/>
                        </a:rPr>
                        <a:t>Khan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ase"/>
                      <a:r>
                        <a:rPr lang="en-US" sz="2800" dirty="0">
                          <a:effectLst/>
                        </a:rPr>
                        <a:t>18</a:t>
                      </a:r>
                      <a:endParaRPr lang="en-PK" sz="280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ase"/>
                      <a:r>
                        <a:rPr lang="en-US" sz="2800" dirty="0">
                          <a:effectLst/>
                        </a:rPr>
                        <a:t>Female</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59233627"/>
                  </a:ext>
                </a:extLst>
              </a:tr>
              <a:tr h="537012">
                <a:tc>
                  <a:txBody>
                    <a:bodyPr/>
                    <a:lstStyle/>
                    <a:p>
                      <a:pPr algn="ctr" fontAlgn="base"/>
                      <a:r>
                        <a:rPr lang="en-US" sz="2800" dirty="0">
                          <a:effectLst/>
                        </a:rPr>
                        <a:t>232137</a:t>
                      </a:r>
                      <a:endParaRPr lang="en-PK" sz="2800" dirty="0">
                        <a:effectLst/>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US" sz="2800" dirty="0">
                          <a:effectLst/>
                        </a:rPr>
                        <a:t>Abdullah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l" fontAlgn="base"/>
                      <a:r>
                        <a:rPr lang="en-US" sz="2800" dirty="0">
                          <a:effectLst/>
                        </a:rPr>
                        <a:t>Sohail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fontAlgn="base"/>
                      <a:r>
                        <a:rPr lang="en-US" sz="2800" dirty="0">
                          <a:effectLst/>
                        </a:rPr>
                        <a:t>11</a:t>
                      </a:r>
                      <a:endParaRPr lang="en-PK" sz="280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l" fontAlgn="base"/>
                      <a:r>
                        <a:rPr lang="en-US" sz="2800" dirty="0">
                          <a:effectLst/>
                        </a:rPr>
                        <a:t>Male</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16771721"/>
                  </a:ext>
                </a:extLst>
              </a:tr>
            </a:tbl>
          </a:graphicData>
        </a:graphic>
      </p:graphicFrame>
      <p:sp>
        <p:nvSpPr>
          <p:cNvPr id="6" name="Content Placeholder 2">
            <a:extLst>
              <a:ext uri="{FF2B5EF4-FFF2-40B4-BE49-F238E27FC236}">
                <a16:creationId xmlns:a16="http://schemas.microsoft.com/office/drawing/2014/main" id="{5FA49C01-A952-C9B2-2F56-15567D6CAABF}"/>
              </a:ext>
            </a:extLst>
          </p:cNvPr>
          <p:cNvSpPr txBox="1">
            <a:spLocks/>
          </p:cNvSpPr>
          <p:nvPr/>
        </p:nvSpPr>
        <p:spPr>
          <a:xfrm>
            <a:off x="841994" y="1838342"/>
            <a:ext cx="10058400" cy="1516246"/>
          </a:xfrm>
          <a:prstGeom prst="rect">
            <a:avLst/>
          </a:prstGeom>
        </p:spPr>
        <p:txBody>
          <a:bodyPr vert="horz" wrap="square" lIns="91440" tIns="45720" rIns="91440" bIns="45720" rtlCol="0">
            <a:noAutofit/>
          </a:bodyPr>
          <a:lstStyle>
            <a:lvl1pPr marL="228600" indent="-228600" algn="l" defTabSz="914400" rtl="0" eaLnBrk="1" latinLnBrk="0" hangingPunct="1">
              <a:lnSpc>
                <a:spcPct val="90000"/>
              </a:lnSpc>
              <a:spcBef>
                <a:spcPts val="1000"/>
              </a:spcBef>
              <a:buFont typeface="Wingdings" panose="05000000000000000000" pitchFamily="2" charset="2"/>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300"/>
              </a:spcAft>
              <a:defRPr sz="1800">
                <a:latin typeface="Aptos"/>
              </a:defRPr>
            </a:pPr>
            <a:r>
              <a:rPr lang="en-GB" sz="2400" dirty="0"/>
              <a:t>A composite key uses two or more columns together to uniquely identify a record.</a:t>
            </a:r>
          </a:p>
          <a:p>
            <a:pPr>
              <a:spcAft>
                <a:spcPts val="300"/>
              </a:spcAft>
              <a:defRPr sz="1800">
                <a:latin typeface="Aptos"/>
              </a:defRPr>
            </a:pPr>
            <a:r>
              <a:rPr lang="en-GB" sz="2400" b="1" dirty="0"/>
              <a:t>Example: </a:t>
            </a:r>
            <a:r>
              <a:rPr lang="en-GB" sz="2400" dirty="0"/>
              <a:t>In an </a:t>
            </a:r>
            <a:r>
              <a:rPr lang="en-GB" sz="2400" dirty="0">
                <a:solidFill>
                  <a:schemeClr val="accent1"/>
                </a:solidFill>
                <a:latin typeface="Aptos"/>
              </a:rPr>
              <a:t>enrolment table</a:t>
            </a:r>
            <a:r>
              <a:rPr lang="en-GB" sz="2400" dirty="0"/>
              <a:t>, </a:t>
            </a:r>
            <a:r>
              <a:rPr lang="en-GB" sz="2400" dirty="0">
                <a:solidFill>
                  <a:schemeClr val="accent1"/>
                </a:solidFill>
                <a:latin typeface="Aptos"/>
              </a:rPr>
              <a:t>(StudentID, CourseID)</a:t>
            </a:r>
            <a:r>
              <a:rPr lang="en-GB" sz="2400" dirty="0"/>
              <a:t> can uniquely identify one enrolment.</a:t>
            </a:r>
          </a:p>
        </p:txBody>
      </p:sp>
      <p:sp>
        <p:nvSpPr>
          <p:cNvPr id="2" name="Title 1">
            <a:extLst>
              <a:ext uri="{FF2B5EF4-FFF2-40B4-BE49-F238E27FC236}">
                <a16:creationId xmlns:a16="http://schemas.microsoft.com/office/drawing/2014/main" id="{9621555C-FC96-43AE-9196-D3EAE72BD96F}"/>
              </a:ext>
            </a:extLst>
          </p:cNvPr>
          <p:cNvSpPr>
            <a:spLocks noGrp="1"/>
          </p:cNvSpPr>
          <p:nvPr>
            <p:ph type="title"/>
          </p:nvPr>
        </p:nvSpPr>
        <p:spPr/>
        <p:txBody>
          <a:bodyPr/>
          <a:lstStyle/>
          <a:p>
            <a:r>
              <a:rPr lang="en-US" dirty="0"/>
              <a:t>Composite Key</a:t>
            </a:r>
            <a:endParaRPr lang="en-PK" dirty="0"/>
          </a:p>
        </p:txBody>
      </p:sp>
      <p:sp>
        <p:nvSpPr>
          <p:cNvPr id="4" name="Date Placeholder 3">
            <a:extLst>
              <a:ext uri="{FF2B5EF4-FFF2-40B4-BE49-F238E27FC236}">
                <a16:creationId xmlns:a16="http://schemas.microsoft.com/office/drawing/2014/main" id="{495DB796-489C-49AF-9422-868F5A246992}"/>
              </a:ext>
            </a:extLst>
          </p:cNvPr>
          <p:cNvSpPr>
            <a:spLocks noGrp="1"/>
          </p:cNvSpPr>
          <p:nvPr>
            <p:ph type="dt" sz="half" idx="10"/>
          </p:nvPr>
        </p:nvSpPr>
        <p:spPr/>
        <p:txBody>
          <a:bodyPr/>
          <a:lstStyle/>
          <a:p>
            <a:r>
              <a:rPr lang="en-US" dirty="0"/>
              <a:t>31/12/2023</a:t>
            </a:r>
            <a:endParaRPr lang="en-PK" dirty="0"/>
          </a:p>
        </p:txBody>
      </p:sp>
      <p:sp>
        <p:nvSpPr>
          <p:cNvPr id="5" name="Slide Number Placeholder 4">
            <a:extLst>
              <a:ext uri="{FF2B5EF4-FFF2-40B4-BE49-F238E27FC236}">
                <a16:creationId xmlns:a16="http://schemas.microsoft.com/office/drawing/2014/main" id="{99766694-E378-4893-9483-F289AE6BE396}"/>
              </a:ext>
            </a:extLst>
          </p:cNvPr>
          <p:cNvSpPr>
            <a:spLocks noGrp="1"/>
          </p:cNvSpPr>
          <p:nvPr>
            <p:ph type="sldNum" sz="quarter" idx="12"/>
          </p:nvPr>
        </p:nvSpPr>
        <p:spPr/>
        <p:txBody>
          <a:bodyPr/>
          <a:lstStyle/>
          <a:p>
            <a:r>
              <a:rPr dirty="0"/>
              <a:t>23</a:t>
            </a:r>
          </a:p>
        </p:txBody>
      </p:sp>
      <p:sp>
        <p:nvSpPr>
          <p:cNvPr id="7" name="Rectangle 6">
            <a:extLst>
              <a:ext uri="{FF2B5EF4-FFF2-40B4-BE49-F238E27FC236}">
                <a16:creationId xmlns:a16="http://schemas.microsoft.com/office/drawing/2014/main" id="{126BEB16-7DC5-4894-A7CA-925D8CFFBBCE}"/>
              </a:ext>
            </a:extLst>
          </p:cNvPr>
          <p:cNvSpPr/>
          <p:nvPr/>
        </p:nvSpPr>
        <p:spPr>
          <a:xfrm>
            <a:off x="3416409" y="4051674"/>
            <a:ext cx="3506107" cy="2148394"/>
          </a:xfrm>
          <a:prstGeom prst="rect">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PK" dirty="0"/>
          </a:p>
        </p:txBody>
      </p:sp>
    </p:spTree>
    <p:extLst>
      <p:ext uri="{BB962C8B-B14F-4D97-AF65-F5344CB8AC3E}">
        <p14:creationId xmlns:p14="http://schemas.microsoft.com/office/powerpoint/2010/main" val="2133657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1555C-FC96-43AE-9196-D3EAE72BD96F}"/>
              </a:ext>
            </a:extLst>
          </p:cNvPr>
          <p:cNvSpPr>
            <a:spLocks noGrp="1"/>
          </p:cNvSpPr>
          <p:nvPr>
            <p:ph type="title"/>
          </p:nvPr>
        </p:nvSpPr>
        <p:spPr/>
        <p:txBody>
          <a:bodyPr/>
          <a:lstStyle/>
          <a:p>
            <a:r>
              <a:rPr lang="en-US" dirty="0"/>
              <a:t>Primary and Composite Keys</a:t>
            </a:r>
            <a:endParaRPr lang="en-PK" dirty="0"/>
          </a:p>
        </p:txBody>
      </p:sp>
      <p:graphicFrame>
        <p:nvGraphicFramePr>
          <p:cNvPr id="6" name="Content Placeholder 5">
            <a:extLst>
              <a:ext uri="{FF2B5EF4-FFF2-40B4-BE49-F238E27FC236}">
                <a16:creationId xmlns:a16="http://schemas.microsoft.com/office/drawing/2014/main" id="{DA33C3F1-DEA7-4AF4-9508-2E4359762437}"/>
              </a:ext>
            </a:extLst>
          </p:cNvPr>
          <p:cNvGraphicFramePr>
            <a:graphicFrameLocks noGrp="1"/>
          </p:cNvGraphicFramePr>
          <p:nvPr>
            <p:ph idx="1"/>
            <p:extLst>
              <p:ext uri="{D42A27DB-BD31-4B8C-83A1-F6EECF244321}">
                <p14:modId xmlns:p14="http://schemas.microsoft.com/office/powerpoint/2010/main" val="479519371"/>
              </p:ext>
            </p:extLst>
          </p:nvPr>
        </p:nvGraphicFramePr>
        <p:xfrm>
          <a:off x="1699260" y="2149794"/>
          <a:ext cx="8793480" cy="3747450"/>
        </p:xfrm>
        <a:graphic>
          <a:graphicData uri="http://schemas.openxmlformats.org/drawingml/2006/table">
            <a:tbl>
              <a:tblPr/>
              <a:tblGrid>
                <a:gridCol w="1465580">
                  <a:extLst>
                    <a:ext uri="{9D8B030D-6E8A-4147-A177-3AD203B41FA5}">
                      <a16:colId xmlns:a16="http://schemas.microsoft.com/office/drawing/2014/main" val="4102939852"/>
                    </a:ext>
                  </a:extLst>
                </a:gridCol>
                <a:gridCol w="1465580">
                  <a:extLst>
                    <a:ext uri="{9D8B030D-6E8A-4147-A177-3AD203B41FA5}">
                      <a16:colId xmlns:a16="http://schemas.microsoft.com/office/drawing/2014/main" val="97577789"/>
                    </a:ext>
                  </a:extLst>
                </a:gridCol>
                <a:gridCol w="1465580">
                  <a:extLst>
                    <a:ext uri="{9D8B030D-6E8A-4147-A177-3AD203B41FA5}">
                      <a16:colId xmlns:a16="http://schemas.microsoft.com/office/drawing/2014/main" val="576884526"/>
                    </a:ext>
                  </a:extLst>
                </a:gridCol>
                <a:gridCol w="1465580">
                  <a:extLst>
                    <a:ext uri="{9D8B030D-6E8A-4147-A177-3AD203B41FA5}">
                      <a16:colId xmlns:a16="http://schemas.microsoft.com/office/drawing/2014/main" val="3857298881"/>
                    </a:ext>
                  </a:extLst>
                </a:gridCol>
                <a:gridCol w="1465580">
                  <a:extLst>
                    <a:ext uri="{9D8B030D-6E8A-4147-A177-3AD203B41FA5}">
                      <a16:colId xmlns:a16="http://schemas.microsoft.com/office/drawing/2014/main" val="4202115845"/>
                    </a:ext>
                  </a:extLst>
                </a:gridCol>
                <a:gridCol w="1465580">
                  <a:extLst>
                    <a:ext uri="{9D8B030D-6E8A-4147-A177-3AD203B41FA5}">
                      <a16:colId xmlns:a16="http://schemas.microsoft.com/office/drawing/2014/main" val="3836794277"/>
                    </a:ext>
                  </a:extLst>
                </a:gridCol>
              </a:tblGrid>
              <a:tr h="624575">
                <a:tc>
                  <a:txBody>
                    <a:bodyPr/>
                    <a:lstStyle/>
                    <a:p>
                      <a:pPr algn="ctr" fontAlgn="b"/>
                      <a:r>
                        <a:rPr lang="en-US" b="1" dirty="0">
                          <a:effectLst/>
                        </a:rPr>
                        <a:t>OrderID</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b="1" dirty="0">
                          <a:effectLst/>
                        </a:rPr>
                        <a:t>CustomerID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b="1" dirty="0">
                          <a:effectLst/>
                        </a:rPr>
                        <a:t>ProductID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b="1" dirty="0">
                          <a:effectLst/>
                        </a:rPr>
                        <a:t>OrderDate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b="1" dirty="0">
                          <a:effectLst/>
                        </a:rPr>
                        <a:t>Quantity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b="1" dirty="0">
                          <a:effectLst/>
                        </a:rPr>
                        <a:t>TotalAmount</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97717480"/>
                  </a:ext>
                </a:extLst>
              </a:tr>
              <a:tr h="624575">
                <a:tc>
                  <a:txBody>
                    <a:bodyPr/>
                    <a:lstStyle/>
                    <a:p>
                      <a:pPr algn="ctr" fontAlgn="base"/>
                      <a:r>
                        <a:rPr lang="en-PK" dirty="0">
                          <a:effectLst/>
                        </a:rPr>
                        <a:t>1</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base"/>
                      <a:r>
                        <a:rPr lang="en-PK" dirty="0">
                          <a:effectLst/>
                        </a:rPr>
                        <a:t>101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base"/>
                      <a:r>
                        <a:rPr lang="en-PK" dirty="0">
                          <a:effectLst/>
                        </a:rPr>
                        <a:t>201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base"/>
                      <a:r>
                        <a:rPr lang="en-PK" dirty="0">
                          <a:effectLst/>
                        </a:rPr>
                        <a:t>2022-01-15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ase"/>
                      <a:r>
                        <a:rPr lang="en-PK" dirty="0">
                          <a:effectLst/>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base"/>
                      <a:r>
                        <a:rPr lang="en-PK" dirty="0">
                          <a:effectLst/>
                        </a:rPr>
                        <a:t>150.00</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78738155"/>
                  </a:ext>
                </a:extLst>
              </a:tr>
              <a:tr h="624575">
                <a:tc>
                  <a:txBody>
                    <a:bodyPr/>
                    <a:lstStyle/>
                    <a:p>
                      <a:pPr algn="ctr" fontAlgn="base"/>
                      <a:r>
                        <a:rPr lang="en-PK" dirty="0">
                          <a:effectLst/>
                        </a:rPr>
                        <a:t>2</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base"/>
                      <a:r>
                        <a:rPr lang="en-PK" dirty="0">
                          <a:effectLst/>
                        </a:rPr>
                        <a:t>102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base"/>
                      <a:r>
                        <a:rPr lang="en-PK" dirty="0">
                          <a:effectLst/>
                        </a:rPr>
                        <a:t>202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base"/>
                      <a:r>
                        <a:rPr lang="en-PK" dirty="0">
                          <a:effectLst/>
                        </a:rPr>
                        <a:t>2022-01-1</a:t>
                      </a:r>
                      <a:r>
                        <a:rPr lang="en-US" dirty="0">
                          <a:effectLst/>
                        </a:rPr>
                        <a:t>6</a:t>
                      </a:r>
                      <a:endParaRPr lang="en-PK"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ase"/>
                      <a:r>
                        <a:rPr lang="en-PK" dirty="0">
                          <a:effectLst/>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base"/>
                      <a:r>
                        <a:rPr lang="en-PK" dirty="0">
                          <a:effectLst/>
                        </a:rPr>
                        <a:t>75.00</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12466755"/>
                  </a:ext>
                </a:extLst>
              </a:tr>
              <a:tr h="624575">
                <a:tc>
                  <a:txBody>
                    <a:bodyPr/>
                    <a:lstStyle/>
                    <a:p>
                      <a:pPr algn="ctr" fontAlgn="base"/>
                      <a:r>
                        <a:rPr lang="en-PK" dirty="0">
                          <a:effectLst/>
                        </a:rPr>
                        <a:t>3</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base"/>
                      <a:r>
                        <a:rPr lang="en-PK" dirty="0">
                          <a:effectLst/>
                        </a:rPr>
                        <a:t>103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base"/>
                      <a:r>
                        <a:rPr lang="en-PK" dirty="0">
                          <a:effectLst/>
                        </a:rPr>
                        <a:t>201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base"/>
                      <a:r>
                        <a:rPr lang="en-PK" dirty="0">
                          <a:effectLst/>
                        </a:rPr>
                        <a:t>2022-01-17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ase"/>
                      <a:r>
                        <a:rPr lang="en-PK" dirty="0">
                          <a:effectLst/>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base"/>
                      <a:r>
                        <a:rPr lang="en-PK" dirty="0">
                          <a:effectLst/>
                        </a:rPr>
                        <a:t>225.00</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63981662"/>
                  </a:ext>
                </a:extLst>
              </a:tr>
              <a:tr h="624575">
                <a:tc>
                  <a:txBody>
                    <a:bodyPr/>
                    <a:lstStyle/>
                    <a:p>
                      <a:pPr algn="ctr" fontAlgn="base"/>
                      <a:r>
                        <a:rPr lang="en-PK" dirty="0">
                          <a:effectLst/>
                        </a:rPr>
                        <a:t>4</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base"/>
                      <a:r>
                        <a:rPr lang="en-PK" dirty="0">
                          <a:effectLst/>
                        </a:rPr>
                        <a:t>10</a:t>
                      </a:r>
                      <a:r>
                        <a:rPr lang="en-US" dirty="0">
                          <a:effectLst/>
                        </a:rPr>
                        <a:t>1</a:t>
                      </a:r>
                      <a:endParaRPr lang="en-PK"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base"/>
                      <a:r>
                        <a:rPr lang="en-PK" dirty="0">
                          <a:effectLst/>
                        </a:rPr>
                        <a:t>203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base"/>
                      <a:r>
                        <a:rPr lang="en-PK" dirty="0">
                          <a:effectLst/>
                        </a:rPr>
                        <a:t>2022-01-18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ase"/>
                      <a:r>
                        <a:rPr lang="en-PK" dirty="0">
                          <a:effectLst/>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base"/>
                      <a:r>
                        <a:rPr lang="en-PK" dirty="0">
                          <a:effectLst/>
                        </a:rPr>
                        <a:t>300.00</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74137754"/>
                  </a:ext>
                </a:extLst>
              </a:tr>
              <a:tr h="624575">
                <a:tc>
                  <a:txBody>
                    <a:bodyPr/>
                    <a:lstStyle/>
                    <a:p>
                      <a:pPr algn="ctr" fontAlgn="base"/>
                      <a:r>
                        <a:rPr lang="en-PK" dirty="0">
                          <a:effectLst/>
                        </a:rPr>
                        <a:t>5</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fontAlgn="base"/>
                      <a:r>
                        <a:rPr lang="en-PK" dirty="0">
                          <a:effectLst/>
                        </a:rPr>
                        <a:t>10</a:t>
                      </a:r>
                      <a:r>
                        <a:rPr lang="en-US" dirty="0">
                          <a:effectLst/>
                        </a:rPr>
                        <a:t>3</a:t>
                      </a:r>
                      <a:endParaRPr lang="en-PK"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fontAlgn="base"/>
                      <a:r>
                        <a:rPr lang="en-PK" dirty="0">
                          <a:effectLst/>
                        </a:rPr>
                        <a:t>202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fontAlgn="base"/>
                      <a:r>
                        <a:rPr lang="en-PK" dirty="0">
                          <a:effectLst/>
                        </a:rPr>
                        <a:t>2022-01-19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fontAlgn="base"/>
                      <a:r>
                        <a:rPr lang="en-PK" dirty="0">
                          <a:effectLst/>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fontAlgn="base"/>
                      <a:r>
                        <a:rPr lang="en-PK" dirty="0">
                          <a:effectLst/>
                        </a:rPr>
                        <a:t>150.00</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54673815"/>
                  </a:ext>
                </a:extLst>
              </a:tr>
            </a:tbl>
          </a:graphicData>
        </a:graphic>
      </p:graphicFrame>
      <p:sp>
        <p:nvSpPr>
          <p:cNvPr id="4" name="Date Placeholder 3">
            <a:extLst>
              <a:ext uri="{FF2B5EF4-FFF2-40B4-BE49-F238E27FC236}">
                <a16:creationId xmlns:a16="http://schemas.microsoft.com/office/drawing/2014/main" id="{495DB796-489C-49AF-9422-868F5A246992}"/>
              </a:ext>
            </a:extLst>
          </p:cNvPr>
          <p:cNvSpPr>
            <a:spLocks noGrp="1"/>
          </p:cNvSpPr>
          <p:nvPr>
            <p:ph type="dt" sz="half" idx="10"/>
          </p:nvPr>
        </p:nvSpPr>
        <p:spPr/>
        <p:txBody>
          <a:bodyPr/>
          <a:lstStyle/>
          <a:p>
            <a:r>
              <a:rPr lang="en-US" dirty="0"/>
              <a:t>31/12/2023</a:t>
            </a:r>
            <a:endParaRPr lang="en-PK" dirty="0"/>
          </a:p>
        </p:txBody>
      </p:sp>
      <p:sp>
        <p:nvSpPr>
          <p:cNvPr id="5" name="Slide Number Placeholder 4">
            <a:extLst>
              <a:ext uri="{FF2B5EF4-FFF2-40B4-BE49-F238E27FC236}">
                <a16:creationId xmlns:a16="http://schemas.microsoft.com/office/drawing/2014/main" id="{99766694-E378-4893-9483-F289AE6BE396}"/>
              </a:ext>
            </a:extLst>
          </p:cNvPr>
          <p:cNvSpPr>
            <a:spLocks noGrp="1"/>
          </p:cNvSpPr>
          <p:nvPr>
            <p:ph type="sldNum" sz="quarter" idx="12"/>
          </p:nvPr>
        </p:nvSpPr>
        <p:spPr/>
        <p:txBody>
          <a:bodyPr/>
          <a:lstStyle/>
          <a:p>
            <a:r>
              <a:rPr dirty="0"/>
              <a:t>24</a:t>
            </a:r>
          </a:p>
        </p:txBody>
      </p:sp>
    </p:spTree>
    <p:extLst>
      <p:ext uri="{BB962C8B-B14F-4D97-AF65-F5344CB8AC3E}">
        <p14:creationId xmlns:p14="http://schemas.microsoft.com/office/powerpoint/2010/main" val="2133832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1555C-FC96-43AE-9196-D3EAE72BD96F}"/>
              </a:ext>
            </a:extLst>
          </p:cNvPr>
          <p:cNvSpPr>
            <a:spLocks noGrp="1"/>
          </p:cNvSpPr>
          <p:nvPr>
            <p:ph type="title"/>
          </p:nvPr>
        </p:nvSpPr>
        <p:spPr/>
        <p:txBody>
          <a:bodyPr/>
          <a:lstStyle/>
          <a:p>
            <a:r>
              <a:rPr lang="en-US" dirty="0"/>
              <a:t>Relations and Matrices</a:t>
            </a:r>
            <a:endParaRPr lang="en-PK" dirty="0"/>
          </a:p>
        </p:txBody>
      </p:sp>
      <p:sp>
        <p:nvSpPr>
          <p:cNvPr id="4" name="Date Placeholder 3">
            <a:extLst>
              <a:ext uri="{FF2B5EF4-FFF2-40B4-BE49-F238E27FC236}">
                <a16:creationId xmlns:a16="http://schemas.microsoft.com/office/drawing/2014/main" id="{495DB796-489C-49AF-9422-868F5A246992}"/>
              </a:ext>
            </a:extLst>
          </p:cNvPr>
          <p:cNvSpPr>
            <a:spLocks noGrp="1"/>
          </p:cNvSpPr>
          <p:nvPr>
            <p:ph type="dt" sz="half" idx="10"/>
          </p:nvPr>
        </p:nvSpPr>
        <p:spPr/>
        <p:txBody>
          <a:bodyPr/>
          <a:lstStyle/>
          <a:p>
            <a:r>
              <a:rPr lang="en-US" dirty="0"/>
              <a:t>31/12/2023</a:t>
            </a:r>
            <a:endParaRPr lang="en-PK" dirty="0"/>
          </a:p>
        </p:txBody>
      </p:sp>
      <p:sp>
        <p:nvSpPr>
          <p:cNvPr id="5" name="Slide Number Placeholder 4">
            <a:extLst>
              <a:ext uri="{FF2B5EF4-FFF2-40B4-BE49-F238E27FC236}">
                <a16:creationId xmlns:a16="http://schemas.microsoft.com/office/drawing/2014/main" id="{99766694-E378-4893-9483-F289AE6BE396}"/>
              </a:ext>
            </a:extLst>
          </p:cNvPr>
          <p:cNvSpPr>
            <a:spLocks noGrp="1"/>
          </p:cNvSpPr>
          <p:nvPr>
            <p:ph type="sldNum" sz="quarter" idx="12"/>
          </p:nvPr>
        </p:nvSpPr>
        <p:spPr/>
        <p:txBody>
          <a:bodyPr/>
          <a:lstStyle/>
          <a:p>
            <a:r>
              <a:rPr dirty="0"/>
              <a:t>25</a:t>
            </a:r>
          </a:p>
        </p:txBody>
      </p:sp>
      <p:sp>
        <p:nvSpPr>
          <p:cNvPr id="7" name="Content Placeholder 6">
            <a:extLst>
              <a:ext uri="{FF2B5EF4-FFF2-40B4-BE49-F238E27FC236}">
                <a16:creationId xmlns:a16="http://schemas.microsoft.com/office/drawing/2014/main" id="{80351678-F42A-4FF1-9C5F-8259C608CF6E}"/>
              </a:ext>
            </a:extLst>
          </p:cNvPr>
          <p:cNvSpPr>
            <a:spLocks noGrp="1"/>
          </p:cNvSpPr>
          <p:nvPr>
            <p:ph idx="1"/>
          </p:nvPr>
        </p:nvSpPr>
        <p:spPr>
          <a:xfrm>
            <a:off x="838200" y="1825625"/>
            <a:ext cx="10515600" cy="4351338"/>
          </a:xfrm>
        </p:spPr>
        <p:txBody>
          <a:bodyPr>
            <a:normAutofit/>
          </a:bodyPr>
          <a:lstStyle/>
          <a:p>
            <a:r>
              <a:rPr lang="en-US" sz="2400" b="0" i="0" dirty="0">
                <a:effectLst/>
              </a:rPr>
              <a:t>A binary relation </a:t>
            </a:r>
            <a:r>
              <a:rPr lang="en-US" sz="2400" b="0" i="1" dirty="0">
                <a:effectLst/>
              </a:rPr>
              <a:t>R</a:t>
            </a:r>
            <a:r>
              <a:rPr lang="en-US" sz="2400" b="0" i="0" dirty="0">
                <a:effectLst/>
              </a:rPr>
              <a:t> can be represented by a matrix. The rows correspond to elements of </a:t>
            </a:r>
            <a:r>
              <a:rPr lang="en-US" sz="2400" b="0" i="1" dirty="0">
                <a:effectLst/>
              </a:rPr>
              <a:t>A</a:t>
            </a:r>
            <a:r>
              <a:rPr lang="en-US" sz="2400" b="0" i="0" dirty="0">
                <a:effectLst/>
              </a:rPr>
              <a:t>, and the columns correspond to elements of </a:t>
            </a:r>
            <a:r>
              <a:rPr lang="en-US" sz="2400" b="0" i="1" dirty="0">
                <a:effectLst/>
              </a:rPr>
              <a:t>B</a:t>
            </a:r>
            <a:r>
              <a:rPr lang="en-US" sz="2400" b="0" i="0" dirty="0">
                <a:effectLst/>
              </a:rPr>
              <a:t>. </a:t>
            </a:r>
          </a:p>
          <a:p>
            <a:r>
              <a:rPr lang="en-US" sz="2400" dirty="0"/>
              <a:t>The relation R is represented by the matrix</a:t>
            </a:r>
          </a:p>
          <a:p>
            <a:pPr marL="0" indent="0">
              <a:buNone/>
            </a:pPr>
            <a:r>
              <a:rPr lang="en-US" sz="2400" dirty="0"/>
              <a:t>M</a:t>
            </a:r>
            <a:r>
              <a:rPr lang="en-US" sz="2400" baseline="-25000" dirty="0"/>
              <a:t>R</a:t>
            </a:r>
            <a:r>
              <a:rPr lang="en-US" sz="2400" dirty="0"/>
              <a:t> = [m</a:t>
            </a:r>
            <a:r>
              <a:rPr lang="en-US" sz="2400" baseline="-25000" dirty="0"/>
              <a:t>ij</a:t>
            </a:r>
            <a:r>
              <a:rPr lang="en-US" sz="2400" dirty="0"/>
              <a:t>], where</a:t>
            </a:r>
          </a:p>
          <a:p>
            <a:pPr marL="0" indent="0">
              <a:buNone/>
            </a:pPr>
            <a:endParaRPr lang="en-US" sz="2400" b="0" i="0" dirty="0">
              <a:effectLst/>
            </a:endParaRPr>
          </a:p>
          <a:p>
            <a:pPr algn="l"/>
            <a:r>
              <a:rPr lang="en-US" sz="2400" b="1" i="0" dirty="0">
                <a:effectLst/>
              </a:rPr>
              <a:t>Example:</a:t>
            </a:r>
          </a:p>
          <a:p>
            <a:pPr marL="0" indent="0">
              <a:buNone/>
            </a:pPr>
            <a:r>
              <a:rPr lang="en-US" sz="2400" dirty="0"/>
              <a:t>A relation R = </a:t>
            </a:r>
            <a:r>
              <a:rPr lang="en-PK" sz="2400" b="0" i="0" dirty="0">
                <a:effectLst/>
              </a:rPr>
              <a:t>{</a:t>
            </a:r>
            <a:r>
              <a:rPr lang="en-US" sz="2400" b="0" i="0" dirty="0">
                <a:effectLst/>
              </a:rPr>
              <a:t> </a:t>
            </a:r>
            <a:r>
              <a:rPr lang="en-PK" sz="2400" b="0" i="0" dirty="0">
                <a:effectLst/>
              </a:rPr>
              <a:t>(1,</a:t>
            </a:r>
            <a:r>
              <a:rPr lang="en-US" sz="2400" b="0" i="0" dirty="0">
                <a:effectLst/>
              </a:rPr>
              <a:t> </a:t>
            </a:r>
            <a:r>
              <a:rPr lang="en-US" sz="2400" dirty="0"/>
              <a:t>2</a:t>
            </a:r>
            <a:r>
              <a:rPr lang="en-PK" sz="2400" b="0" i="0" dirty="0">
                <a:effectLst/>
              </a:rPr>
              <a:t>),</a:t>
            </a:r>
            <a:r>
              <a:rPr lang="en-US" sz="2400" b="0" i="0" dirty="0">
                <a:effectLst/>
              </a:rPr>
              <a:t> </a:t>
            </a:r>
            <a:r>
              <a:rPr lang="en-PK" sz="2400" b="0" i="0" dirty="0">
                <a:effectLst/>
              </a:rPr>
              <a:t>(2,</a:t>
            </a:r>
            <a:r>
              <a:rPr lang="en-US" sz="2400" b="0" i="0" dirty="0">
                <a:effectLst/>
              </a:rPr>
              <a:t> 3</a:t>
            </a:r>
            <a:r>
              <a:rPr lang="en-PK" sz="2400" b="0" i="0" dirty="0">
                <a:effectLst/>
              </a:rPr>
              <a:t>),</a:t>
            </a:r>
            <a:r>
              <a:rPr lang="en-US" sz="2400" b="0" i="0" dirty="0">
                <a:effectLst/>
              </a:rPr>
              <a:t> </a:t>
            </a:r>
            <a:r>
              <a:rPr lang="en-PK" sz="2400" b="0" i="0" dirty="0">
                <a:effectLst/>
              </a:rPr>
              <a:t>(3,</a:t>
            </a:r>
            <a:r>
              <a:rPr lang="en-US" sz="2400" b="0" i="0" dirty="0">
                <a:effectLst/>
              </a:rPr>
              <a:t> 1</a:t>
            </a:r>
            <a:r>
              <a:rPr lang="en-PK" sz="2400" b="0" i="0" dirty="0">
                <a:effectLst/>
              </a:rPr>
              <a:t>)</a:t>
            </a:r>
            <a:r>
              <a:rPr lang="en-US" sz="2400" b="0" i="0" dirty="0">
                <a:effectLst/>
              </a:rPr>
              <a:t> </a:t>
            </a:r>
            <a:r>
              <a:rPr lang="en-PK" sz="2400" b="0" i="0" dirty="0">
                <a:effectLst/>
              </a:rPr>
              <a:t>}</a:t>
            </a:r>
            <a:endParaRPr lang="en-US" sz="2400" b="0" i="0" dirty="0">
              <a:effectLst/>
            </a:endParaRPr>
          </a:p>
          <a:p>
            <a:pPr marL="0" indent="0">
              <a:buNone/>
            </a:pPr>
            <a:r>
              <a:rPr lang="en-US" sz="2400" dirty="0"/>
              <a:t>can be represented as:​</a:t>
            </a:r>
            <a:br>
              <a:rPr lang="en-US" sz="2400" dirty="0"/>
            </a:br>
            <a:endParaRPr lang="en-US" sz="2400" dirty="0"/>
          </a:p>
        </p:txBody>
      </p:sp>
      <p:graphicFrame>
        <p:nvGraphicFramePr>
          <p:cNvPr id="8" name="Table 43">
            <a:extLst>
              <a:ext uri="{FF2B5EF4-FFF2-40B4-BE49-F238E27FC236}">
                <a16:creationId xmlns:a16="http://schemas.microsoft.com/office/drawing/2014/main" id="{AD2B5B0C-F077-4B2F-8942-229B1DAB8EEB}"/>
              </a:ext>
            </a:extLst>
          </p:cNvPr>
          <p:cNvGraphicFramePr>
            <a:graphicFrameLocks noGrp="1"/>
          </p:cNvGraphicFramePr>
          <p:nvPr>
            <p:extLst>
              <p:ext uri="{D42A27DB-BD31-4B8C-83A1-F6EECF244321}">
                <p14:modId xmlns:p14="http://schemas.microsoft.com/office/powerpoint/2010/main" val="2620663308"/>
              </p:ext>
            </p:extLst>
          </p:nvPr>
        </p:nvGraphicFramePr>
        <p:xfrm>
          <a:off x="6511033" y="4048432"/>
          <a:ext cx="3528573" cy="2138160"/>
        </p:xfrm>
        <a:graphic>
          <a:graphicData uri="http://schemas.openxmlformats.org/drawingml/2006/table">
            <a:tbl>
              <a:tblPr firstRow="1" bandRow="1">
                <a:tableStyleId>{2D5ABB26-0587-4C30-8999-92F81FD0307C}</a:tableStyleId>
              </a:tblPr>
              <a:tblGrid>
                <a:gridCol w="1080000">
                  <a:extLst>
                    <a:ext uri="{9D8B030D-6E8A-4147-A177-3AD203B41FA5}">
                      <a16:colId xmlns:a16="http://schemas.microsoft.com/office/drawing/2014/main" val="1307947629"/>
                    </a:ext>
                  </a:extLst>
                </a:gridCol>
                <a:gridCol w="276191">
                  <a:extLst>
                    <a:ext uri="{9D8B030D-6E8A-4147-A177-3AD203B41FA5}">
                      <a16:colId xmlns:a16="http://schemas.microsoft.com/office/drawing/2014/main" val="243437003"/>
                    </a:ext>
                  </a:extLst>
                </a:gridCol>
                <a:gridCol w="276191">
                  <a:extLst>
                    <a:ext uri="{9D8B030D-6E8A-4147-A177-3AD203B41FA5}">
                      <a16:colId xmlns:a16="http://schemas.microsoft.com/office/drawing/2014/main" val="2050407541"/>
                    </a:ext>
                  </a:extLst>
                </a:gridCol>
                <a:gridCol w="540000">
                  <a:extLst>
                    <a:ext uri="{9D8B030D-6E8A-4147-A177-3AD203B41FA5}">
                      <a16:colId xmlns:a16="http://schemas.microsoft.com/office/drawing/2014/main" val="1655424674"/>
                    </a:ext>
                  </a:extLst>
                </a:gridCol>
                <a:gridCol w="540000">
                  <a:extLst>
                    <a:ext uri="{9D8B030D-6E8A-4147-A177-3AD203B41FA5}">
                      <a16:colId xmlns:a16="http://schemas.microsoft.com/office/drawing/2014/main" val="673293229"/>
                    </a:ext>
                  </a:extLst>
                </a:gridCol>
                <a:gridCol w="540000">
                  <a:extLst>
                    <a:ext uri="{9D8B030D-6E8A-4147-A177-3AD203B41FA5}">
                      <a16:colId xmlns:a16="http://schemas.microsoft.com/office/drawing/2014/main" val="3842577041"/>
                    </a:ext>
                  </a:extLst>
                </a:gridCol>
                <a:gridCol w="276191">
                  <a:extLst>
                    <a:ext uri="{9D8B030D-6E8A-4147-A177-3AD203B41FA5}">
                      <a16:colId xmlns:a16="http://schemas.microsoft.com/office/drawing/2014/main" val="32664454"/>
                    </a:ext>
                  </a:extLst>
                </a:gridCol>
              </a:tblGrid>
              <a:tr h="495000">
                <a:tc>
                  <a:txBody>
                    <a:bodyPr/>
                    <a:lstStyle/>
                    <a:p>
                      <a:pPr algn="ctr"/>
                      <a:endParaRPr lang="en-PK" sz="2800" dirty="0">
                        <a:solidFill>
                          <a:schemeClr val="accent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rPr>
                        <a:t>1</a:t>
                      </a:r>
                      <a:endParaRPr lang="en-PK" sz="16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rPr>
                        <a:t>2</a:t>
                      </a:r>
                      <a:endParaRPr lang="en-PK" sz="16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rPr>
                        <a:t>3</a:t>
                      </a:r>
                      <a:endParaRPr lang="en-PK" sz="16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PK" sz="2800" dirty="0">
                        <a:solidFill>
                          <a:schemeClr val="accent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7603408"/>
                  </a:ext>
                </a:extLst>
              </a:tr>
              <a:tr h="540000">
                <a:tc>
                  <a:txBody>
                    <a:bodyPr/>
                    <a:lstStyle/>
                    <a:p>
                      <a:pPr algn="ctr"/>
                      <a:endParaRPr lang="en-PK" sz="2800" dirty="0">
                        <a:solidFill>
                          <a:schemeClr val="accent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rPr>
                        <a:t>1</a:t>
                      </a:r>
                      <a:endParaRPr lang="en-PK" sz="160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PK" sz="2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800" dirty="0">
                          <a:solidFill>
                            <a:schemeClr val="tx1"/>
                          </a:solidFill>
                        </a:rPr>
                        <a:t>0</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800" dirty="0">
                          <a:solidFill>
                            <a:schemeClr val="tx1"/>
                          </a:solidFill>
                        </a:rPr>
                        <a:t>1</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800" dirty="0">
                          <a:solidFill>
                            <a:schemeClr val="tx1"/>
                          </a:solidFill>
                        </a:rPr>
                        <a:t>0</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PK" sz="2800" dirty="0">
                        <a:solidFill>
                          <a:schemeClr val="accent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461474694"/>
                  </a:ext>
                </a:extLst>
              </a:tr>
              <a:tr h="540000">
                <a:tc>
                  <a:txBody>
                    <a:bodyPr/>
                    <a:lstStyle/>
                    <a:p>
                      <a:pPr algn="ctr"/>
                      <a:r>
                        <a:rPr lang="en-US" sz="2800" dirty="0">
                          <a:solidFill>
                            <a:schemeClr val="accent1"/>
                          </a:solidFill>
                        </a:rPr>
                        <a:t>M</a:t>
                      </a:r>
                      <a:r>
                        <a:rPr lang="en-US" sz="2800" baseline="-25000" dirty="0">
                          <a:solidFill>
                            <a:schemeClr val="accent1"/>
                          </a:solidFill>
                        </a:rPr>
                        <a:t>R</a:t>
                      </a:r>
                      <a:r>
                        <a:rPr lang="en-US" sz="2800" dirty="0">
                          <a:solidFill>
                            <a:schemeClr val="accent1"/>
                          </a:solidFill>
                        </a:rPr>
                        <a:t> = </a:t>
                      </a:r>
                      <a:endParaRPr lang="en-PK" sz="2800" dirty="0">
                        <a:solidFill>
                          <a:schemeClr val="accent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rPr>
                        <a:t>2</a:t>
                      </a:r>
                      <a:endParaRPr lang="en-PK" sz="160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PK" sz="2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800" dirty="0">
                          <a:solidFill>
                            <a:schemeClr val="tx1"/>
                          </a:solidFill>
                        </a:rPr>
                        <a:t>0</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800" dirty="0">
                          <a:solidFill>
                            <a:schemeClr val="tx1"/>
                          </a:solidFill>
                        </a:rPr>
                        <a:t>0</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800" dirty="0">
                          <a:solidFill>
                            <a:schemeClr val="tx1"/>
                          </a:solidFill>
                        </a:rPr>
                        <a:t>1</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PK" sz="2800" dirty="0">
                        <a:solidFill>
                          <a:schemeClr val="accent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42340046"/>
                  </a:ext>
                </a:extLst>
              </a:tr>
              <a:tr h="540000">
                <a:tc>
                  <a:txBody>
                    <a:bodyPr/>
                    <a:lstStyle/>
                    <a:p>
                      <a:pPr algn="ctr"/>
                      <a:endParaRPr lang="en-PK" sz="2800" dirty="0">
                        <a:solidFill>
                          <a:schemeClr val="accent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rPr>
                        <a:t>3</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PK" sz="2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800" dirty="0">
                          <a:solidFill>
                            <a:schemeClr val="tx1"/>
                          </a:solidFill>
                        </a:rPr>
                        <a:t>1</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800" dirty="0">
                          <a:solidFill>
                            <a:schemeClr val="tx1"/>
                          </a:solidFill>
                        </a:rPr>
                        <a:t>0</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800" dirty="0">
                          <a:solidFill>
                            <a:schemeClr val="tx1"/>
                          </a:solidFill>
                        </a:rPr>
                        <a:t>0</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PK" sz="2800" dirty="0">
                        <a:solidFill>
                          <a:schemeClr val="accent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04494055"/>
                  </a:ext>
                </a:extLst>
              </a:tr>
            </a:tbl>
          </a:graphicData>
        </a:graphic>
      </p:graphicFrame>
      <p:pic>
        <p:nvPicPr>
          <p:cNvPr id="9" name="Picture 8" descr="addin_tmp.png">
            <a:extLst>
              <a:ext uri="{FF2B5EF4-FFF2-40B4-BE49-F238E27FC236}">
                <a16:creationId xmlns:a16="http://schemas.microsoft.com/office/drawing/2014/main" id="{6A5D6635-2479-41B2-B9FF-1E3409F4FFC1}"/>
              </a:ext>
            </a:extLst>
          </p:cNvPr>
          <p:cNvPicPr>
            <a:picLocks noChangeAspect="1"/>
          </p:cNvPicPr>
          <p:nvPr>
            <p:custDataLst>
              <p:tags r:id="rId1"/>
            </p:custDataLst>
          </p:nvPr>
        </p:nvPicPr>
        <p:blipFill>
          <a:blip r:embed="rId3" cstate="print">
            <a:biLevel thresh="25000"/>
            <a:extLst>
              <a:ext uri="{BEBA8EAE-BF5A-486C-A8C5-ECC9F3942E4B}">
                <a14:imgProps xmlns:a14="http://schemas.microsoft.com/office/drawing/2010/main">
                  <a14:imgLayer r:embed="rId4">
                    <a14:imgEffect>
                      <a14:colorTemperature colorTemp="11200"/>
                    </a14:imgEffect>
                    <a14:imgEffect>
                      <a14:saturation sat="400000"/>
                    </a14:imgEffect>
                  </a14:imgLayer>
                </a14:imgProps>
              </a:ext>
            </a:extLst>
          </a:blip>
          <a:stretch>
            <a:fillRect/>
          </a:stretch>
        </p:blipFill>
        <p:spPr>
          <a:xfrm>
            <a:off x="3750688" y="3696494"/>
            <a:ext cx="2760345" cy="609600"/>
          </a:xfrm>
          <a:prstGeom prst="rect">
            <a:avLst/>
          </a:prstGeom>
        </p:spPr>
      </p:pic>
    </p:spTree>
    <p:extLst>
      <p:ext uri="{BB962C8B-B14F-4D97-AF65-F5344CB8AC3E}">
        <p14:creationId xmlns:p14="http://schemas.microsoft.com/office/powerpoint/2010/main" val="261057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1555C-FC96-43AE-9196-D3EAE72BD96F}"/>
              </a:ext>
            </a:extLst>
          </p:cNvPr>
          <p:cNvSpPr>
            <a:spLocks noGrp="1"/>
          </p:cNvSpPr>
          <p:nvPr>
            <p:ph type="title"/>
          </p:nvPr>
        </p:nvSpPr>
        <p:spPr/>
        <p:txBody>
          <a:bodyPr/>
          <a:lstStyle/>
          <a:p>
            <a:r>
              <a:rPr lang="en-US" dirty="0"/>
              <a:t>Properties of Relations Using Matrices  </a:t>
            </a:r>
            <a:endParaRPr lang="en-PK" dirty="0"/>
          </a:p>
        </p:txBody>
      </p:sp>
      <p:sp>
        <p:nvSpPr>
          <p:cNvPr id="4" name="Date Placeholder 3">
            <a:extLst>
              <a:ext uri="{FF2B5EF4-FFF2-40B4-BE49-F238E27FC236}">
                <a16:creationId xmlns:a16="http://schemas.microsoft.com/office/drawing/2014/main" id="{495DB796-489C-49AF-9422-868F5A246992}"/>
              </a:ext>
            </a:extLst>
          </p:cNvPr>
          <p:cNvSpPr>
            <a:spLocks noGrp="1"/>
          </p:cNvSpPr>
          <p:nvPr>
            <p:ph type="dt" sz="half" idx="10"/>
          </p:nvPr>
        </p:nvSpPr>
        <p:spPr/>
        <p:txBody>
          <a:bodyPr/>
          <a:lstStyle/>
          <a:p>
            <a:r>
              <a:rPr lang="en-US" dirty="0"/>
              <a:t>31/12/2023</a:t>
            </a:r>
            <a:endParaRPr lang="en-PK" dirty="0"/>
          </a:p>
        </p:txBody>
      </p:sp>
      <p:sp>
        <p:nvSpPr>
          <p:cNvPr id="5" name="Slide Number Placeholder 4">
            <a:extLst>
              <a:ext uri="{FF2B5EF4-FFF2-40B4-BE49-F238E27FC236}">
                <a16:creationId xmlns:a16="http://schemas.microsoft.com/office/drawing/2014/main" id="{99766694-E378-4893-9483-F289AE6BE396}"/>
              </a:ext>
            </a:extLst>
          </p:cNvPr>
          <p:cNvSpPr>
            <a:spLocks noGrp="1"/>
          </p:cNvSpPr>
          <p:nvPr>
            <p:ph type="sldNum" sz="quarter" idx="12"/>
          </p:nvPr>
        </p:nvSpPr>
        <p:spPr/>
        <p:txBody>
          <a:bodyPr/>
          <a:lstStyle/>
          <a:p>
            <a:r>
              <a:rPr dirty="0"/>
              <a:t>26</a:t>
            </a:r>
          </a:p>
        </p:txBody>
      </p:sp>
      <p:sp>
        <p:nvSpPr>
          <p:cNvPr id="7" name="Content Placeholder 6">
            <a:extLst>
              <a:ext uri="{FF2B5EF4-FFF2-40B4-BE49-F238E27FC236}">
                <a16:creationId xmlns:a16="http://schemas.microsoft.com/office/drawing/2014/main" id="{80351678-F42A-4FF1-9C5F-8259C608CF6E}"/>
              </a:ext>
            </a:extLst>
          </p:cNvPr>
          <p:cNvSpPr>
            <a:spLocks noGrp="1"/>
          </p:cNvSpPr>
          <p:nvPr>
            <p:ph idx="1"/>
          </p:nvPr>
        </p:nvSpPr>
        <p:spPr/>
        <p:txBody>
          <a:bodyPr>
            <a:normAutofit/>
          </a:bodyPr>
          <a:lstStyle/>
          <a:p>
            <a:r>
              <a:rPr lang="en-US" sz="2400" b="1" i="0" dirty="0">
                <a:effectLst/>
              </a:rPr>
              <a:t>Reflexive:</a:t>
            </a:r>
          </a:p>
          <a:p>
            <a:pPr marL="0" indent="0">
              <a:buNone/>
            </a:pPr>
            <a:r>
              <a:rPr lang="en-US" sz="2400" dirty="0"/>
              <a:t>A</a:t>
            </a:r>
            <a:r>
              <a:rPr lang="en-US" sz="2400" i="0" dirty="0">
                <a:effectLst/>
              </a:rPr>
              <a:t>ll the elements on the principal diagonal of M</a:t>
            </a:r>
            <a:r>
              <a:rPr lang="en-US" sz="2400" i="0" baseline="-25000" dirty="0">
                <a:effectLst/>
              </a:rPr>
              <a:t>R</a:t>
            </a:r>
            <a:r>
              <a:rPr lang="en-US" sz="2400" i="0" dirty="0">
                <a:effectLst/>
              </a:rPr>
              <a:t> are equal to 1</a:t>
            </a:r>
          </a:p>
          <a:p>
            <a:pPr algn="l"/>
            <a:r>
              <a:rPr lang="en-US" sz="2400" b="1" i="0" dirty="0">
                <a:effectLst/>
              </a:rPr>
              <a:t>Example:</a:t>
            </a:r>
          </a:p>
          <a:p>
            <a:pPr marL="0" indent="0">
              <a:buNone/>
            </a:pPr>
            <a:r>
              <a:rPr lang="en-US" sz="2400" dirty="0"/>
              <a:t>A relation </a:t>
            </a:r>
            <a:r>
              <a:rPr lang="en-US" sz="2400" i="1" dirty="0"/>
              <a:t>R = </a:t>
            </a:r>
            <a:r>
              <a:rPr lang="en-PK" sz="2400" b="0" i="1" dirty="0">
                <a:effectLst/>
              </a:rPr>
              <a:t>{</a:t>
            </a:r>
            <a:r>
              <a:rPr lang="en-US" sz="2400" b="0" i="1" dirty="0">
                <a:effectLst/>
              </a:rPr>
              <a:t> </a:t>
            </a:r>
            <a:r>
              <a:rPr lang="en-PK" sz="2400" b="0" i="1" dirty="0">
                <a:effectLst/>
              </a:rPr>
              <a:t>(1,</a:t>
            </a:r>
            <a:r>
              <a:rPr lang="en-US" sz="2400" b="0" i="1" dirty="0">
                <a:effectLst/>
              </a:rPr>
              <a:t> </a:t>
            </a:r>
            <a:r>
              <a:rPr lang="en-PK" sz="2400" b="0" i="1" dirty="0">
                <a:effectLst/>
              </a:rPr>
              <a:t>1),</a:t>
            </a:r>
            <a:r>
              <a:rPr lang="en-US" sz="2400" b="0" i="1" dirty="0">
                <a:effectLst/>
              </a:rPr>
              <a:t> </a:t>
            </a:r>
            <a:r>
              <a:rPr lang="en-PK" sz="2400" b="0" i="1" dirty="0">
                <a:effectLst/>
              </a:rPr>
              <a:t>(2,</a:t>
            </a:r>
            <a:r>
              <a:rPr lang="en-US" sz="2400" b="0" i="1" dirty="0">
                <a:effectLst/>
              </a:rPr>
              <a:t> </a:t>
            </a:r>
            <a:r>
              <a:rPr lang="en-PK" sz="2400" b="0" i="1" dirty="0">
                <a:effectLst/>
              </a:rPr>
              <a:t>2),</a:t>
            </a:r>
            <a:r>
              <a:rPr lang="en-US" sz="2400" b="0" i="1" dirty="0">
                <a:effectLst/>
              </a:rPr>
              <a:t> </a:t>
            </a:r>
            <a:r>
              <a:rPr lang="en-PK" sz="2400" b="0" i="1" dirty="0">
                <a:effectLst/>
              </a:rPr>
              <a:t>(3,</a:t>
            </a:r>
            <a:r>
              <a:rPr lang="en-US" sz="2400" b="0" i="1" dirty="0">
                <a:effectLst/>
              </a:rPr>
              <a:t> </a:t>
            </a:r>
            <a:r>
              <a:rPr lang="en-PK" sz="2400" b="0" i="1" dirty="0">
                <a:effectLst/>
              </a:rPr>
              <a:t>3)</a:t>
            </a:r>
            <a:r>
              <a:rPr lang="en-US" sz="2400" b="0" i="1" dirty="0">
                <a:effectLst/>
              </a:rPr>
              <a:t> </a:t>
            </a:r>
            <a:r>
              <a:rPr lang="en-PK" sz="2400" b="0" i="1" dirty="0">
                <a:effectLst/>
              </a:rPr>
              <a:t>}</a:t>
            </a:r>
            <a:r>
              <a:rPr lang="en-US" sz="2400" b="0" i="1" dirty="0">
                <a:effectLst/>
              </a:rPr>
              <a:t> </a:t>
            </a:r>
            <a:r>
              <a:rPr lang="en-US" sz="2400" b="0" i="0" dirty="0">
                <a:effectLst/>
              </a:rPr>
              <a:t>in matrix form is:</a:t>
            </a:r>
            <a:br>
              <a:rPr lang="en-US" sz="2400" dirty="0"/>
            </a:br>
            <a:r>
              <a:rPr lang="en-US" sz="2400" dirty="0"/>
              <a:t>​</a:t>
            </a:r>
            <a:br>
              <a:rPr lang="en-US" sz="2400" dirty="0"/>
            </a:br>
            <a:endParaRPr lang="en-US" sz="2400" dirty="0"/>
          </a:p>
        </p:txBody>
      </p:sp>
      <p:pic>
        <p:nvPicPr>
          <p:cNvPr id="9" name="Content Placeholder 3" descr="0803.jpg">
            <a:extLst>
              <a:ext uri="{FF2B5EF4-FFF2-40B4-BE49-F238E27FC236}">
                <a16:creationId xmlns:a16="http://schemas.microsoft.com/office/drawing/2014/main" id="{59257DF8-B6D2-4683-B888-7B9058524760}"/>
              </a:ext>
            </a:extLst>
          </p:cNvPr>
          <p:cNvPicPr>
            <a:picLocks noChangeAspect="1"/>
          </p:cNvPicPr>
          <p:nvPr/>
        </p:nvPicPr>
        <p:blipFill>
          <a:blip r:embed="rId2" cstate="print"/>
          <a:stretch>
            <a:fillRect/>
          </a:stretch>
        </p:blipFill>
        <p:spPr>
          <a:xfrm>
            <a:off x="9160058" y="3125513"/>
            <a:ext cx="1724294" cy="1751562"/>
          </a:xfrm>
          <a:prstGeom prst="rect">
            <a:avLst/>
          </a:prstGeom>
        </p:spPr>
      </p:pic>
      <p:graphicFrame>
        <p:nvGraphicFramePr>
          <p:cNvPr id="10" name="Table 43">
            <a:extLst>
              <a:ext uri="{FF2B5EF4-FFF2-40B4-BE49-F238E27FC236}">
                <a16:creationId xmlns:a16="http://schemas.microsoft.com/office/drawing/2014/main" id="{59147C19-4089-45AC-8F28-CF352BB6A49C}"/>
              </a:ext>
            </a:extLst>
          </p:cNvPr>
          <p:cNvGraphicFramePr>
            <a:graphicFrameLocks noGrp="1"/>
          </p:cNvGraphicFramePr>
          <p:nvPr>
            <p:extLst>
              <p:ext uri="{D42A27DB-BD31-4B8C-83A1-F6EECF244321}">
                <p14:modId xmlns:p14="http://schemas.microsoft.com/office/powerpoint/2010/main" val="2120220417"/>
              </p:ext>
            </p:extLst>
          </p:nvPr>
        </p:nvGraphicFramePr>
        <p:xfrm>
          <a:off x="2567427" y="4038803"/>
          <a:ext cx="3528573" cy="2138160"/>
        </p:xfrm>
        <a:graphic>
          <a:graphicData uri="http://schemas.openxmlformats.org/drawingml/2006/table">
            <a:tbl>
              <a:tblPr firstRow="1" bandRow="1">
                <a:tableStyleId>{2D5ABB26-0587-4C30-8999-92F81FD0307C}</a:tableStyleId>
              </a:tblPr>
              <a:tblGrid>
                <a:gridCol w="1080000">
                  <a:extLst>
                    <a:ext uri="{9D8B030D-6E8A-4147-A177-3AD203B41FA5}">
                      <a16:colId xmlns:a16="http://schemas.microsoft.com/office/drawing/2014/main" val="1307947629"/>
                    </a:ext>
                  </a:extLst>
                </a:gridCol>
                <a:gridCol w="276191">
                  <a:extLst>
                    <a:ext uri="{9D8B030D-6E8A-4147-A177-3AD203B41FA5}">
                      <a16:colId xmlns:a16="http://schemas.microsoft.com/office/drawing/2014/main" val="243437003"/>
                    </a:ext>
                  </a:extLst>
                </a:gridCol>
                <a:gridCol w="276191">
                  <a:extLst>
                    <a:ext uri="{9D8B030D-6E8A-4147-A177-3AD203B41FA5}">
                      <a16:colId xmlns:a16="http://schemas.microsoft.com/office/drawing/2014/main" val="2050407541"/>
                    </a:ext>
                  </a:extLst>
                </a:gridCol>
                <a:gridCol w="540000">
                  <a:extLst>
                    <a:ext uri="{9D8B030D-6E8A-4147-A177-3AD203B41FA5}">
                      <a16:colId xmlns:a16="http://schemas.microsoft.com/office/drawing/2014/main" val="1655424674"/>
                    </a:ext>
                  </a:extLst>
                </a:gridCol>
                <a:gridCol w="540000">
                  <a:extLst>
                    <a:ext uri="{9D8B030D-6E8A-4147-A177-3AD203B41FA5}">
                      <a16:colId xmlns:a16="http://schemas.microsoft.com/office/drawing/2014/main" val="673293229"/>
                    </a:ext>
                  </a:extLst>
                </a:gridCol>
                <a:gridCol w="540000">
                  <a:extLst>
                    <a:ext uri="{9D8B030D-6E8A-4147-A177-3AD203B41FA5}">
                      <a16:colId xmlns:a16="http://schemas.microsoft.com/office/drawing/2014/main" val="3842577041"/>
                    </a:ext>
                  </a:extLst>
                </a:gridCol>
                <a:gridCol w="276191">
                  <a:extLst>
                    <a:ext uri="{9D8B030D-6E8A-4147-A177-3AD203B41FA5}">
                      <a16:colId xmlns:a16="http://schemas.microsoft.com/office/drawing/2014/main" val="32664454"/>
                    </a:ext>
                  </a:extLst>
                </a:gridCol>
              </a:tblGrid>
              <a:tr h="495000">
                <a:tc>
                  <a:txBody>
                    <a:bodyPr/>
                    <a:lstStyle/>
                    <a:p>
                      <a:pPr algn="ctr"/>
                      <a:endParaRPr lang="en-PK" sz="2800" dirty="0">
                        <a:solidFill>
                          <a:schemeClr val="accent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rPr>
                        <a:t>1</a:t>
                      </a:r>
                      <a:endParaRPr lang="en-PK" sz="16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rPr>
                        <a:t>2</a:t>
                      </a:r>
                      <a:endParaRPr lang="en-PK" sz="16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rPr>
                        <a:t>3</a:t>
                      </a:r>
                      <a:endParaRPr lang="en-PK" sz="16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PK" sz="2800" dirty="0">
                        <a:solidFill>
                          <a:schemeClr val="accent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7603408"/>
                  </a:ext>
                </a:extLst>
              </a:tr>
              <a:tr h="540000">
                <a:tc>
                  <a:txBody>
                    <a:bodyPr/>
                    <a:lstStyle/>
                    <a:p>
                      <a:pPr algn="ctr"/>
                      <a:endParaRPr lang="en-PK" sz="2800" dirty="0">
                        <a:solidFill>
                          <a:schemeClr val="accent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rPr>
                        <a:t>1</a:t>
                      </a:r>
                      <a:endParaRPr lang="en-PK" sz="160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PK" sz="2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800" dirty="0">
                          <a:solidFill>
                            <a:schemeClr val="tx1"/>
                          </a:solidFill>
                        </a:rPr>
                        <a:t>1</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800" dirty="0">
                          <a:solidFill>
                            <a:schemeClr val="tx1"/>
                          </a:solidFill>
                        </a:rPr>
                        <a:t>0</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800" dirty="0">
                          <a:solidFill>
                            <a:schemeClr val="tx1"/>
                          </a:solidFill>
                        </a:rPr>
                        <a:t>0</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PK" sz="2800" dirty="0">
                        <a:solidFill>
                          <a:schemeClr val="accent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461474694"/>
                  </a:ext>
                </a:extLst>
              </a:tr>
              <a:tr h="540000">
                <a:tc>
                  <a:txBody>
                    <a:bodyPr/>
                    <a:lstStyle/>
                    <a:p>
                      <a:pPr algn="ctr"/>
                      <a:r>
                        <a:rPr lang="en-US" sz="2800" dirty="0">
                          <a:solidFill>
                            <a:schemeClr val="accent1"/>
                          </a:solidFill>
                        </a:rPr>
                        <a:t>M</a:t>
                      </a:r>
                      <a:r>
                        <a:rPr lang="en-US" sz="2800" baseline="-25000" dirty="0">
                          <a:solidFill>
                            <a:schemeClr val="accent1"/>
                          </a:solidFill>
                        </a:rPr>
                        <a:t>R</a:t>
                      </a:r>
                      <a:r>
                        <a:rPr lang="en-US" sz="2800" dirty="0">
                          <a:solidFill>
                            <a:schemeClr val="accent1"/>
                          </a:solidFill>
                        </a:rPr>
                        <a:t> = </a:t>
                      </a:r>
                      <a:endParaRPr lang="en-PK" sz="2800" dirty="0">
                        <a:solidFill>
                          <a:schemeClr val="accent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rPr>
                        <a:t>2</a:t>
                      </a:r>
                      <a:endParaRPr lang="en-PK" sz="160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PK" sz="2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800" dirty="0">
                          <a:solidFill>
                            <a:schemeClr val="tx1"/>
                          </a:solidFill>
                        </a:rPr>
                        <a:t>0</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800" dirty="0">
                          <a:solidFill>
                            <a:schemeClr val="tx1"/>
                          </a:solidFill>
                        </a:rPr>
                        <a:t>1</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800" dirty="0">
                          <a:solidFill>
                            <a:schemeClr val="tx1"/>
                          </a:solidFill>
                        </a:rPr>
                        <a:t>0</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PK" sz="2800" dirty="0">
                        <a:solidFill>
                          <a:schemeClr val="accent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42340046"/>
                  </a:ext>
                </a:extLst>
              </a:tr>
              <a:tr h="540000">
                <a:tc>
                  <a:txBody>
                    <a:bodyPr/>
                    <a:lstStyle/>
                    <a:p>
                      <a:pPr algn="ctr"/>
                      <a:endParaRPr lang="en-PK" sz="2800" dirty="0">
                        <a:solidFill>
                          <a:schemeClr val="accent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rPr>
                        <a:t>3</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PK" sz="2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800" dirty="0">
                          <a:solidFill>
                            <a:schemeClr val="tx1"/>
                          </a:solidFill>
                        </a:rPr>
                        <a:t>0</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800" dirty="0">
                          <a:solidFill>
                            <a:schemeClr val="tx1"/>
                          </a:solidFill>
                        </a:rPr>
                        <a:t>0</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800" dirty="0">
                          <a:solidFill>
                            <a:schemeClr val="tx1"/>
                          </a:solidFill>
                        </a:rPr>
                        <a:t>1</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PK" sz="2800" dirty="0">
                        <a:solidFill>
                          <a:schemeClr val="accent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04494055"/>
                  </a:ext>
                </a:extLst>
              </a:tr>
            </a:tbl>
          </a:graphicData>
        </a:graphic>
      </p:graphicFrame>
    </p:spTree>
    <p:extLst>
      <p:ext uri="{BB962C8B-B14F-4D97-AF65-F5344CB8AC3E}">
        <p14:creationId xmlns:p14="http://schemas.microsoft.com/office/powerpoint/2010/main" val="35066932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1555C-FC96-43AE-9196-D3EAE72BD96F}"/>
              </a:ext>
            </a:extLst>
          </p:cNvPr>
          <p:cNvSpPr>
            <a:spLocks noGrp="1"/>
          </p:cNvSpPr>
          <p:nvPr>
            <p:ph type="title"/>
          </p:nvPr>
        </p:nvSpPr>
        <p:spPr/>
        <p:txBody>
          <a:bodyPr/>
          <a:lstStyle/>
          <a:p>
            <a:r>
              <a:rPr lang="en-US" dirty="0"/>
              <a:t>Properties of Relations Using Matrices  </a:t>
            </a:r>
            <a:endParaRPr lang="en-PK" dirty="0"/>
          </a:p>
        </p:txBody>
      </p:sp>
      <p:sp>
        <p:nvSpPr>
          <p:cNvPr id="4" name="Date Placeholder 3">
            <a:extLst>
              <a:ext uri="{FF2B5EF4-FFF2-40B4-BE49-F238E27FC236}">
                <a16:creationId xmlns:a16="http://schemas.microsoft.com/office/drawing/2014/main" id="{495DB796-489C-49AF-9422-868F5A246992}"/>
              </a:ext>
            </a:extLst>
          </p:cNvPr>
          <p:cNvSpPr>
            <a:spLocks noGrp="1"/>
          </p:cNvSpPr>
          <p:nvPr>
            <p:ph type="dt" sz="half" idx="10"/>
          </p:nvPr>
        </p:nvSpPr>
        <p:spPr/>
        <p:txBody>
          <a:bodyPr/>
          <a:lstStyle/>
          <a:p>
            <a:r>
              <a:rPr lang="en-US" dirty="0"/>
              <a:t>31/12/2023</a:t>
            </a:r>
            <a:endParaRPr lang="en-PK" dirty="0"/>
          </a:p>
        </p:txBody>
      </p:sp>
      <p:sp>
        <p:nvSpPr>
          <p:cNvPr id="5" name="Slide Number Placeholder 4">
            <a:extLst>
              <a:ext uri="{FF2B5EF4-FFF2-40B4-BE49-F238E27FC236}">
                <a16:creationId xmlns:a16="http://schemas.microsoft.com/office/drawing/2014/main" id="{99766694-E378-4893-9483-F289AE6BE396}"/>
              </a:ext>
            </a:extLst>
          </p:cNvPr>
          <p:cNvSpPr>
            <a:spLocks noGrp="1"/>
          </p:cNvSpPr>
          <p:nvPr>
            <p:ph type="sldNum" sz="quarter" idx="12"/>
          </p:nvPr>
        </p:nvSpPr>
        <p:spPr/>
        <p:txBody>
          <a:bodyPr/>
          <a:lstStyle/>
          <a:p>
            <a:r>
              <a:rPr dirty="0"/>
              <a:t>27</a:t>
            </a:r>
          </a:p>
        </p:txBody>
      </p:sp>
      <p:sp>
        <p:nvSpPr>
          <p:cNvPr id="7" name="Content Placeholder 6">
            <a:extLst>
              <a:ext uri="{FF2B5EF4-FFF2-40B4-BE49-F238E27FC236}">
                <a16:creationId xmlns:a16="http://schemas.microsoft.com/office/drawing/2014/main" id="{80351678-F42A-4FF1-9C5F-8259C608CF6E}"/>
              </a:ext>
            </a:extLst>
          </p:cNvPr>
          <p:cNvSpPr>
            <a:spLocks noGrp="1"/>
          </p:cNvSpPr>
          <p:nvPr>
            <p:ph idx="1"/>
          </p:nvPr>
        </p:nvSpPr>
        <p:spPr>
          <a:xfrm>
            <a:off x="838200" y="1825625"/>
            <a:ext cx="10515600" cy="2304605"/>
          </a:xfrm>
        </p:spPr>
        <p:txBody>
          <a:bodyPr>
            <a:normAutofit/>
          </a:bodyPr>
          <a:lstStyle/>
          <a:p>
            <a:r>
              <a:rPr lang="en-US" sz="2400" b="1" i="0" dirty="0">
                <a:effectLst/>
              </a:rPr>
              <a:t>Symmetric:</a:t>
            </a:r>
          </a:p>
          <a:p>
            <a:pPr marL="0" indent="0">
              <a:buNone/>
            </a:pPr>
            <a:r>
              <a:rPr lang="en-US" sz="2400" dirty="0"/>
              <a:t> </a:t>
            </a:r>
            <a:r>
              <a:rPr lang="en-US" sz="2400" i="1" dirty="0"/>
              <a:t>R</a:t>
            </a:r>
            <a:r>
              <a:rPr lang="en-US" sz="2400" dirty="0"/>
              <a:t> is a symmetric relation, if and only if </a:t>
            </a:r>
            <a:r>
              <a:rPr lang="en-US" sz="2400" i="1" dirty="0"/>
              <a:t>m</a:t>
            </a:r>
            <a:r>
              <a:rPr lang="en-US" sz="2400" i="1" baseline="-25000" dirty="0"/>
              <a:t>ij</a:t>
            </a:r>
            <a:r>
              <a:rPr lang="en-US" sz="2400" dirty="0"/>
              <a:t> = </a:t>
            </a:r>
            <a:r>
              <a:rPr lang="en-US" sz="2400" dirty="0">
                <a:ea typeface="Cambria Math" pitchFamily="18" charset="0"/>
              </a:rPr>
              <a:t>1 </a:t>
            </a:r>
            <a:r>
              <a:rPr lang="en-US" sz="2400" dirty="0"/>
              <a:t>whenever </a:t>
            </a:r>
            <a:r>
              <a:rPr lang="en-US" sz="2400" i="1" dirty="0"/>
              <a:t>m</a:t>
            </a:r>
            <a:r>
              <a:rPr lang="en-US" sz="2400" i="1" baseline="-25000" dirty="0"/>
              <a:t>ji</a:t>
            </a:r>
            <a:r>
              <a:rPr lang="en-US" sz="2400" dirty="0"/>
              <a:t> = </a:t>
            </a:r>
            <a:r>
              <a:rPr lang="en-US" sz="2400" dirty="0">
                <a:ea typeface="Cambria Math" pitchFamily="18" charset="0"/>
              </a:rPr>
              <a:t>1</a:t>
            </a:r>
            <a:endParaRPr lang="en-US" sz="2400" b="1" dirty="0"/>
          </a:p>
          <a:p>
            <a:r>
              <a:rPr lang="en-US" sz="2400" b="1" i="0" dirty="0">
                <a:effectLst/>
              </a:rPr>
              <a:t>Antisymmetri</a:t>
            </a:r>
            <a:r>
              <a:rPr lang="en-US" sz="2400" b="1" dirty="0"/>
              <a:t>c:</a:t>
            </a:r>
          </a:p>
          <a:p>
            <a:pPr marL="0" indent="0">
              <a:buNone/>
            </a:pPr>
            <a:r>
              <a:rPr lang="en-US" sz="2400" i="1" dirty="0"/>
              <a:t>R</a:t>
            </a:r>
            <a:r>
              <a:rPr lang="en-US" sz="2400" dirty="0"/>
              <a:t> is an antisymmetric relation, if and only if </a:t>
            </a:r>
            <a:r>
              <a:rPr lang="en-US" sz="2400" i="1" dirty="0"/>
              <a:t>m</a:t>
            </a:r>
            <a:r>
              <a:rPr lang="en-US" sz="2400" i="1" baseline="-25000" dirty="0"/>
              <a:t>ij</a:t>
            </a:r>
            <a:r>
              <a:rPr lang="en-US" sz="2400" dirty="0"/>
              <a:t> = </a:t>
            </a:r>
            <a:r>
              <a:rPr lang="en-US" sz="2400" dirty="0">
                <a:ea typeface="Cambria Math" pitchFamily="18" charset="0"/>
              </a:rPr>
              <a:t>0  or </a:t>
            </a:r>
            <a:r>
              <a:rPr lang="en-US" sz="2400" i="1" dirty="0"/>
              <a:t>m</a:t>
            </a:r>
            <a:r>
              <a:rPr lang="en-US" sz="2400" i="1" baseline="-25000" dirty="0"/>
              <a:t>ji</a:t>
            </a:r>
            <a:r>
              <a:rPr lang="en-US" sz="2400" dirty="0"/>
              <a:t> = </a:t>
            </a:r>
            <a:r>
              <a:rPr lang="en-US" sz="2400" dirty="0">
                <a:ea typeface="Cambria Math" pitchFamily="18" charset="0"/>
              </a:rPr>
              <a:t>0 when  </a:t>
            </a:r>
            <a:r>
              <a:rPr lang="en-US" sz="2400" i="1" dirty="0">
                <a:ea typeface="Cambria Math" pitchFamily="18" charset="0"/>
              </a:rPr>
              <a:t>i </a:t>
            </a:r>
            <a:r>
              <a:rPr lang="en-US" sz="2400" dirty="0">
                <a:ea typeface="Cambria Math"/>
              </a:rPr>
              <a:t>≠</a:t>
            </a:r>
            <a:r>
              <a:rPr lang="en-US" sz="2400" i="1" dirty="0">
                <a:ea typeface="Cambria Math" pitchFamily="18" charset="0"/>
              </a:rPr>
              <a:t> j</a:t>
            </a:r>
            <a:endParaRPr lang="en-US" sz="2400" i="0" dirty="0">
              <a:effectLst/>
            </a:endParaRPr>
          </a:p>
        </p:txBody>
      </p:sp>
      <p:pic>
        <p:nvPicPr>
          <p:cNvPr id="8" name="Content Placeholder 5" descr="0804.jpg">
            <a:extLst>
              <a:ext uri="{FF2B5EF4-FFF2-40B4-BE49-F238E27FC236}">
                <a16:creationId xmlns:a16="http://schemas.microsoft.com/office/drawing/2014/main" id="{4CA0259E-5E3B-49FB-98DC-9883E622702E}"/>
              </a:ext>
            </a:extLst>
          </p:cNvPr>
          <p:cNvPicPr>
            <a:picLocks noChangeAspect="1"/>
          </p:cNvPicPr>
          <p:nvPr/>
        </p:nvPicPr>
        <p:blipFill>
          <a:blip r:embed="rId2" cstate="print"/>
          <a:stretch>
            <a:fillRect/>
          </a:stretch>
        </p:blipFill>
        <p:spPr>
          <a:xfrm>
            <a:off x="3706121" y="4130230"/>
            <a:ext cx="4779758" cy="2408682"/>
          </a:xfrm>
          <a:prstGeom prst="rect">
            <a:avLst/>
          </a:prstGeom>
        </p:spPr>
      </p:pic>
      <p:sp>
        <p:nvSpPr>
          <p:cNvPr id="11" name="Content Placeholder 6">
            <a:extLst>
              <a:ext uri="{FF2B5EF4-FFF2-40B4-BE49-F238E27FC236}">
                <a16:creationId xmlns:a16="http://schemas.microsoft.com/office/drawing/2014/main" id="{1DE4AC5E-EC73-45E2-AB5B-E0074A56C558}"/>
              </a:ext>
            </a:extLst>
          </p:cNvPr>
          <p:cNvSpPr txBox="1">
            <a:spLocks/>
          </p:cNvSpPr>
          <p:nvPr/>
        </p:nvSpPr>
        <p:spPr>
          <a:xfrm>
            <a:off x="838200" y="4130230"/>
            <a:ext cx="10515600" cy="230460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Wingdings" panose="05000000000000000000" pitchFamily="2" charset="2"/>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Example:</a:t>
            </a:r>
          </a:p>
          <a:p>
            <a:pPr marL="0" indent="0">
              <a:buNone/>
            </a:pPr>
            <a:endParaRPr lang="en-US" dirty="0"/>
          </a:p>
        </p:txBody>
      </p:sp>
      <p:graphicFrame>
        <p:nvGraphicFramePr>
          <p:cNvPr id="13" name="Table 43">
            <a:extLst>
              <a:ext uri="{FF2B5EF4-FFF2-40B4-BE49-F238E27FC236}">
                <a16:creationId xmlns:a16="http://schemas.microsoft.com/office/drawing/2014/main" id="{6C06BEDD-66C9-4ACD-AB62-7F5E62ED453D}"/>
              </a:ext>
            </a:extLst>
          </p:cNvPr>
          <p:cNvGraphicFramePr>
            <a:graphicFrameLocks noGrp="1"/>
          </p:cNvGraphicFramePr>
          <p:nvPr>
            <p:extLst>
              <p:ext uri="{D42A27DB-BD31-4B8C-83A1-F6EECF244321}">
                <p14:modId xmlns:p14="http://schemas.microsoft.com/office/powerpoint/2010/main" val="2383017739"/>
              </p:ext>
            </p:extLst>
          </p:nvPr>
        </p:nvGraphicFramePr>
        <p:xfrm>
          <a:off x="2096359" y="3998403"/>
          <a:ext cx="3600573" cy="2138160"/>
        </p:xfrm>
        <a:graphic>
          <a:graphicData uri="http://schemas.openxmlformats.org/drawingml/2006/table">
            <a:tbl>
              <a:tblPr firstRow="1" bandRow="1">
                <a:tableStyleId>{2D5ABB26-0587-4C30-8999-92F81FD0307C}</a:tableStyleId>
              </a:tblPr>
              <a:tblGrid>
                <a:gridCol w="1152000">
                  <a:extLst>
                    <a:ext uri="{9D8B030D-6E8A-4147-A177-3AD203B41FA5}">
                      <a16:colId xmlns:a16="http://schemas.microsoft.com/office/drawing/2014/main" val="1307947629"/>
                    </a:ext>
                  </a:extLst>
                </a:gridCol>
                <a:gridCol w="276191">
                  <a:extLst>
                    <a:ext uri="{9D8B030D-6E8A-4147-A177-3AD203B41FA5}">
                      <a16:colId xmlns:a16="http://schemas.microsoft.com/office/drawing/2014/main" val="243437003"/>
                    </a:ext>
                  </a:extLst>
                </a:gridCol>
                <a:gridCol w="276191">
                  <a:extLst>
                    <a:ext uri="{9D8B030D-6E8A-4147-A177-3AD203B41FA5}">
                      <a16:colId xmlns:a16="http://schemas.microsoft.com/office/drawing/2014/main" val="2050407541"/>
                    </a:ext>
                  </a:extLst>
                </a:gridCol>
                <a:gridCol w="540000">
                  <a:extLst>
                    <a:ext uri="{9D8B030D-6E8A-4147-A177-3AD203B41FA5}">
                      <a16:colId xmlns:a16="http://schemas.microsoft.com/office/drawing/2014/main" val="1655424674"/>
                    </a:ext>
                  </a:extLst>
                </a:gridCol>
                <a:gridCol w="540000">
                  <a:extLst>
                    <a:ext uri="{9D8B030D-6E8A-4147-A177-3AD203B41FA5}">
                      <a16:colId xmlns:a16="http://schemas.microsoft.com/office/drawing/2014/main" val="673293229"/>
                    </a:ext>
                  </a:extLst>
                </a:gridCol>
                <a:gridCol w="540000">
                  <a:extLst>
                    <a:ext uri="{9D8B030D-6E8A-4147-A177-3AD203B41FA5}">
                      <a16:colId xmlns:a16="http://schemas.microsoft.com/office/drawing/2014/main" val="3842577041"/>
                    </a:ext>
                  </a:extLst>
                </a:gridCol>
                <a:gridCol w="276191">
                  <a:extLst>
                    <a:ext uri="{9D8B030D-6E8A-4147-A177-3AD203B41FA5}">
                      <a16:colId xmlns:a16="http://schemas.microsoft.com/office/drawing/2014/main" val="32664454"/>
                    </a:ext>
                  </a:extLst>
                </a:gridCol>
              </a:tblGrid>
              <a:tr h="495000">
                <a:tc>
                  <a:txBody>
                    <a:bodyPr/>
                    <a:lstStyle/>
                    <a:p>
                      <a:pPr algn="ctr"/>
                      <a:endParaRPr lang="en-PK" sz="2800" dirty="0">
                        <a:solidFill>
                          <a:schemeClr val="accent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rPr>
                        <a:t>1</a:t>
                      </a:r>
                      <a:endParaRPr lang="en-PK" sz="16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rPr>
                        <a:t>2</a:t>
                      </a:r>
                      <a:endParaRPr lang="en-PK" sz="16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rPr>
                        <a:t>3</a:t>
                      </a:r>
                      <a:endParaRPr lang="en-PK" sz="16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PK" sz="2800" dirty="0">
                        <a:solidFill>
                          <a:schemeClr val="accent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7603408"/>
                  </a:ext>
                </a:extLst>
              </a:tr>
              <a:tr h="540000">
                <a:tc>
                  <a:txBody>
                    <a:bodyPr/>
                    <a:lstStyle/>
                    <a:p>
                      <a:pPr algn="ctr"/>
                      <a:endParaRPr lang="en-PK" sz="2800" dirty="0">
                        <a:solidFill>
                          <a:schemeClr val="accent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rPr>
                        <a:t>1</a:t>
                      </a:r>
                      <a:endParaRPr lang="en-PK" sz="160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PK" sz="2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800" dirty="0">
                          <a:solidFill>
                            <a:schemeClr val="tx1"/>
                          </a:solidFill>
                        </a:rPr>
                        <a:t>0</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800" dirty="0">
                          <a:solidFill>
                            <a:schemeClr val="tx1"/>
                          </a:solidFill>
                        </a:rPr>
                        <a:t>1</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800" dirty="0">
                          <a:solidFill>
                            <a:schemeClr val="tx1"/>
                          </a:solidFill>
                        </a:rPr>
                        <a:t>1</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PK" sz="2800" dirty="0">
                        <a:solidFill>
                          <a:schemeClr val="accent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461474694"/>
                  </a:ext>
                </a:extLst>
              </a:tr>
              <a:tr h="540000">
                <a:tc>
                  <a:txBody>
                    <a:bodyPr/>
                    <a:lstStyle/>
                    <a:p>
                      <a:pPr algn="ctr"/>
                      <a:r>
                        <a:rPr lang="en-US" sz="2800" dirty="0">
                          <a:solidFill>
                            <a:schemeClr val="accent1"/>
                          </a:solidFill>
                        </a:rPr>
                        <a:t>M</a:t>
                      </a:r>
                      <a:r>
                        <a:rPr lang="en-US" sz="2800" baseline="-25000" dirty="0">
                          <a:solidFill>
                            <a:schemeClr val="accent1"/>
                          </a:solidFill>
                        </a:rPr>
                        <a:t>sym</a:t>
                      </a:r>
                      <a:r>
                        <a:rPr lang="en-US" sz="2800" dirty="0">
                          <a:solidFill>
                            <a:schemeClr val="accent1"/>
                          </a:solidFill>
                        </a:rPr>
                        <a:t> = </a:t>
                      </a:r>
                      <a:endParaRPr lang="en-PK" sz="2800" dirty="0">
                        <a:solidFill>
                          <a:schemeClr val="accent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rPr>
                        <a:t>2</a:t>
                      </a:r>
                      <a:endParaRPr lang="en-PK" sz="160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PK" sz="2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800" dirty="0">
                          <a:solidFill>
                            <a:schemeClr val="tx1"/>
                          </a:solidFill>
                        </a:rPr>
                        <a:t>1</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800" dirty="0">
                          <a:solidFill>
                            <a:schemeClr val="tx1"/>
                          </a:solidFill>
                        </a:rPr>
                        <a:t>0</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800" dirty="0">
                          <a:solidFill>
                            <a:schemeClr val="tx1"/>
                          </a:solidFill>
                        </a:rPr>
                        <a:t>0</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PK" sz="2800" dirty="0">
                        <a:solidFill>
                          <a:schemeClr val="accent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42340046"/>
                  </a:ext>
                </a:extLst>
              </a:tr>
              <a:tr h="540000">
                <a:tc>
                  <a:txBody>
                    <a:bodyPr/>
                    <a:lstStyle/>
                    <a:p>
                      <a:pPr algn="ctr"/>
                      <a:endParaRPr lang="en-PK" sz="2800" dirty="0">
                        <a:solidFill>
                          <a:schemeClr val="accent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rPr>
                        <a:t>3</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PK" sz="2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800" dirty="0">
                          <a:solidFill>
                            <a:schemeClr val="tx1"/>
                          </a:solidFill>
                        </a:rPr>
                        <a:t>1</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800" dirty="0">
                          <a:solidFill>
                            <a:schemeClr val="tx1"/>
                          </a:solidFill>
                        </a:rPr>
                        <a:t>0</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800" dirty="0">
                          <a:solidFill>
                            <a:schemeClr val="tx1"/>
                          </a:solidFill>
                        </a:rPr>
                        <a:t>1</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PK" sz="2800" dirty="0">
                        <a:solidFill>
                          <a:schemeClr val="accent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04494055"/>
                  </a:ext>
                </a:extLst>
              </a:tr>
            </a:tbl>
          </a:graphicData>
        </a:graphic>
      </p:graphicFrame>
      <p:graphicFrame>
        <p:nvGraphicFramePr>
          <p:cNvPr id="14" name="Table 43">
            <a:extLst>
              <a:ext uri="{FF2B5EF4-FFF2-40B4-BE49-F238E27FC236}">
                <a16:creationId xmlns:a16="http://schemas.microsoft.com/office/drawing/2014/main" id="{5595E129-2182-4294-9A1C-5636FE0CC762}"/>
              </a:ext>
            </a:extLst>
          </p:cNvPr>
          <p:cNvGraphicFramePr>
            <a:graphicFrameLocks noGrp="1"/>
          </p:cNvGraphicFramePr>
          <p:nvPr>
            <p:extLst>
              <p:ext uri="{D42A27DB-BD31-4B8C-83A1-F6EECF244321}">
                <p14:modId xmlns:p14="http://schemas.microsoft.com/office/powerpoint/2010/main" val="1329608859"/>
              </p:ext>
            </p:extLst>
          </p:nvPr>
        </p:nvGraphicFramePr>
        <p:xfrm>
          <a:off x="6096000" y="3995293"/>
          <a:ext cx="3600573" cy="2138160"/>
        </p:xfrm>
        <a:graphic>
          <a:graphicData uri="http://schemas.openxmlformats.org/drawingml/2006/table">
            <a:tbl>
              <a:tblPr firstRow="1" bandRow="1">
                <a:tableStyleId>{2D5ABB26-0587-4C30-8999-92F81FD0307C}</a:tableStyleId>
              </a:tblPr>
              <a:tblGrid>
                <a:gridCol w="1152000">
                  <a:extLst>
                    <a:ext uri="{9D8B030D-6E8A-4147-A177-3AD203B41FA5}">
                      <a16:colId xmlns:a16="http://schemas.microsoft.com/office/drawing/2014/main" val="1307947629"/>
                    </a:ext>
                  </a:extLst>
                </a:gridCol>
                <a:gridCol w="276191">
                  <a:extLst>
                    <a:ext uri="{9D8B030D-6E8A-4147-A177-3AD203B41FA5}">
                      <a16:colId xmlns:a16="http://schemas.microsoft.com/office/drawing/2014/main" val="243437003"/>
                    </a:ext>
                  </a:extLst>
                </a:gridCol>
                <a:gridCol w="276191">
                  <a:extLst>
                    <a:ext uri="{9D8B030D-6E8A-4147-A177-3AD203B41FA5}">
                      <a16:colId xmlns:a16="http://schemas.microsoft.com/office/drawing/2014/main" val="2050407541"/>
                    </a:ext>
                  </a:extLst>
                </a:gridCol>
                <a:gridCol w="540000">
                  <a:extLst>
                    <a:ext uri="{9D8B030D-6E8A-4147-A177-3AD203B41FA5}">
                      <a16:colId xmlns:a16="http://schemas.microsoft.com/office/drawing/2014/main" val="1655424674"/>
                    </a:ext>
                  </a:extLst>
                </a:gridCol>
                <a:gridCol w="540000">
                  <a:extLst>
                    <a:ext uri="{9D8B030D-6E8A-4147-A177-3AD203B41FA5}">
                      <a16:colId xmlns:a16="http://schemas.microsoft.com/office/drawing/2014/main" val="673293229"/>
                    </a:ext>
                  </a:extLst>
                </a:gridCol>
                <a:gridCol w="540000">
                  <a:extLst>
                    <a:ext uri="{9D8B030D-6E8A-4147-A177-3AD203B41FA5}">
                      <a16:colId xmlns:a16="http://schemas.microsoft.com/office/drawing/2014/main" val="3842577041"/>
                    </a:ext>
                  </a:extLst>
                </a:gridCol>
                <a:gridCol w="276191">
                  <a:extLst>
                    <a:ext uri="{9D8B030D-6E8A-4147-A177-3AD203B41FA5}">
                      <a16:colId xmlns:a16="http://schemas.microsoft.com/office/drawing/2014/main" val="32664454"/>
                    </a:ext>
                  </a:extLst>
                </a:gridCol>
              </a:tblGrid>
              <a:tr h="495000">
                <a:tc>
                  <a:txBody>
                    <a:bodyPr/>
                    <a:lstStyle/>
                    <a:p>
                      <a:pPr algn="ctr"/>
                      <a:endParaRPr lang="en-PK" sz="2800" dirty="0">
                        <a:solidFill>
                          <a:schemeClr val="accent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rPr>
                        <a:t>1</a:t>
                      </a:r>
                      <a:endParaRPr lang="en-PK" sz="16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rPr>
                        <a:t>2</a:t>
                      </a:r>
                      <a:endParaRPr lang="en-PK" sz="16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rPr>
                        <a:t>3</a:t>
                      </a:r>
                      <a:endParaRPr lang="en-PK" sz="16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PK" sz="2800" dirty="0">
                        <a:solidFill>
                          <a:schemeClr val="accent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7603408"/>
                  </a:ext>
                </a:extLst>
              </a:tr>
              <a:tr h="540000">
                <a:tc>
                  <a:txBody>
                    <a:bodyPr/>
                    <a:lstStyle/>
                    <a:p>
                      <a:pPr algn="ctr"/>
                      <a:endParaRPr lang="en-PK" sz="2800" dirty="0">
                        <a:solidFill>
                          <a:schemeClr val="accent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rPr>
                        <a:t>1</a:t>
                      </a:r>
                      <a:endParaRPr lang="en-PK" sz="160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PK" sz="2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800" dirty="0">
                          <a:solidFill>
                            <a:schemeClr val="tx1"/>
                          </a:solidFill>
                        </a:rPr>
                        <a:t>0</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800" dirty="0">
                          <a:solidFill>
                            <a:schemeClr val="tx1"/>
                          </a:solidFill>
                        </a:rPr>
                        <a:t>1</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800" dirty="0">
                          <a:solidFill>
                            <a:schemeClr val="tx1"/>
                          </a:solidFill>
                        </a:rPr>
                        <a:t>0</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PK" sz="2800" dirty="0">
                        <a:solidFill>
                          <a:schemeClr val="accent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461474694"/>
                  </a:ext>
                </a:extLst>
              </a:tr>
              <a:tr h="540000">
                <a:tc>
                  <a:txBody>
                    <a:bodyPr/>
                    <a:lstStyle/>
                    <a:p>
                      <a:pPr algn="ctr"/>
                      <a:r>
                        <a:rPr lang="en-US" sz="2800" dirty="0">
                          <a:solidFill>
                            <a:schemeClr val="accent1"/>
                          </a:solidFill>
                        </a:rPr>
                        <a:t>M</a:t>
                      </a:r>
                      <a:r>
                        <a:rPr lang="en-US" sz="2800" baseline="-25000" dirty="0">
                          <a:solidFill>
                            <a:schemeClr val="accent1"/>
                          </a:solidFill>
                        </a:rPr>
                        <a:t>anti</a:t>
                      </a:r>
                      <a:r>
                        <a:rPr lang="en-US" sz="2800" dirty="0">
                          <a:solidFill>
                            <a:schemeClr val="accent1"/>
                          </a:solidFill>
                        </a:rPr>
                        <a:t> = </a:t>
                      </a:r>
                      <a:endParaRPr lang="en-PK" sz="2800" dirty="0">
                        <a:solidFill>
                          <a:schemeClr val="accent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rPr>
                        <a:t>2</a:t>
                      </a:r>
                      <a:endParaRPr lang="en-PK" sz="160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PK" sz="2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800" dirty="0">
                          <a:solidFill>
                            <a:schemeClr val="tx1"/>
                          </a:solidFill>
                        </a:rPr>
                        <a:t>0</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800" dirty="0">
                          <a:solidFill>
                            <a:schemeClr val="tx1"/>
                          </a:solidFill>
                        </a:rPr>
                        <a:t>1</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800" dirty="0">
                          <a:solidFill>
                            <a:schemeClr val="tx1"/>
                          </a:solidFill>
                        </a:rPr>
                        <a:t>1</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PK" sz="2800" dirty="0">
                        <a:solidFill>
                          <a:schemeClr val="accent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42340046"/>
                  </a:ext>
                </a:extLst>
              </a:tr>
              <a:tr h="540000">
                <a:tc>
                  <a:txBody>
                    <a:bodyPr/>
                    <a:lstStyle/>
                    <a:p>
                      <a:pPr algn="ctr"/>
                      <a:endParaRPr lang="en-PK" sz="2800" dirty="0">
                        <a:solidFill>
                          <a:schemeClr val="accent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solidFill>
                            <a:schemeClr val="tx1"/>
                          </a:solidFill>
                        </a:rPr>
                        <a:t>3</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PK" sz="2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800" dirty="0">
                          <a:solidFill>
                            <a:schemeClr val="tx1"/>
                          </a:solidFill>
                        </a:rPr>
                        <a:t>1</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800" dirty="0">
                          <a:solidFill>
                            <a:schemeClr val="tx1"/>
                          </a:solidFill>
                        </a:rPr>
                        <a:t>0</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800" dirty="0">
                          <a:solidFill>
                            <a:schemeClr val="tx1"/>
                          </a:solidFill>
                        </a:rPr>
                        <a:t>0</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PK" sz="2800" dirty="0">
                        <a:solidFill>
                          <a:schemeClr val="accent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04494055"/>
                  </a:ext>
                </a:extLst>
              </a:tr>
            </a:tbl>
          </a:graphicData>
        </a:graphic>
      </p:graphicFrame>
    </p:spTree>
    <p:extLst>
      <p:ext uri="{BB962C8B-B14F-4D97-AF65-F5344CB8AC3E}">
        <p14:creationId xmlns:p14="http://schemas.microsoft.com/office/powerpoint/2010/main" val="1014955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8"/>
                                        </p:tgtEl>
                                        <p:attrNameLst>
                                          <p:attrName>style.visibility</p:attrName>
                                        </p:attrNameLst>
                                      </p:cBhvr>
                                      <p:to>
                                        <p:strVal val="hidden"/>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13"/>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nodeType="after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1555C-FC96-43AE-9196-D3EAE72BD96F}"/>
              </a:ext>
            </a:extLst>
          </p:cNvPr>
          <p:cNvSpPr>
            <a:spLocks noGrp="1"/>
          </p:cNvSpPr>
          <p:nvPr>
            <p:ph type="title"/>
          </p:nvPr>
        </p:nvSpPr>
        <p:spPr/>
        <p:txBody>
          <a:bodyPr/>
          <a:lstStyle/>
          <a:p>
            <a:r>
              <a:rPr lang="en-US" dirty="0"/>
              <a:t>Properties of Relations Using Matrices  </a:t>
            </a:r>
            <a:endParaRPr lang="en-PK" dirty="0"/>
          </a:p>
        </p:txBody>
      </p:sp>
      <p:sp>
        <p:nvSpPr>
          <p:cNvPr id="4" name="Date Placeholder 3">
            <a:extLst>
              <a:ext uri="{FF2B5EF4-FFF2-40B4-BE49-F238E27FC236}">
                <a16:creationId xmlns:a16="http://schemas.microsoft.com/office/drawing/2014/main" id="{495DB796-489C-49AF-9422-868F5A246992}"/>
              </a:ext>
            </a:extLst>
          </p:cNvPr>
          <p:cNvSpPr>
            <a:spLocks noGrp="1"/>
          </p:cNvSpPr>
          <p:nvPr>
            <p:ph type="dt" sz="half" idx="10"/>
          </p:nvPr>
        </p:nvSpPr>
        <p:spPr/>
        <p:txBody>
          <a:bodyPr/>
          <a:lstStyle/>
          <a:p>
            <a:r>
              <a:rPr lang="en-US" dirty="0"/>
              <a:t>31/12/2023</a:t>
            </a:r>
            <a:endParaRPr lang="en-PK" dirty="0"/>
          </a:p>
        </p:txBody>
      </p:sp>
      <p:sp>
        <p:nvSpPr>
          <p:cNvPr id="5" name="Slide Number Placeholder 4">
            <a:extLst>
              <a:ext uri="{FF2B5EF4-FFF2-40B4-BE49-F238E27FC236}">
                <a16:creationId xmlns:a16="http://schemas.microsoft.com/office/drawing/2014/main" id="{99766694-E378-4893-9483-F289AE6BE396}"/>
              </a:ext>
            </a:extLst>
          </p:cNvPr>
          <p:cNvSpPr>
            <a:spLocks noGrp="1"/>
          </p:cNvSpPr>
          <p:nvPr>
            <p:ph type="sldNum" sz="quarter" idx="12"/>
          </p:nvPr>
        </p:nvSpPr>
        <p:spPr/>
        <p:txBody>
          <a:bodyPr/>
          <a:lstStyle/>
          <a:p>
            <a:r>
              <a:rPr dirty="0"/>
              <a:t>28</a:t>
            </a:r>
          </a:p>
        </p:txBody>
      </p:sp>
      <p:sp>
        <p:nvSpPr>
          <p:cNvPr id="7" name="Content Placeholder 6">
            <a:extLst>
              <a:ext uri="{FF2B5EF4-FFF2-40B4-BE49-F238E27FC236}">
                <a16:creationId xmlns:a16="http://schemas.microsoft.com/office/drawing/2014/main" id="{80351678-F42A-4FF1-9C5F-8259C608CF6E}"/>
              </a:ext>
            </a:extLst>
          </p:cNvPr>
          <p:cNvSpPr>
            <a:spLocks noGrp="1"/>
          </p:cNvSpPr>
          <p:nvPr>
            <p:ph idx="1"/>
          </p:nvPr>
        </p:nvSpPr>
        <p:spPr/>
        <p:txBody>
          <a:bodyPr>
            <a:normAutofit/>
          </a:bodyPr>
          <a:lstStyle/>
          <a:p>
            <a:r>
              <a:rPr lang="en-US" sz="2400" b="1" dirty="0">
                <a:effectLst/>
              </a:rPr>
              <a:t>Join Operation (Union):</a:t>
            </a:r>
          </a:p>
          <a:p>
            <a:pPr marL="0" indent="0">
              <a:buNone/>
            </a:pPr>
            <a:r>
              <a:rPr lang="en-US" sz="2400" dirty="0">
                <a:effectLst/>
              </a:rPr>
              <a:t>The join of two relations </a:t>
            </a:r>
            <a:r>
              <a:rPr lang="en-US" sz="2400" i="1" dirty="0">
                <a:effectLst/>
              </a:rPr>
              <a:t>R</a:t>
            </a:r>
            <a:r>
              <a:rPr lang="en-US" sz="2400" baseline="-25000" dirty="0">
                <a:effectLst/>
              </a:rPr>
              <a:t>1​</a:t>
            </a:r>
            <a:r>
              <a:rPr lang="en-US" sz="2400" dirty="0">
                <a:effectLst/>
              </a:rPr>
              <a:t> and </a:t>
            </a:r>
            <a:r>
              <a:rPr lang="en-US" sz="2400" i="1" dirty="0">
                <a:effectLst/>
              </a:rPr>
              <a:t>R</a:t>
            </a:r>
            <a:r>
              <a:rPr lang="en-US" sz="2400" baseline="-25000" dirty="0">
                <a:effectLst/>
              </a:rPr>
              <a:t>2</a:t>
            </a:r>
            <a:r>
              <a:rPr lang="en-US" sz="2400" dirty="0">
                <a:effectLst/>
              </a:rPr>
              <a:t>​, denoted as </a:t>
            </a:r>
            <a:r>
              <a:rPr lang="en-US" sz="2400" i="1" dirty="0">
                <a:solidFill>
                  <a:schemeClr val="accent1"/>
                </a:solidFill>
                <a:effectLst/>
              </a:rPr>
              <a:t>R</a:t>
            </a:r>
            <a:r>
              <a:rPr lang="en-US" sz="2400" baseline="-25000" dirty="0">
                <a:solidFill>
                  <a:schemeClr val="accent1"/>
                </a:solidFill>
                <a:effectLst/>
              </a:rPr>
              <a:t>1</a:t>
            </a:r>
            <a:r>
              <a:rPr lang="en-US" sz="2400" dirty="0">
                <a:solidFill>
                  <a:schemeClr val="accent1"/>
                </a:solidFill>
                <a:effectLst/>
              </a:rPr>
              <a:t>​ ∨ </a:t>
            </a:r>
            <a:r>
              <a:rPr lang="en-US" sz="2400" i="1" dirty="0">
                <a:solidFill>
                  <a:schemeClr val="accent1"/>
                </a:solidFill>
                <a:effectLst/>
              </a:rPr>
              <a:t>R</a:t>
            </a:r>
            <a:r>
              <a:rPr lang="en-US" sz="2400" baseline="-25000" dirty="0">
                <a:solidFill>
                  <a:schemeClr val="accent1"/>
                </a:solidFill>
                <a:effectLst/>
              </a:rPr>
              <a:t>2</a:t>
            </a:r>
            <a:r>
              <a:rPr lang="en-US" sz="2400" dirty="0">
                <a:effectLst/>
              </a:rPr>
              <a:t>​, is the union of the relations.</a:t>
            </a:r>
          </a:p>
          <a:p>
            <a:pPr marL="0" indent="0">
              <a:buNone/>
            </a:pPr>
            <a:r>
              <a:rPr lang="en-US" sz="2400" i="1" dirty="0">
                <a:effectLst/>
              </a:rPr>
              <a:t>R</a:t>
            </a:r>
            <a:r>
              <a:rPr lang="en-US" sz="2400" baseline="-25000" dirty="0">
                <a:effectLst/>
              </a:rPr>
              <a:t>1 </a:t>
            </a:r>
            <a:r>
              <a:rPr lang="en-US" sz="2400" dirty="0">
                <a:effectLst/>
              </a:rPr>
              <a:t>​∨ </a:t>
            </a:r>
            <a:r>
              <a:rPr lang="en-US" sz="2400" i="1" dirty="0">
                <a:effectLst/>
              </a:rPr>
              <a:t>R</a:t>
            </a:r>
            <a:r>
              <a:rPr lang="en-US" sz="2400" baseline="-25000" dirty="0">
                <a:effectLst/>
              </a:rPr>
              <a:t>2 </a:t>
            </a:r>
            <a:r>
              <a:rPr lang="en-US" sz="2400" dirty="0">
                <a:effectLst/>
              </a:rPr>
              <a:t>​= </a:t>
            </a:r>
            <a:r>
              <a:rPr lang="en-US" sz="2400" i="1" dirty="0">
                <a:effectLst/>
              </a:rPr>
              <a:t>M</a:t>
            </a:r>
            <a:r>
              <a:rPr lang="en-US" sz="2400" i="1" baseline="-25000" dirty="0">
                <a:effectLst/>
              </a:rPr>
              <a:t>R</a:t>
            </a:r>
            <a:r>
              <a:rPr lang="en-US" sz="2400" baseline="-25000" dirty="0">
                <a:effectLst/>
              </a:rPr>
              <a:t>1</a:t>
            </a:r>
            <a:r>
              <a:rPr lang="en-US" sz="2400" dirty="0">
                <a:effectLst/>
              </a:rPr>
              <a:t>​ ​∪ </a:t>
            </a:r>
            <a:r>
              <a:rPr lang="en-US" sz="2400" i="1" dirty="0">
                <a:effectLst/>
              </a:rPr>
              <a:t>M</a:t>
            </a:r>
            <a:r>
              <a:rPr lang="en-US" sz="2400" b="0" i="1" baseline="-25000" dirty="0">
                <a:effectLst/>
              </a:rPr>
              <a:t>R</a:t>
            </a:r>
            <a:r>
              <a:rPr lang="en-US" sz="2400" b="0" i="0" baseline="-25000" dirty="0">
                <a:effectLst/>
              </a:rPr>
              <a:t>2</a:t>
            </a:r>
            <a:r>
              <a:rPr lang="en-US" sz="2400" b="0" i="0" dirty="0">
                <a:effectLst/>
              </a:rPr>
              <a:t>​​</a:t>
            </a:r>
          </a:p>
          <a:p>
            <a:pPr marL="0" indent="0">
              <a:buNone/>
            </a:pPr>
            <a:endParaRPr lang="en-US" sz="2400" b="0" i="0" dirty="0">
              <a:effectLst/>
            </a:endParaRPr>
          </a:p>
          <a:p>
            <a:r>
              <a:rPr lang="en-US" sz="2400" b="1" dirty="0">
                <a:effectLst/>
              </a:rPr>
              <a:t>Meet Operation (Intersection):</a:t>
            </a:r>
          </a:p>
          <a:p>
            <a:pPr marL="0" indent="0">
              <a:buNone/>
            </a:pPr>
            <a:r>
              <a:rPr lang="en-US" sz="2400" dirty="0">
                <a:effectLst/>
              </a:rPr>
              <a:t>The meet of two relations </a:t>
            </a:r>
            <a:r>
              <a:rPr lang="en-US" sz="2400" i="1" dirty="0">
                <a:effectLst/>
              </a:rPr>
              <a:t>R</a:t>
            </a:r>
            <a:r>
              <a:rPr lang="en-US" sz="2400" baseline="-25000" dirty="0">
                <a:effectLst/>
              </a:rPr>
              <a:t>1​</a:t>
            </a:r>
            <a:r>
              <a:rPr lang="en-US" sz="2400" dirty="0">
                <a:effectLst/>
              </a:rPr>
              <a:t> and </a:t>
            </a:r>
            <a:r>
              <a:rPr lang="en-US" sz="2400" i="1" dirty="0">
                <a:effectLst/>
              </a:rPr>
              <a:t>R</a:t>
            </a:r>
            <a:r>
              <a:rPr lang="en-US" sz="2400" baseline="-25000" dirty="0">
                <a:effectLst/>
              </a:rPr>
              <a:t>2​</a:t>
            </a:r>
            <a:r>
              <a:rPr lang="en-US" sz="2400" dirty="0">
                <a:effectLst/>
              </a:rPr>
              <a:t>, denoted as </a:t>
            </a:r>
            <a:r>
              <a:rPr lang="en-US" sz="2400" i="1" dirty="0">
                <a:solidFill>
                  <a:schemeClr val="accent1"/>
                </a:solidFill>
                <a:effectLst/>
              </a:rPr>
              <a:t>R</a:t>
            </a:r>
            <a:r>
              <a:rPr lang="en-US" sz="2400" baseline="-25000" dirty="0">
                <a:solidFill>
                  <a:schemeClr val="accent1"/>
                </a:solidFill>
                <a:effectLst/>
              </a:rPr>
              <a:t>1​</a:t>
            </a:r>
            <a:r>
              <a:rPr lang="en-US" sz="2400" dirty="0">
                <a:solidFill>
                  <a:schemeClr val="accent1"/>
                </a:solidFill>
                <a:effectLst/>
              </a:rPr>
              <a:t> ∧ </a:t>
            </a:r>
            <a:r>
              <a:rPr lang="en-US" sz="2400" i="1" dirty="0">
                <a:solidFill>
                  <a:schemeClr val="accent1"/>
                </a:solidFill>
                <a:effectLst/>
              </a:rPr>
              <a:t>R</a:t>
            </a:r>
            <a:r>
              <a:rPr lang="en-US" sz="2400" baseline="-25000" dirty="0">
                <a:solidFill>
                  <a:schemeClr val="accent1"/>
                </a:solidFill>
                <a:effectLst/>
              </a:rPr>
              <a:t>2</a:t>
            </a:r>
            <a:r>
              <a:rPr lang="en-US" sz="2400" baseline="-25000" dirty="0">
                <a:effectLst/>
              </a:rPr>
              <a:t>​</a:t>
            </a:r>
            <a:r>
              <a:rPr lang="en-US" sz="2400" dirty="0">
                <a:effectLst/>
              </a:rPr>
              <a:t>, is the intersection of the relations.</a:t>
            </a:r>
          </a:p>
          <a:p>
            <a:pPr marL="0" indent="0">
              <a:buNone/>
            </a:pPr>
            <a:r>
              <a:rPr lang="en-US" sz="2400" i="1" dirty="0">
                <a:effectLst/>
              </a:rPr>
              <a:t>R</a:t>
            </a:r>
            <a:r>
              <a:rPr lang="en-US" sz="2400" baseline="-25000" dirty="0">
                <a:effectLst/>
              </a:rPr>
              <a:t>1</a:t>
            </a:r>
            <a:r>
              <a:rPr lang="en-US" sz="2400" dirty="0">
                <a:effectLst/>
              </a:rPr>
              <a:t>​ ∧ </a:t>
            </a:r>
            <a:r>
              <a:rPr lang="en-US" sz="2400" i="1" dirty="0">
                <a:effectLst/>
              </a:rPr>
              <a:t>R</a:t>
            </a:r>
            <a:r>
              <a:rPr lang="en-US" sz="2400" baseline="-25000" dirty="0">
                <a:effectLst/>
              </a:rPr>
              <a:t>2</a:t>
            </a:r>
            <a:r>
              <a:rPr lang="en-US" sz="2400" dirty="0">
                <a:effectLst/>
              </a:rPr>
              <a:t> ​= </a:t>
            </a:r>
            <a:r>
              <a:rPr lang="en-US" sz="2400" i="1" dirty="0">
                <a:effectLst/>
              </a:rPr>
              <a:t>M</a:t>
            </a:r>
            <a:r>
              <a:rPr lang="en-US" sz="2400" i="1" baseline="-25000" dirty="0">
                <a:effectLst/>
              </a:rPr>
              <a:t>R</a:t>
            </a:r>
            <a:r>
              <a:rPr lang="en-US" sz="2400" baseline="-25000" dirty="0">
                <a:effectLst/>
              </a:rPr>
              <a:t>1</a:t>
            </a:r>
            <a:r>
              <a:rPr lang="en-US" sz="2400" dirty="0">
                <a:effectLst/>
              </a:rPr>
              <a:t>​ ​∩ </a:t>
            </a:r>
            <a:r>
              <a:rPr lang="en-US" sz="2400" i="1" dirty="0">
                <a:effectLst/>
              </a:rPr>
              <a:t>M</a:t>
            </a:r>
            <a:r>
              <a:rPr lang="en-US" sz="2400" b="0" i="1" baseline="-25000" dirty="0">
                <a:effectLst/>
              </a:rPr>
              <a:t>R</a:t>
            </a:r>
            <a:r>
              <a:rPr lang="en-US" sz="2400" b="0" baseline="-25000" dirty="0">
                <a:effectLst/>
              </a:rPr>
              <a:t>2</a:t>
            </a:r>
            <a:r>
              <a:rPr lang="en-US" sz="2400" b="0" dirty="0">
                <a:effectLst/>
              </a:rPr>
              <a:t>​​</a:t>
            </a:r>
            <a:endParaRPr lang="en-US" sz="2400" dirty="0"/>
          </a:p>
        </p:txBody>
      </p:sp>
    </p:spTree>
    <p:extLst>
      <p:ext uri="{BB962C8B-B14F-4D97-AF65-F5344CB8AC3E}">
        <p14:creationId xmlns:p14="http://schemas.microsoft.com/office/powerpoint/2010/main" val="86285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1555C-FC96-43AE-9196-D3EAE72BD96F}"/>
              </a:ext>
            </a:extLst>
          </p:cNvPr>
          <p:cNvSpPr>
            <a:spLocks noGrp="1"/>
          </p:cNvSpPr>
          <p:nvPr>
            <p:ph type="title"/>
          </p:nvPr>
        </p:nvSpPr>
        <p:spPr/>
        <p:txBody>
          <a:bodyPr/>
          <a:lstStyle/>
          <a:p>
            <a:r>
              <a:rPr lang="en-US" dirty="0"/>
              <a:t>Properties of Relations Using Matrices  </a:t>
            </a:r>
            <a:endParaRPr lang="en-PK" dirty="0"/>
          </a:p>
        </p:txBody>
      </p:sp>
      <p:sp>
        <p:nvSpPr>
          <p:cNvPr id="4" name="Date Placeholder 3">
            <a:extLst>
              <a:ext uri="{FF2B5EF4-FFF2-40B4-BE49-F238E27FC236}">
                <a16:creationId xmlns:a16="http://schemas.microsoft.com/office/drawing/2014/main" id="{495DB796-489C-49AF-9422-868F5A246992}"/>
              </a:ext>
            </a:extLst>
          </p:cNvPr>
          <p:cNvSpPr>
            <a:spLocks noGrp="1"/>
          </p:cNvSpPr>
          <p:nvPr>
            <p:ph type="dt" sz="half" idx="10"/>
          </p:nvPr>
        </p:nvSpPr>
        <p:spPr/>
        <p:txBody>
          <a:bodyPr/>
          <a:lstStyle/>
          <a:p>
            <a:r>
              <a:rPr lang="en-US" dirty="0"/>
              <a:t>31/12/2023</a:t>
            </a:r>
            <a:endParaRPr lang="en-PK" dirty="0"/>
          </a:p>
        </p:txBody>
      </p:sp>
      <p:sp>
        <p:nvSpPr>
          <p:cNvPr id="5" name="Slide Number Placeholder 4">
            <a:extLst>
              <a:ext uri="{FF2B5EF4-FFF2-40B4-BE49-F238E27FC236}">
                <a16:creationId xmlns:a16="http://schemas.microsoft.com/office/drawing/2014/main" id="{99766694-E378-4893-9483-F289AE6BE396}"/>
              </a:ext>
            </a:extLst>
          </p:cNvPr>
          <p:cNvSpPr>
            <a:spLocks noGrp="1"/>
          </p:cNvSpPr>
          <p:nvPr>
            <p:ph type="sldNum" sz="quarter" idx="12"/>
          </p:nvPr>
        </p:nvSpPr>
        <p:spPr/>
        <p:txBody>
          <a:bodyPr/>
          <a:lstStyle/>
          <a:p>
            <a:r>
              <a:rPr dirty="0"/>
              <a:t>29</a:t>
            </a:r>
          </a:p>
        </p:txBody>
      </p:sp>
      <p:sp>
        <p:nvSpPr>
          <p:cNvPr id="7" name="Content Placeholder 6">
            <a:extLst>
              <a:ext uri="{FF2B5EF4-FFF2-40B4-BE49-F238E27FC236}">
                <a16:creationId xmlns:a16="http://schemas.microsoft.com/office/drawing/2014/main" id="{80351678-F42A-4FF1-9C5F-8259C608CF6E}"/>
              </a:ext>
            </a:extLst>
          </p:cNvPr>
          <p:cNvSpPr>
            <a:spLocks noGrp="1"/>
          </p:cNvSpPr>
          <p:nvPr>
            <p:ph idx="1"/>
          </p:nvPr>
        </p:nvSpPr>
        <p:spPr/>
        <p:txBody>
          <a:bodyPr>
            <a:normAutofit/>
          </a:bodyPr>
          <a:lstStyle/>
          <a:p>
            <a:r>
              <a:rPr lang="en-US" sz="2400" b="1" dirty="0"/>
              <a:t>Example:</a:t>
            </a:r>
          </a:p>
          <a:p>
            <a:pPr marL="0" indent="0" algn="l">
              <a:buNone/>
            </a:pPr>
            <a:r>
              <a:rPr lang="en-US" sz="2400" b="0" i="0" dirty="0">
                <a:effectLst/>
              </a:rPr>
              <a:t>Consider two relations </a:t>
            </a:r>
            <a:r>
              <a:rPr lang="en-US" sz="2400" b="0" i="1" dirty="0">
                <a:effectLst/>
              </a:rPr>
              <a:t>R</a:t>
            </a:r>
            <a:r>
              <a:rPr lang="en-US" sz="2400" b="0" i="0" baseline="-25000" dirty="0">
                <a:effectLst/>
              </a:rPr>
              <a:t>1</a:t>
            </a:r>
            <a:r>
              <a:rPr lang="en-US" sz="2400" b="0" i="0" dirty="0">
                <a:effectLst/>
              </a:rPr>
              <a:t>​ and </a:t>
            </a:r>
            <a:r>
              <a:rPr lang="en-US" sz="2400" b="0" i="1" dirty="0">
                <a:effectLst/>
              </a:rPr>
              <a:t>R</a:t>
            </a:r>
            <a:r>
              <a:rPr lang="en-US" sz="2400" b="0" i="0" baseline="-25000" dirty="0">
                <a:effectLst/>
              </a:rPr>
              <a:t>2</a:t>
            </a:r>
            <a:r>
              <a:rPr lang="en-US" sz="2400" b="0" i="0" dirty="0">
                <a:effectLst/>
              </a:rPr>
              <a:t>​ using 3x3 matrices:</a:t>
            </a:r>
            <a:endParaRPr lang="en-US" sz="2400" dirty="0"/>
          </a:p>
          <a:p>
            <a:pPr marL="0" indent="0" algn="l">
              <a:buNone/>
            </a:pPr>
            <a:endParaRPr lang="en-US" sz="2400" dirty="0"/>
          </a:p>
          <a:p>
            <a:pPr marL="0" indent="0" algn="l">
              <a:buNone/>
            </a:pPr>
            <a:r>
              <a:rPr lang="en-US" sz="2400" dirty="0"/>
              <a:t>				</a:t>
            </a:r>
          </a:p>
          <a:p>
            <a:pPr marL="0" indent="0" algn="l">
              <a:buNone/>
            </a:pPr>
            <a:r>
              <a:rPr lang="en-US" sz="2400" dirty="0"/>
              <a:t>				</a:t>
            </a:r>
            <a:r>
              <a:rPr lang="en-US" sz="2400" dirty="0">
                <a:solidFill>
                  <a:schemeClr val="accent1"/>
                </a:solidFill>
              </a:rPr>
              <a:t>      &gt;&gt; </a:t>
            </a:r>
            <a:r>
              <a:rPr lang="en-US" sz="2400" dirty="0"/>
              <a:t>Join</a:t>
            </a:r>
            <a:r>
              <a:rPr lang="en-US" sz="2400" dirty="0">
                <a:solidFill>
                  <a:schemeClr val="accent1"/>
                </a:solidFill>
              </a:rPr>
              <a:t> &gt;&gt;</a:t>
            </a:r>
          </a:p>
          <a:p>
            <a:pPr marL="0" indent="0" algn="l">
              <a:buNone/>
            </a:pPr>
            <a:endParaRPr lang="en-US" sz="2400" dirty="0"/>
          </a:p>
          <a:p>
            <a:pPr marL="0" indent="0" algn="l">
              <a:buNone/>
            </a:pPr>
            <a:endParaRPr lang="en-US" sz="2400" dirty="0"/>
          </a:p>
          <a:p>
            <a:pPr marL="0" indent="0" algn="l">
              <a:buNone/>
            </a:pPr>
            <a:r>
              <a:rPr lang="en-US" sz="2400" dirty="0">
                <a:solidFill>
                  <a:schemeClr val="accent1"/>
                </a:solidFill>
              </a:rPr>
              <a:t>				     &gt;&gt; </a:t>
            </a:r>
            <a:r>
              <a:rPr lang="en-US" sz="2400" dirty="0"/>
              <a:t>Meet</a:t>
            </a:r>
            <a:r>
              <a:rPr lang="en-US" sz="2400" dirty="0">
                <a:solidFill>
                  <a:schemeClr val="accent1"/>
                </a:solidFill>
              </a:rPr>
              <a:t> &gt;&gt;</a:t>
            </a:r>
          </a:p>
        </p:txBody>
      </p:sp>
      <p:graphicFrame>
        <p:nvGraphicFramePr>
          <p:cNvPr id="9" name="Table 43">
            <a:extLst>
              <a:ext uri="{FF2B5EF4-FFF2-40B4-BE49-F238E27FC236}">
                <a16:creationId xmlns:a16="http://schemas.microsoft.com/office/drawing/2014/main" id="{1303BD47-2214-40E9-98F3-80F373D78716}"/>
              </a:ext>
            </a:extLst>
          </p:cNvPr>
          <p:cNvGraphicFramePr>
            <a:graphicFrameLocks noGrp="1"/>
          </p:cNvGraphicFramePr>
          <p:nvPr>
            <p:extLst>
              <p:ext uri="{D42A27DB-BD31-4B8C-83A1-F6EECF244321}">
                <p14:modId xmlns:p14="http://schemas.microsoft.com/office/powerpoint/2010/main" val="4186272668"/>
              </p:ext>
            </p:extLst>
          </p:nvPr>
        </p:nvGraphicFramePr>
        <p:xfrm>
          <a:off x="1307374" y="2987243"/>
          <a:ext cx="2788353" cy="1554480"/>
        </p:xfrm>
        <a:graphic>
          <a:graphicData uri="http://schemas.openxmlformats.org/drawingml/2006/table">
            <a:tbl>
              <a:tblPr firstRow="1" bandRow="1">
                <a:tableStyleId>{2D5ABB26-0587-4C30-8999-92F81FD0307C}</a:tableStyleId>
              </a:tblPr>
              <a:tblGrid>
                <a:gridCol w="925913">
                  <a:extLst>
                    <a:ext uri="{9D8B030D-6E8A-4147-A177-3AD203B41FA5}">
                      <a16:colId xmlns:a16="http://schemas.microsoft.com/office/drawing/2014/main" val="1307947629"/>
                    </a:ext>
                  </a:extLst>
                </a:gridCol>
                <a:gridCol w="236786">
                  <a:extLst>
                    <a:ext uri="{9D8B030D-6E8A-4147-A177-3AD203B41FA5}">
                      <a16:colId xmlns:a16="http://schemas.microsoft.com/office/drawing/2014/main" val="2050407541"/>
                    </a:ext>
                  </a:extLst>
                </a:gridCol>
                <a:gridCol w="462956">
                  <a:extLst>
                    <a:ext uri="{9D8B030D-6E8A-4147-A177-3AD203B41FA5}">
                      <a16:colId xmlns:a16="http://schemas.microsoft.com/office/drawing/2014/main" val="1655424674"/>
                    </a:ext>
                  </a:extLst>
                </a:gridCol>
                <a:gridCol w="462956">
                  <a:extLst>
                    <a:ext uri="{9D8B030D-6E8A-4147-A177-3AD203B41FA5}">
                      <a16:colId xmlns:a16="http://schemas.microsoft.com/office/drawing/2014/main" val="673293229"/>
                    </a:ext>
                  </a:extLst>
                </a:gridCol>
                <a:gridCol w="462956">
                  <a:extLst>
                    <a:ext uri="{9D8B030D-6E8A-4147-A177-3AD203B41FA5}">
                      <a16:colId xmlns:a16="http://schemas.microsoft.com/office/drawing/2014/main" val="3842577041"/>
                    </a:ext>
                  </a:extLst>
                </a:gridCol>
                <a:gridCol w="236786">
                  <a:extLst>
                    <a:ext uri="{9D8B030D-6E8A-4147-A177-3AD203B41FA5}">
                      <a16:colId xmlns:a16="http://schemas.microsoft.com/office/drawing/2014/main" val="32664454"/>
                    </a:ext>
                  </a:extLst>
                </a:gridCol>
              </a:tblGrid>
              <a:tr h="457970">
                <a:tc>
                  <a:txBody>
                    <a:bodyPr/>
                    <a:lstStyle/>
                    <a:p>
                      <a:pPr algn="ctr"/>
                      <a:endParaRPr lang="en-PK" sz="2800" dirty="0">
                        <a:solidFill>
                          <a:schemeClr val="accent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PK" sz="2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800" dirty="0">
                          <a:solidFill>
                            <a:schemeClr val="tx1"/>
                          </a:solidFill>
                        </a:rPr>
                        <a:t>1</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800" dirty="0">
                          <a:solidFill>
                            <a:schemeClr val="tx1"/>
                          </a:solidFill>
                        </a:rPr>
                        <a:t>0</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800" dirty="0">
                          <a:solidFill>
                            <a:schemeClr val="tx1"/>
                          </a:solidFill>
                        </a:rPr>
                        <a:t>1</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PK" sz="2800" dirty="0">
                        <a:solidFill>
                          <a:schemeClr val="accent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461474694"/>
                  </a:ext>
                </a:extLst>
              </a:tr>
              <a:tr h="457970">
                <a:tc>
                  <a:txBody>
                    <a:bodyPr/>
                    <a:lstStyle/>
                    <a:p>
                      <a:pPr algn="ctr"/>
                      <a:r>
                        <a:rPr lang="en-US" sz="2800" dirty="0">
                          <a:solidFill>
                            <a:schemeClr val="accent1"/>
                          </a:solidFill>
                        </a:rPr>
                        <a:t>R</a:t>
                      </a:r>
                      <a:r>
                        <a:rPr lang="en-US" sz="2800" baseline="-25000" dirty="0">
                          <a:solidFill>
                            <a:schemeClr val="accent1"/>
                          </a:solidFill>
                        </a:rPr>
                        <a:t>1</a:t>
                      </a:r>
                      <a:r>
                        <a:rPr lang="en-US" sz="2800" dirty="0">
                          <a:solidFill>
                            <a:schemeClr val="accent1"/>
                          </a:solidFill>
                        </a:rPr>
                        <a:t> = </a:t>
                      </a:r>
                      <a:endParaRPr lang="en-PK" sz="2800" dirty="0">
                        <a:solidFill>
                          <a:schemeClr val="accent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PK" sz="2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800" dirty="0">
                          <a:solidFill>
                            <a:schemeClr val="tx1"/>
                          </a:solidFill>
                        </a:rPr>
                        <a:t>0</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800" dirty="0">
                          <a:solidFill>
                            <a:schemeClr val="tx1"/>
                          </a:solidFill>
                        </a:rPr>
                        <a:t>1</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800" dirty="0">
                          <a:solidFill>
                            <a:schemeClr val="tx1"/>
                          </a:solidFill>
                        </a:rPr>
                        <a:t>0</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PK" sz="2800" dirty="0">
                        <a:solidFill>
                          <a:schemeClr val="accent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42340046"/>
                  </a:ext>
                </a:extLst>
              </a:tr>
              <a:tr h="457970">
                <a:tc>
                  <a:txBody>
                    <a:bodyPr/>
                    <a:lstStyle/>
                    <a:p>
                      <a:pPr algn="ctr"/>
                      <a:endParaRPr lang="en-PK" sz="2800" dirty="0">
                        <a:solidFill>
                          <a:schemeClr val="accent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PK" sz="2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800" dirty="0">
                          <a:solidFill>
                            <a:schemeClr val="tx1"/>
                          </a:solidFill>
                        </a:rPr>
                        <a:t>1</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800" dirty="0">
                          <a:solidFill>
                            <a:schemeClr val="tx1"/>
                          </a:solidFill>
                        </a:rPr>
                        <a:t>0</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800" dirty="0">
                          <a:solidFill>
                            <a:schemeClr val="tx1"/>
                          </a:solidFill>
                        </a:rPr>
                        <a:t>1</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PK" sz="2800" dirty="0">
                        <a:solidFill>
                          <a:schemeClr val="accent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04494055"/>
                  </a:ext>
                </a:extLst>
              </a:tr>
            </a:tbl>
          </a:graphicData>
        </a:graphic>
      </p:graphicFrame>
      <p:graphicFrame>
        <p:nvGraphicFramePr>
          <p:cNvPr id="10" name="Table 43">
            <a:extLst>
              <a:ext uri="{FF2B5EF4-FFF2-40B4-BE49-F238E27FC236}">
                <a16:creationId xmlns:a16="http://schemas.microsoft.com/office/drawing/2014/main" id="{273A4F09-64F0-414E-A985-04ABBE7CA48E}"/>
              </a:ext>
            </a:extLst>
          </p:cNvPr>
          <p:cNvGraphicFramePr>
            <a:graphicFrameLocks noGrp="1"/>
          </p:cNvGraphicFramePr>
          <p:nvPr>
            <p:extLst>
              <p:ext uri="{D42A27DB-BD31-4B8C-83A1-F6EECF244321}">
                <p14:modId xmlns:p14="http://schemas.microsoft.com/office/powerpoint/2010/main" val="199019097"/>
              </p:ext>
            </p:extLst>
          </p:nvPr>
        </p:nvGraphicFramePr>
        <p:xfrm>
          <a:off x="1307373" y="4801870"/>
          <a:ext cx="2788353" cy="1554480"/>
        </p:xfrm>
        <a:graphic>
          <a:graphicData uri="http://schemas.openxmlformats.org/drawingml/2006/table">
            <a:tbl>
              <a:tblPr firstRow="1" bandRow="1">
                <a:tableStyleId>{2D5ABB26-0587-4C30-8999-92F81FD0307C}</a:tableStyleId>
              </a:tblPr>
              <a:tblGrid>
                <a:gridCol w="925913">
                  <a:extLst>
                    <a:ext uri="{9D8B030D-6E8A-4147-A177-3AD203B41FA5}">
                      <a16:colId xmlns:a16="http://schemas.microsoft.com/office/drawing/2014/main" val="1307947629"/>
                    </a:ext>
                  </a:extLst>
                </a:gridCol>
                <a:gridCol w="236786">
                  <a:extLst>
                    <a:ext uri="{9D8B030D-6E8A-4147-A177-3AD203B41FA5}">
                      <a16:colId xmlns:a16="http://schemas.microsoft.com/office/drawing/2014/main" val="2050407541"/>
                    </a:ext>
                  </a:extLst>
                </a:gridCol>
                <a:gridCol w="462956">
                  <a:extLst>
                    <a:ext uri="{9D8B030D-6E8A-4147-A177-3AD203B41FA5}">
                      <a16:colId xmlns:a16="http://schemas.microsoft.com/office/drawing/2014/main" val="1655424674"/>
                    </a:ext>
                  </a:extLst>
                </a:gridCol>
                <a:gridCol w="462956">
                  <a:extLst>
                    <a:ext uri="{9D8B030D-6E8A-4147-A177-3AD203B41FA5}">
                      <a16:colId xmlns:a16="http://schemas.microsoft.com/office/drawing/2014/main" val="673293229"/>
                    </a:ext>
                  </a:extLst>
                </a:gridCol>
                <a:gridCol w="462956">
                  <a:extLst>
                    <a:ext uri="{9D8B030D-6E8A-4147-A177-3AD203B41FA5}">
                      <a16:colId xmlns:a16="http://schemas.microsoft.com/office/drawing/2014/main" val="3842577041"/>
                    </a:ext>
                  </a:extLst>
                </a:gridCol>
                <a:gridCol w="236786">
                  <a:extLst>
                    <a:ext uri="{9D8B030D-6E8A-4147-A177-3AD203B41FA5}">
                      <a16:colId xmlns:a16="http://schemas.microsoft.com/office/drawing/2014/main" val="32664454"/>
                    </a:ext>
                  </a:extLst>
                </a:gridCol>
              </a:tblGrid>
              <a:tr h="457970">
                <a:tc>
                  <a:txBody>
                    <a:bodyPr/>
                    <a:lstStyle/>
                    <a:p>
                      <a:pPr algn="ctr"/>
                      <a:endParaRPr lang="en-PK" sz="2800" dirty="0">
                        <a:solidFill>
                          <a:schemeClr val="accent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PK" sz="2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800" dirty="0">
                          <a:solidFill>
                            <a:schemeClr val="tx1"/>
                          </a:solidFill>
                        </a:rPr>
                        <a:t>0</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800" dirty="0">
                          <a:solidFill>
                            <a:schemeClr val="tx1"/>
                          </a:solidFill>
                        </a:rPr>
                        <a:t>1</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800" dirty="0">
                          <a:solidFill>
                            <a:schemeClr val="tx1"/>
                          </a:solidFill>
                        </a:rPr>
                        <a:t>0</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PK" sz="2800" dirty="0">
                        <a:solidFill>
                          <a:schemeClr val="accent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461474694"/>
                  </a:ext>
                </a:extLst>
              </a:tr>
              <a:tr h="457970">
                <a:tc>
                  <a:txBody>
                    <a:bodyPr/>
                    <a:lstStyle/>
                    <a:p>
                      <a:pPr algn="ctr"/>
                      <a:r>
                        <a:rPr lang="en-US" sz="2800" dirty="0">
                          <a:solidFill>
                            <a:schemeClr val="accent1"/>
                          </a:solidFill>
                        </a:rPr>
                        <a:t>R</a:t>
                      </a:r>
                      <a:r>
                        <a:rPr lang="en-US" sz="2800" baseline="-25000" dirty="0">
                          <a:solidFill>
                            <a:schemeClr val="accent1"/>
                          </a:solidFill>
                        </a:rPr>
                        <a:t>2</a:t>
                      </a:r>
                      <a:r>
                        <a:rPr lang="en-US" sz="2800" dirty="0">
                          <a:solidFill>
                            <a:schemeClr val="accent1"/>
                          </a:solidFill>
                        </a:rPr>
                        <a:t> = </a:t>
                      </a:r>
                      <a:endParaRPr lang="en-PK" sz="2800" dirty="0">
                        <a:solidFill>
                          <a:schemeClr val="accent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PK" sz="2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800" dirty="0">
                          <a:solidFill>
                            <a:schemeClr val="tx1"/>
                          </a:solidFill>
                        </a:rPr>
                        <a:t>1</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800" dirty="0">
                          <a:solidFill>
                            <a:schemeClr val="tx1"/>
                          </a:solidFill>
                        </a:rPr>
                        <a:t>0</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800" dirty="0">
                          <a:solidFill>
                            <a:schemeClr val="tx1"/>
                          </a:solidFill>
                        </a:rPr>
                        <a:t>1</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PK" sz="2800" dirty="0">
                        <a:solidFill>
                          <a:schemeClr val="accent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42340046"/>
                  </a:ext>
                </a:extLst>
              </a:tr>
              <a:tr h="457970">
                <a:tc>
                  <a:txBody>
                    <a:bodyPr/>
                    <a:lstStyle/>
                    <a:p>
                      <a:pPr algn="ctr"/>
                      <a:endParaRPr lang="en-PK" sz="2800" dirty="0">
                        <a:solidFill>
                          <a:schemeClr val="accent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PK" sz="2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800" dirty="0">
                          <a:solidFill>
                            <a:schemeClr val="tx1"/>
                          </a:solidFill>
                        </a:rPr>
                        <a:t>0</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800" dirty="0">
                          <a:solidFill>
                            <a:schemeClr val="tx1"/>
                          </a:solidFill>
                        </a:rPr>
                        <a:t>1</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800" dirty="0">
                          <a:solidFill>
                            <a:schemeClr val="tx1"/>
                          </a:solidFill>
                        </a:rPr>
                        <a:t>0</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PK" sz="2800" dirty="0">
                        <a:solidFill>
                          <a:schemeClr val="accent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04494055"/>
                  </a:ext>
                </a:extLst>
              </a:tr>
            </a:tbl>
          </a:graphicData>
        </a:graphic>
      </p:graphicFrame>
      <p:graphicFrame>
        <p:nvGraphicFramePr>
          <p:cNvPr id="11" name="Table 43">
            <a:extLst>
              <a:ext uri="{FF2B5EF4-FFF2-40B4-BE49-F238E27FC236}">
                <a16:creationId xmlns:a16="http://schemas.microsoft.com/office/drawing/2014/main" id="{E5DA256C-91A0-4844-A93D-169D19767B32}"/>
              </a:ext>
            </a:extLst>
          </p:cNvPr>
          <p:cNvGraphicFramePr>
            <a:graphicFrameLocks noGrp="1"/>
          </p:cNvGraphicFramePr>
          <p:nvPr>
            <p:extLst>
              <p:ext uri="{D42A27DB-BD31-4B8C-83A1-F6EECF244321}">
                <p14:modId xmlns:p14="http://schemas.microsoft.com/office/powerpoint/2010/main" val="3212429702"/>
              </p:ext>
            </p:extLst>
          </p:nvPr>
        </p:nvGraphicFramePr>
        <p:xfrm>
          <a:off x="7013292" y="2987243"/>
          <a:ext cx="3482440" cy="1554480"/>
        </p:xfrm>
        <a:graphic>
          <a:graphicData uri="http://schemas.openxmlformats.org/drawingml/2006/table">
            <a:tbl>
              <a:tblPr firstRow="1" bandRow="1">
                <a:tableStyleId>{2D5ABB26-0587-4C30-8999-92F81FD0307C}</a:tableStyleId>
              </a:tblPr>
              <a:tblGrid>
                <a:gridCol w="1620000">
                  <a:extLst>
                    <a:ext uri="{9D8B030D-6E8A-4147-A177-3AD203B41FA5}">
                      <a16:colId xmlns:a16="http://schemas.microsoft.com/office/drawing/2014/main" val="1307947629"/>
                    </a:ext>
                  </a:extLst>
                </a:gridCol>
                <a:gridCol w="236786">
                  <a:extLst>
                    <a:ext uri="{9D8B030D-6E8A-4147-A177-3AD203B41FA5}">
                      <a16:colId xmlns:a16="http://schemas.microsoft.com/office/drawing/2014/main" val="2050407541"/>
                    </a:ext>
                  </a:extLst>
                </a:gridCol>
                <a:gridCol w="462956">
                  <a:extLst>
                    <a:ext uri="{9D8B030D-6E8A-4147-A177-3AD203B41FA5}">
                      <a16:colId xmlns:a16="http://schemas.microsoft.com/office/drawing/2014/main" val="1655424674"/>
                    </a:ext>
                  </a:extLst>
                </a:gridCol>
                <a:gridCol w="462956">
                  <a:extLst>
                    <a:ext uri="{9D8B030D-6E8A-4147-A177-3AD203B41FA5}">
                      <a16:colId xmlns:a16="http://schemas.microsoft.com/office/drawing/2014/main" val="673293229"/>
                    </a:ext>
                  </a:extLst>
                </a:gridCol>
                <a:gridCol w="462956">
                  <a:extLst>
                    <a:ext uri="{9D8B030D-6E8A-4147-A177-3AD203B41FA5}">
                      <a16:colId xmlns:a16="http://schemas.microsoft.com/office/drawing/2014/main" val="3842577041"/>
                    </a:ext>
                  </a:extLst>
                </a:gridCol>
                <a:gridCol w="236786">
                  <a:extLst>
                    <a:ext uri="{9D8B030D-6E8A-4147-A177-3AD203B41FA5}">
                      <a16:colId xmlns:a16="http://schemas.microsoft.com/office/drawing/2014/main" val="32664454"/>
                    </a:ext>
                  </a:extLst>
                </a:gridCol>
              </a:tblGrid>
              <a:tr h="457970">
                <a:tc>
                  <a:txBody>
                    <a:bodyPr/>
                    <a:lstStyle/>
                    <a:p>
                      <a:pPr algn="ctr"/>
                      <a:endParaRPr lang="en-PK" sz="2800" dirty="0">
                        <a:solidFill>
                          <a:schemeClr val="accent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PK" sz="2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800" dirty="0">
                          <a:solidFill>
                            <a:schemeClr val="tx1"/>
                          </a:solidFill>
                        </a:rPr>
                        <a:t>1</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800" dirty="0">
                          <a:solidFill>
                            <a:schemeClr val="tx1"/>
                          </a:solidFill>
                        </a:rPr>
                        <a:t>1</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800" dirty="0">
                          <a:solidFill>
                            <a:schemeClr val="tx1"/>
                          </a:solidFill>
                        </a:rPr>
                        <a:t>1</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PK" sz="2800" dirty="0">
                        <a:solidFill>
                          <a:schemeClr val="accent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461474694"/>
                  </a:ext>
                </a:extLst>
              </a:tr>
              <a:tr h="457970">
                <a:tc>
                  <a:txBody>
                    <a:bodyPr/>
                    <a:lstStyle/>
                    <a:p>
                      <a:pPr algn="ctr"/>
                      <a:r>
                        <a:rPr lang="en-US" sz="2800" i="1" dirty="0">
                          <a:solidFill>
                            <a:schemeClr val="accent1"/>
                          </a:solidFill>
                          <a:effectLst/>
                        </a:rPr>
                        <a:t>R</a:t>
                      </a:r>
                      <a:r>
                        <a:rPr lang="en-US" sz="2800" baseline="-25000" dirty="0">
                          <a:solidFill>
                            <a:schemeClr val="accent1"/>
                          </a:solidFill>
                          <a:effectLst/>
                        </a:rPr>
                        <a:t>1</a:t>
                      </a:r>
                      <a:r>
                        <a:rPr lang="en-US" sz="2800" dirty="0">
                          <a:solidFill>
                            <a:schemeClr val="accent1"/>
                          </a:solidFill>
                          <a:effectLst/>
                        </a:rPr>
                        <a:t>​ ∨ </a:t>
                      </a:r>
                      <a:r>
                        <a:rPr lang="en-US" sz="2800" i="1" dirty="0">
                          <a:solidFill>
                            <a:schemeClr val="accent1"/>
                          </a:solidFill>
                          <a:effectLst/>
                        </a:rPr>
                        <a:t>R</a:t>
                      </a:r>
                      <a:r>
                        <a:rPr lang="en-US" sz="2800" baseline="-25000" dirty="0">
                          <a:solidFill>
                            <a:schemeClr val="accent1"/>
                          </a:solidFill>
                          <a:effectLst/>
                        </a:rPr>
                        <a:t>2</a:t>
                      </a:r>
                      <a:r>
                        <a:rPr lang="en-US" sz="2800" dirty="0">
                          <a:solidFill>
                            <a:schemeClr val="accent1"/>
                          </a:solidFill>
                        </a:rPr>
                        <a:t> = </a:t>
                      </a:r>
                      <a:endParaRPr lang="en-PK" sz="2800" dirty="0">
                        <a:solidFill>
                          <a:schemeClr val="accent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PK" sz="2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800" dirty="0">
                          <a:solidFill>
                            <a:schemeClr val="tx1"/>
                          </a:solidFill>
                        </a:rPr>
                        <a:t>1</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800" dirty="0">
                          <a:solidFill>
                            <a:schemeClr val="tx1"/>
                          </a:solidFill>
                        </a:rPr>
                        <a:t>1</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800" dirty="0">
                          <a:solidFill>
                            <a:schemeClr val="tx1"/>
                          </a:solidFill>
                        </a:rPr>
                        <a:t>1</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PK" sz="2800" dirty="0">
                        <a:solidFill>
                          <a:schemeClr val="accent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42340046"/>
                  </a:ext>
                </a:extLst>
              </a:tr>
              <a:tr h="457970">
                <a:tc>
                  <a:txBody>
                    <a:bodyPr/>
                    <a:lstStyle/>
                    <a:p>
                      <a:pPr algn="ctr"/>
                      <a:endParaRPr lang="en-PK" sz="2800" dirty="0">
                        <a:solidFill>
                          <a:schemeClr val="accent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PK" sz="2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800" dirty="0">
                          <a:solidFill>
                            <a:schemeClr val="tx1"/>
                          </a:solidFill>
                        </a:rPr>
                        <a:t>1</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800" dirty="0">
                          <a:solidFill>
                            <a:schemeClr val="tx1"/>
                          </a:solidFill>
                        </a:rPr>
                        <a:t>1</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800" dirty="0">
                          <a:solidFill>
                            <a:schemeClr val="tx1"/>
                          </a:solidFill>
                        </a:rPr>
                        <a:t>1</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PK" sz="2800" dirty="0">
                        <a:solidFill>
                          <a:schemeClr val="accent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04494055"/>
                  </a:ext>
                </a:extLst>
              </a:tr>
            </a:tbl>
          </a:graphicData>
        </a:graphic>
      </p:graphicFrame>
      <p:graphicFrame>
        <p:nvGraphicFramePr>
          <p:cNvPr id="12" name="Table 43">
            <a:extLst>
              <a:ext uri="{FF2B5EF4-FFF2-40B4-BE49-F238E27FC236}">
                <a16:creationId xmlns:a16="http://schemas.microsoft.com/office/drawing/2014/main" id="{D49216FC-D789-45BD-AF34-B489B6F69393}"/>
              </a:ext>
            </a:extLst>
          </p:cNvPr>
          <p:cNvGraphicFramePr>
            <a:graphicFrameLocks noGrp="1"/>
          </p:cNvGraphicFramePr>
          <p:nvPr>
            <p:extLst>
              <p:ext uri="{D42A27DB-BD31-4B8C-83A1-F6EECF244321}">
                <p14:modId xmlns:p14="http://schemas.microsoft.com/office/powerpoint/2010/main" val="748884010"/>
              </p:ext>
            </p:extLst>
          </p:nvPr>
        </p:nvGraphicFramePr>
        <p:xfrm>
          <a:off x="7013292" y="4801870"/>
          <a:ext cx="3482440" cy="1554480"/>
        </p:xfrm>
        <a:graphic>
          <a:graphicData uri="http://schemas.openxmlformats.org/drawingml/2006/table">
            <a:tbl>
              <a:tblPr firstRow="1" bandRow="1">
                <a:tableStyleId>{2D5ABB26-0587-4C30-8999-92F81FD0307C}</a:tableStyleId>
              </a:tblPr>
              <a:tblGrid>
                <a:gridCol w="1620000">
                  <a:extLst>
                    <a:ext uri="{9D8B030D-6E8A-4147-A177-3AD203B41FA5}">
                      <a16:colId xmlns:a16="http://schemas.microsoft.com/office/drawing/2014/main" val="1307947629"/>
                    </a:ext>
                  </a:extLst>
                </a:gridCol>
                <a:gridCol w="236786">
                  <a:extLst>
                    <a:ext uri="{9D8B030D-6E8A-4147-A177-3AD203B41FA5}">
                      <a16:colId xmlns:a16="http://schemas.microsoft.com/office/drawing/2014/main" val="2050407541"/>
                    </a:ext>
                  </a:extLst>
                </a:gridCol>
                <a:gridCol w="462956">
                  <a:extLst>
                    <a:ext uri="{9D8B030D-6E8A-4147-A177-3AD203B41FA5}">
                      <a16:colId xmlns:a16="http://schemas.microsoft.com/office/drawing/2014/main" val="1655424674"/>
                    </a:ext>
                  </a:extLst>
                </a:gridCol>
                <a:gridCol w="462956">
                  <a:extLst>
                    <a:ext uri="{9D8B030D-6E8A-4147-A177-3AD203B41FA5}">
                      <a16:colId xmlns:a16="http://schemas.microsoft.com/office/drawing/2014/main" val="673293229"/>
                    </a:ext>
                  </a:extLst>
                </a:gridCol>
                <a:gridCol w="462956">
                  <a:extLst>
                    <a:ext uri="{9D8B030D-6E8A-4147-A177-3AD203B41FA5}">
                      <a16:colId xmlns:a16="http://schemas.microsoft.com/office/drawing/2014/main" val="3842577041"/>
                    </a:ext>
                  </a:extLst>
                </a:gridCol>
                <a:gridCol w="236786">
                  <a:extLst>
                    <a:ext uri="{9D8B030D-6E8A-4147-A177-3AD203B41FA5}">
                      <a16:colId xmlns:a16="http://schemas.microsoft.com/office/drawing/2014/main" val="32664454"/>
                    </a:ext>
                  </a:extLst>
                </a:gridCol>
              </a:tblGrid>
              <a:tr h="457970">
                <a:tc>
                  <a:txBody>
                    <a:bodyPr/>
                    <a:lstStyle/>
                    <a:p>
                      <a:pPr algn="ctr"/>
                      <a:endParaRPr lang="en-PK" sz="2800" dirty="0">
                        <a:solidFill>
                          <a:schemeClr val="accent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PK" sz="2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800" dirty="0">
                          <a:solidFill>
                            <a:schemeClr val="tx1"/>
                          </a:solidFill>
                        </a:rPr>
                        <a:t>0</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800" dirty="0">
                          <a:solidFill>
                            <a:schemeClr val="tx1"/>
                          </a:solidFill>
                        </a:rPr>
                        <a:t>0</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800" dirty="0">
                          <a:solidFill>
                            <a:schemeClr val="tx1"/>
                          </a:solidFill>
                        </a:rPr>
                        <a:t>0</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PK" sz="2800" dirty="0">
                        <a:solidFill>
                          <a:schemeClr val="accent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461474694"/>
                  </a:ext>
                </a:extLst>
              </a:tr>
              <a:tr h="457970">
                <a:tc>
                  <a:txBody>
                    <a:bodyPr/>
                    <a:lstStyle/>
                    <a:p>
                      <a:pPr algn="ctr"/>
                      <a:r>
                        <a:rPr lang="en-US" sz="2800" i="1" dirty="0">
                          <a:solidFill>
                            <a:schemeClr val="accent1"/>
                          </a:solidFill>
                          <a:effectLst/>
                        </a:rPr>
                        <a:t>R</a:t>
                      </a:r>
                      <a:r>
                        <a:rPr lang="en-US" sz="2800" baseline="-25000" dirty="0">
                          <a:solidFill>
                            <a:schemeClr val="accent1"/>
                          </a:solidFill>
                          <a:effectLst/>
                        </a:rPr>
                        <a:t>1</a:t>
                      </a:r>
                      <a:r>
                        <a:rPr lang="en-US" sz="2800" dirty="0">
                          <a:solidFill>
                            <a:schemeClr val="accent1"/>
                          </a:solidFill>
                          <a:effectLst/>
                        </a:rPr>
                        <a:t>​ ∧ </a:t>
                      </a:r>
                      <a:r>
                        <a:rPr lang="en-US" sz="2800" i="1" dirty="0">
                          <a:solidFill>
                            <a:schemeClr val="accent1"/>
                          </a:solidFill>
                          <a:effectLst/>
                        </a:rPr>
                        <a:t>R</a:t>
                      </a:r>
                      <a:r>
                        <a:rPr lang="en-US" sz="2800" baseline="-25000" dirty="0">
                          <a:solidFill>
                            <a:schemeClr val="accent1"/>
                          </a:solidFill>
                          <a:effectLst/>
                        </a:rPr>
                        <a:t>2</a:t>
                      </a:r>
                      <a:r>
                        <a:rPr lang="en-US" sz="2800" dirty="0">
                          <a:solidFill>
                            <a:schemeClr val="accent1"/>
                          </a:solidFill>
                        </a:rPr>
                        <a:t> = </a:t>
                      </a:r>
                      <a:endParaRPr lang="en-PK" sz="2800" dirty="0">
                        <a:solidFill>
                          <a:schemeClr val="accent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PK" sz="2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800" dirty="0">
                          <a:solidFill>
                            <a:schemeClr val="tx1"/>
                          </a:solidFill>
                        </a:rPr>
                        <a:t>0</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800" dirty="0">
                          <a:solidFill>
                            <a:schemeClr val="tx1"/>
                          </a:solidFill>
                        </a:rPr>
                        <a:t>0</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800" dirty="0">
                          <a:solidFill>
                            <a:schemeClr val="tx1"/>
                          </a:solidFill>
                        </a:rPr>
                        <a:t>0</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PK" sz="2800" dirty="0">
                        <a:solidFill>
                          <a:schemeClr val="accent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42340046"/>
                  </a:ext>
                </a:extLst>
              </a:tr>
              <a:tr h="457970">
                <a:tc>
                  <a:txBody>
                    <a:bodyPr/>
                    <a:lstStyle/>
                    <a:p>
                      <a:pPr algn="ctr"/>
                      <a:endParaRPr lang="en-PK" sz="2800" dirty="0">
                        <a:solidFill>
                          <a:schemeClr val="accent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PK" sz="2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800" dirty="0">
                          <a:solidFill>
                            <a:schemeClr val="tx1"/>
                          </a:solidFill>
                        </a:rPr>
                        <a:t>0</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800" dirty="0">
                          <a:solidFill>
                            <a:schemeClr val="tx1"/>
                          </a:solidFill>
                        </a:rPr>
                        <a:t>0</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800" dirty="0">
                          <a:solidFill>
                            <a:schemeClr val="tx1"/>
                          </a:solidFill>
                        </a:rPr>
                        <a:t>0</a:t>
                      </a:r>
                      <a:endParaRPr lang="en-PK" sz="2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PK" sz="2800" dirty="0">
                        <a:solidFill>
                          <a:schemeClr val="accent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04494055"/>
                  </a:ext>
                </a:extLst>
              </a:tr>
            </a:tbl>
          </a:graphicData>
        </a:graphic>
      </p:graphicFrame>
    </p:spTree>
    <p:extLst>
      <p:ext uri="{BB962C8B-B14F-4D97-AF65-F5344CB8AC3E}">
        <p14:creationId xmlns:p14="http://schemas.microsoft.com/office/powerpoint/2010/main" val="22525920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1555C-FC96-43AE-9196-D3EAE72BD96F}"/>
              </a:ext>
            </a:extLst>
          </p:cNvPr>
          <p:cNvSpPr>
            <a:spLocks noGrp="1"/>
          </p:cNvSpPr>
          <p:nvPr>
            <p:ph type="title"/>
          </p:nvPr>
        </p:nvSpPr>
        <p:spPr/>
        <p:txBody>
          <a:bodyPr/>
          <a:lstStyle/>
          <a:p>
            <a:r>
              <a:rPr lang="en-US" dirty="0"/>
              <a:t>Properties of Relations Using Matrices  </a:t>
            </a:r>
            <a:endParaRPr lang="en-PK" dirty="0"/>
          </a:p>
        </p:txBody>
      </p:sp>
      <p:sp>
        <p:nvSpPr>
          <p:cNvPr id="4" name="Date Placeholder 3">
            <a:extLst>
              <a:ext uri="{FF2B5EF4-FFF2-40B4-BE49-F238E27FC236}">
                <a16:creationId xmlns:a16="http://schemas.microsoft.com/office/drawing/2014/main" id="{495DB796-489C-49AF-9422-868F5A246992}"/>
              </a:ext>
            </a:extLst>
          </p:cNvPr>
          <p:cNvSpPr>
            <a:spLocks noGrp="1"/>
          </p:cNvSpPr>
          <p:nvPr>
            <p:ph type="dt" sz="half" idx="10"/>
          </p:nvPr>
        </p:nvSpPr>
        <p:spPr/>
        <p:txBody>
          <a:bodyPr/>
          <a:lstStyle/>
          <a:p>
            <a:r>
              <a:rPr lang="en-US" dirty="0"/>
              <a:t>31/12/2023</a:t>
            </a:r>
            <a:endParaRPr lang="en-PK" dirty="0"/>
          </a:p>
        </p:txBody>
      </p:sp>
      <p:sp>
        <p:nvSpPr>
          <p:cNvPr id="5" name="Slide Number Placeholder 4">
            <a:extLst>
              <a:ext uri="{FF2B5EF4-FFF2-40B4-BE49-F238E27FC236}">
                <a16:creationId xmlns:a16="http://schemas.microsoft.com/office/drawing/2014/main" id="{99766694-E378-4893-9483-F289AE6BE396}"/>
              </a:ext>
            </a:extLst>
          </p:cNvPr>
          <p:cNvSpPr>
            <a:spLocks noGrp="1"/>
          </p:cNvSpPr>
          <p:nvPr>
            <p:ph type="sldNum" sz="quarter" idx="12"/>
          </p:nvPr>
        </p:nvSpPr>
        <p:spPr/>
        <p:txBody>
          <a:bodyPr/>
          <a:lstStyle/>
          <a:p>
            <a:r>
              <a:rPr dirty="0"/>
              <a:t>30</a:t>
            </a:r>
          </a:p>
        </p:txBody>
      </p:sp>
      <p:sp>
        <p:nvSpPr>
          <p:cNvPr id="7" name="Content Placeholder 6">
            <a:extLst>
              <a:ext uri="{FF2B5EF4-FFF2-40B4-BE49-F238E27FC236}">
                <a16:creationId xmlns:a16="http://schemas.microsoft.com/office/drawing/2014/main" id="{80351678-F42A-4FF1-9C5F-8259C608CF6E}"/>
              </a:ext>
            </a:extLst>
          </p:cNvPr>
          <p:cNvSpPr>
            <a:spLocks noGrp="1"/>
          </p:cNvSpPr>
          <p:nvPr>
            <p:ph idx="1"/>
          </p:nvPr>
        </p:nvSpPr>
        <p:spPr/>
        <p:txBody>
          <a:bodyPr>
            <a:normAutofit/>
          </a:bodyPr>
          <a:lstStyle/>
          <a:p>
            <a:r>
              <a:rPr lang="en-US" sz="2400" b="1" dirty="0">
                <a:effectLst/>
              </a:rPr>
              <a:t>Composition Operation:</a:t>
            </a:r>
          </a:p>
          <a:p>
            <a:pPr marL="0" indent="0">
              <a:buNone/>
            </a:pPr>
            <a:r>
              <a:rPr lang="en-US" sz="2400" dirty="0">
                <a:effectLst/>
              </a:rPr>
              <a:t>The </a:t>
            </a:r>
            <a:r>
              <a:rPr lang="en-US" sz="2400" dirty="0">
                <a:solidFill>
                  <a:schemeClr val="accent1"/>
                </a:solidFill>
                <a:effectLst/>
              </a:rPr>
              <a:t>composition </a:t>
            </a:r>
            <a:r>
              <a:rPr lang="en-US" sz="2400" i="1" dirty="0">
                <a:solidFill>
                  <a:schemeClr val="accent1"/>
                </a:solidFill>
                <a:effectLst/>
                <a:latin typeface="KaTeX_Math"/>
              </a:rPr>
              <a:t>R</a:t>
            </a:r>
            <a:r>
              <a:rPr lang="en-US" sz="2400" baseline="-25000" dirty="0">
                <a:solidFill>
                  <a:schemeClr val="accent1"/>
                </a:solidFill>
                <a:effectLst/>
                <a:latin typeface="KaTeX_Main"/>
              </a:rPr>
              <a:t>1</a:t>
            </a:r>
            <a:r>
              <a:rPr lang="en-US" sz="2400" dirty="0">
                <a:solidFill>
                  <a:schemeClr val="accent1"/>
                </a:solidFill>
                <a:effectLst/>
                <a:latin typeface="KaTeX_Main"/>
              </a:rPr>
              <a:t>​ ∘ </a:t>
            </a:r>
            <a:r>
              <a:rPr lang="en-US" sz="2400" i="1" dirty="0">
                <a:solidFill>
                  <a:schemeClr val="accent1"/>
                </a:solidFill>
                <a:effectLst/>
                <a:latin typeface="KaTeX_Math"/>
              </a:rPr>
              <a:t>R</a:t>
            </a:r>
            <a:r>
              <a:rPr lang="en-US" sz="2400" baseline="-25000" dirty="0">
                <a:solidFill>
                  <a:schemeClr val="accent1"/>
                </a:solidFill>
                <a:effectLst/>
                <a:latin typeface="KaTeX_Main"/>
              </a:rPr>
              <a:t>2</a:t>
            </a:r>
            <a:r>
              <a:rPr lang="en-US" sz="2400" dirty="0">
                <a:effectLst/>
                <a:latin typeface="KaTeX_Main"/>
              </a:rPr>
              <a:t>​</a:t>
            </a:r>
            <a:r>
              <a:rPr lang="en-US" sz="2400" dirty="0">
                <a:effectLst/>
              </a:rPr>
              <a:t> is obtained by performing </a:t>
            </a:r>
            <a:r>
              <a:rPr lang="en-US" sz="2400" dirty="0">
                <a:solidFill>
                  <a:schemeClr val="accent1"/>
                </a:solidFill>
                <a:effectLst/>
              </a:rPr>
              <a:t>Boolean Product </a:t>
            </a:r>
            <a:r>
              <a:rPr lang="en-US" sz="2400" dirty="0">
                <a:effectLst/>
              </a:rPr>
              <a:t>between matrices</a:t>
            </a:r>
            <a:r>
              <a:rPr lang="en-US" sz="2400" dirty="0">
                <a:effectLst/>
                <a:latin typeface="KaTeX_Main"/>
              </a:rPr>
              <a:t>​​</a:t>
            </a:r>
            <a:r>
              <a:rPr lang="en-US" sz="2400" dirty="0">
                <a:effectLst/>
              </a:rPr>
              <a:t>.</a:t>
            </a:r>
          </a:p>
          <a:p>
            <a:pPr marL="0" indent="0">
              <a:buNone/>
            </a:pPr>
            <a:r>
              <a:rPr lang="en-US" sz="2400" i="1" dirty="0">
                <a:effectLst/>
                <a:latin typeface="KaTeX_Math"/>
              </a:rPr>
              <a:t>R</a:t>
            </a:r>
            <a:r>
              <a:rPr lang="en-US" sz="2400" baseline="-25000" dirty="0">
                <a:effectLst/>
                <a:latin typeface="KaTeX_Main"/>
              </a:rPr>
              <a:t>1</a:t>
            </a:r>
            <a:r>
              <a:rPr lang="en-US" sz="2400" dirty="0">
                <a:effectLst/>
                <a:latin typeface="KaTeX_Main"/>
              </a:rPr>
              <a:t>​ ∘ </a:t>
            </a:r>
            <a:r>
              <a:rPr lang="en-US" sz="2400" i="1" dirty="0">
                <a:effectLst/>
                <a:latin typeface="KaTeX_Math"/>
              </a:rPr>
              <a:t>R</a:t>
            </a:r>
            <a:r>
              <a:rPr lang="en-US" sz="2400" baseline="-25000" dirty="0">
                <a:effectLst/>
                <a:latin typeface="KaTeX_Main"/>
              </a:rPr>
              <a:t>2</a:t>
            </a:r>
            <a:r>
              <a:rPr lang="en-US" sz="2400" dirty="0">
                <a:effectLst/>
                <a:latin typeface="KaTeX_Main"/>
              </a:rPr>
              <a:t>​ = </a:t>
            </a:r>
            <a:r>
              <a:rPr lang="en-US" sz="2400" i="1" dirty="0">
                <a:effectLst/>
                <a:latin typeface="KaTeX_Math"/>
              </a:rPr>
              <a:t>M</a:t>
            </a:r>
            <a:r>
              <a:rPr lang="en-US" sz="2400" i="1" baseline="-25000" dirty="0">
                <a:effectLst/>
                <a:latin typeface="KaTeX_Math"/>
              </a:rPr>
              <a:t>R</a:t>
            </a:r>
            <a:r>
              <a:rPr lang="en-US" sz="2400" baseline="-25000" dirty="0">
                <a:effectLst/>
                <a:latin typeface="KaTeX_Main"/>
              </a:rPr>
              <a:t>1</a:t>
            </a:r>
            <a:r>
              <a:rPr lang="en-US" sz="2400" dirty="0">
                <a:effectLst/>
                <a:latin typeface="KaTeX_Main"/>
              </a:rPr>
              <a:t>​​ × </a:t>
            </a:r>
            <a:r>
              <a:rPr lang="en-US" sz="2400" i="1" dirty="0">
                <a:effectLst/>
                <a:latin typeface="KaTeX_Math"/>
              </a:rPr>
              <a:t>M</a:t>
            </a:r>
            <a:r>
              <a:rPr lang="en-US" sz="2400" b="0" i="1" baseline="-25000" dirty="0">
                <a:solidFill>
                  <a:srgbClr val="374151"/>
                </a:solidFill>
                <a:effectLst/>
                <a:latin typeface="KaTeX_Math"/>
              </a:rPr>
              <a:t>R</a:t>
            </a:r>
            <a:r>
              <a:rPr lang="en-US" sz="2400" b="0" i="0" baseline="-25000" dirty="0">
                <a:solidFill>
                  <a:srgbClr val="374151"/>
                </a:solidFill>
                <a:effectLst/>
                <a:latin typeface="KaTeX_Main"/>
              </a:rPr>
              <a:t>2</a:t>
            </a:r>
            <a:r>
              <a:rPr lang="en-US" sz="2400" b="0" i="0" dirty="0">
                <a:solidFill>
                  <a:srgbClr val="374151"/>
                </a:solidFill>
                <a:effectLst/>
                <a:latin typeface="KaTeX_Main"/>
              </a:rPr>
              <a:t>​​</a:t>
            </a:r>
          </a:p>
          <a:p>
            <a:pPr marL="0" indent="0">
              <a:buNone/>
            </a:pPr>
            <a:endParaRPr lang="en-US" sz="2400" dirty="0">
              <a:solidFill>
                <a:srgbClr val="374151"/>
              </a:solidFill>
              <a:latin typeface="KaTeX_Main"/>
            </a:endParaRPr>
          </a:p>
          <a:p>
            <a:r>
              <a:rPr lang="en-US" sz="2400" b="1" dirty="0"/>
              <a:t>Example:</a:t>
            </a:r>
          </a:p>
          <a:p>
            <a:pPr marL="0" indent="0">
              <a:buNone/>
            </a:pPr>
            <a:r>
              <a:rPr lang="en-US" sz="2400" dirty="0"/>
              <a:t>Find the Boolean product of </a:t>
            </a:r>
            <a:r>
              <a:rPr lang="en-US" sz="2400" dirty="0">
                <a:solidFill>
                  <a:schemeClr val="accent1"/>
                </a:solidFill>
              </a:rPr>
              <a:t>A</a:t>
            </a:r>
            <a:r>
              <a:rPr lang="en-US" sz="2400" b="1" dirty="0"/>
              <a:t> </a:t>
            </a:r>
            <a:r>
              <a:rPr lang="en-US" sz="2400" dirty="0"/>
              <a:t>and</a:t>
            </a:r>
            <a:r>
              <a:rPr lang="en-US" sz="2400" b="1" dirty="0"/>
              <a:t> </a:t>
            </a:r>
            <a:r>
              <a:rPr lang="en-US" sz="2400" dirty="0">
                <a:solidFill>
                  <a:schemeClr val="accent1"/>
                </a:solidFill>
              </a:rPr>
              <a:t>B</a:t>
            </a:r>
            <a:r>
              <a:rPr lang="en-US" sz="2400" dirty="0"/>
              <a:t>, where</a:t>
            </a:r>
          </a:p>
        </p:txBody>
      </p:sp>
      <p:pic>
        <p:nvPicPr>
          <p:cNvPr id="6" name="Picture 5">
            <a:extLst>
              <a:ext uri="{FF2B5EF4-FFF2-40B4-BE49-F238E27FC236}">
                <a16:creationId xmlns:a16="http://schemas.microsoft.com/office/drawing/2014/main" id="{1A9F9D7F-E910-4C54-BFAC-05E17929A696}"/>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2215038" y="4897755"/>
            <a:ext cx="7761924" cy="1823720"/>
          </a:xfrm>
          <a:prstGeom prst="rect">
            <a:avLst/>
          </a:prstGeom>
        </p:spPr>
      </p:pic>
    </p:spTree>
    <p:extLst>
      <p:ext uri="{BB962C8B-B14F-4D97-AF65-F5344CB8AC3E}">
        <p14:creationId xmlns:p14="http://schemas.microsoft.com/office/powerpoint/2010/main" val="1913253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1555C-FC96-43AE-9196-D3EAE72BD96F}"/>
              </a:ext>
            </a:extLst>
          </p:cNvPr>
          <p:cNvSpPr>
            <a:spLocks noGrp="1"/>
          </p:cNvSpPr>
          <p:nvPr>
            <p:ph type="title"/>
          </p:nvPr>
        </p:nvSpPr>
        <p:spPr/>
        <p:txBody>
          <a:bodyPr/>
          <a:lstStyle/>
          <a:p>
            <a:r>
              <a:rPr lang="en-US" dirty="0"/>
              <a:t>Properties of Relations Using Matrices  </a:t>
            </a:r>
            <a:endParaRPr lang="en-PK" dirty="0"/>
          </a:p>
        </p:txBody>
      </p:sp>
      <p:sp>
        <p:nvSpPr>
          <p:cNvPr id="4" name="Date Placeholder 3">
            <a:extLst>
              <a:ext uri="{FF2B5EF4-FFF2-40B4-BE49-F238E27FC236}">
                <a16:creationId xmlns:a16="http://schemas.microsoft.com/office/drawing/2014/main" id="{495DB796-489C-49AF-9422-868F5A246992}"/>
              </a:ext>
            </a:extLst>
          </p:cNvPr>
          <p:cNvSpPr>
            <a:spLocks noGrp="1"/>
          </p:cNvSpPr>
          <p:nvPr>
            <p:ph type="dt" sz="half" idx="10"/>
          </p:nvPr>
        </p:nvSpPr>
        <p:spPr/>
        <p:txBody>
          <a:bodyPr/>
          <a:lstStyle/>
          <a:p>
            <a:r>
              <a:rPr lang="en-US" dirty="0"/>
              <a:t>31/12/2023</a:t>
            </a:r>
            <a:endParaRPr lang="en-PK" dirty="0"/>
          </a:p>
        </p:txBody>
      </p:sp>
      <p:sp>
        <p:nvSpPr>
          <p:cNvPr id="5" name="Slide Number Placeholder 4">
            <a:extLst>
              <a:ext uri="{FF2B5EF4-FFF2-40B4-BE49-F238E27FC236}">
                <a16:creationId xmlns:a16="http://schemas.microsoft.com/office/drawing/2014/main" id="{99766694-E378-4893-9483-F289AE6BE396}"/>
              </a:ext>
            </a:extLst>
          </p:cNvPr>
          <p:cNvSpPr>
            <a:spLocks noGrp="1"/>
          </p:cNvSpPr>
          <p:nvPr>
            <p:ph type="sldNum" sz="quarter" idx="12"/>
          </p:nvPr>
        </p:nvSpPr>
        <p:spPr/>
        <p:txBody>
          <a:bodyPr/>
          <a:lstStyle/>
          <a:p>
            <a:r>
              <a:rPr dirty="0"/>
              <a:t>31</a:t>
            </a:r>
          </a:p>
        </p:txBody>
      </p:sp>
      <p:pic>
        <p:nvPicPr>
          <p:cNvPr id="9" name="Content Placeholder 6">
            <a:extLst>
              <a:ext uri="{FF2B5EF4-FFF2-40B4-BE49-F238E27FC236}">
                <a16:creationId xmlns:a16="http://schemas.microsoft.com/office/drawing/2014/main" id="{5E1AD908-B161-4DDA-9962-31E096620592}"/>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40000"/>
                    </a14:imgEffect>
                  </a14:imgLayer>
                </a14:imgProps>
              </a:ext>
            </a:extLst>
          </a:blip>
          <a:srcRect t="3770"/>
          <a:stretch/>
        </p:blipFill>
        <p:spPr>
          <a:xfrm>
            <a:off x="1744979" y="1965959"/>
            <a:ext cx="8702042" cy="4140153"/>
          </a:xfrm>
          <a:prstGeom prst="rect">
            <a:avLst/>
          </a:prstGeom>
        </p:spPr>
      </p:pic>
    </p:spTree>
    <p:extLst>
      <p:ext uri="{BB962C8B-B14F-4D97-AF65-F5344CB8AC3E}">
        <p14:creationId xmlns:p14="http://schemas.microsoft.com/office/powerpoint/2010/main" val="31413912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1555C-FC96-43AE-9196-D3EAE72BD96F}"/>
              </a:ext>
            </a:extLst>
          </p:cNvPr>
          <p:cNvSpPr>
            <a:spLocks noGrp="1"/>
          </p:cNvSpPr>
          <p:nvPr>
            <p:ph type="title"/>
          </p:nvPr>
        </p:nvSpPr>
        <p:spPr/>
        <p:txBody>
          <a:bodyPr/>
          <a:lstStyle/>
          <a:p>
            <a:r>
              <a:rPr lang="en-US" dirty="0"/>
              <a:t>Properties of Relations Using Matrices  </a:t>
            </a:r>
            <a:endParaRPr lang="en-PK" dirty="0"/>
          </a:p>
        </p:txBody>
      </p:sp>
      <p:sp>
        <p:nvSpPr>
          <p:cNvPr id="4" name="Date Placeholder 3">
            <a:extLst>
              <a:ext uri="{FF2B5EF4-FFF2-40B4-BE49-F238E27FC236}">
                <a16:creationId xmlns:a16="http://schemas.microsoft.com/office/drawing/2014/main" id="{495DB796-489C-49AF-9422-868F5A246992}"/>
              </a:ext>
            </a:extLst>
          </p:cNvPr>
          <p:cNvSpPr>
            <a:spLocks noGrp="1"/>
          </p:cNvSpPr>
          <p:nvPr>
            <p:ph type="dt" sz="half" idx="10"/>
          </p:nvPr>
        </p:nvSpPr>
        <p:spPr/>
        <p:txBody>
          <a:bodyPr/>
          <a:lstStyle/>
          <a:p>
            <a:r>
              <a:rPr lang="en-US" dirty="0"/>
              <a:t>31/12/2023</a:t>
            </a:r>
            <a:endParaRPr lang="en-PK" dirty="0"/>
          </a:p>
        </p:txBody>
      </p:sp>
      <p:sp>
        <p:nvSpPr>
          <p:cNvPr id="5" name="Slide Number Placeholder 4">
            <a:extLst>
              <a:ext uri="{FF2B5EF4-FFF2-40B4-BE49-F238E27FC236}">
                <a16:creationId xmlns:a16="http://schemas.microsoft.com/office/drawing/2014/main" id="{99766694-E378-4893-9483-F289AE6BE396}"/>
              </a:ext>
            </a:extLst>
          </p:cNvPr>
          <p:cNvSpPr>
            <a:spLocks noGrp="1"/>
          </p:cNvSpPr>
          <p:nvPr>
            <p:ph type="sldNum" sz="quarter" idx="12"/>
          </p:nvPr>
        </p:nvSpPr>
        <p:spPr/>
        <p:txBody>
          <a:bodyPr/>
          <a:lstStyle/>
          <a:p>
            <a:r>
              <a:rPr dirty="0"/>
              <a:t>32</a:t>
            </a:r>
          </a:p>
        </p:txBody>
      </p:sp>
      <p:sp>
        <p:nvSpPr>
          <p:cNvPr id="8" name="Content Placeholder 7">
            <a:extLst>
              <a:ext uri="{FF2B5EF4-FFF2-40B4-BE49-F238E27FC236}">
                <a16:creationId xmlns:a16="http://schemas.microsoft.com/office/drawing/2014/main" id="{396660AD-9BDA-4B2A-B36A-35E3F07EE106}"/>
              </a:ext>
            </a:extLst>
          </p:cNvPr>
          <p:cNvSpPr>
            <a:spLocks noGrp="1"/>
          </p:cNvSpPr>
          <p:nvPr>
            <p:ph idx="1"/>
          </p:nvPr>
        </p:nvSpPr>
        <p:spPr/>
        <p:txBody>
          <a:bodyPr>
            <a:normAutofit/>
          </a:bodyPr>
          <a:lstStyle/>
          <a:p>
            <a:r>
              <a:rPr lang="en-US" sz="2400" b="1" dirty="0"/>
              <a:t>Power of Relation Matrix:</a:t>
            </a:r>
            <a:endParaRPr lang="en-US" sz="2400" b="1" baseline="-25000" dirty="0"/>
          </a:p>
          <a:p>
            <a:pPr marL="0" indent="0">
              <a:buNone/>
            </a:pPr>
            <a:r>
              <a:rPr lang="en-US" sz="2400" b="0" i="0" dirty="0">
                <a:effectLst/>
              </a:rPr>
              <a:t>The composition of a relation </a:t>
            </a:r>
            <a:r>
              <a:rPr lang="en-US" sz="2400" b="0" i="1" dirty="0">
                <a:effectLst/>
              </a:rPr>
              <a:t>R</a:t>
            </a:r>
            <a:r>
              <a:rPr lang="en-US" sz="2400" b="0" i="0" dirty="0">
                <a:effectLst/>
              </a:rPr>
              <a:t> with itself </a:t>
            </a:r>
            <a:r>
              <a:rPr lang="en-US" sz="2400" b="0" i="1" dirty="0">
                <a:effectLst/>
              </a:rPr>
              <a:t>n</a:t>
            </a:r>
            <a:r>
              <a:rPr lang="en-US" sz="2400" b="0" i="0" dirty="0">
                <a:effectLst/>
              </a:rPr>
              <a:t> times (denoted as </a:t>
            </a:r>
            <a:r>
              <a:rPr lang="en-US" sz="2400" b="0" i="1" dirty="0">
                <a:effectLst/>
              </a:rPr>
              <a:t>R</a:t>
            </a:r>
            <a:r>
              <a:rPr lang="en-US" sz="2400" b="0" i="1" baseline="30000" dirty="0">
                <a:effectLst/>
              </a:rPr>
              <a:t>n</a:t>
            </a:r>
            <a:r>
              <a:rPr lang="en-US" sz="2400" b="0" i="0" dirty="0">
                <a:effectLst/>
              </a:rPr>
              <a:t>) is obtained by performing the composition operation </a:t>
            </a:r>
            <a:r>
              <a:rPr lang="en-US" sz="2400" b="0" i="1" dirty="0">
                <a:effectLst/>
              </a:rPr>
              <a:t>n</a:t>
            </a:r>
            <a:r>
              <a:rPr lang="en-US" sz="2400" b="0" i="0" dirty="0">
                <a:effectLst/>
              </a:rPr>
              <a:t> times.</a:t>
            </a:r>
          </a:p>
          <a:p>
            <a:pPr marL="0" indent="0">
              <a:buNone/>
            </a:pPr>
            <a:endParaRPr lang="en-US" sz="2400" dirty="0"/>
          </a:p>
        </p:txBody>
      </p:sp>
      <p:grpSp>
        <p:nvGrpSpPr>
          <p:cNvPr id="13" name="Group 12">
            <a:extLst>
              <a:ext uri="{FF2B5EF4-FFF2-40B4-BE49-F238E27FC236}">
                <a16:creationId xmlns:a16="http://schemas.microsoft.com/office/drawing/2014/main" id="{8951B0CA-51C3-4395-9555-B51ED3996F06}"/>
              </a:ext>
            </a:extLst>
          </p:cNvPr>
          <p:cNvGrpSpPr/>
          <p:nvPr/>
        </p:nvGrpSpPr>
        <p:grpSpPr>
          <a:xfrm>
            <a:off x="1776549" y="3429000"/>
            <a:ext cx="3351500" cy="2580641"/>
            <a:chOff x="4541520" y="3429000"/>
            <a:chExt cx="3351500" cy="2580641"/>
          </a:xfrm>
        </p:grpSpPr>
        <p:pic>
          <p:nvPicPr>
            <p:cNvPr id="12" name="Picture 11">
              <a:extLst>
                <a:ext uri="{FF2B5EF4-FFF2-40B4-BE49-F238E27FC236}">
                  <a16:creationId xmlns:a16="http://schemas.microsoft.com/office/drawing/2014/main" id="{B1B34137-C623-4C4C-8A7A-0E1226569ECA}"/>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brightnessContrast contrast="40000"/>
                      </a14:imgEffect>
                    </a14:imgLayer>
                  </a14:imgProps>
                </a:ext>
              </a:extLst>
            </a:blip>
            <a:stretch>
              <a:fillRect/>
            </a:stretch>
          </p:blipFill>
          <p:spPr>
            <a:xfrm>
              <a:off x="4541520" y="4315873"/>
              <a:ext cx="3351500" cy="1693768"/>
            </a:xfrm>
            <a:prstGeom prst="rect">
              <a:avLst/>
            </a:prstGeom>
          </p:spPr>
        </p:pic>
        <p:pic>
          <p:nvPicPr>
            <p:cNvPr id="6" name="Picture 5">
              <a:extLst>
                <a:ext uri="{FF2B5EF4-FFF2-40B4-BE49-F238E27FC236}">
                  <a16:creationId xmlns:a16="http://schemas.microsoft.com/office/drawing/2014/main" id="{957DDF31-3E61-4679-8791-DD914B7AC992}"/>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Effect>
                        <a14:brightnessContrast contrast="40000"/>
                      </a14:imgEffect>
                    </a14:imgLayer>
                  </a14:imgProps>
                </a:ext>
              </a:extLst>
            </a:blip>
            <a:stretch>
              <a:fillRect/>
            </a:stretch>
          </p:blipFill>
          <p:spPr>
            <a:xfrm>
              <a:off x="4541520" y="3429000"/>
              <a:ext cx="2050336" cy="977266"/>
            </a:xfrm>
            <a:prstGeom prst="rect">
              <a:avLst/>
            </a:prstGeom>
          </p:spPr>
        </p:pic>
      </p:grpSp>
    </p:spTree>
    <p:extLst>
      <p:ext uri="{BB962C8B-B14F-4D97-AF65-F5344CB8AC3E}">
        <p14:creationId xmlns:p14="http://schemas.microsoft.com/office/powerpoint/2010/main" val="1980174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1555C-FC96-43AE-9196-D3EAE72BD96F}"/>
              </a:ext>
            </a:extLst>
          </p:cNvPr>
          <p:cNvSpPr>
            <a:spLocks noGrp="1"/>
          </p:cNvSpPr>
          <p:nvPr>
            <p:ph type="title"/>
          </p:nvPr>
        </p:nvSpPr>
        <p:spPr/>
        <p:txBody>
          <a:bodyPr/>
          <a:lstStyle/>
          <a:p>
            <a:r>
              <a:rPr lang="en-US" dirty="0"/>
              <a:t>Properties of Relations Using Matrices  </a:t>
            </a:r>
            <a:endParaRPr lang="en-PK" dirty="0"/>
          </a:p>
        </p:txBody>
      </p:sp>
      <p:sp>
        <p:nvSpPr>
          <p:cNvPr id="4" name="Date Placeholder 3">
            <a:extLst>
              <a:ext uri="{FF2B5EF4-FFF2-40B4-BE49-F238E27FC236}">
                <a16:creationId xmlns:a16="http://schemas.microsoft.com/office/drawing/2014/main" id="{495DB796-489C-49AF-9422-868F5A246992}"/>
              </a:ext>
            </a:extLst>
          </p:cNvPr>
          <p:cNvSpPr>
            <a:spLocks noGrp="1"/>
          </p:cNvSpPr>
          <p:nvPr>
            <p:ph type="dt" sz="half" idx="10"/>
          </p:nvPr>
        </p:nvSpPr>
        <p:spPr/>
        <p:txBody>
          <a:bodyPr/>
          <a:lstStyle/>
          <a:p>
            <a:r>
              <a:rPr lang="en-US" dirty="0"/>
              <a:t>31/12/2023</a:t>
            </a:r>
            <a:endParaRPr lang="en-PK" dirty="0"/>
          </a:p>
        </p:txBody>
      </p:sp>
      <p:sp>
        <p:nvSpPr>
          <p:cNvPr id="5" name="Slide Number Placeholder 4">
            <a:extLst>
              <a:ext uri="{FF2B5EF4-FFF2-40B4-BE49-F238E27FC236}">
                <a16:creationId xmlns:a16="http://schemas.microsoft.com/office/drawing/2014/main" id="{99766694-E378-4893-9483-F289AE6BE396}"/>
              </a:ext>
            </a:extLst>
          </p:cNvPr>
          <p:cNvSpPr>
            <a:spLocks noGrp="1"/>
          </p:cNvSpPr>
          <p:nvPr>
            <p:ph type="sldNum" sz="quarter" idx="12"/>
          </p:nvPr>
        </p:nvSpPr>
        <p:spPr/>
        <p:txBody>
          <a:bodyPr/>
          <a:lstStyle/>
          <a:p>
            <a:r>
              <a:rPr dirty="0"/>
              <a:t>33</a:t>
            </a:r>
          </a:p>
        </p:txBody>
      </p:sp>
      <p:sp>
        <p:nvSpPr>
          <p:cNvPr id="18" name="Content Placeholder 10">
            <a:extLst>
              <a:ext uri="{FF2B5EF4-FFF2-40B4-BE49-F238E27FC236}">
                <a16:creationId xmlns:a16="http://schemas.microsoft.com/office/drawing/2014/main" id="{F9DE4C2B-7BA2-489E-9803-9BD85CF14171}"/>
              </a:ext>
            </a:extLst>
          </p:cNvPr>
          <p:cNvSpPr>
            <a:spLocks noGrp="1"/>
          </p:cNvSpPr>
          <p:nvPr>
            <p:ph idx="1"/>
          </p:nvPr>
        </p:nvSpPr>
        <p:spPr>
          <a:xfrm>
            <a:off x="838200" y="1825625"/>
            <a:ext cx="10515600" cy="4351338"/>
          </a:xfrm>
        </p:spPr>
        <p:txBody>
          <a:bodyPr>
            <a:normAutofit/>
          </a:bodyPr>
          <a:lstStyle/>
          <a:p>
            <a:r>
              <a:rPr lang="en-US" sz="2400" b="1" dirty="0"/>
              <a:t>Example:</a:t>
            </a:r>
          </a:p>
          <a:p>
            <a:endParaRPr lang="en-PK" sz="2400" b="1" dirty="0"/>
          </a:p>
        </p:txBody>
      </p:sp>
      <p:pic>
        <p:nvPicPr>
          <p:cNvPr id="19" name="Picture 18">
            <a:extLst>
              <a:ext uri="{FF2B5EF4-FFF2-40B4-BE49-F238E27FC236}">
                <a16:creationId xmlns:a16="http://schemas.microsoft.com/office/drawing/2014/main" id="{16F4BF4C-2550-438B-BD05-765D4CB3E112}"/>
              </a:ext>
            </a:extLst>
          </p:cNvPr>
          <p:cNvPicPr>
            <a:picLocks noChangeAspect="1"/>
          </p:cNvPicPr>
          <p:nvPr/>
        </p:nvPicPr>
        <p:blipFill rotWithShape="1">
          <a:blip r:embed="rId2">
            <a:extLst>
              <a:ext uri="{BEBA8EAE-BF5A-486C-A8C5-ECC9F3942E4B}">
                <a14:imgProps xmlns:a14="http://schemas.microsoft.com/office/drawing/2010/main">
                  <a14:imgLayer r:embed="rId3">
                    <a14:imgEffect>
                      <a14:sharpenSoften amount="50000"/>
                    </a14:imgEffect>
                    <a14:imgEffect>
                      <a14:brightnessContrast contrast="40000"/>
                    </a14:imgEffect>
                  </a14:imgLayer>
                </a14:imgProps>
              </a:ext>
            </a:extLst>
          </a:blip>
          <a:srcRect b="69047"/>
          <a:stretch/>
        </p:blipFill>
        <p:spPr>
          <a:xfrm>
            <a:off x="838199" y="2468879"/>
            <a:ext cx="8065169" cy="711751"/>
          </a:xfrm>
          <a:prstGeom prst="rect">
            <a:avLst/>
          </a:prstGeom>
        </p:spPr>
      </p:pic>
      <p:pic>
        <p:nvPicPr>
          <p:cNvPr id="20" name="Picture 19">
            <a:extLst>
              <a:ext uri="{FF2B5EF4-FFF2-40B4-BE49-F238E27FC236}">
                <a16:creationId xmlns:a16="http://schemas.microsoft.com/office/drawing/2014/main" id="{BEE313E9-B85D-4345-AF32-9AF3D66F20A8}"/>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776549" y="3794761"/>
            <a:ext cx="2773680" cy="1572480"/>
          </a:xfrm>
          <a:prstGeom prst="rect">
            <a:avLst/>
          </a:prstGeom>
        </p:spPr>
      </p:pic>
      <p:pic>
        <p:nvPicPr>
          <p:cNvPr id="21" name="Picture 20">
            <a:extLst>
              <a:ext uri="{FF2B5EF4-FFF2-40B4-BE49-F238E27FC236}">
                <a16:creationId xmlns:a16="http://schemas.microsoft.com/office/drawing/2014/main" id="{50CCF1E8-DB2A-43CF-9AA6-D510E425F090}"/>
              </a:ext>
            </a:extLst>
          </p:cNvPr>
          <p:cNvPicPr>
            <a:picLocks noChangeAspect="1"/>
          </p:cNvPicPr>
          <p:nvPr/>
        </p:nvPicPr>
        <p:blipFill>
          <a:blip r:embed="rId6">
            <a:extLst>
              <a:ext uri="{BEBA8EAE-BF5A-486C-A8C5-ECC9F3942E4B}">
                <a14:imgProps xmlns:a14="http://schemas.microsoft.com/office/drawing/2010/main">
                  <a14:imgLayer r:embed="rId7">
                    <a14:imgEffect>
                      <a14:brightnessContrast contrast="-40000"/>
                    </a14:imgEffect>
                  </a14:imgLayer>
                </a14:imgProps>
              </a:ext>
            </a:extLst>
          </a:blip>
          <a:stretch>
            <a:fillRect/>
          </a:stretch>
        </p:blipFill>
        <p:spPr>
          <a:xfrm>
            <a:off x="6788267" y="3794759"/>
            <a:ext cx="3627184" cy="1572482"/>
          </a:xfrm>
          <a:prstGeom prst="rect">
            <a:avLst/>
          </a:prstGeom>
        </p:spPr>
      </p:pic>
    </p:spTree>
    <p:extLst>
      <p:ext uri="{BB962C8B-B14F-4D97-AF65-F5344CB8AC3E}">
        <p14:creationId xmlns:p14="http://schemas.microsoft.com/office/powerpoint/2010/main" val="695803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1555C-FC96-43AE-9196-D3EAE72BD96F}"/>
              </a:ext>
            </a:extLst>
          </p:cNvPr>
          <p:cNvSpPr>
            <a:spLocks noGrp="1"/>
          </p:cNvSpPr>
          <p:nvPr>
            <p:ph type="title"/>
          </p:nvPr>
        </p:nvSpPr>
        <p:spPr/>
        <p:txBody>
          <a:bodyPr/>
          <a:lstStyle/>
          <a:p>
            <a:r>
              <a:rPr lang="en-US" dirty="0"/>
              <a:t>Relations and Digraphs </a:t>
            </a:r>
            <a:endParaRPr lang="en-PK" dirty="0"/>
          </a:p>
        </p:txBody>
      </p:sp>
      <p:sp>
        <p:nvSpPr>
          <p:cNvPr id="4" name="Date Placeholder 3">
            <a:extLst>
              <a:ext uri="{FF2B5EF4-FFF2-40B4-BE49-F238E27FC236}">
                <a16:creationId xmlns:a16="http://schemas.microsoft.com/office/drawing/2014/main" id="{495DB796-489C-49AF-9422-868F5A246992}"/>
              </a:ext>
            </a:extLst>
          </p:cNvPr>
          <p:cNvSpPr>
            <a:spLocks noGrp="1"/>
          </p:cNvSpPr>
          <p:nvPr>
            <p:ph type="dt" sz="half" idx="10"/>
          </p:nvPr>
        </p:nvSpPr>
        <p:spPr/>
        <p:txBody>
          <a:bodyPr/>
          <a:lstStyle/>
          <a:p>
            <a:r>
              <a:rPr lang="en-US" dirty="0"/>
              <a:t>31/12/2023</a:t>
            </a:r>
            <a:endParaRPr lang="en-PK" dirty="0"/>
          </a:p>
        </p:txBody>
      </p:sp>
      <p:sp>
        <p:nvSpPr>
          <p:cNvPr id="5" name="Slide Number Placeholder 4">
            <a:extLst>
              <a:ext uri="{FF2B5EF4-FFF2-40B4-BE49-F238E27FC236}">
                <a16:creationId xmlns:a16="http://schemas.microsoft.com/office/drawing/2014/main" id="{99766694-E378-4893-9483-F289AE6BE396}"/>
              </a:ext>
            </a:extLst>
          </p:cNvPr>
          <p:cNvSpPr>
            <a:spLocks noGrp="1"/>
          </p:cNvSpPr>
          <p:nvPr>
            <p:ph type="sldNum" sz="quarter" idx="12"/>
          </p:nvPr>
        </p:nvSpPr>
        <p:spPr/>
        <p:txBody>
          <a:bodyPr/>
          <a:lstStyle/>
          <a:p>
            <a:r>
              <a:rPr dirty="0"/>
              <a:t>34</a:t>
            </a:r>
          </a:p>
        </p:txBody>
      </p:sp>
      <p:sp>
        <p:nvSpPr>
          <p:cNvPr id="11" name="Content Placeholder 10">
            <a:extLst>
              <a:ext uri="{FF2B5EF4-FFF2-40B4-BE49-F238E27FC236}">
                <a16:creationId xmlns:a16="http://schemas.microsoft.com/office/drawing/2014/main" id="{51F91A18-6B0E-4390-BB16-15F78CDBBAB9}"/>
              </a:ext>
            </a:extLst>
          </p:cNvPr>
          <p:cNvSpPr>
            <a:spLocks noGrp="1"/>
          </p:cNvSpPr>
          <p:nvPr>
            <p:ph idx="1"/>
          </p:nvPr>
        </p:nvSpPr>
        <p:spPr/>
        <p:txBody>
          <a:bodyPr>
            <a:normAutofit/>
          </a:bodyPr>
          <a:lstStyle/>
          <a:p>
            <a:r>
              <a:rPr lang="en-US" sz="2400" b="1" dirty="0"/>
              <a:t>Digraph:</a:t>
            </a:r>
          </a:p>
          <a:p>
            <a:pPr marL="0" indent="0">
              <a:buNone/>
            </a:pPr>
            <a:r>
              <a:rPr lang="en-US" sz="2400" dirty="0"/>
              <a:t>A digraph, short for </a:t>
            </a:r>
            <a:r>
              <a:rPr lang="en-US" sz="2400" dirty="0">
                <a:solidFill>
                  <a:schemeClr val="accent1"/>
                </a:solidFill>
              </a:rPr>
              <a:t>directed graph</a:t>
            </a:r>
            <a:r>
              <a:rPr lang="en-US" sz="2400" dirty="0"/>
              <a:t>, is a type of graph that is made up of nodes (or </a:t>
            </a:r>
            <a:r>
              <a:rPr lang="en-US" sz="2400" dirty="0">
                <a:solidFill>
                  <a:schemeClr val="accent1"/>
                </a:solidFill>
              </a:rPr>
              <a:t>vertices</a:t>
            </a:r>
            <a:r>
              <a:rPr lang="en-US" sz="2400" dirty="0"/>
              <a:t>) and </a:t>
            </a:r>
            <a:r>
              <a:rPr lang="en-US" sz="2400" dirty="0">
                <a:solidFill>
                  <a:schemeClr val="accent1"/>
                </a:solidFill>
              </a:rPr>
              <a:t>directed edges</a:t>
            </a:r>
            <a:r>
              <a:rPr lang="en-US" sz="2400" dirty="0"/>
              <a:t> (or arcs) between those nodes.</a:t>
            </a:r>
          </a:p>
          <a:p>
            <a:r>
              <a:rPr lang="en-US" sz="2400" b="1" dirty="0"/>
              <a:t>Examples: </a:t>
            </a:r>
          </a:p>
          <a:p>
            <a:pPr marL="0" indent="0">
              <a:buNone/>
            </a:pPr>
            <a:r>
              <a:rPr lang="en-US" sz="2400" dirty="0"/>
              <a:t>Consider a relation </a:t>
            </a:r>
            <a:r>
              <a:rPr lang="en-US" sz="2400" i="1" dirty="0"/>
              <a:t>R</a:t>
            </a:r>
            <a:r>
              <a:rPr lang="en-US" sz="2400" dirty="0"/>
              <a:t> = </a:t>
            </a:r>
            <a:r>
              <a:rPr lang="en-US" sz="2400" i="1" dirty="0"/>
              <a:t>{ (a, b), (a, d), (b, b), (b, d), (c, a), (c, b), (d, b) }</a:t>
            </a:r>
            <a:endParaRPr lang="en-US" sz="2400" dirty="0"/>
          </a:p>
          <a:p>
            <a:pPr marL="0" indent="0">
              <a:buNone/>
            </a:pPr>
            <a:endParaRPr lang="en-US" sz="2400" dirty="0"/>
          </a:p>
        </p:txBody>
      </p:sp>
      <p:pic>
        <p:nvPicPr>
          <p:cNvPr id="6" name="Content Placeholder 3" descr="0805.jpg">
            <a:extLst>
              <a:ext uri="{FF2B5EF4-FFF2-40B4-BE49-F238E27FC236}">
                <a16:creationId xmlns:a16="http://schemas.microsoft.com/office/drawing/2014/main" id="{C182623D-4DF1-44D2-B4AF-8D61B1E577FB}"/>
              </a:ext>
            </a:extLst>
          </p:cNvPr>
          <p:cNvPicPr>
            <a:picLocks noChangeAspect="1"/>
          </p:cNvPicPr>
          <p:nvPr/>
        </p:nvPicPr>
        <p:blipFill>
          <a:blip r:embed="rId2" cstate="print"/>
          <a:stretch>
            <a:fillRect/>
          </a:stretch>
        </p:blipFill>
        <p:spPr>
          <a:xfrm>
            <a:off x="4539768" y="4181793"/>
            <a:ext cx="3112464" cy="1995170"/>
          </a:xfrm>
          <a:prstGeom prst="rect">
            <a:avLst/>
          </a:prstGeom>
        </p:spPr>
      </p:pic>
    </p:spTree>
    <p:extLst>
      <p:ext uri="{BB962C8B-B14F-4D97-AF65-F5344CB8AC3E}">
        <p14:creationId xmlns:p14="http://schemas.microsoft.com/office/powerpoint/2010/main" val="1355681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1555C-FC96-43AE-9196-D3EAE72BD96F}"/>
              </a:ext>
            </a:extLst>
          </p:cNvPr>
          <p:cNvSpPr>
            <a:spLocks noGrp="1"/>
          </p:cNvSpPr>
          <p:nvPr>
            <p:ph type="title"/>
          </p:nvPr>
        </p:nvSpPr>
        <p:spPr/>
        <p:txBody>
          <a:bodyPr/>
          <a:lstStyle/>
          <a:p>
            <a:r>
              <a:rPr lang="en-US" dirty="0"/>
              <a:t>Relations and Digraphs </a:t>
            </a:r>
            <a:endParaRPr lang="en-PK" dirty="0"/>
          </a:p>
        </p:txBody>
      </p:sp>
      <p:sp>
        <p:nvSpPr>
          <p:cNvPr id="4" name="Date Placeholder 3">
            <a:extLst>
              <a:ext uri="{FF2B5EF4-FFF2-40B4-BE49-F238E27FC236}">
                <a16:creationId xmlns:a16="http://schemas.microsoft.com/office/drawing/2014/main" id="{495DB796-489C-49AF-9422-868F5A246992}"/>
              </a:ext>
            </a:extLst>
          </p:cNvPr>
          <p:cNvSpPr>
            <a:spLocks noGrp="1"/>
          </p:cNvSpPr>
          <p:nvPr>
            <p:ph type="dt" sz="half" idx="10"/>
          </p:nvPr>
        </p:nvSpPr>
        <p:spPr/>
        <p:txBody>
          <a:bodyPr/>
          <a:lstStyle/>
          <a:p>
            <a:r>
              <a:rPr lang="en-US" dirty="0"/>
              <a:t>31/12/2023</a:t>
            </a:r>
            <a:endParaRPr lang="en-PK" dirty="0"/>
          </a:p>
        </p:txBody>
      </p:sp>
      <p:sp>
        <p:nvSpPr>
          <p:cNvPr id="5" name="Slide Number Placeholder 4">
            <a:extLst>
              <a:ext uri="{FF2B5EF4-FFF2-40B4-BE49-F238E27FC236}">
                <a16:creationId xmlns:a16="http://schemas.microsoft.com/office/drawing/2014/main" id="{99766694-E378-4893-9483-F289AE6BE396}"/>
              </a:ext>
            </a:extLst>
          </p:cNvPr>
          <p:cNvSpPr>
            <a:spLocks noGrp="1"/>
          </p:cNvSpPr>
          <p:nvPr>
            <p:ph type="sldNum" sz="quarter" idx="12"/>
          </p:nvPr>
        </p:nvSpPr>
        <p:spPr/>
        <p:txBody>
          <a:bodyPr/>
          <a:lstStyle/>
          <a:p>
            <a:r>
              <a:rPr dirty="0"/>
              <a:t>35</a:t>
            </a:r>
          </a:p>
        </p:txBody>
      </p:sp>
      <p:pic>
        <p:nvPicPr>
          <p:cNvPr id="7" name="Picture 6">
            <a:extLst>
              <a:ext uri="{FF2B5EF4-FFF2-40B4-BE49-F238E27FC236}">
                <a16:creationId xmlns:a16="http://schemas.microsoft.com/office/drawing/2014/main" id="{B759969B-B6EC-43B2-996B-5881A947F4DE}"/>
              </a:ext>
            </a:extLst>
          </p:cNvPr>
          <p:cNvPicPr>
            <a:picLocks noChangeAspect="1"/>
          </p:cNvPicPr>
          <p:nvPr/>
        </p:nvPicPr>
        <p:blipFill>
          <a:blip r:embed="rId2">
            <a:extLst>
              <a:ext uri="{BEBA8EAE-BF5A-486C-A8C5-ECC9F3942E4B}">
                <a14:imgProps xmlns:a14="http://schemas.microsoft.com/office/drawing/2010/main">
                  <a14:imgLayer r:embed="rId3">
                    <a14:imgEffect>
                      <a14:saturation sat="400000"/>
                    </a14:imgEffect>
                    <a14:imgEffect>
                      <a14:brightnessContrast contrast="40000"/>
                    </a14:imgEffect>
                  </a14:imgLayer>
                </a14:imgProps>
              </a:ext>
            </a:extLst>
          </a:blip>
          <a:stretch>
            <a:fillRect/>
          </a:stretch>
        </p:blipFill>
        <p:spPr>
          <a:xfrm>
            <a:off x="838200" y="1919288"/>
            <a:ext cx="9652522" cy="3747452"/>
          </a:xfrm>
          <a:prstGeom prst="rect">
            <a:avLst/>
          </a:prstGeom>
        </p:spPr>
      </p:pic>
    </p:spTree>
    <p:extLst>
      <p:ext uri="{BB962C8B-B14F-4D97-AF65-F5344CB8AC3E}">
        <p14:creationId xmlns:p14="http://schemas.microsoft.com/office/powerpoint/2010/main" val="1814596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1555C-FC96-43AE-9196-D3EAE72BD96F}"/>
              </a:ext>
            </a:extLst>
          </p:cNvPr>
          <p:cNvSpPr>
            <a:spLocks noGrp="1"/>
          </p:cNvSpPr>
          <p:nvPr>
            <p:ph type="title"/>
          </p:nvPr>
        </p:nvSpPr>
        <p:spPr/>
        <p:txBody>
          <a:bodyPr/>
          <a:lstStyle/>
          <a:p>
            <a:r>
              <a:rPr lang="en-US" dirty="0"/>
              <a:t>Relations and Digraphs </a:t>
            </a:r>
            <a:endParaRPr lang="en-PK" dirty="0"/>
          </a:p>
        </p:txBody>
      </p:sp>
      <p:sp>
        <p:nvSpPr>
          <p:cNvPr id="4" name="Date Placeholder 3">
            <a:extLst>
              <a:ext uri="{FF2B5EF4-FFF2-40B4-BE49-F238E27FC236}">
                <a16:creationId xmlns:a16="http://schemas.microsoft.com/office/drawing/2014/main" id="{495DB796-489C-49AF-9422-868F5A246992}"/>
              </a:ext>
            </a:extLst>
          </p:cNvPr>
          <p:cNvSpPr>
            <a:spLocks noGrp="1"/>
          </p:cNvSpPr>
          <p:nvPr>
            <p:ph type="dt" sz="half" idx="10"/>
          </p:nvPr>
        </p:nvSpPr>
        <p:spPr/>
        <p:txBody>
          <a:bodyPr/>
          <a:lstStyle/>
          <a:p>
            <a:r>
              <a:rPr lang="en-US" dirty="0"/>
              <a:t>31/12/2023</a:t>
            </a:r>
            <a:endParaRPr lang="en-PK" dirty="0"/>
          </a:p>
        </p:txBody>
      </p:sp>
      <p:sp>
        <p:nvSpPr>
          <p:cNvPr id="5" name="Slide Number Placeholder 4">
            <a:extLst>
              <a:ext uri="{FF2B5EF4-FFF2-40B4-BE49-F238E27FC236}">
                <a16:creationId xmlns:a16="http://schemas.microsoft.com/office/drawing/2014/main" id="{99766694-E378-4893-9483-F289AE6BE396}"/>
              </a:ext>
            </a:extLst>
          </p:cNvPr>
          <p:cNvSpPr>
            <a:spLocks noGrp="1"/>
          </p:cNvSpPr>
          <p:nvPr>
            <p:ph type="sldNum" sz="quarter" idx="12"/>
          </p:nvPr>
        </p:nvSpPr>
        <p:spPr/>
        <p:txBody>
          <a:bodyPr/>
          <a:lstStyle/>
          <a:p>
            <a:r>
              <a:rPr dirty="0"/>
              <a:t>36</a:t>
            </a:r>
          </a:p>
        </p:txBody>
      </p:sp>
      <p:sp>
        <p:nvSpPr>
          <p:cNvPr id="6" name="object 2">
            <a:extLst>
              <a:ext uri="{FF2B5EF4-FFF2-40B4-BE49-F238E27FC236}">
                <a16:creationId xmlns:a16="http://schemas.microsoft.com/office/drawing/2014/main" id="{4BD86EF7-CB04-4062-844F-64EF7585F54C}"/>
              </a:ext>
            </a:extLst>
          </p:cNvPr>
          <p:cNvSpPr/>
          <p:nvPr/>
        </p:nvSpPr>
        <p:spPr>
          <a:xfrm>
            <a:off x="5212080" y="2193348"/>
            <a:ext cx="4945378" cy="3660342"/>
          </a:xfrm>
          <a:prstGeom prst="rect">
            <a:avLst/>
          </a:prstGeom>
          <a:blipFill>
            <a:blip r:embed="rId2" cstate="print">
              <a:extLst>
                <a:ext uri="{BEBA8EAE-BF5A-486C-A8C5-ECC9F3942E4B}">
                  <a14:imgProps xmlns:a14="http://schemas.microsoft.com/office/drawing/2010/main">
                    <a14:imgLayer r:embed="rId3">
                      <a14:imgEffect>
                        <a14:sharpenSoften amount="50000"/>
                      </a14:imgEffect>
                      <a14:imgEffect>
                        <a14:brightnessContrast contrast="40000"/>
                      </a14:imgEffect>
                    </a14:imgLayer>
                  </a14:imgProps>
                </a:ext>
              </a:extLst>
            </a:blip>
            <a:stretch>
              <a:fillRect l="-57941" t="-78239" r="-110515" b="-71457"/>
            </a:stretch>
          </a:blipFill>
        </p:spPr>
        <p:txBody>
          <a:bodyPr wrap="square" lIns="0" tIns="0" rIns="0" bIns="0" rtlCol="0"/>
          <a:lstStyle/>
          <a:p>
            <a:endParaRPr dirty="0"/>
          </a:p>
        </p:txBody>
      </p:sp>
      <p:sp>
        <p:nvSpPr>
          <p:cNvPr id="3" name="TextBox 2">
            <a:extLst>
              <a:ext uri="{FF2B5EF4-FFF2-40B4-BE49-F238E27FC236}">
                <a16:creationId xmlns:a16="http://schemas.microsoft.com/office/drawing/2014/main" id="{36B75BC4-37C6-49B3-A672-513E5D8B9730}"/>
              </a:ext>
            </a:extLst>
          </p:cNvPr>
          <p:cNvSpPr txBox="1"/>
          <p:nvPr/>
        </p:nvSpPr>
        <p:spPr>
          <a:xfrm>
            <a:off x="838200" y="1954053"/>
            <a:ext cx="3459480" cy="3913059"/>
          </a:xfrm>
          <a:prstGeom prst="rect">
            <a:avLst/>
          </a:prstGeom>
          <a:noFill/>
        </p:spPr>
        <p:txBody>
          <a:bodyPr wrap="square" rtlCol="0">
            <a:spAutoFit/>
          </a:bodyPr>
          <a:lstStyle/>
          <a:p>
            <a:pPr marL="457200" indent="-457200">
              <a:lnSpc>
                <a:spcPct val="150000"/>
              </a:lnSpc>
              <a:buFont typeface="Wingdings" panose="05000000000000000000" pitchFamily="2" charset="2"/>
              <a:buChar char="§"/>
            </a:pPr>
            <a:r>
              <a:rPr lang="en-US" sz="2400" b="1" dirty="0"/>
              <a:t>Reflexive</a:t>
            </a:r>
          </a:p>
          <a:p>
            <a:pPr marL="457200" indent="-457200">
              <a:lnSpc>
                <a:spcPct val="150000"/>
              </a:lnSpc>
              <a:buFont typeface="Wingdings" panose="05000000000000000000" pitchFamily="2" charset="2"/>
              <a:buChar char="§"/>
            </a:pPr>
            <a:endParaRPr lang="en-US" sz="2400" b="1" dirty="0"/>
          </a:p>
          <a:p>
            <a:pPr marL="457200" indent="-457200">
              <a:lnSpc>
                <a:spcPct val="150000"/>
              </a:lnSpc>
              <a:buFont typeface="Wingdings" panose="05000000000000000000" pitchFamily="2" charset="2"/>
              <a:buChar char="§"/>
            </a:pPr>
            <a:r>
              <a:rPr lang="en-US" sz="2400" b="1" dirty="0"/>
              <a:t>Symmetric</a:t>
            </a:r>
          </a:p>
          <a:p>
            <a:pPr marL="457200" indent="-457200">
              <a:lnSpc>
                <a:spcPct val="150000"/>
              </a:lnSpc>
              <a:buFont typeface="Wingdings" panose="05000000000000000000" pitchFamily="2" charset="2"/>
              <a:buChar char="§"/>
            </a:pPr>
            <a:endParaRPr lang="en-US" sz="2400" b="1" dirty="0"/>
          </a:p>
          <a:p>
            <a:pPr marL="457200" indent="-457200">
              <a:lnSpc>
                <a:spcPct val="150000"/>
              </a:lnSpc>
              <a:buFont typeface="Wingdings" panose="05000000000000000000" pitchFamily="2" charset="2"/>
              <a:buChar char="§"/>
            </a:pPr>
            <a:r>
              <a:rPr lang="en-US" sz="2400" b="1" dirty="0"/>
              <a:t>Antisymmetric</a:t>
            </a:r>
          </a:p>
          <a:p>
            <a:pPr marL="457200" indent="-457200">
              <a:lnSpc>
                <a:spcPct val="150000"/>
              </a:lnSpc>
              <a:buFont typeface="Wingdings" panose="05000000000000000000" pitchFamily="2" charset="2"/>
              <a:buChar char="§"/>
            </a:pPr>
            <a:endParaRPr lang="en-US" sz="2400" b="1" dirty="0"/>
          </a:p>
          <a:p>
            <a:pPr marL="457200" indent="-457200">
              <a:lnSpc>
                <a:spcPct val="150000"/>
              </a:lnSpc>
              <a:buFont typeface="Wingdings" panose="05000000000000000000" pitchFamily="2" charset="2"/>
              <a:buChar char="§"/>
            </a:pPr>
            <a:r>
              <a:rPr lang="en-US" sz="2400" b="1" dirty="0"/>
              <a:t>Transitive</a:t>
            </a:r>
            <a:endParaRPr lang="en-PK" sz="2400" b="1" dirty="0"/>
          </a:p>
        </p:txBody>
      </p:sp>
      <p:cxnSp>
        <p:nvCxnSpPr>
          <p:cNvPr id="9" name="Straight Arrow Connector 8">
            <a:extLst>
              <a:ext uri="{FF2B5EF4-FFF2-40B4-BE49-F238E27FC236}">
                <a16:creationId xmlns:a16="http://schemas.microsoft.com/office/drawing/2014/main" id="{90ECABEB-50A0-47F3-843E-6FF42C1695C4}"/>
              </a:ext>
            </a:extLst>
          </p:cNvPr>
          <p:cNvCxnSpPr/>
          <p:nvPr/>
        </p:nvCxnSpPr>
        <p:spPr>
          <a:xfrm>
            <a:off x="6560820" y="2948940"/>
            <a:ext cx="2446020" cy="0"/>
          </a:xfrm>
          <a:prstGeom prst="straightConnector1">
            <a:avLst/>
          </a:prstGeom>
          <a:ln w="38100">
            <a:solidFill>
              <a:srgbClr val="365A8A"/>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465FB6B8-3E84-47A3-AF38-04468D28B1C0}"/>
              </a:ext>
            </a:extLst>
          </p:cNvPr>
          <p:cNvCxnSpPr/>
          <p:nvPr/>
        </p:nvCxnSpPr>
        <p:spPr>
          <a:xfrm>
            <a:off x="6332220" y="3223260"/>
            <a:ext cx="0" cy="1623060"/>
          </a:xfrm>
          <a:prstGeom prst="straightConnector1">
            <a:avLst/>
          </a:prstGeom>
          <a:ln w="38100">
            <a:solidFill>
              <a:srgbClr val="365A8A"/>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E2267E28-6D62-49F7-ADBC-0377E6BA942B}"/>
              </a:ext>
            </a:extLst>
          </p:cNvPr>
          <p:cNvCxnSpPr>
            <a:cxnSpLocks/>
          </p:cNvCxnSpPr>
          <p:nvPr/>
        </p:nvCxnSpPr>
        <p:spPr>
          <a:xfrm>
            <a:off x="6560820" y="3137535"/>
            <a:ext cx="2606039" cy="1708784"/>
          </a:xfrm>
          <a:prstGeom prst="straightConnector1">
            <a:avLst/>
          </a:prstGeom>
          <a:ln w="38100">
            <a:solidFill>
              <a:srgbClr val="365A8A"/>
            </a:solidFill>
            <a:tailEnd type="triangle"/>
          </a:ln>
        </p:spPr>
        <p:style>
          <a:lnRef idx="1">
            <a:schemeClr val="accent1"/>
          </a:lnRef>
          <a:fillRef idx="0">
            <a:schemeClr val="accent1"/>
          </a:fillRef>
          <a:effectRef idx="0">
            <a:schemeClr val="accent1"/>
          </a:effectRef>
          <a:fontRef idx="minor">
            <a:schemeClr val="tx1"/>
          </a:fontRef>
        </p:style>
      </p:cxnSp>
      <p:sp>
        <p:nvSpPr>
          <p:cNvPr id="14" name="Arc 13">
            <a:extLst>
              <a:ext uri="{FF2B5EF4-FFF2-40B4-BE49-F238E27FC236}">
                <a16:creationId xmlns:a16="http://schemas.microsoft.com/office/drawing/2014/main" id="{A3578066-3B3A-4EA2-B9CB-9B2D7254C1E0}"/>
              </a:ext>
            </a:extLst>
          </p:cNvPr>
          <p:cNvSpPr/>
          <p:nvPr/>
        </p:nvSpPr>
        <p:spPr>
          <a:xfrm>
            <a:off x="3634740" y="2617730"/>
            <a:ext cx="5532119" cy="708400"/>
          </a:xfrm>
          <a:prstGeom prst="arc">
            <a:avLst>
              <a:gd name="adj1" fmla="val 17829391"/>
              <a:gd name="adj2" fmla="val 21487939"/>
            </a:avLst>
          </a:prstGeom>
          <a:ln w="38100">
            <a:solidFill>
              <a:srgbClr val="365A8A"/>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PK" dirty="0"/>
          </a:p>
        </p:txBody>
      </p:sp>
      <p:cxnSp>
        <p:nvCxnSpPr>
          <p:cNvPr id="17" name="Straight Arrow Connector 16">
            <a:extLst>
              <a:ext uri="{FF2B5EF4-FFF2-40B4-BE49-F238E27FC236}">
                <a16:creationId xmlns:a16="http://schemas.microsoft.com/office/drawing/2014/main" id="{173199E7-78A7-4A62-A97C-66CF1E2CF7FC}"/>
              </a:ext>
            </a:extLst>
          </p:cNvPr>
          <p:cNvCxnSpPr/>
          <p:nvPr/>
        </p:nvCxnSpPr>
        <p:spPr>
          <a:xfrm>
            <a:off x="9342120" y="3223260"/>
            <a:ext cx="0" cy="1623060"/>
          </a:xfrm>
          <a:prstGeom prst="straightConnector1">
            <a:avLst/>
          </a:prstGeom>
          <a:ln w="38100">
            <a:solidFill>
              <a:srgbClr val="365A8A"/>
            </a:solidFill>
            <a:tailEnd type="triangle"/>
          </a:ln>
        </p:spPr>
        <p:style>
          <a:lnRef idx="1">
            <a:schemeClr val="accent1"/>
          </a:lnRef>
          <a:fillRef idx="0">
            <a:schemeClr val="accent1"/>
          </a:fillRef>
          <a:effectRef idx="0">
            <a:schemeClr val="accent1"/>
          </a:effectRef>
          <a:fontRef idx="minor">
            <a:schemeClr val="tx1"/>
          </a:fontRef>
        </p:style>
      </p:cxnSp>
      <p:sp>
        <p:nvSpPr>
          <p:cNvPr id="24" name="Arc 23">
            <a:extLst>
              <a:ext uri="{FF2B5EF4-FFF2-40B4-BE49-F238E27FC236}">
                <a16:creationId xmlns:a16="http://schemas.microsoft.com/office/drawing/2014/main" id="{EDD26CD9-DDDA-4BF6-9885-D7FCAE8462B1}"/>
              </a:ext>
            </a:extLst>
          </p:cNvPr>
          <p:cNvSpPr/>
          <p:nvPr/>
        </p:nvSpPr>
        <p:spPr>
          <a:xfrm>
            <a:off x="6096000" y="5120639"/>
            <a:ext cx="876299" cy="583824"/>
          </a:xfrm>
          <a:prstGeom prst="arc">
            <a:avLst>
              <a:gd name="adj1" fmla="val 16200000"/>
              <a:gd name="adj2" fmla="val 12899518"/>
            </a:avLst>
          </a:prstGeom>
          <a:ln w="38100">
            <a:solidFill>
              <a:srgbClr val="365A8A"/>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PK" dirty="0"/>
          </a:p>
        </p:txBody>
      </p:sp>
    </p:spTree>
    <p:extLst>
      <p:ext uri="{BB962C8B-B14F-4D97-AF65-F5344CB8AC3E}">
        <p14:creationId xmlns:p14="http://schemas.microsoft.com/office/powerpoint/2010/main" val="1414646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1555C-FC96-43AE-9196-D3EAE72BD96F}"/>
              </a:ext>
            </a:extLst>
          </p:cNvPr>
          <p:cNvSpPr>
            <a:spLocks noGrp="1"/>
          </p:cNvSpPr>
          <p:nvPr>
            <p:ph type="title"/>
          </p:nvPr>
        </p:nvSpPr>
        <p:spPr/>
        <p:txBody>
          <a:bodyPr/>
          <a:lstStyle/>
          <a:p>
            <a:r>
              <a:rPr lang="en-US" dirty="0"/>
              <a:t>Relations and Digraphs </a:t>
            </a:r>
            <a:endParaRPr lang="en-PK" dirty="0"/>
          </a:p>
        </p:txBody>
      </p:sp>
      <p:sp>
        <p:nvSpPr>
          <p:cNvPr id="4" name="Date Placeholder 3">
            <a:extLst>
              <a:ext uri="{FF2B5EF4-FFF2-40B4-BE49-F238E27FC236}">
                <a16:creationId xmlns:a16="http://schemas.microsoft.com/office/drawing/2014/main" id="{495DB796-489C-49AF-9422-868F5A246992}"/>
              </a:ext>
            </a:extLst>
          </p:cNvPr>
          <p:cNvSpPr>
            <a:spLocks noGrp="1"/>
          </p:cNvSpPr>
          <p:nvPr>
            <p:ph type="dt" sz="half" idx="10"/>
          </p:nvPr>
        </p:nvSpPr>
        <p:spPr/>
        <p:txBody>
          <a:bodyPr/>
          <a:lstStyle/>
          <a:p>
            <a:r>
              <a:rPr lang="en-US" dirty="0"/>
              <a:t>31/12/2023</a:t>
            </a:r>
            <a:endParaRPr lang="en-PK" dirty="0"/>
          </a:p>
        </p:txBody>
      </p:sp>
      <p:sp>
        <p:nvSpPr>
          <p:cNvPr id="5" name="Slide Number Placeholder 4">
            <a:extLst>
              <a:ext uri="{FF2B5EF4-FFF2-40B4-BE49-F238E27FC236}">
                <a16:creationId xmlns:a16="http://schemas.microsoft.com/office/drawing/2014/main" id="{99766694-E378-4893-9483-F289AE6BE396}"/>
              </a:ext>
            </a:extLst>
          </p:cNvPr>
          <p:cNvSpPr>
            <a:spLocks noGrp="1"/>
          </p:cNvSpPr>
          <p:nvPr>
            <p:ph type="sldNum" sz="quarter" idx="12"/>
          </p:nvPr>
        </p:nvSpPr>
        <p:spPr/>
        <p:txBody>
          <a:bodyPr/>
          <a:lstStyle/>
          <a:p>
            <a:r>
              <a:rPr dirty="0"/>
              <a:t>38</a:t>
            </a:r>
          </a:p>
        </p:txBody>
      </p:sp>
      <p:pic>
        <p:nvPicPr>
          <p:cNvPr id="9" name="Picture 8">
            <a:extLst>
              <a:ext uri="{FF2B5EF4-FFF2-40B4-BE49-F238E27FC236}">
                <a16:creationId xmlns:a16="http://schemas.microsoft.com/office/drawing/2014/main" id="{52867E62-953C-4F43-9E81-934F1EEEE7BF}"/>
              </a:ext>
            </a:extLst>
          </p:cNvPr>
          <p:cNvPicPr>
            <a:picLocks noChangeAspect="1"/>
          </p:cNvPicPr>
          <p:nvPr/>
        </p:nvPicPr>
        <p:blipFill rotWithShape="1">
          <a:blip r:embed="rId2">
            <a:biLevel thresh="75000"/>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 uri="{837473B0-CC2E-450A-ABE3-18F120FF3D39}">
                <a1611:picAttrSrcUrl xmlns:a1611="http://schemas.microsoft.com/office/drawing/2016/11/main" r:id="rId4"/>
              </a:ext>
            </a:extLst>
          </a:blip>
          <a:srcRect l="59333" t="44000" r="3667" b="16334"/>
          <a:stretch/>
        </p:blipFill>
        <p:spPr>
          <a:xfrm>
            <a:off x="838200" y="2314116"/>
            <a:ext cx="4251960" cy="3418806"/>
          </a:xfrm>
          <a:prstGeom prst="rect">
            <a:avLst/>
          </a:prstGeom>
        </p:spPr>
      </p:pic>
      <p:pic>
        <p:nvPicPr>
          <p:cNvPr id="11" name="Picture 10">
            <a:extLst>
              <a:ext uri="{FF2B5EF4-FFF2-40B4-BE49-F238E27FC236}">
                <a16:creationId xmlns:a16="http://schemas.microsoft.com/office/drawing/2014/main" id="{6C254A47-4ED0-4ED5-94ED-76B87042DDFA}"/>
              </a:ext>
            </a:extLst>
          </p:cNvPr>
          <p:cNvPicPr>
            <a:picLocks noChangeAspect="1"/>
          </p:cNvPicPr>
          <p:nvPr/>
        </p:nvPicPr>
        <p:blipFill rotWithShape="1">
          <a:blip r:embed="rId5">
            <a:extLst>
              <a:ext uri="{28A0092B-C50C-407E-A947-70E740481C1C}">
                <a14:useLocalDpi xmlns:a14="http://schemas.microsoft.com/office/drawing/2010/main" val="0"/>
              </a:ext>
            </a:extLst>
          </a:blip>
          <a:srcRect r="55740" b="9086"/>
          <a:stretch/>
        </p:blipFill>
        <p:spPr>
          <a:xfrm>
            <a:off x="6743177" y="1859651"/>
            <a:ext cx="4610622" cy="4327736"/>
          </a:xfrm>
          <a:prstGeom prst="rect">
            <a:avLst/>
          </a:prstGeom>
        </p:spPr>
      </p:pic>
    </p:spTree>
    <p:extLst>
      <p:ext uri="{BB962C8B-B14F-4D97-AF65-F5344CB8AC3E}">
        <p14:creationId xmlns:p14="http://schemas.microsoft.com/office/powerpoint/2010/main" val="16242936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058400" cy="731520"/>
          </a:xfrm>
          <a:prstGeom prst="rect">
            <a:avLst/>
          </a:prstGeom>
          <a:noFill/>
        </p:spPr>
        <p:txBody>
          <a:bodyPr wrap="none">
            <a:spAutoFit/>
          </a:bodyPr>
          <a:lstStyle/>
          <a:p>
            <a:pPr>
              <a:defRPr sz="4200" b="0">
                <a:solidFill>
                  <a:srgbClr val="4169B4"/>
                </a:solidFill>
                <a:latin typeface="Aptos Display"/>
              </a:defRPr>
            </a:pPr>
            <a:r>
              <a:rPr dirty="0"/>
              <a:t>Key Takeaways</a:t>
            </a:r>
          </a:p>
        </p:txBody>
      </p:sp>
      <p:sp>
        <p:nvSpPr>
          <p:cNvPr id="3" name="Rectangle 2"/>
          <p:cNvSpPr/>
          <p:nvPr/>
        </p:nvSpPr>
        <p:spPr>
          <a:xfrm>
            <a:off x="640080" y="1170432"/>
            <a:ext cx="10241280" cy="27432"/>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TextBox 3"/>
          <p:cNvSpPr txBox="1"/>
          <p:nvPr/>
        </p:nvSpPr>
        <p:spPr>
          <a:xfrm>
            <a:off x="914400" y="1645920"/>
            <a:ext cx="10058400" cy="4031873"/>
          </a:xfrm>
          <a:prstGeom prst="rect">
            <a:avLst/>
          </a:prstGeom>
          <a:noFill/>
        </p:spPr>
        <p:txBody>
          <a:bodyPr wrap="square">
            <a:spAutoFit/>
          </a:bodyPr>
          <a:lstStyle/>
          <a:p>
            <a:pPr marL="457200" indent="-457200">
              <a:spcAft>
                <a:spcPts val="1200"/>
              </a:spcAft>
              <a:buFont typeface="Wingdings" panose="05000000000000000000" pitchFamily="2" charset="2"/>
              <a:buChar char="§"/>
              <a:defRPr sz="2600">
                <a:latin typeface="Aptos"/>
              </a:defRPr>
            </a:pPr>
            <a:r>
              <a:rPr sz="2400" b="1" dirty="0"/>
              <a:t>Relations </a:t>
            </a:r>
            <a:r>
              <a:rPr sz="2400" dirty="0"/>
              <a:t>describe connections between elements of sets.</a:t>
            </a:r>
          </a:p>
          <a:p>
            <a:pPr marL="457200" indent="-457200">
              <a:spcAft>
                <a:spcPts val="1200"/>
              </a:spcAft>
              <a:buFont typeface="Wingdings" panose="05000000000000000000" pitchFamily="2" charset="2"/>
              <a:buChar char="§"/>
              <a:defRPr sz="2600">
                <a:latin typeface="Aptos"/>
              </a:defRPr>
            </a:pPr>
            <a:r>
              <a:rPr sz="2400" dirty="0"/>
              <a:t>Properties such as </a:t>
            </a:r>
            <a:r>
              <a:rPr sz="2400" dirty="0">
                <a:solidFill>
                  <a:schemeClr val="accent1"/>
                </a:solidFill>
                <a:latin typeface="Aptos"/>
              </a:rPr>
              <a:t>reflexive</a:t>
            </a:r>
            <a:r>
              <a:rPr sz="2400" dirty="0"/>
              <a:t>, </a:t>
            </a:r>
            <a:r>
              <a:rPr sz="2400" dirty="0">
                <a:solidFill>
                  <a:schemeClr val="accent1"/>
                </a:solidFill>
                <a:latin typeface="Aptos"/>
              </a:rPr>
              <a:t>symmetric</a:t>
            </a:r>
            <a:r>
              <a:rPr sz="2400" dirty="0"/>
              <a:t>, </a:t>
            </a:r>
            <a:r>
              <a:rPr sz="2400" dirty="0">
                <a:solidFill>
                  <a:schemeClr val="accent1"/>
                </a:solidFill>
                <a:latin typeface="Aptos"/>
              </a:rPr>
              <a:t>antisymmetric</a:t>
            </a:r>
            <a:r>
              <a:rPr sz="2400" dirty="0"/>
              <a:t>, and </a:t>
            </a:r>
            <a:r>
              <a:rPr sz="2400" dirty="0">
                <a:solidFill>
                  <a:schemeClr val="accent1"/>
                </a:solidFill>
                <a:latin typeface="Aptos"/>
              </a:rPr>
              <a:t>transitive </a:t>
            </a:r>
            <a:r>
              <a:rPr sz="2400" dirty="0"/>
              <a:t>classify relations.</a:t>
            </a:r>
          </a:p>
          <a:p>
            <a:pPr marL="457200" indent="-457200">
              <a:spcAft>
                <a:spcPts val="1200"/>
              </a:spcAft>
              <a:buFont typeface="Wingdings" panose="05000000000000000000" pitchFamily="2" charset="2"/>
              <a:buChar char="§"/>
              <a:defRPr sz="2600">
                <a:latin typeface="Aptos"/>
              </a:defRPr>
            </a:pPr>
            <a:r>
              <a:rPr sz="2400" b="1" dirty="0"/>
              <a:t>Equivalence relations </a:t>
            </a:r>
            <a:r>
              <a:rPr sz="2400" dirty="0"/>
              <a:t>group similar elements; </a:t>
            </a:r>
            <a:r>
              <a:rPr sz="2400" b="1" dirty="0"/>
              <a:t>partial orders </a:t>
            </a:r>
            <a:r>
              <a:rPr sz="2400" dirty="0"/>
              <a:t>model hierarchy and ranking.</a:t>
            </a:r>
          </a:p>
          <a:p>
            <a:pPr marL="457200" indent="-457200">
              <a:spcAft>
                <a:spcPts val="1200"/>
              </a:spcAft>
              <a:buFont typeface="Wingdings" panose="05000000000000000000" pitchFamily="2" charset="2"/>
              <a:buChar char="§"/>
              <a:defRPr sz="2600">
                <a:latin typeface="Aptos"/>
              </a:defRPr>
            </a:pPr>
            <a:r>
              <a:rPr sz="2400" dirty="0"/>
              <a:t>Relations are applied in </a:t>
            </a:r>
            <a:r>
              <a:rPr sz="2400" dirty="0">
                <a:solidFill>
                  <a:schemeClr val="accent1"/>
                </a:solidFill>
                <a:latin typeface="Aptos"/>
              </a:rPr>
              <a:t>databases </a:t>
            </a:r>
            <a:r>
              <a:rPr sz="2400" dirty="0">
                <a:latin typeface="Aptos"/>
              </a:rPr>
              <a:t>through</a:t>
            </a:r>
            <a:r>
              <a:rPr sz="2400" dirty="0">
                <a:solidFill>
                  <a:schemeClr val="accent1"/>
                </a:solidFill>
                <a:latin typeface="Aptos"/>
              </a:rPr>
              <a:t> records</a:t>
            </a:r>
            <a:r>
              <a:rPr sz="2400" dirty="0"/>
              <a:t>, </a:t>
            </a:r>
            <a:r>
              <a:rPr sz="2400" dirty="0">
                <a:solidFill>
                  <a:schemeClr val="accent1"/>
                </a:solidFill>
                <a:latin typeface="Aptos"/>
              </a:rPr>
              <a:t>fields</a:t>
            </a:r>
            <a:r>
              <a:rPr sz="2400" dirty="0"/>
              <a:t>, </a:t>
            </a:r>
            <a:r>
              <a:rPr sz="2400" dirty="0">
                <a:solidFill>
                  <a:schemeClr val="accent1"/>
                </a:solidFill>
                <a:latin typeface="Aptos"/>
              </a:rPr>
              <a:t>primary keys</a:t>
            </a:r>
            <a:r>
              <a:rPr sz="2400" dirty="0"/>
              <a:t>, and </a:t>
            </a:r>
            <a:r>
              <a:rPr sz="2400" dirty="0">
                <a:solidFill>
                  <a:schemeClr val="accent1"/>
                </a:solidFill>
                <a:latin typeface="Aptos"/>
              </a:rPr>
              <a:t>composite keys</a:t>
            </a:r>
            <a:r>
              <a:rPr sz="2400" dirty="0"/>
              <a:t>.</a:t>
            </a:r>
          </a:p>
          <a:p>
            <a:pPr marL="457200" indent="-457200">
              <a:spcAft>
                <a:spcPts val="1200"/>
              </a:spcAft>
              <a:buFont typeface="Wingdings" panose="05000000000000000000" pitchFamily="2" charset="2"/>
              <a:buChar char="§"/>
              <a:defRPr sz="2600">
                <a:latin typeface="Aptos"/>
              </a:defRPr>
            </a:pPr>
            <a:r>
              <a:rPr lang="en-GB" sz="2400" b="1" dirty="0"/>
              <a:t>Matrices </a:t>
            </a:r>
            <a:r>
              <a:rPr lang="en-GB" sz="2400" dirty="0"/>
              <a:t>and </a:t>
            </a:r>
            <a:r>
              <a:rPr lang="en-GB" sz="2400" b="1" dirty="0"/>
              <a:t>digraphs </a:t>
            </a:r>
            <a:r>
              <a:rPr lang="en-GB" sz="2400" dirty="0"/>
              <a:t>provide visual and computational ways to </a:t>
            </a:r>
            <a:r>
              <a:rPr lang="en-GB" sz="2400" dirty="0">
                <a:solidFill>
                  <a:schemeClr val="accent1"/>
                </a:solidFill>
                <a:latin typeface="Aptos"/>
              </a:rPr>
              <a:t>analyse relations</a:t>
            </a:r>
            <a:r>
              <a:rPr lang="en-GB" sz="2400" dirty="0"/>
              <a:t>.</a:t>
            </a:r>
          </a:p>
        </p:txBody>
      </p:sp>
      <p:sp>
        <p:nvSpPr>
          <p:cNvPr id="5" name="TextBox 4"/>
          <p:cNvSpPr txBox="1"/>
          <p:nvPr/>
        </p:nvSpPr>
        <p:spPr>
          <a:xfrm>
            <a:off x="640080" y="6355080"/>
            <a:ext cx="1828800" cy="274320"/>
          </a:xfrm>
          <a:prstGeom prst="rect">
            <a:avLst/>
          </a:prstGeom>
          <a:noFill/>
        </p:spPr>
        <p:txBody>
          <a:bodyPr wrap="none">
            <a:spAutoFit/>
          </a:bodyPr>
          <a:lstStyle/>
          <a:p>
            <a:pPr>
              <a:defRPr sz="1000">
                <a:solidFill>
                  <a:srgbClr val="787878"/>
                </a:solidFill>
              </a:defRPr>
            </a:pPr>
            <a:r>
              <a:rPr dirty="0"/>
              <a:t>31/12/2023</a:t>
            </a:r>
          </a:p>
        </p:txBody>
      </p:sp>
      <p:sp>
        <p:nvSpPr>
          <p:cNvPr id="6" name="TextBox 5"/>
          <p:cNvSpPr txBox="1"/>
          <p:nvPr/>
        </p:nvSpPr>
        <p:spPr>
          <a:xfrm>
            <a:off x="10972800" y="6355080"/>
            <a:ext cx="457200" cy="274320"/>
          </a:xfrm>
          <a:prstGeom prst="rect">
            <a:avLst/>
          </a:prstGeom>
          <a:noFill/>
        </p:spPr>
        <p:txBody>
          <a:bodyPr wrap="none">
            <a:spAutoFit/>
          </a:bodyPr>
          <a:lstStyle/>
          <a:p>
            <a:r>
              <a:rPr dirty="0"/>
              <a:t>39</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411480"/>
            <a:ext cx="9496767" cy="738664"/>
          </a:xfrm>
          <a:prstGeom prst="rect">
            <a:avLst/>
          </a:prstGeom>
          <a:noFill/>
        </p:spPr>
        <p:txBody>
          <a:bodyPr wrap="none">
            <a:spAutoFit/>
          </a:bodyPr>
          <a:lstStyle/>
          <a:p>
            <a:pPr>
              <a:defRPr sz="4200" b="0">
                <a:solidFill>
                  <a:srgbClr val="4169B4"/>
                </a:solidFill>
                <a:latin typeface="Aptos Display"/>
              </a:defRPr>
            </a:pPr>
            <a:r>
              <a:rPr lang="en-GB" dirty="0"/>
              <a:t>Why Relations Matter in Computer Science</a:t>
            </a:r>
          </a:p>
        </p:txBody>
      </p:sp>
      <p:sp>
        <p:nvSpPr>
          <p:cNvPr id="3" name="Rectangle 2"/>
          <p:cNvSpPr/>
          <p:nvPr/>
        </p:nvSpPr>
        <p:spPr>
          <a:xfrm>
            <a:off x="640080" y="1170432"/>
            <a:ext cx="10241280" cy="27432"/>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TextBox 3"/>
          <p:cNvSpPr txBox="1"/>
          <p:nvPr/>
        </p:nvSpPr>
        <p:spPr>
          <a:xfrm>
            <a:off x="914400" y="1645920"/>
            <a:ext cx="10515600" cy="4226798"/>
          </a:xfrm>
          <a:prstGeom prst="rect">
            <a:avLst/>
          </a:prstGeom>
          <a:noFill/>
        </p:spPr>
        <p:txBody>
          <a:bodyPr wrap="square">
            <a:spAutoFit/>
          </a:bodyPr>
          <a:lstStyle/>
          <a:p>
            <a:pPr>
              <a:spcAft>
                <a:spcPts val="2400"/>
              </a:spcAft>
              <a:defRPr sz="2600">
                <a:latin typeface="Aptos"/>
              </a:defRPr>
            </a:pPr>
            <a:r>
              <a:rPr lang="en-GB" sz="2400" b="1" dirty="0"/>
              <a:t>Relations</a:t>
            </a:r>
            <a:r>
              <a:rPr lang="en-GB" sz="2400" dirty="0"/>
              <a:t> help model connections between objects in computing.</a:t>
            </a:r>
          </a:p>
          <a:p>
            <a:pPr marL="342900" indent="-342900">
              <a:lnSpc>
                <a:spcPts val="3500"/>
              </a:lnSpc>
              <a:spcAft>
                <a:spcPts val="1200"/>
              </a:spcAft>
              <a:buFont typeface="Wingdings" panose="05000000000000000000" pitchFamily="2" charset="2"/>
              <a:buChar char="§"/>
              <a:defRPr sz="2600">
                <a:latin typeface="Aptos"/>
              </a:defRPr>
            </a:pPr>
            <a:r>
              <a:rPr lang="en-GB" sz="2400" dirty="0">
                <a:solidFill>
                  <a:schemeClr val="accent1"/>
                </a:solidFill>
                <a:latin typeface="Aptos"/>
              </a:rPr>
              <a:t>Databases: </a:t>
            </a:r>
            <a:r>
              <a:rPr lang="en-GB" sz="2400" dirty="0"/>
              <a:t>records, tables, keys, and entity relationships</a:t>
            </a:r>
          </a:p>
          <a:p>
            <a:pPr marL="342900" indent="-342900">
              <a:lnSpc>
                <a:spcPts val="3500"/>
              </a:lnSpc>
              <a:spcAft>
                <a:spcPts val="1200"/>
              </a:spcAft>
              <a:buFont typeface="Wingdings" panose="05000000000000000000" pitchFamily="2" charset="2"/>
              <a:buChar char="§"/>
              <a:defRPr sz="2600">
                <a:latin typeface="Aptos"/>
              </a:defRPr>
            </a:pPr>
            <a:r>
              <a:rPr lang="en-GB" sz="2400" dirty="0">
                <a:solidFill>
                  <a:schemeClr val="accent1"/>
                </a:solidFill>
                <a:latin typeface="Aptos"/>
              </a:rPr>
              <a:t>Access Control: </a:t>
            </a:r>
            <a:r>
              <a:rPr lang="en-GB" sz="2400" dirty="0"/>
              <a:t>users, roles, permissions, and resources</a:t>
            </a:r>
          </a:p>
          <a:p>
            <a:pPr marL="342900" indent="-342900">
              <a:lnSpc>
                <a:spcPts val="3500"/>
              </a:lnSpc>
              <a:spcAft>
                <a:spcPts val="1200"/>
              </a:spcAft>
              <a:buFont typeface="Wingdings" panose="05000000000000000000" pitchFamily="2" charset="2"/>
              <a:buChar char="§"/>
              <a:defRPr sz="2600">
                <a:latin typeface="Aptos"/>
              </a:defRPr>
            </a:pPr>
            <a:r>
              <a:rPr lang="en-GB" sz="2400" dirty="0">
                <a:solidFill>
                  <a:schemeClr val="accent1"/>
                </a:solidFill>
                <a:latin typeface="Aptos"/>
              </a:rPr>
              <a:t>Networks and Graphs: </a:t>
            </a:r>
            <a:r>
              <a:rPr lang="en-GB" sz="2400" dirty="0"/>
              <a:t>devices, links, nodes, edges, routes, and reachability</a:t>
            </a:r>
          </a:p>
          <a:p>
            <a:pPr marL="342900" indent="-342900">
              <a:lnSpc>
                <a:spcPts val="3500"/>
              </a:lnSpc>
              <a:spcAft>
                <a:spcPts val="1200"/>
              </a:spcAft>
              <a:buFont typeface="Wingdings" panose="05000000000000000000" pitchFamily="2" charset="2"/>
              <a:buChar char="§"/>
              <a:defRPr sz="2600">
                <a:latin typeface="Aptos"/>
              </a:defRPr>
            </a:pPr>
            <a:r>
              <a:rPr lang="en-GB" sz="2400" dirty="0">
                <a:solidFill>
                  <a:schemeClr val="accent1"/>
                </a:solidFill>
                <a:latin typeface="Aptos"/>
              </a:rPr>
              <a:t>Program Logic: </a:t>
            </a:r>
            <a:r>
              <a:rPr lang="en-GB" sz="2400" dirty="0"/>
              <a:t>rules, conditions, comparisons, and system behaviour</a:t>
            </a:r>
          </a:p>
          <a:p>
            <a:pPr>
              <a:spcBef>
                <a:spcPts val="2400"/>
              </a:spcBef>
              <a:spcAft>
                <a:spcPts val="1200"/>
              </a:spcAft>
              <a:defRPr sz="2600">
                <a:latin typeface="Aptos"/>
              </a:defRPr>
            </a:pPr>
            <a:r>
              <a:rPr lang="en-GB" sz="2400" dirty="0"/>
              <a:t>Relations provide a foundation for understanding </a:t>
            </a:r>
            <a:r>
              <a:rPr lang="en-GB" sz="2400" b="1" dirty="0"/>
              <a:t>databases</a:t>
            </a:r>
            <a:r>
              <a:rPr lang="en-GB" sz="2400" dirty="0"/>
              <a:t>, </a:t>
            </a:r>
            <a:r>
              <a:rPr lang="en-GB" sz="2400" b="1" dirty="0"/>
              <a:t>cybersecurity</a:t>
            </a:r>
            <a:r>
              <a:rPr lang="en-GB" sz="2400" dirty="0"/>
              <a:t>, </a:t>
            </a:r>
            <a:r>
              <a:rPr lang="en-GB" sz="2400" b="1" dirty="0"/>
              <a:t>networking</a:t>
            </a:r>
            <a:r>
              <a:rPr lang="en-GB" sz="2400" dirty="0"/>
              <a:t>, and </a:t>
            </a:r>
            <a:r>
              <a:rPr lang="en-GB" sz="2400" b="1" dirty="0"/>
              <a:t>software systems</a:t>
            </a:r>
            <a:r>
              <a:rPr lang="en-GB" sz="2400" dirty="0"/>
              <a:t>.</a:t>
            </a:r>
          </a:p>
        </p:txBody>
      </p:sp>
      <p:sp>
        <p:nvSpPr>
          <p:cNvPr id="5" name="TextBox 4"/>
          <p:cNvSpPr txBox="1"/>
          <p:nvPr/>
        </p:nvSpPr>
        <p:spPr>
          <a:xfrm>
            <a:off x="640080" y="6355080"/>
            <a:ext cx="1828800" cy="274320"/>
          </a:xfrm>
          <a:prstGeom prst="rect">
            <a:avLst/>
          </a:prstGeom>
          <a:noFill/>
        </p:spPr>
        <p:txBody>
          <a:bodyPr wrap="none">
            <a:spAutoFit/>
          </a:bodyPr>
          <a:lstStyle/>
          <a:p>
            <a:pPr>
              <a:defRPr sz="1000">
                <a:solidFill>
                  <a:srgbClr val="787878"/>
                </a:solidFill>
              </a:defRPr>
            </a:pPr>
            <a:r>
              <a:rPr dirty="0"/>
              <a:t>31/12/2023</a:t>
            </a:r>
          </a:p>
        </p:txBody>
      </p:sp>
      <p:sp>
        <p:nvSpPr>
          <p:cNvPr id="6" name="TextBox 5"/>
          <p:cNvSpPr txBox="1"/>
          <p:nvPr/>
        </p:nvSpPr>
        <p:spPr>
          <a:xfrm>
            <a:off x="10972800" y="6355080"/>
            <a:ext cx="457200" cy="274320"/>
          </a:xfrm>
          <a:prstGeom prst="rect">
            <a:avLst/>
          </a:prstGeom>
          <a:noFill/>
        </p:spPr>
        <p:txBody>
          <a:bodyPr wrap="none">
            <a:spAutoFit/>
          </a:bodyPr>
          <a:lstStyle/>
          <a:p>
            <a:r>
              <a:rPr dirty="0"/>
              <a:t>39</a:t>
            </a:r>
          </a:p>
        </p:txBody>
      </p:sp>
    </p:spTree>
    <p:extLst>
      <p:ext uri="{BB962C8B-B14F-4D97-AF65-F5344CB8AC3E}">
        <p14:creationId xmlns:p14="http://schemas.microsoft.com/office/powerpoint/2010/main" val="5882630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F670B-ED04-43B7-87E2-1516830BE3C2}"/>
              </a:ext>
            </a:extLst>
          </p:cNvPr>
          <p:cNvSpPr>
            <a:spLocks noGrp="1"/>
          </p:cNvSpPr>
          <p:nvPr>
            <p:ph type="ctrTitle"/>
          </p:nvPr>
        </p:nvSpPr>
        <p:spPr/>
        <p:txBody>
          <a:bodyPr/>
          <a:lstStyle/>
          <a:p>
            <a:r>
              <a:rPr lang="en-US" spc="600" dirty="0"/>
              <a:t>Discussion Time</a:t>
            </a:r>
            <a:endParaRPr lang="en-PK" spc="600" dirty="0"/>
          </a:p>
        </p:txBody>
      </p:sp>
      <p:sp>
        <p:nvSpPr>
          <p:cNvPr id="3" name="Subtitle 2">
            <a:extLst>
              <a:ext uri="{FF2B5EF4-FFF2-40B4-BE49-F238E27FC236}">
                <a16:creationId xmlns:a16="http://schemas.microsoft.com/office/drawing/2014/main" id="{83550AC3-C381-4F51-9F87-6E9C20CDD20B}"/>
              </a:ext>
            </a:extLst>
          </p:cNvPr>
          <p:cNvSpPr>
            <a:spLocks noGrp="1"/>
          </p:cNvSpPr>
          <p:nvPr>
            <p:ph type="subTitle" idx="1"/>
          </p:nvPr>
        </p:nvSpPr>
        <p:spPr/>
        <p:txBody>
          <a:bodyPr anchor="ctr"/>
          <a:lstStyle/>
          <a:p>
            <a:r>
              <a:rPr lang="en-US" spc="600" dirty="0"/>
              <a:t>Thank You</a:t>
            </a:r>
            <a:endParaRPr lang="en-PK" spc="600" dirty="0"/>
          </a:p>
        </p:txBody>
      </p:sp>
    </p:spTree>
    <p:extLst>
      <p:ext uri="{BB962C8B-B14F-4D97-AF65-F5344CB8AC3E}">
        <p14:creationId xmlns:p14="http://schemas.microsoft.com/office/powerpoint/2010/main" val="273502896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 m_{ij} = \left\{ \begin{array}{l}&#10; 1\; \mbox{if} \;(a_i, b_j) \in R,\\&#10;0\; \mbox{if}\; (a_i,b_j) \not\in R.\end{array}\right.&#10;$$&#10;&#10;&#10;\end{document}"/>
  <p:tag name="IGUANATEXSIZE" val="2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mbria-Calibri">
      <a:majorFont>
        <a:latin typeface="Cambria" panose="02040503050406030204"/>
        <a:ea typeface=""/>
        <a:cs typeface=""/>
        <a:font script="Jpan" typeface="ＭＳ Ｐゴシック"/>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1335</TotalTime>
  <Words>3040</Words>
  <Application>Microsoft Office PowerPoint</Application>
  <PresentationFormat>Widescreen</PresentationFormat>
  <Paragraphs>599</Paragraphs>
  <Slides>40</Slides>
  <Notes>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40</vt:i4>
      </vt:variant>
    </vt:vector>
  </HeadingPairs>
  <TitlesOfParts>
    <vt:vector size="52" baseType="lpstr">
      <vt:lpstr>KaTeX_Main</vt:lpstr>
      <vt:lpstr>KaTeX_Math</vt:lpstr>
      <vt:lpstr>Söhne</vt:lpstr>
      <vt:lpstr>Aptos</vt:lpstr>
      <vt:lpstr>Arial</vt:lpstr>
      <vt:lpstr>Calibri</vt:lpstr>
      <vt:lpstr>Cambria</vt:lpstr>
      <vt:lpstr>Cambria Math</vt:lpstr>
      <vt:lpstr>Symbol</vt:lpstr>
      <vt:lpstr>Times New Roman</vt:lpstr>
      <vt:lpstr>Wingdings</vt:lpstr>
      <vt:lpstr>Office Theme</vt:lpstr>
      <vt:lpstr>RELATIONS AND THEIR PROPERTIES</vt:lpstr>
      <vt:lpstr>Table of Contents</vt:lpstr>
      <vt:lpstr>Cartesian Product</vt:lpstr>
      <vt:lpstr>Relations</vt:lpstr>
      <vt:lpstr>Relations</vt:lpstr>
      <vt:lpstr>Representing relations</vt:lpstr>
      <vt:lpstr>Functions as Relations </vt:lpstr>
      <vt:lpstr>Relations on a Set </vt:lpstr>
      <vt:lpstr>Properties of Relations </vt:lpstr>
      <vt:lpstr>Properties of Relations </vt:lpstr>
      <vt:lpstr>Properties of Relations </vt:lpstr>
      <vt:lpstr>Properties of Relations </vt:lpstr>
      <vt:lpstr>Properties of Relations </vt:lpstr>
      <vt:lpstr>Equivalence Relations</vt:lpstr>
      <vt:lpstr>Partial Order Relations</vt:lpstr>
      <vt:lpstr>Combining Relations</vt:lpstr>
      <vt:lpstr>Composite Relations</vt:lpstr>
      <vt:lpstr>Powers of Relations</vt:lpstr>
      <vt:lpstr>n-ary Relations </vt:lpstr>
      <vt:lpstr>Databases and Relations</vt:lpstr>
      <vt:lpstr>Databases and Relations</vt:lpstr>
      <vt:lpstr>Primary Key</vt:lpstr>
      <vt:lpstr>Composite Key</vt:lpstr>
      <vt:lpstr>Primary and Composite Keys</vt:lpstr>
      <vt:lpstr>Relations and Matrices</vt:lpstr>
      <vt:lpstr>Properties of Relations Using Matrices  </vt:lpstr>
      <vt:lpstr>Properties of Relations Using Matrices  </vt:lpstr>
      <vt:lpstr>Properties of Relations Using Matrices  </vt:lpstr>
      <vt:lpstr>Properties of Relations Using Matrices  </vt:lpstr>
      <vt:lpstr>Properties of Relations Using Matrices  </vt:lpstr>
      <vt:lpstr>Properties of Relations Using Matrices  </vt:lpstr>
      <vt:lpstr>Properties of Relations Using Matrices  </vt:lpstr>
      <vt:lpstr>Properties of Relations Using Matrices  </vt:lpstr>
      <vt:lpstr>Relations and Digraphs </vt:lpstr>
      <vt:lpstr>Relations and Digraphs </vt:lpstr>
      <vt:lpstr>Relations and Digraphs </vt:lpstr>
      <vt:lpstr>Relations and Digraphs </vt:lpstr>
      <vt:lpstr>PowerPoint Presentation</vt:lpstr>
      <vt:lpstr>PowerPoint Presentation</vt:lpstr>
      <vt:lpstr>Discussion Time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Hussain Ali</dc:creator>
  <cp:lastModifiedBy>Hussain Ali</cp:lastModifiedBy>
  <cp:revision>81</cp:revision>
  <dcterms:created xsi:type="dcterms:W3CDTF">2023-12-31T15:03:10Z</dcterms:created>
  <dcterms:modified xsi:type="dcterms:W3CDTF">2026-05-26T15:32:03Z</dcterms:modified>
</cp:coreProperties>
</file>