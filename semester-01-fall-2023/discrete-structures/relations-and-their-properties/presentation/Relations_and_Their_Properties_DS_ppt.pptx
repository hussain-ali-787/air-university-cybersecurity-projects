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72" r:id="rId4"/>
    <p:sldId id="274" r:id="rId5"/>
    <p:sldId id="275" r:id="rId6"/>
    <p:sldId id="258" r:id="rId7"/>
    <p:sldId id="259" r:id="rId8"/>
    <p:sldId id="260" r:id="rId9"/>
    <p:sldId id="279" r:id="rId10"/>
    <p:sldId id="261" r:id="rId11"/>
    <p:sldId id="276" r:id="rId12"/>
    <p:sldId id="277" r:id="rId13"/>
    <p:sldId id="278" r:id="rId14"/>
    <p:sldId id="262" r:id="rId15"/>
    <p:sldId id="280" r:id="rId16"/>
    <p:sldId id="263" r:id="rId17"/>
    <p:sldId id="264" r:id="rId18"/>
    <p:sldId id="281" r:id="rId19"/>
    <p:sldId id="265" r:id="rId20"/>
    <p:sldId id="266" r:id="rId21"/>
    <p:sldId id="282" r:id="rId22"/>
    <p:sldId id="267" r:id="rId23"/>
    <p:sldId id="268" r:id="rId24"/>
    <p:sldId id="269" r:id="rId25"/>
    <p:sldId id="284" r:id="rId26"/>
    <p:sldId id="283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70" r:id="rId35"/>
    <p:sldId id="292" r:id="rId36"/>
    <p:sldId id="293" r:id="rId37"/>
    <p:sldId id="294" r:id="rId38"/>
    <p:sldId id="296" r:id="rId39"/>
    <p:sldId id="273" r:id="rId4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C8D39B-7CF8-46DB-8C7A-1C1D0DD6F4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F1B5F-5400-4BD2-8E4A-339BFEEA2BA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60F34-A91F-4D67-ABC6-AFE2D559852E}" type="datetimeFigureOut">
              <a:rPr lang="en-PK" smtClean="0"/>
              <a:t>14/05/2026</a:t>
            </a:fld>
            <a:endParaRPr lang="en-PK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7D6A43E-074C-4A8F-B99B-BC4AEE918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6C7CE30-30E7-4B57-A27D-828F70B14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E86D6-B7DA-4236-B23E-81E978ED14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25B18-D9AC-4347-9901-71BBDC13A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73769-FF25-4A33-9EE6-BFB6385FC670}" type="slidenum">
              <a:rPr lang="en-PK" smtClean="0"/>
              <a:t>‹#›</a:t>
            </a:fld>
            <a:endParaRPr lang="en-P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1F6F-60DC-44BC-87C2-6F534A007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F4C0C-DEB9-4331-BDCA-7FFA8197C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A8B57-4725-4EE3-9D35-FDF5731E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31/12/2023</a:t>
            </a:r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F0593-091A-491C-9C10-6ECA9427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3B754-9607-4F81-B183-92FCC046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163336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DE60-E3D0-4E35-B034-F32EF624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51321-B5B8-4D66-9085-90D7BCF86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02C6-0C3B-4B42-AD59-E780AA58A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2097-2BB6-420C-AE34-021CD804A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C9625-737F-43AD-B284-20F79F31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CE6907-95FA-45FA-A044-D92D6A2F118D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A0CD690-2F54-497F-A481-412F2871C3C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F36A3E-8CAC-466D-B23F-161B330879A7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9C44B30-6F81-4CEB-AFE9-E4F474A2C0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153" y="487906"/>
            <a:ext cx="1307647" cy="1080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D46D25-93D5-4ABF-B574-4D2834C03101}"/>
              </a:ext>
            </a:extLst>
          </p:cNvPr>
          <p:cNvCxnSpPr>
            <a:cxnSpLocks/>
          </p:cNvCxnSpPr>
          <p:nvPr userDrawn="1"/>
        </p:nvCxnSpPr>
        <p:spPr>
          <a:xfrm>
            <a:off x="9869906" y="365125"/>
            <a:ext cx="0" cy="132556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0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2CB2-BA31-4814-9763-AA8EA1F86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D5951-8501-422F-B801-FDE1E9F11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1EC48-8DDC-425D-9EC5-D20C5CDA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5AF4E-EA2D-4277-A345-46976497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94F88-B995-4B98-BD37-E20D9ABA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105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831A6-CFDB-4985-84D7-914FC519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C45DA-30C3-4FA3-ADE7-BB07724BC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5D096-6B8E-4A4B-89C2-FDA50BCF2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D5AF3-7B11-4ABC-BDB8-6360B16E8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141EA-7924-4C48-8727-99C98EEA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C313B-BE8A-4BA1-BAF9-AA171DF9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7B0D5C-5B75-427B-A527-D6FD9734638A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16D6AC5-AA06-43B2-8ACD-2760870EC5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58F96F-95AD-45F6-8155-D3EC3E8363F7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82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B345-7A4D-449C-A3FA-53D8BAC9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9BEEE-A25D-4673-9B05-DC16FFAC0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CBDAC-1F20-43F1-9B52-48CBA4FD7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970E9-BF7B-4F94-859D-AA39100E4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F477F-C799-4FC4-90BE-1488FB7DD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75028-6D99-472A-BD10-68BA9786C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9B0A5-D0B2-468E-8128-CBB070D7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FB328-87D3-4FE7-BF31-185689986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8474E3-503B-4CAF-BBE7-D2016C09CC44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6E9EBD-BADE-4BC9-AF5F-41F9914CF8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2466390-1577-41E8-BAB0-9289BE6AA48A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081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CC77-AF9D-42C5-BD5E-47AA20AE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D236B5-14B3-4FB2-905E-32A41F43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2770-95A9-4C33-A3DA-271D55D2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2660A-4D60-4457-A90C-ED08E3242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56EC3D-197F-4258-A8C8-C94B14233AB3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CE10AA7-A28E-4CDD-A844-648FAA6A2B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0EFF74-A936-4440-A77D-AC3893BCC712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806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FD7FB-366E-41D3-A733-815197E7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3B2CC6-7A96-4826-9764-B002075C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AACF4-07AF-4D38-B00D-7D050503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309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8F36-F3E0-4A28-ABF1-2EDDF550E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D939-77D9-4ED0-BAFB-BE9F78054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8ACDF-EA03-407C-9375-D5C9E6CAB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9AEA1-1094-4F68-98E4-217E1E09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3BE70-E1C9-45A4-B6D4-0AEAF484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D7AAE-8E21-49A6-8D55-7DCEDB82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6543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EE07-48F5-493A-9C18-721134D71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24A63-0F36-47D3-B716-81AAE43FC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0FFEC-DEDD-4D55-BB98-8BED16D02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B6686-BCF6-4A63-846B-CC36145C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36ED4-4B84-421C-900F-98D2D3CA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6B990-BC1A-4AD8-96CE-170D219D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8817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7449-6BC7-4319-895C-445D5A40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34E58-AEED-488F-BBAF-A418A8627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66355-DB20-44CE-B51F-7D23DAC0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1E173-4539-498F-8D15-B36309D5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E100D-1574-4BB2-B04D-7E1CE855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31C629-FFB8-48CB-9329-F8DDD55525AA}"/>
              </a:ext>
            </a:extLst>
          </p:cNvPr>
          <p:cNvGrpSpPr/>
          <p:nvPr userDrawn="1"/>
        </p:nvGrpSpPr>
        <p:grpSpPr>
          <a:xfrm>
            <a:off x="666206" y="365125"/>
            <a:ext cx="10687593" cy="1460500"/>
            <a:chOff x="666206" y="352062"/>
            <a:chExt cx="10687593" cy="14605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B0DC12-DFFC-41B9-B306-E09B2E10A1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38200" y="352062"/>
              <a:ext cx="0" cy="146050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271E872-D12B-4FF7-913D-15DB97C9A93A}"/>
                </a:ext>
              </a:extLst>
            </p:cNvPr>
            <p:cNvCxnSpPr/>
            <p:nvPr userDrawn="1"/>
          </p:nvCxnSpPr>
          <p:spPr>
            <a:xfrm flipH="1">
              <a:off x="666206" y="1690688"/>
              <a:ext cx="10687593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891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2C6E51-0EA7-4DC7-9FBE-A404CA20C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104DD-0BD0-42DF-86E0-519CDA5D2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A70A0-2604-4108-AA99-9810D260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3865F-B416-433E-A888-98BD730D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3AE48-8A8C-4FFC-9796-7DEA524A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73313-125E-462B-A143-CE867BAE2D9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4113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61DA2-781F-4F7B-AE0C-AA8CB441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3385B-E93C-43F1-A4AD-E857EFFD2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</a:t>
            </a:r>
            <a:r>
              <a:rPr lang="en-US" dirty="0" err="1"/>
              <a:t>leve</a:t>
            </a:r>
            <a:endParaRPr lang="en-US" dirty="0"/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01490-3176-492A-A07F-7ACCAD753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938349" cy="3651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FD45A-CC0B-43D1-82C4-970286DC6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FBB82-4055-439A-81DB-4361DD292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4352" y="6356350"/>
            <a:ext cx="469447" cy="3651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785DB-2F33-40B3-A0D9-68D0CB3DBE5D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317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7.wdp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hyperlink" Target="https://www.slideserve.com/vida/8-5-equivalence-relations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6944-1C3E-45F2-A5B6-D4FCC6945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RELATIONS AND THEIR PROPERTIES</a:t>
            </a:r>
            <a:endParaRPr lang="en-PK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7987A-1CC3-4CAC-A51F-DD2384CD11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Discrete Structures</a:t>
            </a:r>
          </a:p>
          <a:p>
            <a:r>
              <a:rPr lang="en-US" dirty="0"/>
              <a:t>MA-216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84C34-F82D-4E7D-9770-F00308E1EF3E}"/>
              </a:ext>
            </a:extLst>
          </p:cNvPr>
          <p:cNvSpPr txBox="1"/>
          <p:nvPr/>
        </p:nvSpPr>
        <p:spPr>
          <a:xfrm>
            <a:off x="1524000" y="4796135"/>
            <a:ext cx="1669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Group #3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93B82-7AAB-463F-8289-BC631E4C2F6B}"/>
              </a:ext>
            </a:extLst>
          </p:cNvPr>
          <p:cNvSpPr txBox="1"/>
          <p:nvPr/>
        </p:nvSpPr>
        <p:spPr>
          <a:xfrm>
            <a:off x="8998226" y="4796134"/>
            <a:ext cx="1669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Chapter #9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414994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7DF2-1A60-4F71-9E62-388D327A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Autofit/>
          </a:bodyPr>
          <a:lstStyle/>
          <a:p>
            <a:pPr>
              <a:lnSpc>
                <a:spcPct val="107000"/>
              </a:lnSpc>
              <a:buSzPct val="90000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Relations </a:t>
            </a:r>
            <a:r>
              <a:rPr lang="en-US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(Muhammad Sameer)</a:t>
            </a:r>
            <a:endParaRPr lang="en-US" sz="24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ct val="90000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Representing Relations </a:t>
            </a:r>
            <a:r>
              <a:rPr lang="en-US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(Shahzaib Ali)</a:t>
            </a:r>
            <a:endParaRPr lang="en-PK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ct val="90000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 of Relations </a:t>
            </a:r>
            <a:r>
              <a:rPr lang="en-US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(Haseeb Khan)</a:t>
            </a:r>
          </a:p>
          <a:p>
            <a:pPr>
              <a:lnSpc>
                <a:spcPct val="107000"/>
              </a:lnSpc>
              <a:buSzPct val="90000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Relations </a:t>
            </a:r>
            <a:r>
              <a:rPr lang="en-US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(Ubaidullah)</a:t>
            </a:r>
            <a:endParaRPr lang="en-PK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ct val="90000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 of Relations </a:t>
            </a:r>
            <a:r>
              <a:rPr lang="en-US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(Hussain Ali)</a:t>
            </a:r>
          </a:p>
          <a:p>
            <a:pPr>
              <a:lnSpc>
                <a:spcPct val="107000"/>
              </a:lnSpc>
              <a:buSzPct val="900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 and Relations </a:t>
            </a: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(Malik Hassan Awan)</a:t>
            </a:r>
            <a:endParaRPr lang="en-PK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ct val="90000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Relations and Matrices </a:t>
            </a:r>
            <a:r>
              <a:rPr lang="en-US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(Hussain Ali)</a:t>
            </a:r>
            <a:endParaRPr lang="en-PK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ct val="90000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Relations and Digraphs </a:t>
            </a:r>
            <a:r>
              <a:rPr lang="en-US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(Umair Aamir)</a:t>
            </a:r>
            <a:endParaRPr lang="en-PK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4391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Cartesian Product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7DF2-1A60-4F71-9E62-388D327A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Definition: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An </a:t>
            </a:r>
            <a:r>
              <a:rPr lang="en-US" sz="2400" dirty="0">
                <a:solidFill>
                  <a:schemeClr val="accent1"/>
                </a:solidFill>
              </a:rPr>
              <a:t>ordered n-tuple </a:t>
            </a:r>
            <a:r>
              <a:rPr lang="en-US" sz="2400" i="1" dirty="0"/>
              <a:t>(a</a:t>
            </a:r>
            <a:r>
              <a:rPr lang="en-US" sz="2400" i="1" baseline="-25000" dirty="0"/>
              <a:t>1</a:t>
            </a:r>
            <a:r>
              <a:rPr lang="en-US" sz="2400" i="1" dirty="0"/>
              <a:t>, a</a:t>
            </a:r>
            <a:r>
              <a:rPr lang="en-US" sz="2400" i="1" baseline="-25000" dirty="0"/>
              <a:t>2</a:t>
            </a:r>
            <a:r>
              <a:rPr lang="en-US" sz="2400" i="1" dirty="0"/>
              <a:t>, ..., a</a:t>
            </a:r>
            <a:r>
              <a:rPr lang="en-US" sz="2400" i="1" baseline="-25000" dirty="0"/>
              <a:t>n</a:t>
            </a:r>
            <a:r>
              <a:rPr lang="en-US" sz="2400" i="1" dirty="0"/>
              <a:t>)</a:t>
            </a:r>
            <a:r>
              <a:rPr lang="en-US" sz="2400" dirty="0"/>
              <a:t> is the ordered collection that has </a:t>
            </a:r>
            <a:r>
              <a:rPr lang="en-US" sz="2400" i="1" dirty="0"/>
              <a:t>a₁ </a:t>
            </a:r>
            <a:r>
              <a:rPr lang="en-US" sz="2400" dirty="0"/>
              <a:t>as its first element, </a:t>
            </a:r>
            <a:r>
              <a:rPr lang="en-US" sz="2400" i="1" dirty="0"/>
              <a:t>a</a:t>
            </a:r>
            <a:r>
              <a:rPr lang="en-US" sz="2400" i="1" baseline="-25000" dirty="0"/>
              <a:t>2</a:t>
            </a:r>
            <a:r>
              <a:rPr lang="en-US" sz="2400" dirty="0"/>
              <a:t> as its second element..., and </a:t>
            </a:r>
            <a:r>
              <a:rPr lang="en-US" sz="2400" i="1" dirty="0"/>
              <a:t>a</a:t>
            </a:r>
            <a:r>
              <a:rPr lang="en-US" sz="2400" i="1" baseline="-25000" dirty="0"/>
              <a:t>n</a:t>
            </a:r>
            <a:r>
              <a:rPr lang="en-US" sz="2400" dirty="0"/>
              <a:t> as its </a:t>
            </a:r>
            <a:r>
              <a:rPr lang="en-US" sz="2400" i="1" dirty="0"/>
              <a:t>nth</a:t>
            </a:r>
            <a:r>
              <a:rPr lang="en-US" sz="2400" dirty="0"/>
              <a:t> element.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Ordered 2-tuples</a:t>
            </a:r>
            <a:r>
              <a:rPr lang="en-US" sz="2400" dirty="0"/>
              <a:t> are called </a:t>
            </a:r>
            <a:r>
              <a:rPr lang="en-US" sz="2400" dirty="0">
                <a:solidFill>
                  <a:schemeClr val="accent1"/>
                </a:solidFill>
              </a:rPr>
              <a:t>ordered pairs</a:t>
            </a:r>
            <a:r>
              <a:rPr lang="en-US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	</a:t>
            </a:r>
            <a:r>
              <a:rPr lang="en-US" sz="2400" i="1" dirty="0"/>
              <a:t>(a, b) = (c, d)</a:t>
            </a:r>
            <a:r>
              <a:rPr lang="en-US" sz="2400" dirty="0"/>
              <a:t> if and only if </a:t>
            </a:r>
            <a:r>
              <a:rPr lang="en-US" sz="2400" i="1" dirty="0"/>
              <a:t>a = c </a:t>
            </a:r>
            <a:r>
              <a:rPr lang="en-US" sz="2400" dirty="0"/>
              <a:t>and </a:t>
            </a:r>
            <a:r>
              <a:rPr lang="en-US" sz="2400" i="1" dirty="0"/>
              <a:t>b = 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	</a:t>
            </a:r>
            <a:r>
              <a:rPr lang="en-US" sz="2400" i="1" dirty="0"/>
              <a:t>(a, b) ≠ (b, a) </a:t>
            </a:r>
            <a:r>
              <a:rPr lang="en-US" sz="2400" dirty="0"/>
              <a:t>unless </a:t>
            </a:r>
            <a:r>
              <a:rPr lang="en-US" sz="2400" i="1" dirty="0"/>
              <a:t>a = b</a:t>
            </a:r>
          </a:p>
          <a:p>
            <a:pPr algn="l"/>
            <a:r>
              <a:rPr lang="en-US" sz="2400" b="1" dirty="0"/>
              <a:t>Example:</a:t>
            </a:r>
          </a:p>
          <a:p>
            <a:pPr marL="0" indent="0" algn="l">
              <a:buNone/>
            </a:pPr>
            <a:r>
              <a:rPr lang="en-US" sz="2400" dirty="0"/>
              <a:t>Let A = </a:t>
            </a:r>
            <a:r>
              <a:rPr lang="en-US" sz="2400" i="1" dirty="0"/>
              <a:t>{1, 2, 3} </a:t>
            </a:r>
            <a:r>
              <a:rPr lang="en-US" sz="2400" dirty="0"/>
              <a:t>and B = </a:t>
            </a:r>
            <a:r>
              <a:rPr lang="en-US" sz="2400" i="1" dirty="0"/>
              <a:t>{x, y, z}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accent1"/>
                </a:solidFill>
              </a:rPr>
              <a:t>A × B</a:t>
            </a:r>
            <a:r>
              <a:rPr lang="en-US" sz="2400" dirty="0"/>
              <a:t> = </a:t>
            </a:r>
            <a:r>
              <a:rPr lang="en-US" sz="2400" i="1" dirty="0"/>
              <a:t>{ (1, x), (1, y), (1, z), (2, x), (2, y), (2, z), (3, x), (3, y), (3, z) 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0573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7DF2-1A60-4F71-9E62-388D327A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b="1" dirty="0"/>
              <a:t>Definition: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</a:t>
            </a:r>
            <a:r>
              <a:rPr lang="en-US" sz="2400" dirty="0">
                <a:solidFill>
                  <a:schemeClr val="accent1"/>
                </a:solidFill>
              </a:rPr>
              <a:t>binary relation R from A to B </a:t>
            </a:r>
            <a:r>
              <a:rPr lang="en-US" sz="2400" dirty="0"/>
              <a:t>is a subset of the Cartesian product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A × B.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Notation: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i="1" dirty="0" err="1">
                <a:solidFill>
                  <a:schemeClr val="accent1"/>
                </a:solidFill>
              </a:rPr>
              <a:t>xRy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means </a:t>
            </a:r>
            <a:r>
              <a:rPr lang="en-US" sz="2400" i="1" dirty="0"/>
              <a:t>(x, y) </a:t>
            </a:r>
            <a:r>
              <a:rPr lang="en-US" sz="2400" b="0" i="1" dirty="0">
                <a:effectLst/>
                <a:latin typeface="KaTeX_Math"/>
                <a:sym typeface="Symbol" panose="05050102010706020507" pitchFamily="18" charset="2"/>
              </a:rPr>
              <a:t> </a:t>
            </a:r>
            <a:r>
              <a:rPr lang="en-US" sz="2400" i="1" dirty="0"/>
              <a:t>R</a:t>
            </a:r>
            <a:r>
              <a:rPr lang="en-US" sz="2400" dirty="0"/>
              <a:t> --- </a:t>
            </a:r>
            <a:r>
              <a:rPr lang="en-US" sz="2400" dirty="0">
                <a:solidFill>
                  <a:schemeClr val="accent1"/>
                </a:solidFill>
              </a:rPr>
              <a:t>read as x is related to y under 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i="1" dirty="0" err="1">
                <a:solidFill>
                  <a:schemeClr val="accent1"/>
                </a:solidFill>
              </a:rPr>
              <a:t>x</a:t>
            </a:r>
            <a:r>
              <a:rPr lang="en-US" sz="2400" i="1" strike="sngStrike" dirty="0" err="1">
                <a:solidFill>
                  <a:schemeClr val="accent1"/>
                </a:solidFill>
              </a:rPr>
              <a:t>R</a:t>
            </a:r>
            <a:r>
              <a:rPr lang="en-US" sz="2400" i="1" dirty="0" err="1">
                <a:solidFill>
                  <a:schemeClr val="accent1"/>
                </a:solidFill>
              </a:rPr>
              <a:t>y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means </a:t>
            </a:r>
            <a:r>
              <a:rPr lang="en-US" sz="2400" i="1" dirty="0"/>
              <a:t>(x, y) </a:t>
            </a:r>
            <a:r>
              <a:rPr lang="en-US" sz="2400" i="1" dirty="0">
                <a:sym typeface="Symbol" panose="05050102010706020507" pitchFamily="18" charset="2"/>
              </a:rPr>
              <a:t></a:t>
            </a:r>
            <a:r>
              <a:rPr lang="en-US" sz="2400" i="1" dirty="0"/>
              <a:t> R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Example:</a:t>
            </a:r>
          </a:p>
          <a:p>
            <a:pPr marL="0" indent="0" algn="l">
              <a:buNone/>
            </a:pPr>
            <a:r>
              <a:rPr lang="en-US" sz="2400" dirty="0"/>
              <a:t>Let A = </a:t>
            </a:r>
            <a:r>
              <a:rPr lang="en-US" sz="2400" i="1" dirty="0"/>
              <a:t>{1, 2, 3} </a:t>
            </a:r>
            <a:r>
              <a:rPr lang="en-US" sz="2400" dirty="0"/>
              <a:t>and B = </a:t>
            </a:r>
            <a:r>
              <a:rPr lang="en-US" sz="2400" i="1" dirty="0"/>
              <a:t>{x, y, z}		</a:t>
            </a:r>
            <a:r>
              <a:rPr lang="en-US" sz="2400" dirty="0">
                <a:solidFill>
                  <a:schemeClr val="accent1"/>
                </a:solidFill>
              </a:rPr>
              <a:t>R</a:t>
            </a:r>
            <a:r>
              <a:rPr lang="en-US" sz="2400" dirty="0"/>
              <a:t> = </a:t>
            </a:r>
            <a:r>
              <a:rPr lang="en-US" sz="2400" i="1" dirty="0"/>
              <a:t>{ (1, x), (2, y), (3, z) }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407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C91C2-33DA-48F6-ADDB-00714B6D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7DF2-1A60-4F71-9E62-388D327A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Example: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Consider two sets: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Set S represents a set of students: </a:t>
            </a:r>
            <a:r>
              <a:rPr lang="en-US" sz="2400" dirty="0">
                <a:solidFill>
                  <a:schemeClr val="accent1"/>
                </a:solidFill>
              </a:rPr>
              <a:t>S</a:t>
            </a:r>
            <a:r>
              <a:rPr lang="en-US" sz="2400" dirty="0"/>
              <a:t> = {Alice, Bob, Charlie}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Set C represents a set of courses: </a:t>
            </a:r>
            <a:r>
              <a:rPr lang="en-US" sz="2400" dirty="0">
                <a:solidFill>
                  <a:schemeClr val="accent1"/>
                </a:solidFill>
              </a:rPr>
              <a:t>C</a:t>
            </a:r>
            <a:r>
              <a:rPr lang="en-US" sz="2400" dirty="0"/>
              <a:t> = {Math, English, History}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Now, let's define </a:t>
            </a:r>
            <a:r>
              <a:rPr lang="en-US" sz="2400" dirty="0">
                <a:solidFill>
                  <a:schemeClr val="accent1"/>
                </a:solidFill>
              </a:rPr>
              <a:t>a relation R</a:t>
            </a:r>
            <a:r>
              <a:rPr lang="en-US" sz="2400" dirty="0"/>
              <a:t> that </a:t>
            </a:r>
            <a:r>
              <a:rPr lang="en-US" sz="2400" dirty="0">
                <a:solidFill>
                  <a:schemeClr val="accent1"/>
                </a:solidFill>
              </a:rPr>
              <a:t>represents the enrollment of students in courses</a:t>
            </a:r>
            <a:r>
              <a:rPr lang="en-US" sz="24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R = { (Alice, Math), (Bob, English), (Charlie, History), (Alice, History) 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8BE3-C8AF-42FF-A245-68DE009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DA8F5-9CF0-4B6F-8CC9-C1B67163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107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relations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5460" cy="1991995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  <a:defRPr sz="2400">
                <a:latin typeface="Aptos"/>
              </a:defRPr>
            </a:pPr>
            <a:r>
              <a:rPr dirty="0"/>
              <a:t>Consider the relation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dirty="0">
                <a:solidFill>
                  <a:schemeClr val="accent1"/>
                </a:solidFill>
                <a:latin typeface="Söhne"/>
              </a:rPr>
              <a:t>R = { (a, 2), (b, 1), (b, 2), (c, 3), (d, 2) }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dirty="0"/>
              <a:t>on sets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i="1" dirty="0"/>
              <a:t>A = {a, b, c, d} </a:t>
            </a:r>
            <a:r>
              <a:rPr dirty="0"/>
              <a:t>and </a:t>
            </a:r>
            <a:r>
              <a:rPr i="1" dirty="0"/>
              <a:t>B = {1, 2, 3, 4}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47F1C7E-E03D-49D2-94AB-EE397A07D5F4}"/>
              </a:ext>
            </a:extLst>
          </p:cNvPr>
          <p:cNvGrpSpPr/>
          <p:nvPr/>
        </p:nvGrpSpPr>
        <p:grpSpPr>
          <a:xfrm>
            <a:off x="1339215" y="4093025"/>
            <a:ext cx="2316480" cy="2395399"/>
            <a:chOff x="9037319" y="1825625"/>
            <a:chExt cx="2316480" cy="239539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D59337-76E3-45D6-A997-AF8E3A34977E}"/>
                </a:ext>
              </a:extLst>
            </p:cNvPr>
            <p:cNvSpPr txBox="1"/>
            <p:nvPr/>
          </p:nvSpPr>
          <p:spPr>
            <a:xfrm>
              <a:off x="9037319" y="1825625"/>
              <a:ext cx="2316480" cy="2395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  		</a:t>
              </a:r>
            </a:p>
            <a:p>
              <a:r>
                <a:rPr lang="en-US" sz="2800" dirty="0"/>
                <a:t>b  		1</a:t>
              </a:r>
            </a:p>
            <a:p>
              <a:r>
                <a:rPr lang="en-US" sz="2800" dirty="0"/>
                <a:t>c  		2</a:t>
              </a:r>
            </a:p>
            <a:p>
              <a:r>
                <a:rPr lang="en-US" sz="2800" dirty="0"/>
                <a:t>d		3</a:t>
              </a:r>
            </a:p>
            <a:p>
              <a:pPr algn="ctr">
                <a:lnSpc>
                  <a:spcPct val="150000"/>
                </a:lnSpc>
              </a:pPr>
              <a:r>
                <a:rPr lang="en-US" sz="2800" dirty="0"/>
                <a:t>Arrow 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2BE4564-05DF-4D21-9673-BB8417761439}"/>
                </a:ext>
              </a:extLst>
            </p:cNvPr>
            <p:cNvCxnSpPr>
              <a:cxnSpLocks/>
            </p:cNvCxnSpPr>
            <p:nvPr/>
          </p:nvCxnSpPr>
          <p:spPr>
            <a:xfrm>
              <a:off x="9418320" y="2080260"/>
              <a:ext cx="1434465" cy="852935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B2C2539-06ED-49A4-81C7-EA1BEE654BB4}"/>
                </a:ext>
              </a:extLst>
            </p:cNvPr>
            <p:cNvCxnSpPr>
              <a:cxnSpLocks/>
            </p:cNvCxnSpPr>
            <p:nvPr/>
          </p:nvCxnSpPr>
          <p:spPr>
            <a:xfrm>
              <a:off x="9439682" y="2506727"/>
              <a:ext cx="1413103" cy="465073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6BE5826-4B09-4744-81E5-A7C6EC4B0009}"/>
                </a:ext>
              </a:extLst>
            </p:cNvPr>
            <p:cNvCxnSpPr>
              <a:cxnSpLocks/>
            </p:cNvCxnSpPr>
            <p:nvPr/>
          </p:nvCxnSpPr>
          <p:spPr>
            <a:xfrm>
              <a:off x="9439682" y="2971800"/>
              <a:ext cx="1467529" cy="403860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238A35C-0067-488D-8FBE-56777693A8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9682" y="2995883"/>
              <a:ext cx="1413103" cy="379777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F8FED14-7183-4A52-8ACC-17EC9864E5F0}"/>
                </a:ext>
              </a:extLst>
            </p:cNvPr>
            <p:cNvCxnSpPr>
              <a:cxnSpLocks/>
            </p:cNvCxnSpPr>
            <p:nvPr/>
          </p:nvCxnSpPr>
          <p:spPr>
            <a:xfrm>
              <a:off x="9439682" y="2506727"/>
              <a:ext cx="1427254" cy="0"/>
            </a:xfrm>
            <a:prstGeom prst="straightConnector1">
              <a:avLst/>
            </a:prstGeom>
            <a:ln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3" name="Table 43">
            <a:extLst>
              <a:ext uri="{FF2B5EF4-FFF2-40B4-BE49-F238E27FC236}">
                <a16:creationId xmlns:a16="http://schemas.microsoft.com/office/drawing/2014/main" id="{5B466C3C-B5B9-46EB-BB0E-AF9E99EC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413122"/>
              </p:ext>
            </p:extLst>
          </p:nvPr>
        </p:nvGraphicFramePr>
        <p:xfrm>
          <a:off x="5138237" y="3996773"/>
          <a:ext cx="1930400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680677508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841474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67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a</a:t>
                      </a:r>
                      <a:endParaRPr lang="en-PK" sz="2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431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  <p:graphicFrame>
        <p:nvGraphicFramePr>
          <p:cNvPr id="45" name="Table 43">
            <a:extLst>
              <a:ext uri="{FF2B5EF4-FFF2-40B4-BE49-F238E27FC236}">
                <a16:creationId xmlns:a16="http://schemas.microsoft.com/office/drawing/2014/main" id="{ABCA6120-B4BD-416F-AF9F-D6C3A0101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747750"/>
              </p:ext>
            </p:extLst>
          </p:nvPr>
        </p:nvGraphicFramePr>
        <p:xfrm>
          <a:off x="8892633" y="3908399"/>
          <a:ext cx="1960152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771">
                  <a:extLst>
                    <a:ext uri="{9D8B030D-6E8A-4147-A177-3AD203B41FA5}">
                      <a16:colId xmlns:a16="http://schemas.microsoft.com/office/drawing/2014/main" val="6806775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373017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275771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275771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343262">
                  <a:extLst>
                    <a:ext uri="{9D8B030D-6E8A-4147-A177-3AD203B41FA5}">
                      <a16:colId xmlns:a16="http://schemas.microsoft.com/office/drawing/2014/main" val="8414746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67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a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b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c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431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d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E547A446-D9B3-4FA2-AE04-FAFBE768A65D}"/>
              </a:ext>
            </a:extLst>
          </p:cNvPr>
          <p:cNvSpPr txBox="1"/>
          <p:nvPr/>
        </p:nvSpPr>
        <p:spPr>
          <a:xfrm>
            <a:off x="9005206" y="5889599"/>
            <a:ext cx="196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Matrix</a:t>
            </a:r>
            <a:endParaRPr lang="en-PK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7273EF-1B7F-423D-9483-6EBCFAA1F305}"/>
              </a:ext>
            </a:extLst>
          </p:cNvPr>
          <p:cNvSpPr txBox="1"/>
          <p:nvPr/>
        </p:nvSpPr>
        <p:spPr>
          <a:xfrm>
            <a:off x="5115924" y="5889599"/>
            <a:ext cx="196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Table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2060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as Relations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>
                <a:latin typeface="Aptos"/>
              </a:defRPr>
            </a:pPr>
            <a:r>
              <a:rPr dirty="0"/>
              <a:t>A </a:t>
            </a:r>
            <a:r>
              <a:rPr dirty="0">
                <a:solidFill>
                  <a:schemeClr val="accent1"/>
                </a:solidFill>
                <a:latin typeface="Söhne"/>
              </a:rPr>
              <a:t>function is a special type of relation </a:t>
            </a:r>
            <a:r>
              <a:rPr dirty="0"/>
              <a:t>between two sets where each element in the domain is associated with exactly one element in the codomain.</a:t>
            </a:r>
          </a:p>
          <a:p>
            <a:pPr>
              <a:spcAft>
                <a:spcPts val="800"/>
              </a:spcAft>
              <a:defRPr sz="2400">
                <a:latin typeface="Aptos"/>
              </a:defRPr>
            </a:pPr>
            <a:r>
              <a:rPr b="1" dirty="0"/>
              <a:t>Example: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dirty="0"/>
              <a:t>Let </a:t>
            </a:r>
            <a:r>
              <a:rPr i="1" dirty="0"/>
              <a:t>A = {a, b, c} </a:t>
            </a:r>
            <a:r>
              <a:rPr dirty="0"/>
              <a:t>and </a:t>
            </a:r>
            <a:r>
              <a:rPr i="1" dirty="0"/>
              <a:t>B = {1, 2, 3}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dirty="0"/>
              <a:t>A relation </a:t>
            </a:r>
            <a:r>
              <a:rPr dirty="0">
                <a:solidFill>
                  <a:schemeClr val="accent1"/>
                </a:solidFill>
                <a:latin typeface="Söhne"/>
              </a:rPr>
              <a:t>R = { (a, 1), (b, 2), (c, 3), (a, 2) } </a:t>
            </a:r>
            <a:r>
              <a:rPr dirty="0"/>
              <a:t>is not a function because a maps to two values.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dirty="0"/>
              <a:t>A function </a:t>
            </a:r>
            <a:r>
              <a:rPr dirty="0">
                <a:solidFill>
                  <a:schemeClr val="accent1"/>
                </a:solidFill>
                <a:latin typeface="Söhne"/>
              </a:rPr>
              <a:t>f = { (a, 1), (b, 2), (c, 3) } </a:t>
            </a:r>
            <a:r>
              <a:rPr dirty="0"/>
              <a:t>maps every element of </a:t>
            </a:r>
            <a:r>
              <a:rPr i="1" dirty="0"/>
              <a:t>A </a:t>
            </a:r>
            <a:r>
              <a:rPr dirty="0"/>
              <a:t>to exactly one element of </a:t>
            </a:r>
            <a:r>
              <a:rPr i="1" dirty="0"/>
              <a:t>B</a:t>
            </a:r>
            <a:r>
              <a:rPr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1065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on a Set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EAB5857-CDA9-4B37-9A3C-D6CE62FFF883}"/>
              </a:ext>
            </a:extLst>
          </p:cNvPr>
          <p:cNvGrpSpPr>
            <a:grpSpLocks/>
          </p:cNvGrpSpPr>
          <p:nvPr/>
        </p:nvGrpSpPr>
        <p:grpSpPr bwMode="auto">
          <a:xfrm>
            <a:off x="1824849" y="4511675"/>
            <a:ext cx="2314188" cy="2089150"/>
            <a:chOff x="864" y="2256"/>
            <a:chExt cx="1652" cy="1632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4E82BBFF-C54A-4648-BD58-6EC5FEE0B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5BFEB440-938E-4A1B-A549-67C997835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1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F9E77785-5D86-4B05-8A87-E38BB06C8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E356D6AC-B1BB-412C-8522-AB99BBEB1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85040851-61AC-48EA-A6F3-1BBB014CE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sp>
          <p:nvSpPr>
            <p:cNvPr id="12" name="AutoShape 10">
              <a:extLst>
                <a:ext uri="{FF2B5EF4-FFF2-40B4-BE49-F238E27FC236}">
                  <a16:creationId xmlns:a16="http://schemas.microsoft.com/office/drawing/2014/main" id="{8F980ACB-A734-41C6-AA6D-F0D9BE9E5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sp>
          <p:nvSpPr>
            <p:cNvPr id="13" name="AutoShape 11">
              <a:extLst>
                <a:ext uri="{FF2B5EF4-FFF2-40B4-BE49-F238E27FC236}">
                  <a16:creationId xmlns:a16="http://schemas.microsoft.com/office/drawing/2014/main" id="{1164744A-B0B1-4925-953E-A2FE090FB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1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cxnSp>
          <p:nvCxnSpPr>
            <p:cNvPr id="14" name="AutoShape 12">
              <a:extLst>
                <a:ext uri="{FF2B5EF4-FFF2-40B4-BE49-F238E27FC236}">
                  <a16:creationId xmlns:a16="http://schemas.microsoft.com/office/drawing/2014/main" id="{773B7775-3B63-4599-8C7A-73CD0F66889E}"/>
                </a:ext>
              </a:extLst>
            </p:cNvPr>
            <p:cNvCxnSpPr>
              <a:cxnSpLocks noChangeShapeType="1"/>
              <a:stCxn id="8" idx="2"/>
              <a:endCxn id="13" idx="3"/>
            </p:cNvCxnSpPr>
            <p:nvPr/>
          </p:nvCxnSpPr>
          <p:spPr bwMode="auto">
            <a:xfrm>
              <a:off x="1248" y="3264"/>
              <a:ext cx="8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ECC2D097-B937-48FF-9863-30469658E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1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PK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22BC3616-AD0A-4C72-868E-69A265BD3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6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PK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F876E643-4CD1-4046-8FA1-370769329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60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PK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0079B06F-620D-421B-AC6D-D2B8E6032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1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PK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4CD13997-9FCB-4729-96C5-C29F1530B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60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PK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400A2831-CA10-499E-B663-25D4F24A32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2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PK" sz="2400">
                  <a:latin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21" name="AutoShape 19">
              <a:extLst>
                <a:ext uri="{FF2B5EF4-FFF2-40B4-BE49-F238E27FC236}">
                  <a16:creationId xmlns:a16="http://schemas.microsoft.com/office/drawing/2014/main" id="{1D79A82F-A4C6-46BE-AFA3-BB11819715D1}"/>
                </a:ext>
              </a:extLst>
            </p:cNvPr>
            <p:cNvCxnSpPr>
              <a:cxnSpLocks noChangeShapeType="1"/>
              <a:stCxn id="7" idx="2"/>
              <a:endCxn id="11" idx="3"/>
            </p:cNvCxnSpPr>
            <p:nvPr/>
          </p:nvCxnSpPr>
          <p:spPr bwMode="auto">
            <a:xfrm>
              <a:off x="1248" y="2832"/>
              <a:ext cx="8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20">
              <a:extLst>
                <a:ext uri="{FF2B5EF4-FFF2-40B4-BE49-F238E27FC236}">
                  <a16:creationId xmlns:a16="http://schemas.microsoft.com/office/drawing/2014/main" id="{DABA7535-107F-46CF-AE4C-1AE5F780C03A}"/>
                </a:ext>
              </a:extLst>
            </p:cNvPr>
            <p:cNvCxnSpPr>
              <a:cxnSpLocks noChangeShapeType="1"/>
              <a:stCxn id="10" idx="2"/>
              <a:endCxn id="26" idx="3"/>
            </p:cNvCxnSpPr>
            <p:nvPr/>
          </p:nvCxnSpPr>
          <p:spPr bwMode="auto">
            <a:xfrm>
              <a:off x="1248" y="2400"/>
              <a:ext cx="8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21">
              <a:extLst>
                <a:ext uri="{FF2B5EF4-FFF2-40B4-BE49-F238E27FC236}">
                  <a16:creationId xmlns:a16="http://schemas.microsoft.com/office/drawing/2014/main" id="{50E74BC2-DEB5-497A-823B-C94D3DEC967F}"/>
                </a:ext>
              </a:extLst>
            </p:cNvPr>
            <p:cNvCxnSpPr>
              <a:cxnSpLocks noChangeShapeType="1"/>
              <a:stCxn id="9" idx="2"/>
              <a:endCxn id="12" idx="3"/>
            </p:cNvCxnSpPr>
            <p:nvPr/>
          </p:nvCxnSpPr>
          <p:spPr bwMode="auto">
            <a:xfrm>
              <a:off x="1248" y="3744"/>
              <a:ext cx="86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05E7CBD8-C247-48D4-ADF1-B743B71C1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6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PK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E26FEC61-5116-4BE3-AD59-25E527CE9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2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PK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" name="AutoShape 24">
              <a:extLst>
                <a:ext uri="{FF2B5EF4-FFF2-40B4-BE49-F238E27FC236}">
                  <a16:creationId xmlns:a16="http://schemas.microsoft.com/office/drawing/2014/main" id="{D83621E1-3A2E-4827-AD57-792C4EDC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3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cxnSp>
          <p:nvCxnSpPr>
            <p:cNvPr id="28" name="AutoShape 26">
              <a:extLst>
                <a:ext uri="{FF2B5EF4-FFF2-40B4-BE49-F238E27FC236}">
                  <a16:creationId xmlns:a16="http://schemas.microsoft.com/office/drawing/2014/main" id="{0AC3A41F-4CCB-4A68-A106-5E012891E1EE}"/>
                </a:ext>
              </a:extLst>
            </p:cNvPr>
            <p:cNvCxnSpPr>
              <a:cxnSpLocks noChangeShapeType="1"/>
              <a:stCxn id="10" idx="2"/>
              <a:endCxn id="13" idx="3"/>
            </p:cNvCxnSpPr>
            <p:nvPr/>
          </p:nvCxnSpPr>
          <p:spPr bwMode="auto">
            <a:xfrm>
              <a:off x="1248" y="2400"/>
              <a:ext cx="864" cy="8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28">
              <a:extLst>
                <a:ext uri="{FF2B5EF4-FFF2-40B4-BE49-F238E27FC236}">
                  <a16:creationId xmlns:a16="http://schemas.microsoft.com/office/drawing/2014/main" id="{0CB1A090-ECD1-4216-AED7-41E607DFC13E}"/>
                </a:ext>
              </a:extLst>
            </p:cNvPr>
            <p:cNvCxnSpPr>
              <a:cxnSpLocks noChangeShapeType="1"/>
              <a:stCxn id="7" idx="2"/>
              <a:endCxn id="12" idx="3"/>
            </p:cNvCxnSpPr>
            <p:nvPr/>
          </p:nvCxnSpPr>
          <p:spPr bwMode="auto">
            <a:xfrm>
              <a:off x="1248" y="2832"/>
              <a:ext cx="864" cy="9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31" name="Table 43">
            <a:extLst>
              <a:ext uri="{FF2B5EF4-FFF2-40B4-BE49-F238E27FC236}">
                <a16:creationId xmlns:a16="http://schemas.microsoft.com/office/drawing/2014/main" id="{B52804DD-F2DF-41CA-A16F-D8E62E64F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70811"/>
              </p:ext>
            </p:extLst>
          </p:nvPr>
        </p:nvGraphicFramePr>
        <p:xfrm>
          <a:off x="5125686" y="4511675"/>
          <a:ext cx="1930400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680677508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841474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67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431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  <p:graphicFrame>
        <p:nvGraphicFramePr>
          <p:cNvPr id="34" name="Table 43">
            <a:extLst>
              <a:ext uri="{FF2B5EF4-FFF2-40B4-BE49-F238E27FC236}">
                <a16:creationId xmlns:a16="http://schemas.microsoft.com/office/drawing/2014/main" id="{36829E56-BA41-481D-A323-B474220BB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894"/>
              </p:ext>
            </p:extLst>
          </p:nvPr>
        </p:nvGraphicFramePr>
        <p:xfrm>
          <a:off x="8224867" y="4511675"/>
          <a:ext cx="1960152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771">
                  <a:extLst>
                    <a:ext uri="{9D8B030D-6E8A-4147-A177-3AD203B41FA5}">
                      <a16:colId xmlns:a16="http://schemas.microsoft.com/office/drawing/2014/main" val="6806775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373017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275771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275771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343262">
                  <a:extLst>
                    <a:ext uri="{9D8B030D-6E8A-4147-A177-3AD203B41FA5}">
                      <a16:colId xmlns:a16="http://schemas.microsoft.com/office/drawing/2014/main" val="8414746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67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431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000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4CDD305-99CF-FE1C-A20C-E1023C49959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PK" sz="2400" b="1"/>
              <a:t>Definition: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PK" sz="2400"/>
              <a:t>A relation R on</a:t>
            </a:r>
            <a:r>
              <a:rPr lang="en-US" altLang="en-PK" sz="2400" i="1"/>
              <a:t> </a:t>
            </a:r>
            <a:r>
              <a:rPr lang="en-US" altLang="en-PK" sz="2400"/>
              <a:t>a set</a:t>
            </a:r>
            <a:r>
              <a:rPr lang="en-US" altLang="en-PK" sz="2400" i="1"/>
              <a:t> A </a:t>
            </a:r>
            <a:r>
              <a:rPr lang="en-US" altLang="en-PK" sz="2400"/>
              <a:t>is </a:t>
            </a:r>
            <a:r>
              <a:rPr lang="en-US" altLang="en-PK" sz="2400">
                <a:solidFill>
                  <a:schemeClr val="accent1"/>
                </a:solidFill>
              </a:rPr>
              <a:t>a relation from </a:t>
            </a:r>
            <a:r>
              <a:rPr lang="en-US" altLang="en-PK" sz="2400" i="1">
                <a:solidFill>
                  <a:schemeClr val="accent1"/>
                </a:solidFill>
              </a:rPr>
              <a:t>A</a:t>
            </a:r>
            <a:r>
              <a:rPr lang="en-US" altLang="en-PK" sz="2400">
                <a:solidFill>
                  <a:schemeClr val="accent1"/>
                </a:solidFill>
                <a:sym typeface="Symbol" panose="05050102010706020507" pitchFamily="18" charset="2"/>
              </a:rPr>
              <a:t> to </a:t>
            </a:r>
            <a:r>
              <a:rPr lang="en-US" altLang="en-PK" sz="2400" i="1">
                <a:solidFill>
                  <a:schemeClr val="accent1"/>
                </a:solidFill>
              </a:rPr>
              <a:t>A</a:t>
            </a:r>
            <a:r>
              <a:rPr lang="en-US" altLang="en-PK" sz="2400"/>
              <a:t>, that is, a subset of </a:t>
            </a:r>
            <a:r>
              <a:rPr lang="en-US" altLang="en-PK" sz="2400" i="1"/>
              <a:t>A</a:t>
            </a:r>
            <a:r>
              <a:rPr lang="en-US" altLang="en-PK" sz="2400">
                <a:sym typeface="Symbol" panose="05050102010706020507" pitchFamily="18" charset="2"/>
              </a:rPr>
              <a:t></a:t>
            </a:r>
            <a:r>
              <a:rPr lang="en-US" altLang="en-PK" sz="2400" i="1"/>
              <a:t>A.</a:t>
            </a:r>
            <a:endParaRPr lang="en-US" altLang="en-PK" sz="2400"/>
          </a:p>
          <a:p>
            <a:r>
              <a:rPr lang="en-US" altLang="en-PK" sz="2400" b="1"/>
              <a:t>Example: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PK" sz="2400"/>
              <a:t>Let </a:t>
            </a:r>
            <a:r>
              <a:rPr lang="en-US" altLang="en-PK" sz="2400" i="1">
                <a:solidFill>
                  <a:schemeClr val="accent1"/>
                </a:solidFill>
              </a:rPr>
              <a:t>A</a:t>
            </a:r>
            <a:r>
              <a:rPr lang="en-US" altLang="en-PK" sz="2400">
                <a:solidFill>
                  <a:srgbClr val="0000FF"/>
                </a:solidFill>
              </a:rPr>
              <a:t> </a:t>
            </a:r>
            <a:r>
              <a:rPr lang="en-US" altLang="en-PK" sz="2400"/>
              <a:t>= {1, 2, 3, 4}, and </a:t>
            </a:r>
            <a:r>
              <a:rPr lang="en-US" altLang="en-PK" sz="2400" i="1"/>
              <a:t>R</a:t>
            </a:r>
            <a:r>
              <a:rPr lang="en-US" altLang="en-PK" sz="2400"/>
              <a:t> = { (</a:t>
            </a:r>
            <a:r>
              <a:rPr lang="en-US" altLang="en-PK" sz="2400" i="1"/>
              <a:t>a</a:t>
            </a:r>
            <a:r>
              <a:rPr lang="en-US" altLang="en-PK" sz="2400"/>
              <a:t>, </a:t>
            </a:r>
            <a:r>
              <a:rPr lang="en-US" altLang="en-PK" sz="2400" i="1"/>
              <a:t>b</a:t>
            </a:r>
            <a:r>
              <a:rPr lang="en-US" altLang="en-PK" sz="2400"/>
              <a:t>) | </a:t>
            </a:r>
            <a:r>
              <a:rPr lang="en-US" sz="2400" i="1">
                <a:latin typeface="KaTeX_Math"/>
              </a:rPr>
              <a:t>a</a:t>
            </a:r>
            <a:r>
              <a:rPr lang="en-US" sz="2400" i="1">
                <a:latin typeface="KaTeX_Main"/>
              </a:rPr>
              <a:t>, </a:t>
            </a:r>
            <a:r>
              <a:rPr lang="en-US" sz="2400" i="1">
                <a:latin typeface="KaTeX_Math"/>
              </a:rPr>
              <a:t>b </a:t>
            </a:r>
            <a:r>
              <a:rPr lang="en-US" sz="2400" i="1">
                <a:latin typeface="KaTeX_Math"/>
                <a:sym typeface="Symbol" panose="05050102010706020507" pitchFamily="18" charset="2"/>
              </a:rPr>
              <a:t></a:t>
            </a:r>
            <a:r>
              <a:rPr lang="en-US" sz="2400" i="1">
                <a:latin typeface="KaTeX_Main"/>
                <a:sym typeface="Symbol" panose="05050102010706020507" pitchFamily="18" charset="2"/>
              </a:rPr>
              <a:t> </a:t>
            </a:r>
            <a:r>
              <a:rPr lang="en-US" sz="2400" i="1">
                <a:latin typeface="KaTeX_Math"/>
              </a:rPr>
              <a:t>A</a:t>
            </a:r>
            <a:r>
              <a:rPr lang="en-US" sz="2400">
                <a:latin typeface="KaTeX_Main"/>
              </a:rPr>
              <a:t> </a:t>
            </a:r>
            <a:r>
              <a:rPr lang="en-US" sz="2400">
                <a:latin typeface="KaTeX_Main"/>
                <a:sym typeface="Symbol" panose="05050102010706020507" pitchFamily="18" charset="2"/>
              </a:rPr>
              <a:t></a:t>
            </a:r>
            <a:r>
              <a:rPr lang="en-US" sz="2400">
                <a:solidFill>
                  <a:srgbClr val="374151"/>
                </a:solidFill>
                <a:latin typeface="KaTeX_Main"/>
              </a:rPr>
              <a:t> </a:t>
            </a:r>
            <a:r>
              <a:rPr lang="en-US" altLang="en-PK" sz="2400" i="1">
                <a:solidFill>
                  <a:srgbClr val="0000FF"/>
                </a:solidFill>
              </a:rPr>
              <a:t> </a:t>
            </a:r>
            <a:r>
              <a:rPr lang="en-US" altLang="en-PK" sz="2400" i="1">
                <a:solidFill>
                  <a:schemeClr val="accent1"/>
                </a:solidFill>
              </a:rPr>
              <a:t>a + b is even</a:t>
            </a:r>
            <a:r>
              <a:rPr lang="en-US" sz="2400">
                <a:solidFill>
                  <a:srgbClr val="374151"/>
                </a:solidFill>
              </a:rPr>
              <a:t> </a:t>
            </a:r>
            <a:r>
              <a:rPr lang="en-US" altLang="en-PK" sz="2400"/>
              <a:t>}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en-PK" sz="2400" i="1"/>
              <a:t>R</a:t>
            </a:r>
            <a:r>
              <a:rPr lang="en-US" altLang="en-PK" sz="2400"/>
              <a:t> = </a:t>
            </a:r>
            <a:r>
              <a:rPr lang="en-US" sz="2400">
                <a:latin typeface="KaTeX_Main"/>
              </a:rPr>
              <a:t>{ </a:t>
            </a:r>
            <a:r>
              <a:rPr lang="en-US" altLang="en-PK" sz="2400"/>
              <a:t>(1,1), (1,3), (2,2), (2,4), (3,3), (4,4) </a:t>
            </a:r>
            <a:r>
              <a:rPr lang="en-US" sz="2400">
                <a:latin typeface="KaTeX_Main"/>
              </a:rPr>
              <a:t>}</a:t>
            </a:r>
            <a:endParaRPr lang="en-US" sz="2400" dirty="0">
              <a:latin typeface="KaTeX_Main"/>
            </a:endParaRPr>
          </a:p>
        </p:txBody>
      </p:sp>
    </p:spTree>
    <p:extLst>
      <p:ext uri="{BB962C8B-B14F-4D97-AF65-F5344CB8AC3E}">
        <p14:creationId xmlns:p14="http://schemas.microsoft.com/office/powerpoint/2010/main" val="68123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PK" sz="2400" b="1" dirty="0"/>
              <a:t>1. Reflexive:</a:t>
            </a:r>
          </a:p>
          <a:p>
            <a:pPr marL="0" indent="0" algn="l">
              <a:buNone/>
            </a:pPr>
            <a:r>
              <a:rPr lang="en-US" sz="2400" b="0" i="0" dirty="0">
                <a:effectLst/>
                <a:latin typeface="Söhne"/>
              </a:rPr>
              <a:t>A relation </a:t>
            </a:r>
            <a:r>
              <a:rPr lang="en-US" sz="2400" b="0" i="1" dirty="0">
                <a:effectLst/>
                <a:latin typeface="KaTeX_Math"/>
              </a:rPr>
              <a:t>R</a:t>
            </a:r>
            <a:r>
              <a:rPr lang="en-US" sz="2400" b="0" i="0" dirty="0">
                <a:effectLst/>
                <a:latin typeface="Söhne"/>
              </a:rPr>
              <a:t> on a set 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Söhne"/>
              </a:rPr>
              <a:t> is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Söhne"/>
              </a:rPr>
              <a:t>reflexive</a:t>
            </a:r>
            <a:r>
              <a:rPr lang="en-US" sz="2400" b="0" i="0" dirty="0">
                <a:effectLst/>
                <a:latin typeface="Söhne"/>
              </a:rPr>
              <a:t> if </a:t>
            </a:r>
            <a:r>
              <a:rPr lang="en-US" sz="2400" b="0" i="0" dirty="0">
                <a:effectLst/>
                <a:latin typeface="KaTeX_Main"/>
              </a:rPr>
              <a:t>(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KaTeX_Main"/>
              </a:rPr>
              <a:t>)</a:t>
            </a:r>
            <a:r>
              <a:rPr lang="en-US" sz="2400" b="0" i="0" dirty="0">
                <a:effectLst/>
                <a:latin typeface="Söhne"/>
              </a:rPr>
              <a:t> belongs to </a:t>
            </a:r>
            <a:r>
              <a:rPr lang="en-US" sz="2400" b="0" i="1" dirty="0">
                <a:effectLst/>
                <a:latin typeface="KaTeX_Math"/>
              </a:rPr>
              <a:t>R</a:t>
            </a:r>
            <a:r>
              <a:rPr lang="en-US" sz="2400" b="0" i="0" dirty="0">
                <a:effectLst/>
                <a:latin typeface="Söhne"/>
              </a:rPr>
              <a:t> for every 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Söhne"/>
              </a:rPr>
              <a:t> in 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Söhne"/>
              </a:rPr>
              <a:t>.</a:t>
            </a:r>
          </a:p>
          <a:p>
            <a:pPr algn="l"/>
            <a:r>
              <a:rPr lang="en-US" sz="2400" b="1" i="0" dirty="0">
                <a:effectLst/>
                <a:latin typeface="Söhne"/>
              </a:rPr>
              <a:t>Example:</a:t>
            </a:r>
          </a:p>
          <a:p>
            <a:pPr marL="0" indent="0" algn="l">
              <a:buNone/>
            </a:pPr>
            <a:r>
              <a:rPr lang="en-US" sz="2400" b="0" i="1" dirty="0">
                <a:effectLst/>
                <a:latin typeface="KaTeX_Math"/>
              </a:rPr>
              <a:t>A </a:t>
            </a:r>
            <a:r>
              <a:rPr lang="en-US" sz="2400" b="0" i="0" dirty="0">
                <a:effectLst/>
                <a:latin typeface="KaTeX_Main"/>
              </a:rPr>
              <a:t>= {1, 2, 3}</a:t>
            </a:r>
          </a:p>
          <a:p>
            <a:pPr marL="0" indent="0" algn="l">
              <a:buNone/>
            </a:pPr>
            <a:r>
              <a:rPr lang="en-US" sz="2400" b="0" i="1" dirty="0">
                <a:effectLst/>
                <a:latin typeface="KaTeX_Math"/>
              </a:rPr>
              <a:t>R </a:t>
            </a:r>
            <a:r>
              <a:rPr lang="en-US" sz="2400" b="0" i="0" dirty="0">
                <a:effectLst/>
                <a:latin typeface="KaTeX_Main"/>
              </a:rPr>
              <a:t>= { (1, 1), (2, 2), (3, 3) }</a:t>
            </a:r>
            <a:endParaRPr lang="en-US" sz="2400" b="0" i="0" dirty="0">
              <a:effectLst/>
              <a:latin typeface="Söhne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PK" sz="2400" dirty="0">
              <a:sym typeface="Symbol" panose="05050102010706020507" pitchFamily="18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4953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PK" sz="2400" b="1" dirty="0"/>
              <a:t>2. Symmetric:</a:t>
            </a:r>
          </a:p>
          <a:p>
            <a:pPr algn="l"/>
            <a:r>
              <a:rPr lang="en-US" sz="2400" b="0" i="0" dirty="0">
                <a:effectLst/>
                <a:latin typeface="Söhne"/>
              </a:rPr>
              <a:t>A relation </a:t>
            </a:r>
            <a:r>
              <a:rPr lang="en-US" sz="2400" b="0" i="1" dirty="0">
                <a:effectLst/>
                <a:latin typeface="KaTeX_Math"/>
              </a:rPr>
              <a:t>R</a:t>
            </a:r>
            <a:r>
              <a:rPr lang="en-US" sz="2400" b="0" i="0" dirty="0">
                <a:effectLst/>
                <a:latin typeface="Söhne"/>
              </a:rPr>
              <a:t> on a set 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Söhne"/>
              </a:rPr>
              <a:t> is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Söhne"/>
              </a:rPr>
              <a:t>symmetric</a:t>
            </a:r>
            <a:r>
              <a:rPr lang="en-US" sz="2400" b="0" i="0" dirty="0">
                <a:effectLst/>
                <a:latin typeface="Söhne"/>
              </a:rPr>
              <a:t> if, for every </a:t>
            </a:r>
            <a:r>
              <a:rPr lang="en-US" sz="2400" b="0" i="0" dirty="0">
                <a:effectLst/>
                <a:latin typeface="KaTeX_Main"/>
              </a:rPr>
              <a:t>(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b</a:t>
            </a:r>
            <a:r>
              <a:rPr lang="en-US" sz="2400" b="0" i="0" dirty="0">
                <a:effectLst/>
                <a:latin typeface="KaTeX_Main"/>
              </a:rPr>
              <a:t>)</a:t>
            </a:r>
            <a:r>
              <a:rPr lang="en-US" sz="2400" b="0" i="0" dirty="0">
                <a:effectLst/>
                <a:latin typeface="Söhne"/>
              </a:rPr>
              <a:t> in </a:t>
            </a:r>
            <a:r>
              <a:rPr lang="en-US" sz="2400" b="0" i="1" dirty="0">
                <a:effectLst/>
                <a:latin typeface="KaTeX_Math"/>
              </a:rPr>
              <a:t>R</a:t>
            </a:r>
            <a:r>
              <a:rPr lang="en-US" sz="2400" b="0" i="0" dirty="0">
                <a:effectLst/>
                <a:latin typeface="Söhne"/>
              </a:rPr>
              <a:t>, </a:t>
            </a:r>
            <a:r>
              <a:rPr lang="en-US" sz="2400" b="0" i="0" dirty="0">
                <a:effectLst/>
                <a:latin typeface="KaTeX_Main"/>
              </a:rPr>
              <a:t>(</a:t>
            </a:r>
            <a:r>
              <a:rPr lang="en-US" sz="2400" b="0" i="1" dirty="0">
                <a:effectLst/>
                <a:latin typeface="KaTeX_Math"/>
              </a:rPr>
              <a:t>b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KaTeX_Main"/>
              </a:rPr>
              <a:t>)</a:t>
            </a:r>
            <a:r>
              <a:rPr lang="en-US" sz="2400" b="0" i="0" dirty="0">
                <a:effectLst/>
                <a:latin typeface="Söhne"/>
              </a:rPr>
              <a:t> also belongs to </a:t>
            </a:r>
            <a:r>
              <a:rPr lang="en-US" sz="2400" b="0" i="1" dirty="0">
                <a:effectLst/>
                <a:latin typeface="KaTeX_Math"/>
              </a:rPr>
              <a:t>R</a:t>
            </a:r>
            <a:r>
              <a:rPr lang="en-US" sz="2400" b="0" i="0" dirty="0">
                <a:effectLst/>
                <a:latin typeface="Söhne"/>
              </a:rPr>
              <a:t>.</a:t>
            </a:r>
          </a:p>
          <a:p>
            <a:pPr algn="l"/>
            <a:r>
              <a:rPr lang="en-US" sz="2400" b="1" i="0" dirty="0">
                <a:effectLst/>
                <a:latin typeface="Söhne"/>
              </a:rPr>
              <a:t>Example:</a:t>
            </a:r>
            <a:endParaRPr lang="en-US" sz="2400" b="0" i="0" dirty="0"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400" b="0" i="1" dirty="0">
                <a:effectLst/>
                <a:latin typeface="KaTeX_Math"/>
              </a:rPr>
              <a:t>A </a:t>
            </a:r>
            <a:r>
              <a:rPr lang="en-US" sz="2400" b="0" i="0" dirty="0">
                <a:effectLst/>
                <a:latin typeface="KaTeX_Main"/>
              </a:rPr>
              <a:t>= {1, 2, 3}</a:t>
            </a:r>
            <a:r>
              <a:rPr lang="en-US" sz="2400" b="0" i="0" dirty="0">
                <a:effectLst/>
                <a:latin typeface="Söhne"/>
              </a:rPr>
              <a:t> </a:t>
            </a:r>
          </a:p>
          <a:p>
            <a:pPr marL="0" indent="0" algn="l">
              <a:buNone/>
            </a:pPr>
            <a:r>
              <a:rPr lang="en-US" sz="2400" b="0" i="1" dirty="0">
                <a:effectLst/>
                <a:latin typeface="KaTeX_Math"/>
              </a:rPr>
              <a:t>R </a:t>
            </a:r>
            <a:r>
              <a:rPr lang="en-US" sz="2400" b="0" i="0" dirty="0">
                <a:effectLst/>
                <a:latin typeface="KaTeX_Main"/>
              </a:rPr>
              <a:t>= { (1, 2), (2, 1), (2, 3), (3, 2), (3, 3) }</a:t>
            </a:r>
            <a:endParaRPr lang="en-US" sz="2400" b="0" i="0" dirty="0">
              <a:effectLst/>
              <a:latin typeface="Söhne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846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PK" sz="2400" b="1" dirty="0">
                <a:sym typeface="Symbol" panose="05050102010706020507" pitchFamily="18" charset="2"/>
              </a:rPr>
              <a:t>3. Antisymmetric:</a:t>
            </a:r>
          </a:p>
          <a:p>
            <a:pPr marL="0" indent="0">
              <a:buNone/>
            </a:pPr>
            <a:r>
              <a:rPr lang="en-US" sz="2400" dirty="0">
                <a:latin typeface="Söhne"/>
              </a:rPr>
              <a:t>A relation </a:t>
            </a:r>
            <a:r>
              <a:rPr lang="en-US" sz="2400" i="1" dirty="0">
                <a:latin typeface="KaTeX_Math"/>
              </a:rPr>
              <a:t>R</a:t>
            </a:r>
            <a:r>
              <a:rPr lang="en-US" sz="2400" dirty="0">
                <a:latin typeface="Söhne"/>
              </a:rPr>
              <a:t> on a set </a:t>
            </a:r>
            <a:r>
              <a:rPr lang="en-US" sz="2400" i="1" dirty="0">
                <a:latin typeface="KaTeX_Math"/>
              </a:rPr>
              <a:t>A</a:t>
            </a:r>
            <a:r>
              <a:rPr lang="en-US" sz="2400" dirty="0">
                <a:latin typeface="Söhne"/>
              </a:rPr>
              <a:t> is </a:t>
            </a:r>
            <a:r>
              <a:rPr lang="en-US" sz="2400" dirty="0">
                <a:solidFill>
                  <a:schemeClr val="accent1"/>
                </a:solidFill>
                <a:latin typeface="Söhne"/>
              </a:rPr>
              <a:t>antisymmetric</a:t>
            </a:r>
            <a:r>
              <a:rPr lang="en-US" sz="2400" dirty="0">
                <a:latin typeface="Söhne"/>
              </a:rPr>
              <a:t> if, for every </a:t>
            </a:r>
            <a:r>
              <a:rPr lang="en-US" sz="2400" dirty="0">
                <a:latin typeface="KaTeX_Main"/>
              </a:rPr>
              <a:t>(</a:t>
            </a:r>
            <a:r>
              <a:rPr lang="en-US" sz="2400" i="1" dirty="0">
                <a:latin typeface="KaTeX_Math"/>
              </a:rPr>
              <a:t>a</a:t>
            </a:r>
            <a:r>
              <a:rPr lang="en-US" sz="2400" dirty="0">
                <a:latin typeface="KaTeX_Main"/>
              </a:rPr>
              <a:t>, </a:t>
            </a:r>
            <a:r>
              <a:rPr lang="en-US" sz="2400" i="1" dirty="0">
                <a:latin typeface="KaTeX_Math"/>
              </a:rPr>
              <a:t>b</a:t>
            </a:r>
            <a:r>
              <a:rPr lang="en-US" sz="2400" dirty="0">
                <a:latin typeface="KaTeX_Main"/>
              </a:rPr>
              <a:t>)</a:t>
            </a:r>
            <a:r>
              <a:rPr lang="en-US" sz="2400" dirty="0">
                <a:latin typeface="Söhne"/>
              </a:rPr>
              <a:t> belong to </a:t>
            </a:r>
            <a:r>
              <a:rPr lang="en-US" sz="2400" i="1" dirty="0">
                <a:latin typeface="KaTeX_Math"/>
              </a:rPr>
              <a:t>R</a:t>
            </a:r>
            <a:r>
              <a:rPr lang="en-US" sz="2400" dirty="0">
                <a:latin typeface="Söhne"/>
              </a:rPr>
              <a:t>, and </a:t>
            </a:r>
            <a:r>
              <a:rPr lang="en-US" sz="2400" dirty="0">
                <a:latin typeface="KaTeX_Main"/>
              </a:rPr>
              <a:t>(</a:t>
            </a:r>
            <a:r>
              <a:rPr lang="en-US" sz="2400" i="1" dirty="0">
                <a:latin typeface="KaTeX_Math"/>
              </a:rPr>
              <a:t>b</a:t>
            </a:r>
            <a:r>
              <a:rPr lang="en-US" sz="2400" dirty="0">
                <a:latin typeface="KaTeX_Main"/>
              </a:rPr>
              <a:t>, </a:t>
            </a:r>
            <a:r>
              <a:rPr lang="en-US" sz="2400" i="1" dirty="0">
                <a:latin typeface="KaTeX_Math"/>
              </a:rPr>
              <a:t>a</a:t>
            </a:r>
            <a:r>
              <a:rPr lang="en-US" sz="2400" dirty="0">
                <a:latin typeface="KaTeX_Main"/>
              </a:rPr>
              <a:t>)</a:t>
            </a:r>
            <a:r>
              <a:rPr lang="en-US" sz="2400" dirty="0">
                <a:latin typeface="Söhne"/>
              </a:rPr>
              <a:t> belong to </a:t>
            </a:r>
            <a:r>
              <a:rPr lang="en-US" sz="2400" i="1" dirty="0">
                <a:latin typeface="KaTeX_Math"/>
              </a:rPr>
              <a:t>R</a:t>
            </a:r>
            <a:r>
              <a:rPr lang="en-US" sz="2400" dirty="0">
                <a:latin typeface="Söhne"/>
              </a:rPr>
              <a:t>, then a </a:t>
            </a:r>
            <a:r>
              <a:rPr lang="en-US" sz="2400" dirty="0">
                <a:latin typeface="KaTeX_Main"/>
              </a:rPr>
              <a:t>= </a:t>
            </a:r>
            <a:r>
              <a:rPr lang="en-US" sz="2400" i="1" dirty="0">
                <a:latin typeface="KaTeX_Math"/>
              </a:rPr>
              <a:t>b</a:t>
            </a:r>
            <a:r>
              <a:rPr lang="en-US" sz="2400" dirty="0">
                <a:latin typeface="Söhne"/>
              </a:rPr>
              <a:t>.</a:t>
            </a:r>
          </a:p>
          <a:p>
            <a:r>
              <a:rPr lang="en-US" sz="2400" b="1" dirty="0">
                <a:latin typeface="Söhne"/>
              </a:rPr>
              <a:t>Example:</a:t>
            </a:r>
            <a:endParaRPr lang="en-US" sz="2400" dirty="0">
              <a:latin typeface="Söhne"/>
            </a:endParaRPr>
          </a:p>
          <a:p>
            <a:pPr marL="0" indent="0">
              <a:buNone/>
            </a:pPr>
            <a:r>
              <a:rPr lang="en-US" sz="2400" i="1" dirty="0">
                <a:latin typeface="KaTeX_Math"/>
              </a:rPr>
              <a:t>A </a:t>
            </a:r>
            <a:r>
              <a:rPr lang="en-US" sz="2400" dirty="0">
                <a:latin typeface="KaTeX_Main"/>
              </a:rPr>
              <a:t>= {1, 2, 3}</a:t>
            </a:r>
            <a:endParaRPr lang="en-US" sz="2400" dirty="0">
              <a:latin typeface="Söhne"/>
            </a:endParaRPr>
          </a:p>
          <a:p>
            <a:pPr marL="0" indent="0">
              <a:buNone/>
            </a:pPr>
            <a:r>
              <a:rPr lang="en-US" sz="2400" i="1" dirty="0">
                <a:latin typeface="KaTeX_Math"/>
              </a:rPr>
              <a:t>R </a:t>
            </a:r>
            <a:r>
              <a:rPr lang="en-US" sz="2400" dirty="0">
                <a:latin typeface="KaTeX_Main"/>
              </a:rPr>
              <a:t>= { (1, 2), (2, 3), (1, 1), (2, 2), (3, 3) }</a:t>
            </a:r>
          </a:p>
          <a:p>
            <a:pPr marL="0" indent="0">
              <a:buNone/>
            </a:pPr>
            <a:endParaRPr lang="en-US" altLang="en-PK" sz="2400" b="1" dirty="0">
              <a:solidFill>
                <a:srgbClr val="374151"/>
              </a:solidFill>
              <a:latin typeface="KaTeX_Main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PK" sz="2400" dirty="0">
                <a:solidFill>
                  <a:schemeClr val="accent1"/>
                </a:solidFill>
                <a:sym typeface="Symbol" panose="05050102010706020507" pitchFamily="18" charset="2"/>
              </a:rPr>
              <a:t>Note: Antisymmetric is not the opposite of symmetric, a relation can be both.</a:t>
            </a:r>
            <a:endParaRPr lang="en-US" altLang="en-PK" sz="2400" b="1" dirty="0">
              <a:solidFill>
                <a:schemeClr val="accent1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PK" sz="2400" b="1" dirty="0">
              <a:sym typeface="Symbol" panose="05050102010706020507" pitchFamily="18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29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PK" sz="2400" b="1" dirty="0">
                <a:sym typeface="Symbol" panose="05050102010706020507" pitchFamily="18" charset="2"/>
              </a:rPr>
              <a:t>4. Asymmetric:</a:t>
            </a:r>
          </a:p>
          <a:p>
            <a:pPr marL="0" indent="0">
              <a:buNone/>
            </a:pPr>
            <a:r>
              <a:rPr lang="en-US" altLang="en-PK" sz="2400" dirty="0">
                <a:sym typeface="Symbol" panose="05050102010706020507" pitchFamily="18" charset="2"/>
              </a:rPr>
              <a:t>A relation R on a set A is called </a:t>
            </a:r>
            <a:r>
              <a:rPr lang="en-US" altLang="en-PK" sz="2400" dirty="0">
                <a:solidFill>
                  <a:schemeClr val="accent1"/>
                </a:solidFill>
                <a:sym typeface="Symbol" panose="05050102010706020507" pitchFamily="18" charset="2"/>
              </a:rPr>
              <a:t>asymmetric</a:t>
            </a:r>
            <a:r>
              <a:rPr lang="en-US" altLang="en-PK" sz="2400" b="1" dirty="0">
                <a:sym typeface="Symbol" panose="05050102010706020507" pitchFamily="18" charset="2"/>
              </a:rPr>
              <a:t> </a:t>
            </a:r>
            <a:r>
              <a:rPr lang="en-US" altLang="en-PK" sz="2400" dirty="0">
                <a:sym typeface="Symbol" panose="05050102010706020507" pitchFamily="18" charset="2"/>
              </a:rPr>
              <a:t>if (a, b)  R </a:t>
            </a:r>
            <a:r>
              <a:rPr lang="en-US" altLang="en-PK" sz="2400" dirty="0">
                <a:sym typeface="Wingdings" panose="05000000000000000000" pitchFamily="2" charset="2"/>
              </a:rPr>
              <a:t> (b, a) </a:t>
            </a:r>
            <a:r>
              <a:rPr lang="en-US" altLang="en-PK" sz="2400" dirty="0">
                <a:sym typeface="Symbol" panose="05050102010706020507" pitchFamily="18" charset="2"/>
              </a:rPr>
              <a:t></a:t>
            </a:r>
            <a:r>
              <a:rPr lang="en-US" altLang="en-PK" sz="2400" dirty="0">
                <a:sym typeface="Wingdings" panose="05000000000000000000" pitchFamily="2" charset="2"/>
              </a:rPr>
              <a:t> R.</a:t>
            </a:r>
          </a:p>
          <a:p>
            <a:pPr algn="l"/>
            <a:r>
              <a:rPr lang="en-US" sz="2400" b="1" i="0" dirty="0">
                <a:effectLst/>
                <a:latin typeface="Söhne"/>
              </a:rPr>
              <a:t>Example:</a:t>
            </a:r>
            <a:endParaRPr lang="en-US" sz="2400" b="0" i="0" dirty="0"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400" b="0" i="1" dirty="0">
                <a:effectLst/>
                <a:latin typeface="KaTeX_Math"/>
              </a:rPr>
              <a:t>A </a:t>
            </a:r>
            <a:r>
              <a:rPr lang="en-US" sz="2400" b="0" i="0" dirty="0">
                <a:effectLst/>
                <a:latin typeface="KaTeX_Main"/>
              </a:rPr>
              <a:t>= {1, 2, 3}</a:t>
            </a:r>
            <a:endParaRPr lang="en-US" sz="2400" b="0" i="0" dirty="0"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400" b="0" i="1" dirty="0">
                <a:effectLst/>
                <a:latin typeface="KaTeX_Math"/>
              </a:rPr>
              <a:t>R </a:t>
            </a:r>
            <a:r>
              <a:rPr lang="en-US" sz="2400" b="0" i="0" dirty="0">
                <a:effectLst/>
                <a:latin typeface="KaTeX_Main"/>
              </a:rPr>
              <a:t>= { (1, 2), (2, 3), (1, 3) }</a:t>
            </a:r>
            <a:endParaRPr lang="en-US" sz="2400" b="0" i="0" dirty="0">
              <a:effectLst/>
              <a:latin typeface="Söhne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645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PK" sz="2400" b="1" dirty="0"/>
              <a:t>5. Transitive: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latin typeface="Söhne"/>
              </a:rPr>
              <a:t>A relation </a:t>
            </a:r>
            <a:r>
              <a:rPr lang="en-US" sz="2400" i="1" dirty="0">
                <a:latin typeface="KaTeX_Math"/>
              </a:rPr>
              <a:t>R</a:t>
            </a:r>
            <a:r>
              <a:rPr lang="en-US" sz="2400" dirty="0">
                <a:latin typeface="Söhne"/>
              </a:rPr>
              <a:t> on a set </a:t>
            </a:r>
            <a:r>
              <a:rPr lang="en-US" sz="2400" i="1" dirty="0">
                <a:latin typeface="KaTeX_Math"/>
              </a:rPr>
              <a:t>A</a:t>
            </a:r>
            <a:r>
              <a:rPr lang="en-US" sz="2400" dirty="0">
                <a:latin typeface="Söhne"/>
              </a:rPr>
              <a:t> is </a:t>
            </a:r>
            <a:r>
              <a:rPr lang="en-US" sz="2400" dirty="0">
                <a:solidFill>
                  <a:schemeClr val="accent1"/>
                </a:solidFill>
                <a:latin typeface="Söhne"/>
              </a:rPr>
              <a:t>transitive</a:t>
            </a:r>
            <a:r>
              <a:rPr lang="en-US" sz="2400" dirty="0">
                <a:latin typeface="Söhne"/>
              </a:rPr>
              <a:t> if, for every </a:t>
            </a:r>
            <a:r>
              <a:rPr lang="en-US" sz="2400" dirty="0">
                <a:latin typeface="KaTeX_Main"/>
              </a:rPr>
              <a:t>(</a:t>
            </a:r>
            <a:r>
              <a:rPr lang="en-US" sz="2400" i="1" dirty="0">
                <a:latin typeface="KaTeX_Math"/>
              </a:rPr>
              <a:t>a</a:t>
            </a:r>
            <a:r>
              <a:rPr lang="en-US" sz="2400" dirty="0">
                <a:latin typeface="KaTeX_Main"/>
              </a:rPr>
              <a:t>, </a:t>
            </a:r>
            <a:r>
              <a:rPr lang="en-US" sz="2400" i="1" dirty="0">
                <a:latin typeface="KaTeX_Math"/>
              </a:rPr>
              <a:t>b</a:t>
            </a:r>
            <a:r>
              <a:rPr lang="en-US" sz="2400" dirty="0">
                <a:latin typeface="KaTeX_Main"/>
              </a:rPr>
              <a:t>)</a:t>
            </a:r>
            <a:r>
              <a:rPr lang="en-US" sz="2400" dirty="0">
                <a:latin typeface="Söhne"/>
              </a:rPr>
              <a:t> and </a:t>
            </a:r>
            <a:r>
              <a:rPr lang="en-US" sz="2400" dirty="0">
                <a:latin typeface="KaTeX_Main"/>
              </a:rPr>
              <a:t>(</a:t>
            </a:r>
            <a:r>
              <a:rPr lang="en-US" sz="2400" i="1" dirty="0">
                <a:latin typeface="KaTeX_Math"/>
              </a:rPr>
              <a:t>b</a:t>
            </a:r>
            <a:r>
              <a:rPr lang="en-US" sz="2400" dirty="0">
                <a:latin typeface="KaTeX_Main"/>
              </a:rPr>
              <a:t>, </a:t>
            </a:r>
            <a:r>
              <a:rPr lang="en-US" sz="2400" i="1" dirty="0">
                <a:latin typeface="KaTeX_Math"/>
              </a:rPr>
              <a:t>c</a:t>
            </a:r>
            <a:r>
              <a:rPr lang="en-US" sz="2400" dirty="0">
                <a:latin typeface="KaTeX_Main"/>
              </a:rPr>
              <a:t>)</a:t>
            </a:r>
            <a:r>
              <a:rPr lang="en-US" sz="2400" dirty="0">
                <a:latin typeface="Söhne"/>
              </a:rPr>
              <a:t> in </a:t>
            </a:r>
            <a:r>
              <a:rPr lang="en-US" sz="2400" i="1" dirty="0">
                <a:latin typeface="KaTeX_Math"/>
              </a:rPr>
              <a:t>R</a:t>
            </a:r>
            <a:r>
              <a:rPr lang="en-US" sz="2400" dirty="0">
                <a:latin typeface="Söhne"/>
              </a:rPr>
              <a:t>,     </a:t>
            </a:r>
            <a:r>
              <a:rPr lang="en-US" sz="2400" dirty="0">
                <a:latin typeface="KaTeX_Main"/>
              </a:rPr>
              <a:t>(</a:t>
            </a:r>
            <a:r>
              <a:rPr lang="en-US" sz="2400" i="1" dirty="0">
                <a:latin typeface="KaTeX_Math"/>
              </a:rPr>
              <a:t>a</a:t>
            </a:r>
            <a:r>
              <a:rPr lang="en-US" sz="2400" dirty="0">
                <a:latin typeface="KaTeX_Main"/>
              </a:rPr>
              <a:t>, </a:t>
            </a:r>
            <a:r>
              <a:rPr lang="en-US" sz="2400" i="1" dirty="0">
                <a:latin typeface="KaTeX_Math"/>
              </a:rPr>
              <a:t>c</a:t>
            </a:r>
            <a:r>
              <a:rPr lang="en-US" sz="2400" dirty="0">
                <a:latin typeface="KaTeX_Main"/>
              </a:rPr>
              <a:t>)</a:t>
            </a:r>
            <a:r>
              <a:rPr lang="en-US" sz="2400" dirty="0">
                <a:latin typeface="Söhne"/>
              </a:rPr>
              <a:t> also belongs to </a:t>
            </a:r>
            <a:r>
              <a:rPr lang="en-US" sz="2400" i="1" dirty="0">
                <a:latin typeface="KaTeX_Math"/>
              </a:rPr>
              <a:t>R</a:t>
            </a:r>
            <a:r>
              <a:rPr lang="en-US" sz="2400" dirty="0">
                <a:latin typeface="Söhne"/>
              </a:rPr>
              <a:t>.</a:t>
            </a:r>
          </a:p>
          <a:p>
            <a:r>
              <a:rPr lang="en-US" sz="2400" b="1" dirty="0">
                <a:latin typeface="Söhne"/>
              </a:rPr>
              <a:t>Example:</a:t>
            </a:r>
            <a:endParaRPr lang="en-US" sz="2400" dirty="0">
              <a:latin typeface="Söhne"/>
            </a:endParaRPr>
          </a:p>
          <a:p>
            <a:pPr marL="0" indent="0">
              <a:buNone/>
            </a:pPr>
            <a:r>
              <a:rPr lang="en-US" sz="2400" i="1" dirty="0">
                <a:latin typeface="KaTeX_Math"/>
              </a:rPr>
              <a:t>A </a:t>
            </a:r>
            <a:r>
              <a:rPr lang="en-US" sz="2400" dirty="0">
                <a:latin typeface="KaTeX_Main"/>
              </a:rPr>
              <a:t>= {1, 2, 3}</a:t>
            </a:r>
            <a:endParaRPr lang="en-US" sz="2400" dirty="0">
              <a:latin typeface="Söhne"/>
            </a:endParaRPr>
          </a:p>
          <a:p>
            <a:pPr marL="0" indent="0">
              <a:buNone/>
            </a:pPr>
            <a:r>
              <a:rPr lang="en-US" sz="2400" i="1" dirty="0">
                <a:latin typeface="KaTeX_Math"/>
              </a:rPr>
              <a:t>R </a:t>
            </a:r>
            <a:r>
              <a:rPr lang="en-US" sz="2400" dirty="0">
                <a:latin typeface="KaTeX_Main"/>
              </a:rPr>
              <a:t>= { (1, 2), (2, 3), (1, 3), (3, 3) }</a:t>
            </a:r>
            <a:endParaRPr lang="en-US" sz="2400" dirty="0">
              <a:latin typeface="Söhne"/>
            </a:endParaRPr>
          </a:p>
          <a:p>
            <a:pPr marL="0" indent="0">
              <a:buNone/>
            </a:pPr>
            <a:endParaRPr lang="en-US" altLang="en-PK" sz="2400" dirty="0">
              <a:latin typeface="Söhne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PK" sz="2400" dirty="0">
                <a:solidFill>
                  <a:schemeClr val="accent1"/>
                </a:solidFill>
                <a:sym typeface="Symbol" panose="05050102010706020507" pitchFamily="18" charset="2"/>
              </a:rPr>
              <a:t>Note: A set with one ordered pair is Transitive.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576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Relations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spcAft>
                <a:spcPts val="800"/>
              </a:spcAft>
              <a:defRPr sz="2400">
                <a:latin typeface="Aptos"/>
              </a:defRPr>
            </a:pPr>
            <a:r>
              <a:rPr b="1" dirty="0"/>
              <a:t>Definition:</a:t>
            </a:r>
            <a:endParaRPr lang="en-GB" b="1" dirty="0"/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lang="en-GB" dirty="0"/>
              <a:t>An equivalence relation on a set A satisfies three properties: </a:t>
            </a:r>
            <a:r>
              <a:rPr lang="en-GB" dirty="0">
                <a:solidFill>
                  <a:schemeClr val="accent1"/>
                </a:solidFill>
                <a:latin typeface="Söhne"/>
              </a:rPr>
              <a:t>reflexivity, symmetry, and transitivity.</a:t>
            </a:r>
          </a:p>
          <a:p>
            <a:pPr>
              <a:spcAft>
                <a:spcPts val="800"/>
              </a:spcAft>
              <a:defRPr sz="2400">
                <a:latin typeface="Aptos"/>
              </a:defRPr>
            </a:pPr>
            <a:r>
              <a:rPr b="1" dirty="0"/>
              <a:t>Example: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dirty="0"/>
              <a:t>Let </a:t>
            </a:r>
            <a:r>
              <a:rPr i="1" dirty="0"/>
              <a:t>A = {1, 2, 3}</a:t>
            </a:r>
            <a:r>
              <a:rPr lang="en-GB" i="1" dirty="0"/>
              <a:t> </a:t>
            </a:r>
            <a:r>
              <a:rPr lang="en-GB" dirty="0"/>
              <a:t>and</a:t>
            </a:r>
            <a:endParaRPr dirty="0"/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i="1" dirty="0"/>
              <a:t>R = { (1,1), (2,2), (3,3), (1,2), (2,1), (1,3), (3,1), (2,3), (3,2) }</a:t>
            </a:r>
          </a:p>
          <a:p>
            <a:pPr>
              <a:spcAft>
                <a:spcPts val="800"/>
              </a:spcAft>
              <a:defRPr sz="2400">
                <a:latin typeface="Aptos"/>
              </a:defRPr>
            </a:pPr>
            <a:r>
              <a:rPr dirty="0"/>
              <a:t>This relates every element to every other element, so it is reflexive, symmetric, and transitive.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37007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Order Relations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spcAft>
                <a:spcPts val="800"/>
              </a:spcAft>
              <a:defRPr sz="2400">
                <a:latin typeface="Aptos"/>
              </a:defRPr>
            </a:pPr>
            <a:r>
              <a:rPr b="1" dirty="0"/>
              <a:t>Definition: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dirty="0"/>
              <a:t>A partial order on a set A is a relation that is </a:t>
            </a:r>
            <a:r>
              <a:rPr dirty="0">
                <a:solidFill>
                  <a:schemeClr val="accent1"/>
                </a:solidFill>
                <a:latin typeface="Söhne"/>
              </a:rPr>
              <a:t>reflexive, antisymmetric, and transitive</a:t>
            </a:r>
            <a:endParaRPr dirty="0"/>
          </a:p>
          <a:p>
            <a:pPr>
              <a:spcAft>
                <a:spcPts val="800"/>
              </a:spcAft>
              <a:defRPr sz="2400">
                <a:latin typeface="Aptos"/>
              </a:defRPr>
            </a:pPr>
            <a:r>
              <a:rPr dirty="0"/>
              <a:t>Example: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dirty="0"/>
              <a:t>Let </a:t>
            </a:r>
            <a:r>
              <a:rPr i="1" dirty="0"/>
              <a:t>A = {1, 2, 3} </a:t>
            </a:r>
            <a:r>
              <a:rPr dirty="0"/>
              <a:t>and</a:t>
            </a:r>
          </a:p>
          <a:p>
            <a:pPr marL="0" indent="0">
              <a:spcAft>
                <a:spcPts val="800"/>
              </a:spcAft>
              <a:buNone/>
              <a:defRPr sz="2400">
                <a:latin typeface="Aptos"/>
              </a:defRPr>
            </a:pPr>
            <a:r>
              <a:rPr i="1" dirty="0"/>
              <a:t>R = { (1,1), (2,2), (3,3), (1,2), (2,3), (1,3) }</a:t>
            </a:r>
          </a:p>
          <a:p>
            <a:pPr>
              <a:spcAft>
                <a:spcPts val="800"/>
              </a:spcAft>
              <a:defRPr sz="2400">
                <a:latin typeface="Aptos"/>
              </a:defRPr>
            </a:pPr>
            <a:r>
              <a:rPr dirty="0"/>
              <a:t>The pair (1,3) is included to satisfy transitivity because 1 is related to 2 and 2 is related to 3.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4604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Relations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algn="l"/>
            <a:r>
              <a:rPr lang="en-US" sz="2400" b="0" i="0" dirty="0">
                <a:effectLst/>
                <a:latin typeface="Söhne"/>
              </a:rPr>
              <a:t>Let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R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= { (1, 2), (2, 3), (3, 4) }</a:t>
            </a:r>
            <a:r>
              <a:rPr lang="en-US" sz="2400" b="0" i="0" dirty="0">
                <a:effectLst/>
                <a:latin typeface="Söhne"/>
              </a:rPr>
              <a:t> and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S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= { (2, 3), (3, 4), (4, 5) }</a:t>
            </a:r>
            <a:endParaRPr lang="en-US" sz="2400" b="0" i="0" dirty="0">
              <a:solidFill>
                <a:schemeClr val="accent1"/>
              </a:solidFill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400" b="1" i="0" dirty="0">
                <a:effectLst/>
                <a:latin typeface="Söhne"/>
              </a:rPr>
              <a:t>1. Union:</a:t>
            </a:r>
            <a:r>
              <a:rPr lang="en-US" sz="2400" b="0" i="0" dirty="0">
                <a:effectLst/>
                <a:latin typeface="Söhne"/>
              </a:rPr>
              <a:t> </a:t>
            </a:r>
          </a:p>
          <a:p>
            <a:pPr marL="0" indent="0" algn="l">
              <a:buNone/>
            </a:pPr>
            <a:r>
              <a:rPr lang="en-US" sz="2400" b="0" i="1" dirty="0">
                <a:effectLst/>
                <a:latin typeface="KaTeX_Math"/>
              </a:rPr>
              <a:t>   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R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∪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S </a:t>
            </a:r>
            <a:r>
              <a:rPr lang="en-US" sz="2400" b="0" i="0" dirty="0">
                <a:effectLst/>
                <a:latin typeface="KaTeX_Main"/>
              </a:rPr>
              <a:t>= { (1, 2) ,(2, 3) ,(3, 4) ,(4, 5) }</a:t>
            </a:r>
            <a:endParaRPr lang="en-US" sz="2400" b="0" i="0" dirty="0"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400" b="1" i="0" dirty="0">
                <a:effectLst/>
                <a:latin typeface="Söhne"/>
              </a:rPr>
              <a:t>2. Intersection:</a:t>
            </a:r>
            <a:r>
              <a:rPr lang="en-US" sz="2400" b="0" i="0" dirty="0">
                <a:effectLst/>
                <a:latin typeface="Söhne"/>
              </a:rPr>
              <a:t> </a:t>
            </a:r>
          </a:p>
          <a:p>
            <a:pPr marL="0" indent="0" algn="l">
              <a:buNone/>
            </a:pPr>
            <a:r>
              <a:rPr lang="en-US" sz="2400" b="0" i="1" dirty="0">
                <a:effectLst/>
                <a:latin typeface="KaTeX_Math"/>
              </a:rPr>
              <a:t>   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R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∩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S </a:t>
            </a:r>
            <a:r>
              <a:rPr lang="en-US" sz="2400" b="0" i="0" dirty="0">
                <a:effectLst/>
                <a:latin typeface="KaTeX_Main"/>
              </a:rPr>
              <a:t>= { (2, 3), (3, 4) }</a:t>
            </a:r>
          </a:p>
          <a:p>
            <a:pPr marL="0" indent="0" algn="l">
              <a:buNone/>
            </a:pPr>
            <a:r>
              <a:rPr lang="en-US" sz="2400" b="1" i="0" dirty="0">
                <a:effectLst/>
                <a:latin typeface="Söhne"/>
              </a:rPr>
              <a:t>3. Difference:</a:t>
            </a:r>
            <a:r>
              <a:rPr lang="en-US" sz="2400" b="0" i="0" dirty="0">
                <a:effectLst/>
                <a:latin typeface="Söhne"/>
              </a:rPr>
              <a:t> </a:t>
            </a:r>
          </a:p>
          <a:p>
            <a:pPr marL="0" indent="0" algn="l">
              <a:buNone/>
            </a:pPr>
            <a:r>
              <a:rPr lang="en-US" sz="2400" b="0" i="1" dirty="0">
                <a:effectLst/>
                <a:latin typeface="KaTeX_Math"/>
              </a:rPr>
              <a:t>   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R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−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S </a:t>
            </a:r>
            <a:r>
              <a:rPr lang="en-US" sz="2400" b="0" i="0" dirty="0">
                <a:effectLst/>
                <a:latin typeface="KaTeX_Main"/>
              </a:rPr>
              <a:t>= { (1, 2) }</a:t>
            </a:r>
          </a:p>
          <a:p>
            <a:pPr marL="0" indent="0" algn="l">
              <a:buNone/>
            </a:pPr>
            <a:r>
              <a:rPr lang="en-US" sz="2400" b="1" dirty="0">
                <a:latin typeface="KaTeX_Main"/>
              </a:rPr>
              <a:t>4. </a:t>
            </a:r>
            <a:r>
              <a:rPr lang="en-US" sz="2400" b="1" dirty="0"/>
              <a:t>Exclusive OR:</a:t>
            </a:r>
          </a:p>
          <a:p>
            <a:pPr marL="0" indent="0" algn="l">
              <a:buNone/>
            </a:pPr>
            <a:r>
              <a:rPr lang="en-US" sz="2400" b="1" i="0" dirty="0">
                <a:effectLst/>
                <a:latin typeface="Söhne"/>
              </a:rPr>
              <a:t>   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Söhne"/>
              </a:rPr>
              <a:t>R ⊕ S </a:t>
            </a:r>
            <a:r>
              <a:rPr lang="en-US" sz="2400" b="0" i="0" dirty="0">
                <a:effectLst/>
                <a:latin typeface="Söhne"/>
              </a:rPr>
              <a:t>= { (1, 2), (4, 5) }			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R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⊕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S</a:t>
            </a:r>
            <a:r>
              <a:rPr lang="en-US" sz="2400" dirty="0">
                <a:solidFill>
                  <a:schemeClr val="accent1"/>
                </a:solidFill>
                <a:latin typeface="Söhne"/>
              </a:rPr>
              <a:t> =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R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 ∪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S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−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R 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∩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S</a:t>
            </a:r>
            <a:endParaRPr lang="en-US" sz="2400" b="0" i="0" dirty="0">
              <a:solidFill>
                <a:schemeClr val="accent1"/>
              </a:solidFill>
              <a:effectLst/>
              <a:latin typeface="Söhne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6927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Relations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PK" sz="2400" b="1" dirty="0"/>
              <a:t>Definition:</a:t>
            </a:r>
          </a:p>
          <a:p>
            <a:pPr marL="0" indent="0" eaLnBrk="1" hangingPunct="1">
              <a:buNone/>
            </a:pPr>
            <a:r>
              <a:rPr lang="en-US" altLang="en-PK" sz="2400" dirty="0"/>
              <a:t>Let </a:t>
            </a:r>
            <a:r>
              <a:rPr lang="en-US" altLang="en-PK" sz="2400" i="1" dirty="0"/>
              <a:t>R</a:t>
            </a:r>
            <a:r>
              <a:rPr lang="en-US" altLang="en-PK" sz="2400" dirty="0"/>
              <a:t> be a relation from a set</a:t>
            </a:r>
            <a:r>
              <a:rPr lang="en-US" altLang="en-PK" sz="2400" i="1" dirty="0"/>
              <a:t> A </a:t>
            </a:r>
            <a:r>
              <a:rPr lang="en-US" altLang="en-PK" sz="2400" dirty="0"/>
              <a:t>to a set </a:t>
            </a:r>
            <a:r>
              <a:rPr lang="en-US" altLang="en-PK" sz="2400" i="1" dirty="0"/>
              <a:t>B,</a:t>
            </a:r>
            <a:r>
              <a:rPr lang="en-US" altLang="en-PK" sz="2400" dirty="0"/>
              <a:t> and </a:t>
            </a:r>
            <a:r>
              <a:rPr lang="en-US" altLang="en-PK" sz="2400" i="1" dirty="0"/>
              <a:t>S</a:t>
            </a:r>
            <a:r>
              <a:rPr lang="en-US" altLang="en-PK" sz="2400" dirty="0"/>
              <a:t> be a relation from </a:t>
            </a:r>
            <a:r>
              <a:rPr lang="en-US" altLang="en-PK" sz="2400" i="1" dirty="0"/>
              <a:t>B </a:t>
            </a:r>
            <a:r>
              <a:rPr lang="en-US" altLang="en-PK" sz="2400" dirty="0"/>
              <a:t>to a set </a:t>
            </a:r>
            <a:r>
              <a:rPr lang="en-US" altLang="en-PK" sz="2400" i="1" dirty="0"/>
              <a:t>C</a:t>
            </a:r>
            <a:r>
              <a:rPr lang="en-US" altLang="en-PK" sz="2400" dirty="0"/>
              <a:t>. The </a:t>
            </a:r>
            <a:r>
              <a:rPr lang="en-US" altLang="en-PK" sz="2400" i="1" dirty="0">
                <a:solidFill>
                  <a:schemeClr val="accent1"/>
                </a:solidFill>
              </a:rPr>
              <a:t>composition</a:t>
            </a:r>
            <a:r>
              <a:rPr lang="en-US" altLang="en-PK" sz="2400" dirty="0">
                <a:solidFill>
                  <a:schemeClr val="accent1"/>
                </a:solidFill>
              </a:rPr>
              <a:t> of </a:t>
            </a:r>
            <a:r>
              <a:rPr lang="en-US" altLang="en-PK" sz="2400" i="1" dirty="0">
                <a:solidFill>
                  <a:schemeClr val="accent1"/>
                </a:solidFill>
              </a:rPr>
              <a:t>R</a:t>
            </a:r>
            <a:r>
              <a:rPr lang="en-US" altLang="en-PK" sz="2400" dirty="0">
                <a:solidFill>
                  <a:schemeClr val="accent1"/>
                </a:solidFill>
              </a:rPr>
              <a:t> and </a:t>
            </a:r>
            <a:r>
              <a:rPr lang="en-US" altLang="en-PK" sz="2400" i="1" dirty="0">
                <a:solidFill>
                  <a:schemeClr val="accent1"/>
                </a:solidFill>
              </a:rPr>
              <a:t>S</a:t>
            </a:r>
            <a:r>
              <a:rPr lang="en-US" altLang="en-PK" sz="2400" dirty="0"/>
              <a:t>, denoted by </a:t>
            </a:r>
            <a:r>
              <a:rPr lang="en-US" altLang="en-PK" sz="2400" i="1" dirty="0">
                <a:solidFill>
                  <a:schemeClr val="accent1"/>
                </a:solidFill>
              </a:rPr>
              <a:t>S </a:t>
            </a:r>
            <a:r>
              <a:rPr lang="en-US" altLang="en-PK" sz="2400" dirty="0">
                <a:solidFill>
                  <a:schemeClr val="accent1"/>
                </a:solidFill>
              </a:rPr>
              <a:t>o </a:t>
            </a:r>
            <a:r>
              <a:rPr lang="en-US" altLang="en-PK" sz="2400" i="1" dirty="0">
                <a:solidFill>
                  <a:schemeClr val="accent1"/>
                </a:solidFill>
              </a:rPr>
              <a:t>R</a:t>
            </a:r>
            <a:r>
              <a:rPr lang="en-US" altLang="en-PK" sz="2400" dirty="0"/>
              <a:t>, is the relation consisting of ordered pairs (</a:t>
            </a:r>
            <a:r>
              <a:rPr lang="en-US" altLang="en-PK" sz="2400" i="1" dirty="0"/>
              <a:t>a</a:t>
            </a:r>
            <a:r>
              <a:rPr lang="en-US" altLang="en-PK" sz="2400" dirty="0"/>
              <a:t>, </a:t>
            </a:r>
            <a:r>
              <a:rPr lang="en-US" altLang="en-PK" sz="2400" i="1" dirty="0"/>
              <a:t>c</a:t>
            </a:r>
            <a:r>
              <a:rPr lang="en-US" altLang="en-PK" sz="2400" dirty="0"/>
              <a:t>), whenever (</a:t>
            </a:r>
            <a:r>
              <a:rPr lang="en-US" altLang="en-PK" sz="2400" i="1" dirty="0"/>
              <a:t>a</a:t>
            </a:r>
            <a:r>
              <a:rPr lang="en-US" altLang="en-PK" sz="2400" dirty="0"/>
              <a:t>, </a:t>
            </a:r>
            <a:r>
              <a:rPr lang="en-US" altLang="en-PK" sz="2400" i="1" dirty="0"/>
              <a:t>b</a:t>
            </a:r>
            <a:r>
              <a:rPr lang="en-US" altLang="en-PK" sz="2400" dirty="0"/>
              <a:t>) </a:t>
            </a:r>
            <a:r>
              <a:rPr lang="en-US" altLang="en-PK" sz="2400" dirty="0">
                <a:sym typeface="Symbol" panose="05050102010706020507" pitchFamily="18" charset="2"/>
              </a:rPr>
              <a:t> </a:t>
            </a:r>
            <a:r>
              <a:rPr lang="en-US" altLang="en-PK" sz="2400" i="1" dirty="0">
                <a:sym typeface="Symbol" panose="05050102010706020507" pitchFamily="18" charset="2"/>
              </a:rPr>
              <a:t>R</a:t>
            </a:r>
            <a:r>
              <a:rPr lang="en-US" altLang="en-PK" sz="2400" dirty="0">
                <a:sym typeface="Symbol" panose="05050102010706020507" pitchFamily="18" charset="2"/>
              </a:rPr>
              <a:t> and (</a:t>
            </a:r>
            <a:r>
              <a:rPr lang="en-US" altLang="en-PK" sz="2400" i="1" dirty="0">
                <a:sym typeface="Symbol" panose="05050102010706020507" pitchFamily="18" charset="2"/>
              </a:rPr>
              <a:t>b</a:t>
            </a:r>
            <a:r>
              <a:rPr lang="en-US" altLang="en-PK" sz="2400" dirty="0">
                <a:sym typeface="Symbol" panose="05050102010706020507" pitchFamily="18" charset="2"/>
              </a:rPr>
              <a:t>, </a:t>
            </a:r>
            <a:r>
              <a:rPr lang="en-US" altLang="en-PK" sz="2400" i="1" dirty="0">
                <a:sym typeface="Symbol" panose="05050102010706020507" pitchFamily="18" charset="2"/>
              </a:rPr>
              <a:t>c</a:t>
            </a:r>
            <a:r>
              <a:rPr lang="en-US" altLang="en-PK" sz="2400" dirty="0">
                <a:sym typeface="Symbol" panose="05050102010706020507" pitchFamily="18" charset="2"/>
              </a:rPr>
              <a:t>)  </a:t>
            </a:r>
            <a:r>
              <a:rPr lang="en-US" altLang="en-PK" sz="2400" i="1" dirty="0">
                <a:sym typeface="Symbol" panose="05050102010706020507" pitchFamily="18" charset="2"/>
              </a:rPr>
              <a:t>S</a:t>
            </a:r>
            <a:r>
              <a:rPr lang="en-US" altLang="en-PK" sz="2400" dirty="0"/>
              <a:t>.</a:t>
            </a:r>
          </a:p>
          <a:p>
            <a:r>
              <a:rPr lang="en-US" sz="2400" b="1" dirty="0"/>
              <a:t>Example:</a:t>
            </a:r>
          </a:p>
          <a:p>
            <a:pPr marL="0" indent="0">
              <a:buNone/>
            </a:pPr>
            <a:r>
              <a:rPr lang="en-US" altLang="en-PK" sz="2400" i="1" dirty="0"/>
              <a:t>R</a:t>
            </a:r>
            <a:r>
              <a:rPr lang="en-US" altLang="en-PK" sz="2400" baseline="-25000" dirty="0"/>
              <a:t> </a:t>
            </a:r>
            <a:r>
              <a:rPr lang="en-US" altLang="en-PK" sz="2400" dirty="0"/>
              <a:t>= {(1, </a:t>
            </a:r>
            <a:r>
              <a:rPr lang="en-US" altLang="en-PK" sz="2400" i="1" dirty="0"/>
              <a:t>x</a:t>
            </a:r>
            <a:r>
              <a:rPr lang="en-US" altLang="en-PK" sz="2400" dirty="0"/>
              <a:t>), (1, </a:t>
            </a:r>
            <a:r>
              <a:rPr lang="en-US" altLang="en-PK" sz="2400" i="1" dirty="0"/>
              <a:t>z</a:t>
            </a:r>
            <a:r>
              <a:rPr lang="en-US" altLang="en-PK" sz="2400" dirty="0"/>
              <a:t>), (2, </a:t>
            </a:r>
            <a:r>
              <a:rPr lang="en-US" altLang="en-PK" sz="2400" i="1" dirty="0"/>
              <a:t>w</a:t>
            </a:r>
            <a:r>
              <a:rPr lang="en-US" altLang="en-PK" sz="2400" dirty="0"/>
              <a:t>), (3, </a:t>
            </a:r>
            <a:r>
              <a:rPr lang="en-US" altLang="en-PK" sz="2400" i="1" dirty="0"/>
              <a:t>x</a:t>
            </a:r>
            <a:r>
              <a:rPr lang="en-US" altLang="en-PK" sz="2400" dirty="0"/>
              <a:t>), (3, </a:t>
            </a:r>
            <a:r>
              <a:rPr lang="en-US" altLang="en-PK" sz="2400" i="1" dirty="0"/>
              <a:t>z</a:t>
            </a:r>
            <a:r>
              <a:rPr lang="en-US" altLang="en-PK" sz="2400" dirty="0"/>
              <a:t>)}, and</a:t>
            </a:r>
          </a:p>
          <a:p>
            <a:pPr marL="0" indent="0">
              <a:buNone/>
            </a:pPr>
            <a:r>
              <a:rPr lang="en-US" altLang="en-PK" sz="2400" i="1" dirty="0"/>
              <a:t>S</a:t>
            </a:r>
            <a:r>
              <a:rPr lang="en-US" altLang="en-PK" sz="2400" baseline="-25000" dirty="0"/>
              <a:t> </a:t>
            </a:r>
            <a:r>
              <a:rPr lang="en-US" altLang="en-PK" sz="2400" dirty="0"/>
              <a:t>= {(</a:t>
            </a:r>
            <a:r>
              <a:rPr lang="en-US" altLang="en-PK" sz="2400" i="1" dirty="0"/>
              <a:t>x</a:t>
            </a:r>
            <a:r>
              <a:rPr lang="en-US" altLang="en-PK" sz="2400" dirty="0"/>
              <a:t>,0), (</a:t>
            </a:r>
            <a:r>
              <a:rPr lang="en-US" altLang="en-PK" sz="2400" i="1" dirty="0"/>
              <a:t>y</a:t>
            </a:r>
            <a:r>
              <a:rPr lang="en-US" altLang="en-PK" sz="2400" dirty="0"/>
              <a:t>,0), (</a:t>
            </a:r>
            <a:r>
              <a:rPr lang="en-US" altLang="en-PK" sz="2400" i="1" dirty="0"/>
              <a:t>w</a:t>
            </a:r>
            <a:r>
              <a:rPr lang="en-US" altLang="en-PK" sz="2400" dirty="0"/>
              <a:t>,1), (</a:t>
            </a:r>
            <a:r>
              <a:rPr lang="en-US" altLang="en-PK" sz="2400" i="1" dirty="0"/>
              <a:t>w</a:t>
            </a:r>
            <a:r>
              <a:rPr lang="en-US" altLang="en-PK" sz="2400" dirty="0"/>
              <a:t>,2), (</a:t>
            </a:r>
            <a:r>
              <a:rPr lang="en-US" altLang="en-PK" sz="2400" i="1" dirty="0"/>
              <a:t>z</a:t>
            </a:r>
            <a:r>
              <a:rPr lang="en-US" altLang="en-PK" sz="2400" dirty="0"/>
              <a:t>,1)}, then</a:t>
            </a:r>
          </a:p>
          <a:p>
            <a:pPr marL="0" indent="0">
              <a:buNone/>
            </a:pPr>
            <a:r>
              <a:rPr lang="en-US" altLang="en-PK" sz="2400" i="1" dirty="0">
                <a:solidFill>
                  <a:schemeClr val="accent1"/>
                </a:solidFill>
              </a:rPr>
              <a:t>S </a:t>
            </a:r>
            <a:r>
              <a:rPr lang="en-US" altLang="en-PK" sz="2400" dirty="0">
                <a:solidFill>
                  <a:schemeClr val="accent1"/>
                </a:solidFill>
                <a:sym typeface="Symbol" panose="05050102010706020507" pitchFamily="18" charset="2"/>
              </a:rPr>
              <a:t>o </a:t>
            </a:r>
            <a:r>
              <a:rPr lang="en-US" altLang="en-PK" sz="2400" i="1" dirty="0">
                <a:solidFill>
                  <a:schemeClr val="accent1"/>
                </a:solidFill>
              </a:rPr>
              <a:t>R </a:t>
            </a:r>
            <a:r>
              <a:rPr lang="en-US" altLang="en-PK" sz="2400" dirty="0"/>
              <a:t>= {(1,0), (1,1), (2,1), (2,2), (3,0), (3,1)}</a:t>
            </a:r>
          </a:p>
          <a:p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17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A271309F-DF11-4FD5-8DA8-46CF2636BEFB}"/>
              </a:ext>
            </a:extLst>
          </p:cNvPr>
          <p:cNvGrpSpPr>
            <a:grpSpLocks/>
          </p:cNvGrpSpPr>
          <p:nvPr/>
        </p:nvGrpSpPr>
        <p:grpSpPr bwMode="auto">
          <a:xfrm>
            <a:off x="7728069" y="3841291"/>
            <a:ext cx="4387516" cy="2140869"/>
            <a:chOff x="816" y="2352"/>
            <a:chExt cx="4032" cy="1872"/>
          </a:xfrm>
        </p:grpSpPr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0851A54A-0414-40AE-A8DB-37FFE7E23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168"/>
              <a:ext cx="816" cy="10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8A9EC0AB-B428-429D-A99D-DD0A33A50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168"/>
              <a:ext cx="816" cy="10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37BB7A93-892F-489D-9F50-5F02FE054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168"/>
              <a:ext cx="816" cy="10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PK" altLang="en-PK"/>
            </a:p>
          </p:txBody>
        </p:sp>
        <p:sp>
          <p:nvSpPr>
            <p:cNvPr id="10" name="Arc 8">
              <a:extLst>
                <a:ext uri="{FF2B5EF4-FFF2-40B4-BE49-F238E27FC236}">
                  <a16:creationId xmlns:a16="http://schemas.microsoft.com/office/drawing/2014/main" id="{09573FD7-1096-45AB-ACF1-3B186B660E5B}"/>
                </a:ext>
              </a:extLst>
            </p:cNvPr>
            <p:cNvSpPr>
              <a:spLocks/>
            </p:cNvSpPr>
            <p:nvPr/>
          </p:nvSpPr>
          <p:spPr bwMode="auto">
            <a:xfrm rot="16452437" flipV="1">
              <a:off x="1880" y="2470"/>
              <a:ext cx="402" cy="1566"/>
            </a:xfrm>
            <a:custGeom>
              <a:avLst/>
              <a:gdLst>
                <a:gd name="T0" fmla="*/ 105 w 22609"/>
                <a:gd name="T1" fmla="*/ 0 h 42636"/>
                <a:gd name="T2" fmla="*/ 0 w 22609"/>
                <a:gd name="T3" fmla="*/ 1565 h 42636"/>
                <a:gd name="T4" fmla="*/ 18 w 22609"/>
                <a:gd name="T5" fmla="*/ 773 h 42636"/>
                <a:gd name="T6" fmla="*/ 0 60000 65536"/>
                <a:gd name="T7" fmla="*/ 0 60000 65536"/>
                <a:gd name="T8" fmla="*/ 0 60000 65536"/>
                <a:gd name="T9" fmla="*/ 0 w 22609"/>
                <a:gd name="T10" fmla="*/ 0 h 42636"/>
                <a:gd name="T11" fmla="*/ 22609 w 22609"/>
                <a:gd name="T12" fmla="*/ 42636 h 42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09" h="42636" fill="none" extrusionOk="0">
                  <a:moveTo>
                    <a:pt x="5911" y="-1"/>
                  </a:moveTo>
                  <a:cubicBezTo>
                    <a:pt x="15689" y="2278"/>
                    <a:pt x="22609" y="10995"/>
                    <a:pt x="22609" y="21036"/>
                  </a:cubicBezTo>
                  <a:cubicBezTo>
                    <a:pt x="22609" y="32965"/>
                    <a:pt x="12938" y="42636"/>
                    <a:pt x="1009" y="42636"/>
                  </a:cubicBezTo>
                  <a:cubicBezTo>
                    <a:pt x="672" y="42636"/>
                    <a:pt x="336" y="42628"/>
                    <a:pt x="-1" y="42612"/>
                  </a:cubicBezTo>
                </a:path>
                <a:path w="22609" h="42636" stroke="0" extrusionOk="0">
                  <a:moveTo>
                    <a:pt x="5911" y="-1"/>
                  </a:moveTo>
                  <a:cubicBezTo>
                    <a:pt x="15689" y="2278"/>
                    <a:pt x="22609" y="10995"/>
                    <a:pt x="22609" y="21036"/>
                  </a:cubicBezTo>
                  <a:cubicBezTo>
                    <a:pt x="22609" y="32965"/>
                    <a:pt x="12938" y="42636"/>
                    <a:pt x="1009" y="42636"/>
                  </a:cubicBezTo>
                  <a:cubicBezTo>
                    <a:pt x="672" y="42636"/>
                    <a:pt x="336" y="42628"/>
                    <a:pt x="-1" y="42612"/>
                  </a:cubicBezTo>
                  <a:lnTo>
                    <a:pt x="1009" y="210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PK"/>
            </a:p>
          </p:txBody>
        </p:sp>
        <p:sp>
          <p:nvSpPr>
            <p:cNvPr id="11" name="Arc 9">
              <a:extLst>
                <a:ext uri="{FF2B5EF4-FFF2-40B4-BE49-F238E27FC236}">
                  <a16:creationId xmlns:a16="http://schemas.microsoft.com/office/drawing/2014/main" id="{B7B5BD96-8F94-4209-903C-9D6D65D6E05C}"/>
                </a:ext>
              </a:extLst>
            </p:cNvPr>
            <p:cNvSpPr>
              <a:spLocks/>
            </p:cNvSpPr>
            <p:nvPr/>
          </p:nvSpPr>
          <p:spPr bwMode="auto">
            <a:xfrm rot="16452437" flipV="1">
              <a:off x="3480" y="2472"/>
              <a:ext cx="402" cy="1566"/>
            </a:xfrm>
            <a:custGeom>
              <a:avLst/>
              <a:gdLst>
                <a:gd name="T0" fmla="*/ 105 w 22609"/>
                <a:gd name="T1" fmla="*/ 0 h 42636"/>
                <a:gd name="T2" fmla="*/ 0 w 22609"/>
                <a:gd name="T3" fmla="*/ 1565 h 42636"/>
                <a:gd name="T4" fmla="*/ 18 w 22609"/>
                <a:gd name="T5" fmla="*/ 773 h 42636"/>
                <a:gd name="T6" fmla="*/ 0 60000 65536"/>
                <a:gd name="T7" fmla="*/ 0 60000 65536"/>
                <a:gd name="T8" fmla="*/ 0 60000 65536"/>
                <a:gd name="T9" fmla="*/ 0 w 22609"/>
                <a:gd name="T10" fmla="*/ 0 h 42636"/>
                <a:gd name="T11" fmla="*/ 22609 w 22609"/>
                <a:gd name="T12" fmla="*/ 42636 h 42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09" h="42636" fill="none" extrusionOk="0">
                  <a:moveTo>
                    <a:pt x="5911" y="-1"/>
                  </a:moveTo>
                  <a:cubicBezTo>
                    <a:pt x="15689" y="2278"/>
                    <a:pt x="22609" y="10995"/>
                    <a:pt x="22609" y="21036"/>
                  </a:cubicBezTo>
                  <a:cubicBezTo>
                    <a:pt x="22609" y="32965"/>
                    <a:pt x="12938" y="42636"/>
                    <a:pt x="1009" y="42636"/>
                  </a:cubicBezTo>
                  <a:cubicBezTo>
                    <a:pt x="672" y="42636"/>
                    <a:pt x="336" y="42628"/>
                    <a:pt x="-1" y="42612"/>
                  </a:cubicBezTo>
                </a:path>
                <a:path w="22609" h="42636" stroke="0" extrusionOk="0">
                  <a:moveTo>
                    <a:pt x="5911" y="-1"/>
                  </a:moveTo>
                  <a:cubicBezTo>
                    <a:pt x="15689" y="2278"/>
                    <a:pt x="22609" y="10995"/>
                    <a:pt x="22609" y="21036"/>
                  </a:cubicBezTo>
                  <a:cubicBezTo>
                    <a:pt x="22609" y="32965"/>
                    <a:pt x="12938" y="42636"/>
                    <a:pt x="1009" y="42636"/>
                  </a:cubicBezTo>
                  <a:cubicBezTo>
                    <a:pt x="672" y="42636"/>
                    <a:pt x="336" y="42628"/>
                    <a:pt x="-1" y="42612"/>
                  </a:cubicBezTo>
                  <a:lnTo>
                    <a:pt x="1009" y="210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PK"/>
            </a:p>
          </p:txBody>
        </p:sp>
        <p:sp>
          <p:nvSpPr>
            <p:cNvPr id="12" name="Arc 10">
              <a:extLst>
                <a:ext uri="{FF2B5EF4-FFF2-40B4-BE49-F238E27FC236}">
                  <a16:creationId xmlns:a16="http://schemas.microsoft.com/office/drawing/2014/main" id="{25E4828C-515E-4562-94C2-F97556CD937A}"/>
                </a:ext>
              </a:extLst>
            </p:cNvPr>
            <p:cNvSpPr>
              <a:spLocks/>
            </p:cNvSpPr>
            <p:nvPr/>
          </p:nvSpPr>
          <p:spPr bwMode="auto">
            <a:xfrm rot="16330108" flipV="1">
              <a:off x="2556" y="1445"/>
              <a:ext cx="663" cy="3247"/>
            </a:xfrm>
            <a:custGeom>
              <a:avLst/>
              <a:gdLst>
                <a:gd name="T0" fmla="*/ 85 w 22609"/>
                <a:gd name="T1" fmla="*/ 0 h 43117"/>
                <a:gd name="T2" fmla="*/ 0 w 22609"/>
                <a:gd name="T3" fmla="*/ 3245 h 43117"/>
                <a:gd name="T4" fmla="*/ 30 w 22609"/>
                <a:gd name="T5" fmla="*/ 1620 h 43117"/>
                <a:gd name="T6" fmla="*/ 0 60000 65536"/>
                <a:gd name="T7" fmla="*/ 0 60000 65536"/>
                <a:gd name="T8" fmla="*/ 0 60000 65536"/>
                <a:gd name="T9" fmla="*/ 0 w 22609"/>
                <a:gd name="T10" fmla="*/ 0 h 43117"/>
                <a:gd name="T11" fmla="*/ 22609 w 22609"/>
                <a:gd name="T12" fmla="*/ 43117 h 431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09" h="43117" fill="none" extrusionOk="0">
                  <a:moveTo>
                    <a:pt x="2901" y="0"/>
                  </a:moveTo>
                  <a:cubicBezTo>
                    <a:pt x="14054" y="981"/>
                    <a:pt x="22609" y="10321"/>
                    <a:pt x="22609" y="21517"/>
                  </a:cubicBezTo>
                  <a:cubicBezTo>
                    <a:pt x="22609" y="33446"/>
                    <a:pt x="12938" y="43117"/>
                    <a:pt x="1009" y="43117"/>
                  </a:cubicBezTo>
                  <a:cubicBezTo>
                    <a:pt x="672" y="43117"/>
                    <a:pt x="336" y="43109"/>
                    <a:pt x="-1" y="43093"/>
                  </a:cubicBezTo>
                </a:path>
                <a:path w="22609" h="43117" stroke="0" extrusionOk="0">
                  <a:moveTo>
                    <a:pt x="2901" y="0"/>
                  </a:moveTo>
                  <a:cubicBezTo>
                    <a:pt x="14054" y="981"/>
                    <a:pt x="22609" y="10321"/>
                    <a:pt x="22609" y="21517"/>
                  </a:cubicBezTo>
                  <a:cubicBezTo>
                    <a:pt x="22609" y="33446"/>
                    <a:pt x="12938" y="43117"/>
                    <a:pt x="1009" y="43117"/>
                  </a:cubicBezTo>
                  <a:cubicBezTo>
                    <a:pt x="672" y="43117"/>
                    <a:pt x="336" y="43109"/>
                    <a:pt x="-1" y="43093"/>
                  </a:cubicBezTo>
                  <a:lnTo>
                    <a:pt x="1009" y="2151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PK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56BB25F7-255D-4341-AF76-61C9FA7CE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792"/>
              <a:ext cx="2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PK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42A8FD2A-EFC5-44D5-8B99-2BC9F724D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745"/>
              <a:ext cx="2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PK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1E698188-8C3A-4988-91B4-DF1D3E433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745"/>
              <a:ext cx="2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PK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227655B2-F9BF-462F-B5C6-4FC38C444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121"/>
              <a:ext cx="2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PK" sz="2400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F31A1E1F-B4B6-4536-947F-8CC0FF6D6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121"/>
              <a:ext cx="2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PK" sz="2400" i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4EFD6317-E1E6-4396-B5C6-36CF57ED5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52"/>
              <a:ext cx="76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 </a:t>
              </a:r>
              <a:r>
                <a:rPr lang="en-US" sz="24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</a:t>
              </a:r>
              <a:r>
                <a:rPr lang="en-US" sz="2400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507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 of Relations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PK" sz="2400" b="1" dirty="0"/>
              <a:t>Definition:</a:t>
            </a:r>
          </a:p>
          <a:p>
            <a:pPr marL="0" indent="0">
              <a:buNone/>
            </a:pPr>
            <a:r>
              <a:rPr lang="en-US" altLang="en-PK" sz="2400" dirty="0"/>
              <a:t>Let </a:t>
            </a:r>
            <a:r>
              <a:rPr lang="en-US" altLang="en-PK" sz="2400" i="1" dirty="0"/>
              <a:t>R</a:t>
            </a:r>
            <a:r>
              <a:rPr lang="en-US" altLang="en-PK" sz="2400" dirty="0"/>
              <a:t> be a relation on the set</a:t>
            </a:r>
            <a:r>
              <a:rPr lang="en-US" altLang="en-PK" sz="2400" i="1" dirty="0"/>
              <a:t> A</a:t>
            </a:r>
            <a:r>
              <a:rPr lang="en-US" altLang="en-PK" sz="2400" dirty="0"/>
              <a:t>. The </a:t>
            </a:r>
            <a:r>
              <a:rPr lang="en-US" altLang="en-PK" sz="2400" dirty="0">
                <a:solidFill>
                  <a:schemeClr val="accent1"/>
                </a:solidFill>
              </a:rPr>
              <a:t>powers </a:t>
            </a:r>
            <a:r>
              <a:rPr lang="en-US" altLang="en-PK" sz="2400" i="1" dirty="0">
                <a:solidFill>
                  <a:schemeClr val="accent1"/>
                </a:solidFill>
              </a:rPr>
              <a:t>R</a:t>
            </a:r>
            <a:r>
              <a:rPr lang="en-US" altLang="en-PK" sz="2400" i="1" baseline="30000" dirty="0">
                <a:solidFill>
                  <a:schemeClr val="accent1"/>
                </a:solidFill>
              </a:rPr>
              <a:t>n</a:t>
            </a:r>
            <a:r>
              <a:rPr lang="en-US" altLang="en-PK" sz="2400" dirty="0"/>
              <a:t>, </a:t>
            </a:r>
            <a:r>
              <a:rPr lang="en-US" altLang="en-PK" sz="2400" i="1" dirty="0"/>
              <a:t>n </a:t>
            </a:r>
            <a:r>
              <a:rPr lang="en-US" altLang="en-PK" sz="2400" dirty="0"/>
              <a:t>= 1, 2, 3,… are defined recursively by:</a:t>
            </a:r>
          </a:p>
          <a:p>
            <a:pPr marL="0" indent="0">
              <a:buNone/>
            </a:pPr>
            <a:r>
              <a:rPr lang="en-US" altLang="en-PK" sz="2400" i="1" dirty="0"/>
              <a:t>R</a:t>
            </a:r>
            <a:r>
              <a:rPr lang="en-US" altLang="en-PK" sz="2400" baseline="30000" dirty="0"/>
              <a:t>1</a:t>
            </a:r>
            <a:r>
              <a:rPr lang="en-US" altLang="en-PK" sz="2400" dirty="0"/>
              <a:t> = </a:t>
            </a:r>
            <a:r>
              <a:rPr lang="en-US" altLang="en-PK" sz="2400" i="1" dirty="0"/>
              <a:t>R</a:t>
            </a:r>
            <a:r>
              <a:rPr lang="en-US" altLang="en-PK" sz="2400" dirty="0"/>
              <a:t>,</a:t>
            </a:r>
          </a:p>
          <a:p>
            <a:pPr marL="0" indent="0">
              <a:buNone/>
            </a:pPr>
            <a:r>
              <a:rPr lang="en-US" altLang="en-PK" sz="2400" i="1" dirty="0"/>
              <a:t>R</a:t>
            </a:r>
            <a:r>
              <a:rPr lang="en-US" altLang="en-PK" sz="2400" i="1" baseline="30000" dirty="0"/>
              <a:t>n</a:t>
            </a:r>
            <a:r>
              <a:rPr lang="en-US" altLang="en-PK" sz="2400" baseline="30000" dirty="0"/>
              <a:t>+1 </a:t>
            </a:r>
            <a:r>
              <a:rPr lang="en-US" altLang="en-PK" sz="2400" dirty="0"/>
              <a:t>= </a:t>
            </a:r>
            <a:r>
              <a:rPr lang="en-US" altLang="en-PK" sz="2400" i="1" dirty="0"/>
              <a:t>R</a:t>
            </a:r>
            <a:r>
              <a:rPr lang="en-US" altLang="en-PK" sz="2400" i="1" baseline="30000" dirty="0"/>
              <a:t>n</a:t>
            </a:r>
            <a:r>
              <a:rPr lang="en-US" altLang="en-PK" sz="2400" dirty="0"/>
              <a:t> o </a:t>
            </a:r>
            <a:r>
              <a:rPr lang="en-US" altLang="en-PK" sz="2400" i="1" dirty="0"/>
              <a:t>R</a:t>
            </a:r>
            <a:r>
              <a:rPr lang="en-US" altLang="en-PK" sz="2400" dirty="0"/>
              <a:t>, for </a:t>
            </a:r>
            <a:r>
              <a:rPr lang="en-US" altLang="en-PK" sz="2400" i="1" dirty="0"/>
              <a:t>n </a:t>
            </a:r>
            <a:r>
              <a:rPr lang="en-US" altLang="en-PK" sz="2400" dirty="0">
                <a:sym typeface="Symbol" panose="05050102010706020507" pitchFamily="18" charset="2"/>
              </a:rPr>
              <a:t> 1</a:t>
            </a:r>
            <a:endParaRPr lang="en-US" altLang="en-PK" sz="2400" dirty="0"/>
          </a:p>
          <a:p>
            <a:pPr marL="0" indent="0">
              <a:buNone/>
            </a:pPr>
            <a:r>
              <a:rPr lang="en-US" altLang="en-PK" sz="2400" dirty="0"/>
              <a:t>So:</a:t>
            </a:r>
          </a:p>
          <a:p>
            <a:pPr marL="0" indent="0">
              <a:buNone/>
            </a:pPr>
            <a:r>
              <a:rPr lang="en-US" altLang="en-PK" sz="2400" i="1" dirty="0"/>
              <a:t>R</a:t>
            </a:r>
            <a:r>
              <a:rPr lang="en-US" altLang="en-PK" sz="2400" baseline="30000" dirty="0"/>
              <a:t>2 </a:t>
            </a:r>
            <a:r>
              <a:rPr lang="en-US" altLang="en-PK" sz="2400" dirty="0"/>
              <a:t>= </a:t>
            </a:r>
            <a:r>
              <a:rPr lang="en-US" altLang="en-PK" sz="2400" i="1" dirty="0"/>
              <a:t>R</a:t>
            </a:r>
            <a:r>
              <a:rPr lang="en-US" altLang="en-PK" sz="2400" dirty="0"/>
              <a:t>o</a:t>
            </a:r>
            <a:r>
              <a:rPr lang="en-US" altLang="en-PK" sz="2400" i="1" dirty="0"/>
              <a:t>R,</a:t>
            </a:r>
          </a:p>
          <a:p>
            <a:pPr marL="0" indent="0">
              <a:buNone/>
            </a:pPr>
            <a:r>
              <a:rPr lang="en-US" altLang="en-PK" sz="2400" i="1" dirty="0"/>
              <a:t>R</a:t>
            </a:r>
            <a:r>
              <a:rPr lang="en-US" altLang="en-PK" sz="2400" baseline="30000" dirty="0"/>
              <a:t>3</a:t>
            </a:r>
            <a:r>
              <a:rPr lang="en-US" altLang="en-PK" sz="2400" dirty="0"/>
              <a:t> = </a:t>
            </a:r>
            <a:r>
              <a:rPr lang="en-US" altLang="en-PK" sz="2400" i="1" dirty="0"/>
              <a:t>R</a:t>
            </a:r>
            <a:r>
              <a:rPr lang="en-US" altLang="en-PK" sz="2400" baseline="30000" dirty="0"/>
              <a:t>2</a:t>
            </a:r>
            <a:r>
              <a:rPr lang="en-US" altLang="en-PK" sz="2400" dirty="0"/>
              <a:t>o</a:t>
            </a:r>
            <a:r>
              <a:rPr lang="en-US" altLang="en-PK" sz="2400" i="1" dirty="0"/>
              <a:t>R =</a:t>
            </a:r>
            <a:r>
              <a:rPr lang="en-US" altLang="en-PK" sz="2400" dirty="0"/>
              <a:t> (</a:t>
            </a:r>
            <a:r>
              <a:rPr lang="en-US" altLang="en-PK" sz="2400" i="1" dirty="0"/>
              <a:t>R</a:t>
            </a:r>
            <a:r>
              <a:rPr lang="en-US" altLang="en-PK" sz="2400" dirty="0"/>
              <a:t>o</a:t>
            </a:r>
            <a:r>
              <a:rPr lang="en-US" altLang="en-PK" sz="2400" i="1" dirty="0"/>
              <a:t>R</a:t>
            </a:r>
            <a:r>
              <a:rPr lang="en-US" altLang="en-PK" sz="2400" dirty="0"/>
              <a:t>) o</a:t>
            </a:r>
            <a:r>
              <a:rPr lang="en-US" altLang="en-PK" sz="2400" i="1" dirty="0"/>
              <a:t> R</a:t>
            </a:r>
          </a:p>
          <a:p>
            <a:pPr marL="0" indent="0">
              <a:buNone/>
            </a:pPr>
            <a:r>
              <a:rPr lang="en-US" altLang="en-PK" sz="2400" i="1" dirty="0"/>
              <a:t>. . 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3252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</a:t>
            </a:r>
            <a:r>
              <a:rPr lang="en-US" dirty="0" err="1"/>
              <a:t>ary</a:t>
            </a:r>
            <a:r>
              <a:rPr lang="en-US" dirty="0"/>
              <a:t> Relations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effectLst/>
                <a:latin typeface="KaTeX_Math"/>
              </a:rPr>
              <a:t>Definition</a:t>
            </a:r>
            <a:r>
              <a:rPr lang="en-US" sz="2400" b="1" dirty="0">
                <a:effectLst/>
                <a:latin typeface="Söhne"/>
              </a:rPr>
              <a:t>:</a:t>
            </a:r>
            <a:r>
              <a:rPr lang="en-US" sz="2400" b="0" i="0" dirty="0">
                <a:effectLst/>
                <a:latin typeface="Söhne"/>
              </a:rPr>
              <a:t> 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Söhne"/>
              </a:rPr>
              <a:t>An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n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Söhne"/>
              </a:rPr>
              <a:t>-</a:t>
            </a:r>
            <a:r>
              <a:rPr lang="en-US" sz="2400" b="0" i="0" dirty="0" err="1">
                <a:solidFill>
                  <a:schemeClr val="accent1"/>
                </a:solidFill>
                <a:effectLst/>
                <a:latin typeface="Söhne"/>
              </a:rPr>
              <a:t>ary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Söhne"/>
              </a:rPr>
              <a:t> relation on sets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A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1​,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A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2​,…,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An</a:t>
            </a:r>
            <a:r>
              <a:rPr lang="en-US" sz="2400" b="0" i="0" dirty="0">
                <a:effectLst/>
                <a:latin typeface="KaTeX_Main"/>
              </a:rPr>
              <a:t>​</a:t>
            </a:r>
            <a:r>
              <a:rPr lang="en-US" sz="2400" b="0" i="0" dirty="0">
                <a:effectLst/>
                <a:latin typeface="Söhne"/>
              </a:rPr>
              <a:t> is a subset of the Cartesian product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A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1​×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A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KaTeX_Main"/>
              </a:rPr>
              <a:t>2​×…×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An</a:t>
            </a:r>
            <a:r>
              <a:rPr lang="en-US" sz="2400" b="0" i="0" dirty="0">
                <a:effectLst/>
                <a:latin typeface="KaTeX_Main"/>
              </a:rPr>
              <a:t>​</a:t>
            </a:r>
            <a:r>
              <a:rPr lang="en-US" sz="2400" b="0" i="0" dirty="0">
                <a:effectLst/>
                <a:latin typeface="Söhne"/>
              </a:rPr>
              <a:t>. It consists of all possible </a:t>
            </a:r>
            <a:r>
              <a:rPr lang="en-US" sz="2400" b="0" i="1" dirty="0">
                <a:effectLst/>
                <a:latin typeface="KaTeX_Math"/>
              </a:rPr>
              <a:t>n</a:t>
            </a:r>
            <a:r>
              <a:rPr lang="en-US" sz="2400" b="0" i="0" dirty="0">
                <a:effectLst/>
                <a:latin typeface="Söhne"/>
              </a:rPr>
              <a:t>-tuples whose elements come from the respective sets 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KaTeX_Main"/>
              </a:rPr>
              <a:t>1​,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KaTeX_Main"/>
              </a:rPr>
              <a:t>2​,…,</a:t>
            </a:r>
            <a:r>
              <a:rPr lang="en-US" sz="2400" b="0" i="1" dirty="0">
                <a:effectLst/>
                <a:latin typeface="KaTeX_Math"/>
              </a:rPr>
              <a:t>An</a:t>
            </a:r>
            <a:r>
              <a:rPr lang="en-US" sz="2400" b="0" i="0" dirty="0">
                <a:effectLst/>
                <a:latin typeface="KaTeX_Main"/>
              </a:rPr>
              <a:t>​</a:t>
            </a:r>
            <a:r>
              <a:rPr lang="en-US" sz="2400" b="0" i="0" dirty="0">
                <a:effectLst/>
                <a:latin typeface="Söhne"/>
              </a:rPr>
              <a:t>.</a:t>
            </a:r>
          </a:p>
          <a:p>
            <a:pPr algn="l"/>
            <a:r>
              <a:rPr lang="en-US" sz="2400" b="1" i="0" dirty="0">
                <a:effectLst/>
                <a:latin typeface="Söhne"/>
              </a:rPr>
              <a:t>Example:</a:t>
            </a:r>
          </a:p>
          <a:p>
            <a:pPr marL="0" indent="0" algn="l">
              <a:buNone/>
            </a:pPr>
            <a:r>
              <a:rPr lang="en-US" sz="2400" b="0" i="0" dirty="0">
                <a:effectLst/>
                <a:latin typeface="Söhne"/>
              </a:rPr>
              <a:t>Let's consider three sets 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Söhne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B</a:t>
            </a:r>
            <a:r>
              <a:rPr lang="en-US" sz="2400" b="0" i="0" dirty="0">
                <a:effectLst/>
                <a:latin typeface="Söhne"/>
              </a:rPr>
              <a:t>, and </a:t>
            </a:r>
            <a:r>
              <a:rPr lang="en-US" sz="2400" b="0" i="1" dirty="0">
                <a:effectLst/>
                <a:latin typeface="KaTeX_Math"/>
              </a:rPr>
              <a:t>C</a:t>
            </a:r>
            <a:r>
              <a:rPr lang="en-US" sz="2400" b="0" i="0" dirty="0">
                <a:effectLst/>
                <a:latin typeface="Söhne"/>
              </a:rPr>
              <a:t> as follows:</a:t>
            </a:r>
          </a:p>
          <a:p>
            <a:pPr marL="0" indent="0" algn="l">
              <a:buNone/>
            </a:pP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A</a:t>
            </a:r>
            <a:r>
              <a:rPr lang="en-US" sz="2400" b="0" i="1" dirty="0">
                <a:effectLst/>
                <a:latin typeface="KaTeX_Math"/>
              </a:rPr>
              <a:t> </a:t>
            </a:r>
            <a:r>
              <a:rPr lang="en-US" sz="2400" b="0" i="0" dirty="0">
                <a:effectLst/>
                <a:latin typeface="KaTeX_Main"/>
              </a:rPr>
              <a:t>= {1, 2}</a:t>
            </a:r>
            <a:r>
              <a:rPr lang="en-US" sz="2400" dirty="0">
                <a:latin typeface="Söhne"/>
              </a:rPr>
              <a:t>,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B</a:t>
            </a:r>
            <a:r>
              <a:rPr lang="en-US" sz="2400" b="0" i="1" dirty="0">
                <a:effectLst/>
                <a:latin typeface="KaTeX_Math"/>
              </a:rPr>
              <a:t> </a:t>
            </a:r>
            <a:r>
              <a:rPr lang="en-US" sz="2400" b="0" i="0" dirty="0">
                <a:effectLst/>
                <a:latin typeface="KaTeX_Main"/>
              </a:rPr>
              <a:t>= {</a:t>
            </a:r>
            <a:r>
              <a:rPr lang="en-US" sz="2400" b="0" i="1" dirty="0">
                <a:effectLst/>
                <a:latin typeface="KaTeX_Math"/>
              </a:rPr>
              <a:t>x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y</a:t>
            </a:r>
            <a:r>
              <a:rPr lang="en-US" sz="2400" b="0" i="0" dirty="0">
                <a:effectLst/>
                <a:latin typeface="KaTeX_Main"/>
              </a:rPr>
              <a:t>}</a:t>
            </a:r>
            <a:r>
              <a:rPr lang="en-US" sz="2400" dirty="0">
                <a:latin typeface="Söhne"/>
              </a:rPr>
              <a:t>,</a:t>
            </a:r>
            <a:r>
              <a:rPr lang="en-US" sz="2400" b="0" i="0" dirty="0">
                <a:effectLst/>
                <a:latin typeface="Söhne"/>
              </a:rPr>
              <a:t> </a:t>
            </a: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C</a:t>
            </a:r>
            <a:r>
              <a:rPr lang="en-US" sz="2400" b="0" i="1" dirty="0">
                <a:effectLst/>
                <a:latin typeface="KaTeX_Math"/>
              </a:rPr>
              <a:t> </a:t>
            </a:r>
            <a:r>
              <a:rPr lang="en-US" sz="2400" b="0" i="0" dirty="0">
                <a:effectLst/>
                <a:latin typeface="KaTeX_Main"/>
              </a:rPr>
              <a:t>= {</a:t>
            </a:r>
            <a:r>
              <a:rPr lang="en-US" sz="2400" b="0" i="1" dirty="0">
                <a:effectLst/>
                <a:latin typeface="KaTeX_Math"/>
              </a:rPr>
              <a:t>red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blue</a:t>
            </a:r>
            <a:r>
              <a:rPr lang="en-US" sz="2400" b="0" i="0" dirty="0">
                <a:effectLst/>
                <a:latin typeface="KaTeX_Main"/>
              </a:rPr>
              <a:t>}</a:t>
            </a:r>
            <a:endParaRPr lang="en-US" sz="2400" b="0" i="0" dirty="0"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400" b="0" i="0" dirty="0">
                <a:effectLst/>
                <a:latin typeface="Söhne"/>
              </a:rPr>
              <a:t>The </a:t>
            </a:r>
            <a:r>
              <a:rPr lang="en-US" sz="2400" b="0" i="1" dirty="0">
                <a:effectLst/>
                <a:latin typeface="KaTeX_Math"/>
              </a:rPr>
              <a:t>n</a:t>
            </a:r>
            <a:r>
              <a:rPr lang="en-US" sz="2400" b="0" i="0" dirty="0">
                <a:effectLst/>
                <a:latin typeface="Söhne"/>
              </a:rPr>
              <a:t>-</a:t>
            </a:r>
            <a:r>
              <a:rPr lang="en-US" sz="2400" b="0" i="0" dirty="0" err="1">
                <a:effectLst/>
                <a:latin typeface="Söhne"/>
              </a:rPr>
              <a:t>ary</a:t>
            </a:r>
            <a:r>
              <a:rPr lang="en-US" sz="2400" b="0" i="0" dirty="0">
                <a:effectLst/>
                <a:latin typeface="Söhne"/>
              </a:rPr>
              <a:t> relation </a:t>
            </a:r>
            <a:r>
              <a:rPr lang="en-US" sz="2400" b="0" i="1" dirty="0">
                <a:effectLst/>
                <a:latin typeface="KaTeX_Math"/>
              </a:rPr>
              <a:t>R</a:t>
            </a:r>
            <a:r>
              <a:rPr lang="en-US" sz="2400" b="0" i="0" dirty="0">
                <a:effectLst/>
                <a:latin typeface="Söhne"/>
              </a:rPr>
              <a:t> is defined as the set of all 3-tuples </a:t>
            </a:r>
            <a:r>
              <a:rPr lang="en-US" sz="2400" b="0" i="0" dirty="0">
                <a:effectLst/>
                <a:latin typeface="KaTeX_Main"/>
              </a:rPr>
              <a:t>(</a:t>
            </a:r>
            <a:r>
              <a:rPr lang="en-US" sz="2400" b="0" i="1" dirty="0">
                <a:effectLst/>
                <a:latin typeface="KaTeX_Math"/>
              </a:rPr>
              <a:t>a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b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c</a:t>
            </a:r>
            <a:r>
              <a:rPr lang="en-US" sz="2400" b="0" i="0" dirty="0">
                <a:effectLst/>
                <a:latin typeface="KaTeX_Main"/>
              </a:rPr>
              <a:t>)</a:t>
            </a:r>
            <a:endParaRPr lang="en-US" sz="2400" b="0" i="0" dirty="0">
              <a:effectLst/>
              <a:latin typeface="Söhne"/>
            </a:endParaRPr>
          </a:p>
          <a:p>
            <a:pPr marL="0" indent="0" algn="l">
              <a:buNone/>
            </a:pPr>
            <a:r>
              <a:rPr lang="en-US" sz="2400" b="0" i="1" dirty="0">
                <a:solidFill>
                  <a:schemeClr val="accent1"/>
                </a:solidFill>
                <a:effectLst/>
                <a:latin typeface="KaTeX_Math"/>
              </a:rPr>
              <a:t>R</a:t>
            </a:r>
            <a:r>
              <a:rPr lang="en-US" sz="2400" b="0" i="1" dirty="0">
                <a:effectLst/>
                <a:latin typeface="KaTeX_Math"/>
              </a:rPr>
              <a:t> </a:t>
            </a:r>
            <a:r>
              <a:rPr lang="en-US" sz="2400" b="0" i="0" dirty="0">
                <a:effectLst/>
                <a:latin typeface="KaTeX_Main"/>
              </a:rPr>
              <a:t>= { (1, </a:t>
            </a:r>
            <a:r>
              <a:rPr lang="en-US" sz="2400" b="0" i="1" dirty="0">
                <a:effectLst/>
                <a:latin typeface="KaTeX_Math"/>
              </a:rPr>
              <a:t>x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red</a:t>
            </a:r>
            <a:r>
              <a:rPr lang="en-US" sz="2400" b="0" i="0" dirty="0">
                <a:effectLst/>
                <a:latin typeface="KaTeX_Main"/>
              </a:rPr>
              <a:t>), (1, </a:t>
            </a:r>
            <a:r>
              <a:rPr lang="en-US" sz="2400" b="0" i="1" dirty="0">
                <a:effectLst/>
                <a:latin typeface="KaTeX_Math"/>
              </a:rPr>
              <a:t>y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blue</a:t>
            </a:r>
            <a:r>
              <a:rPr lang="en-US" sz="2400" b="0" i="0" dirty="0">
                <a:effectLst/>
                <a:latin typeface="KaTeX_Main"/>
              </a:rPr>
              <a:t>), (2, </a:t>
            </a:r>
            <a:r>
              <a:rPr lang="en-US" sz="2400" b="0" i="1" dirty="0">
                <a:effectLst/>
                <a:latin typeface="KaTeX_Math"/>
              </a:rPr>
              <a:t>x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red</a:t>
            </a:r>
            <a:r>
              <a:rPr lang="en-US" sz="2400" b="0" i="0" dirty="0">
                <a:effectLst/>
                <a:latin typeface="KaTeX_Main"/>
              </a:rPr>
              <a:t>), (2, </a:t>
            </a:r>
            <a:r>
              <a:rPr lang="en-US" sz="2400" b="0" i="1" dirty="0">
                <a:effectLst/>
                <a:latin typeface="KaTeX_Math"/>
              </a:rPr>
              <a:t>y</a:t>
            </a:r>
            <a:r>
              <a:rPr lang="en-US" sz="2400" b="0" i="0" dirty="0">
                <a:effectLst/>
                <a:latin typeface="KaTeX_Main"/>
              </a:rPr>
              <a:t>, </a:t>
            </a:r>
            <a:r>
              <a:rPr lang="en-US" sz="2400" b="0" i="1" dirty="0">
                <a:effectLst/>
                <a:latin typeface="KaTeX_Math"/>
              </a:rPr>
              <a:t>blue</a:t>
            </a:r>
            <a:r>
              <a:rPr lang="en-US" sz="2400" b="0" i="0" dirty="0">
                <a:effectLst/>
                <a:latin typeface="KaTeX_Main"/>
              </a:rPr>
              <a:t>) }</a:t>
            </a:r>
            <a:endParaRPr lang="en-US" sz="2400" b="0" i="0" dirty="0">
              <a:effectLst/>
              <a:latin typeface="Söhne"/>
            </a:endParaRPr>
          </a:p>
          <a:p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2724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792A0B-A3F3-47D1-BA3E-0E95E22D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115" y="1873250"/>
            <a:ext cx="5911770" cy="46656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and Relations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C9FFF6-ADAD-4ED9-9AC7-CB20C46A1C1A}"/>
              </a:ext>
            </a:extLst>
          </p:cNvPr>
          <p:cNvSpPr/>
          <p:nvPr/>
        </p:nvSpPr>
        <p:spPr>
          <a:xfrm>
            <a:off x="3140115" y="2468881"/>
            <a:ext cx="1797645" cy="402399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15F2DA-D11E-4527-ABFB-D92C432C7A3A}"/>
              </a:ext>
            </a:extLst>
          </p:cNvPr>
          <p:cNvSpPr/>
          <p:nvPr/>
        </p:nvSpPr>
        <p:spPr>
          <a:xfrm>
            <a:off x="3140115" y="3040380"/>
            <a:ext cx="5911770" cy="5715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CCA8A-30EA-4F66-AC34-19217E2E8FA5}"/>
              </a:ext>
            </a:extLst>
          </p:cNvPr>
          <p:cNvSpPr txBox="1"/>
          <p:nvPr/>
        </p:nvSpPr>
        <p:spPr>
          <a:xfrm>
            <a:off x="1577340" y="2491741"/>
            <a:ext cx="130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Field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22CDB-8658-455A-B538-7F1488F7DF8D}"/>
              </a:ext>
            </a:extLst>
          </p:cNvPr>
          <p:cNvSpPr txBox="1"/>
          <p:nvPr/>
        </p:nvSpPr>
        <p:spPr>
          <a:xfrm>
            <a:off x="1577340" y="3040380"/>
            <a:ext cx="130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252069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and Relations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5FF7CD-E74C-8565-FC4E-F5A7232AFEE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800">
                <a:latin typeface="Aptos"/>
              </a:defRPr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Record: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n-tuple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of fields, for example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(Name, ID#, Major, GPA)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800">
                <a:latin typeface="Aptos"/>
              </a:defRPr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Relational database: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collection of records represented as a relation.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800">
                <a:latin typeface="Aptos"/>
              </a:defRPr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Example: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student database</a:t>
            </a:r>
            <a:endParaRPr kumimoji="0" lang="nl-N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sz="1800">
                <a:latin typeface="Aptos"/>
              </a:defRPr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{ (Anderson, 231455, CSE, 3.88),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sz="1800">
                <a:latin typeface="Aptos"/>
              </a:defRPr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(Adams, 888323, PHY, 3.45),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sz="1800">
                <a:latin typeface="Aptos"/>
              </a:defRPr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(Chou, 102147, CSE, 3.49),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sz="1800">
                <a:latin typeface="Aptos"/>
              </a:defRPr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(Gould, 453876, MTH, 3.45),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sz="1800">
                <a:latin typeface="Aptos"/>
              </a:defRPr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(Rao, 678543, MTH, 3.90),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None/>
              <a:tabLst/>
              <a:defRPr sz="1800">
                <a:latin typeface="Aptos"/>
              </a:defRPr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(Stevens, 786576, PSY, 2.99) }</a:t>
            </a:r>
          </a:p>
          <a:p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79861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D6F8-B905-4C81-B7AC-BFBCBE6B6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94" y="1838342"/>
            <a:ext cx="10058400" cy="1325562"/>
          </a:xfrm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  <a:defRPr sz="1800">
                <a:latin typeface="Aptos"/>
              </a:defRPr>
            </a:pPr>
            <a:r>
              <a:rPr sz="2400" dirty="0"/>
              <a:t>A primary key uniquely identifies each row in a relation.</a:t>
            </a:r>
            <a:endParaRPr lang="en-PK" sz="2400" dirty="0"/>
          </a:p>
          <a:p>
            <a:pPr>
              <a:spcAft>
                <a:spcPts val="300"/>
              </a:spcAft>
              <a:defRPr sz="1800">
                <a:latin typeface="Aptos"/>
              </a:defRPr>
            </a:pPr>
            <a:r>
              <a:rPr sz="2400" dirty="0"/>
              <a:t>Its value should not repeat for different records.</a:t>
            </a:r>
          </a:p>
          <a:p>
            <a:pPr>
              <a:spcAft>
                <a:spcPts val="300"/>
              </a:spcAft>
              <a:defRPr sz="1800">
                <a:latin typeface="Aptos"/>
              </a:defRPr>
            </a:pPr>
            <a:r>
              <a:rPr sz="2400" b="1" dirty="0"/>
              <a:t>Example: </a:t>
            </a:r>
            <a:r>
              <a:rPr sz="2400" dirty="0" err="1">
                <a:solidFill>
                  <a:schemeClr val="accent1"/>
                </a:solidFill>
              </a:rPr>
              <a:t>StudentID</a:t>
            </a:r>
            <a:r>
              <a:rPr sz="2400" dirty="0">
                <a:solidFill>
                  <a:schemeClr val="accent1"/>
                </a:solidFill>
              </a:rPr>
              <a:t> </a:t>
            </a:r>
            <a:r>
              <a:rPr sz="2400" dirty="0"/>
              <a:t>uniquely identifies each student.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7B50FD-9AB1-48CA-90AD-5DB231ACD0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0896849"/>
              </p:ext>
            </p:extLst>
          </p:nvPr>
        </p:nvGraphicFramePr>
        <p:xfrm>
          <a:off x="1653871" y="3515008"/>
          <a:ext cx="8788005" cy="2685060"/>
        </p:xfrm>
        <a:graphic>
          <a:graphicData uri="http://schemas.openxmlformats.org/drawingml/2006/table">
            <a:tbl>
              <a:tblPr/>
              <a:tblGrid>
                <a:gridCol w="1757601">
                  <a:extLst>
                    <a:ext uri="{9D8B030D-6E8A-4147-A177-3AD203B41FA5}">
                      <a16:colId xmlns:a16="http://schemas.microsoft.com/office/drawing/2014/main" val="1665863334"/>
                    </a:ext>
                  </a:extLst>
                </a:gridCol>
                <a:gridCol w="1757601">
                  <a:extLst>
                    <a:ext uri="{9D8B030D-6E8A-4147-A177-3AD203B41FA5}">
                      <a16:colId xmlns:a16="http://schemas.microsoft.com/office/drawing/2014/main" val="437197419"/>
                    </a:ext>
                  </a:extLst>
                </a:gridCol>
                <a:gridCol w="1757601">
                  <a:extLst>
                    <a:ext uri="{9D8B030D-6E8A-4147-A177-3AD203B41FA5}">
                      <a16:colId xmlns:a16="http://schemas.microsoft.com/office/drawing/2014/main" val="28237610"/>
                    </a:ext>
                  </a:extLst>
                </a:gridCol>
                <a:gridCol w="1757601">
                  <a:extLst>
                    <a:ext uri="{9D8B030D-6E8A-4147-A177-3AD203B41FA5}">
                      <a16:colId xmlns:a16="http://schemas.microsoft.com/office/drawing/2014/main" val="3558263015"/>
                    </a:ext>
                  </a:extLst>
                </a:gridCol>
                <a:gridCol w="1757601">
                  <a:extLst>
                    <a:ext uri="{9D8B030D-6E8A-4147-A177-3AD203B41FA5}">
                      <a16:colId xmlns:a16="http://schemas.microsoft.com/office/drawing/2014/main" val="2736205655"/>
                    </a:ext>
                  </a:extLst>
                </a:gridCol>
              </a:tblGrid>
              <a:tr h="537012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2800" b="1" dirty="0">
                          <a:effectLst/>
                          <a:latin typeface="+mj-lt"/>
                        </a:rPr>
                        <a:t>Student information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b="1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b="1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635282"/>
                  </a:ext>
                </a:extLst>
              </a:tr>
              <a:tr h="5370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dirty="0">
                          <a:effectLst/>
                        </a:rPr>
                        <a:t>StudentID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dirty="0">
                          <a:effectLst/>
                        </a:rPr>
                        <a:t>FirstName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>
                          <a:effectLst/>
                        </a:rPr>
                        <a:t>LastName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>
                          <a:effectLst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dirty="0">
                          <a:effectLst/>
                        </a:rPr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642069"/>
                  </a:ext>
                </a:extLst>
              </a:tr>
              <a:tr h="53701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232992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Abdullah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Haroon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19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579003"/>
                  </a:ext>
                </a:extLst>
              </a:tr>
              <a:tr h="53701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232164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 err="1">
                          <a:effectLst/>
                        </a:rPr>
                        <a:t>Dua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Khan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18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233627"/>
                  </a:ext>
                </a:extLst>
              </a:tr>
              <a:tr h="53701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232137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</a:rPr>
                        <a:t>Abdullah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 err="1">
                          <a:effectLst/>
                        </a:rPr>
                        <a:t>Sohail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11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77172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F13DDD2-56ED-431C-B38D-F8F3BB454C7E}"/>
              </a:ext>
            </a:extLst>
          </p:cNvPr>
          <p:cNvSpPr>
            <a:spLocks/>
          </p:cNvSpPr>
          <p:nvPr/>
        </p:nvSpPr>
        <p:spPr>
          <a:xfrm>
            <a:off x="1653871" y="4051674"/>
            <a:ext cx="1743568" cy="214839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6428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11ECB1-0FA0-B34C-3BED-D53E942307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6361710"/>
              </p:ext>
            </p:extLst>
          </p:nvPr>
        </p:nvGraphicFramePr>
        <p:xfrm>
          <a:off x="1653871" y="3515008"/>
          <a:ext cx="8788005" cy="2685060"/>
        </p:xfrm>
        <a:graphic>
          <a:graphicData uri="http://schemas.openxmlformats.org/drawingml/2006/table">
            <a:tbl>
              <a:tblPr/>
              <a:tblGrid>
                <a:gridCol w="1757601">
                  <a:extLst>
                    <a:ext uri="{9D8B030D-6E8A-4147-A177-3AD203B41FA5}">
                      <a16:colId xmlns:a16="http://schemas.microsoft.com/office/drawing/2014/main" val="1665863334"/>
                    </a:ext>
                  </a:extLst>
                </a:gridCol>
                <a:gridCol w="1757601">
                  <a:extLst>
                    <a:ext uri="{9D8B030D-6E8A-4147-A177-3AD203B41FA5}">
                      <a16:colId xmlns:a16="http://schemas.microsoft.com/office/drawing/2014/main" val="437197419"/>
                    </a:ext>
                  </a:extLst>
                </a:gridCol>
                <a:gridCol w="1757601">
                  <a:extLst>
                    <a:ext uri="{9D8B030D-6E8A-4147-A177-3AD203B41FA5}">
                      <a16:colId xmlns:a16="http://schemas.microsoft.com/office/drawing/2014/main" val="28237610"/>
                    </a:ext>
                  </a:extLst>
                </a:gridCol>
                <a:gridCol w="1757601">
                  <a:extLst>
                    <a:ext uri="{9D8B030D-6E8A-4147-A177-3AD203B41FA5}">
                      <a16:colId xmlns:a16="http://schemas.microsoft.com/office/drawing/2014/main" val="3558263015"/>
                    </a:ext>
                  </a:extLst>
                </a:gridCol>
                <a:gridCol w="1757601">
                  <a:extLst>
                    <a:ext uri="{9D8B030D-6E8A-4147-A177-3AD203B41FA5}">
                      <a16:colId xmlns:a16="http://schemas.microsoft.com/office/drawing/2014/main" val="2736205655"/>
                    </a:ext>
                  </a:extLst>
                </a:gridCol>
              </a:tblGrid>
              <a:tr h="537012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2800" b="1" dirty="0">
                          <a:effectLst/>
                          <a:latin typeface="+mj-lt"/>
                        </a:rPr>
                        <a:t>Student information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b="1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b="1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635282"/>
                  </a:ext>
                </a:extLst>
              </a:tr>
              <a:tr h="5370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dirty="0">
                          <a:effectLst/>
                        </a:rPr>
                        <a:t>StudentID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dirty="0">
                          <a:effectLst/>
                        </a:rPr>
                        <a:t>FirstName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>
                          <a:effectLst/>
                        </a:rPr>
                        <a:t>LastName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dirty="0">
                          <a:effectLst/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dirty="0">
                          <a:effectLst/>
                        </a:rPr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642069"/>
                  </a:ext>
                </a:extLst>
              </a:tr>
              <a:tr h="53701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232992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Abdullah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Haroon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19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579003"/>
                  </a:ext>
                </a:extLst>
              </a:tr>
              <a:tr h="53701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232164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 err="1">
                          <a:effectLst/>
                        </a:rPr>
                        <a:t>Dua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Khan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18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233627"/>
                  </a:ext>
                </a:extLst>
              </a:tr>
              <a:tr h="53701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232137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</a:rPr>
                        <a:t>Abdullah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 err="1">
                          <a:effectLst/>
                        </a:rPr>
                        <a:t>Sohail</a:t>
                      </a:r>
                      <a:endParaRPr lang="en-US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800" dirty="0">
                          <a:effectLst/>
                        </a:rPr>
                        <a:t>11</a:t>
                      </a:r>
                      <a:endParaRPr lang="en-PK" sz="2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800" dirty="0">
                          <a:effectLst/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771721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A49C01-A952-C9B2-2F56-15567D6CAABF}"/>
              </a:ext>
            </a:extLst>
          </p:cNvPr>
          <p:cNvSpPr txBox="1">
            <a:spLocks/>
          </p:cNvSpPr>
          <p:nvPr/>
        </p:nvSpPr>
        <p:spPr>
          <a:xfrm>
            <a:off x="841994" y="1838342"/>
            <a:ext cx="10058400" cy="151624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  <a:defRPr sz="1800">
                <a:latin typeface="Aptos"/>
              </a:defRPr>
            </a:pPr>
            <a:r>
              <a:rPr lang="en-GB" sz="2400" dirty="0"/>
              <a:t>A composite key uses two or more columns together to uniquely identify a record.</a:t>
            </a:r>
          </a:p>
          <a:p>
            <a:pPr>
              <a:spcAft>
                <a:spcPts val="300"/>
              </a:spcAft>
              <a:defRPr sz="1800">
                <a:latin typeface="Aptos"/>
              </a:defRPr>
            </a:pPr>
            <a:r>
              <a:rPr lang="en-GB" sz="2400" b="1" dirty="0"/>
              <a:t>Example: </a:t>
            </a:r>
            <a:r>
              <a:rPr lang="en-GB" sz="2400" dirty="0"/>
              <a:t>In an </a:t>
            </a:r>
            <a:r>
              <a:rPr lang="en-GB" sz="2400" dirty="0">
                <a:solidFill>
                  <a:schemeClr val="accent1"/>
                </a:solidFill>
                <a:latin typeface="Aptos"/>
              </a:rPr>
              <a:t>enrolment table</a:t>
            </a:r>
            <a:r>
              <a:rPr lang="en-GB" sz="2400" dirty="0"/>
              <a:t>, </a:t>
            </a:r>
            <a:r>
              <a:rPr lang="en-GB" sz="2400" dirty="0">
                <a:solidFill>
                  <a:schemeClr val="accent1"/>
                </a:solidFill>
                <a:latin typeface="Aptos"/>
              </a:rPr>
              <a:t>(</a:t>
            </a:r>
            <a:r>
              <a:rPr lang="en-GB" sz="2400" dirty="0" err="1">
                <a:solidFill>
                  <a:schemeClr val="accent1"/>
                </a:solidFill>
                <a:latin typeface="Aptos"/>
              </a:rPr>
              <a:t>StudentID</a:t>
            </a:r>
            <a:r>
              <a:rPr lang="en-GB" sz="2400" dirty="0">
                <a:solidFill>
                  <a:schemeClr val="accent1"/>
                </a:solidFill>
                <a:latin typeface="Aptos"/>
              </a:rPr>
              <a:t>, </a:t>
            </a:r>
            <a:r>
              <a:rPr lang="en-GB" sz="2400" dirty="0" err="1">
                <a:solidFill>
                  <a:schemeClr val="accent1"/>
                </a:solidFill>
                <a:latin typeface="Aptos"/>
              </a:rPr>
              <a:t>CourseID</a:t>
            </a:r>
            <a:r>
              <a:rPr lang="en-GB" sz="2400" dirty="0">
                <a:solidFill>
                  <a:schemeClr val="accent1"/>
                </a:solidFill>
                <a:latin typeface="Aptos"/>
              </a:rPr>
              <a:t>)</a:t>
            </a:r>
            <a:r>
              <a:rPr lang="en-GB" sz="2400" dirty="0"/>
              <a:t> can uniquely identify one enrolment.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Key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6BEB16-7DC5-4894-A7CA-925D8CFFBBCE}"/>
              </a:ext>
            </a:extLst>
          </p:cNvPr>
          <p:cNvSpPr/>
          <p:nvPr/>
        </p:nvSpPr>
        <p:spPr>
          <a:xfrm>
            <a:off x="3416409" y="4051674"/>
            <a:ext cx="3506107" cy="214839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365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and Composite Keys</a:t>
            </a:r>
            <a:endParaRPr lang="en-P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A33C3F1-DEA7-4AF4-9508-2E43597624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519371"/>
              </p:ext>
            </p:extLst>
          </p:nvPr>
        </p:nvGraphicFramePr>
        <p:xfrm>
          <a:off x="1699260" y="2149794"/>
          <a:ext cx="8793480" cy="3747450"/>
        </p:xfrm>
        <a:graphic>
          <a:graphicData uri="http://schemas.openxmlformats.org/drawingml/2006/table">
            <a:tbl>
              <a:tblPr/>
              <a:tblGrid>
                <a:gridCol w="1465580">
                  <a:extLst>
                    <a:ext uri="{9D8B030D-6E8A-4147-A177-3AD203B41FA5}">
                      <a16:colId xmlns:a16="http://schemas.microsoft.com/office/drawing/2014/main" val="4102939852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97577789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576884526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3857298881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4202115845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3836794277"/>
                    </a:ext>
                  </a:extLst>
                </a:gridCol>
              </a:tblGrid>
              <a:tr h="624575">
                <a:tc>
                  <a:txBody>
                    <a:bodyPr/>
                    <a:lstStyle/>
                    <a:p>
                      <a:pPr algn="ctr" fontAlgn="b"/>
                      <a:r>
                        <a:rPr lang="en-US" b="1" dirty="0">
                          <a:effectLst/>
                        </a:rPr>
                        <a:t>OrderID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>
                          <a:effectLst/>
                        </a:rPr>
                        <a:t>CustomerID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>
                          <a:effectLst/>
                        </a:rPr>
                        <a:t>ProductID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 dirty="0" err="1">
                          <a:effectLst/>
                        </a:rPr>
                        <a:t>OrderDate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 dirty="0">
                          <a:effectLst/>
                        </a:rPr>
                        <a:t>Quantity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b="1" dirty="0">
                          <a:effectLst/>
                        </a:rPr>
                        <a:t>TotalAmount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717480"/>
                  </a:ext>
                </a:extLst>
              </a:tr>
              <a:tr h="624575"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2022-01-15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150.00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738155"/>
                  </a:ext>
                </a:extLst>
              </a:tr>
              <a:tr h="624575">
                <a:tc>
                  <a:txBody>
                    <a:bodyPr/>
                    <a:lstStyle/>
                    <a:p>
                      <a:pPr algn="ctr" fontAlgn="base"/>
                      <a:r>
                        <a:rPr lang="en-PK">
                          <a:effectLst/>
                        </a:rPr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>
                          <a:effectLst/>
                        </a:rPr>
                        <a:t>202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2022-01-1</a:t>
                      </a:r>
                      <a:r>
                        <a:rPr lang="en-US" dirty="0">
                          <a:effectLst/>
                        </a:rPr>
                        <a:t>6</a:t>
                      </a:r>
                      <a:endParaRPr lang="en-PK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75.00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2466755"/>
                  </a:ext>
                </a:extLst>
              </a:tr>
              <a:tr h="624575">
                <a:tc>
                  <a:txBody>
                    <a:bodyPr/>
                    <a:lstStyle/>
                    <a:p>
                      <a:pPr algn="ctr" fontAlgn="base"/>
                      <a:r>
                        <a:rPr lang="en-PK">
                          <a:effectLst/>
                        </a:rPr>
                        <a:t>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2022-01-17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225.00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981662"/>
                  </a:ext>
                </a:extLst>
              </a:tr>
              <a:tr h="624575"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10</a:t>
                      </a:r>
                      <a:r>
                        <a:rPr lang="en-US" dirty="0">
                          <a:effectLst/>
                        </a:rPr>
                        <a:t>1</a:t>
                      </a:r>
                      <a:endParaRPr lang="en-PK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2022-01-18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300.00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137754"/>
                  </a:ext>
                </a:extLst>
              </a:tr>
              <a:tr h="624575"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10</a:t>
                      </a:r>
                      <a:r>
                        <a:rPr lang="en-US" dirty="0">
                          <a:effectLst/>
                        </a:rPr>
                        <a:t>3</a:t>
                      </a:r>
                      <a:endParaRPr lang="en-PK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2022-01-19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PK" dirty="0">
                          <a:effectLst/>
                        </a:rPr>
                        <a:t>150.00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67381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3383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and Matrices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25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351678-F42A-4FF1-9C5F-8259C608C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0" i="0" dirty="0">
                <a:effectLst/>
              </a:rPr>
              <a:t>A binary relation </a:t>
            </a:r>
            <a:r>
              <a:rPr lang="en-US" sz="2400" b="0" i="1" dirty="0">
                <a:effectLst/>
              </a:rPr>
              <a:t>R</a:t>
            </a:r>
            <a:r>
              <a:rPr lang="en-US" sz="2400" b="0" i="0" dirty="0">
                <a:effectLst/>
              </a:rPr>
              <a:t> can be represented by a matrix. The rows correspond to elements of </a:t>
            </a:r>
            <a:r>
              <a:rPr lang="en-US" sz="2400" b="0" i="1" dirty="0">
                <a:effectLst/>
              </a:rPr>
              <a:t>A</a:t>
            </a:r>
            <a:r>
              <a:rPr lang="en-US" sz="2400" b="0" i="0" dirty="0">
                <a:effectLst/>
              </a:rPr>
              <a:t>, and the columns correspond to elements of </a:t>
            </a:r>
            <a:r>
              <a:rPr lang="en-US" sz="2400" b="0" i="1" dirty="0">
                <a:effectLst/>
              </a:rPr>
              <a:t>B</a:t>
            </a:r>
            <a:r>
              <a:rPr lang="en-US" sz="2400" b="0" i="0" dirty="0">
                <a:effectLst/>
              </a:rPr>
              <a:t>. </a:t>
            </a:r>
          </a:p>
          <a:p>
            <a:r>
              <a:rPr lang="en-US" sz="2400" dirty="0"/>
              <a:t>The relation R is represented by the matrix</a:t>
            </a:r>
          </a:p>
          <a:p>
            <a:pPr marL="0" indent="0">
              <a:buNone/>
            </a:pPr>
            <a:r>
              <a:rPr lang="en-US" sz="2400" dirty="0"/>
              <a:t>M</a:t>
            </a:r>
            <a:r>
              <a:rPr lang="en-US" sz="2400" baseline="-25000" dirty="0"/>
              <a:t>R</a:t>
            </a:r>
            <a:r>
              <a:rPr lang="en-US" sz="2400" dirty="0"/>
              <a:t> = [</a:t>
            </a:r>
            <a:r>
              <a:rPr lang="en-US" sz="2400" dirty="0" err="1"/>
              <a:t>m</a:t>
            </a:r>
            <a:r>
              <a:rPr lang="en-US" sz="2400" baseline="-25000" dirty="0" err="1"/>
              <a:t>ij</a:t>
            </a:r>
            <a:r>
              <a:rPr lang="en-US" sz="2400" dirty="0"/>
              <a:t>], where</a:t>
            </a:r>
          </a:p>
          <a:p>
            <a:pPr marL="0" indent="0">
              <a:buNone/>
            </a:pPr>
            <a:endParaRPr lang="en-US" sz="2400" b="0" i="0" dirty="0">
              <a:effectLst/>
            </a:endParaRPr>
          </a:p>
          <a:p>
            <a:pPr algn="l"/>
            <a:r>
              <a:rPr lang="en-US" sz="2400" b="1" i="0" dirty="0">
                <a:effectLst/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A relation R = </a:t>
            </a:r>
            <a:r>
              <a:rPr lang="en-PK" sz="2400" b="0" i="0" dirty="0">
                <a:effectLst/>
              </a:rPr>
              <a:t>{</a:t>
            </a:r>
            <a:r>
              <a:rPr lang="en-US" sz="2400" b="0" i="0" dirty="0">
                <a:effectLst/>
              </a:rPr>
              <a:t> </a:t>
            </a:r>
            <a:r>
              <a:rPr lang="en-PK" sz="2400" b="0" i="0" dirty="0">
                <a:effectLst/>
              </a:rPr>
              <a:t>(1,</a:t>
            </a:r>
            <a:r>
              <a:rPr lang="en-US" sz="2400" b="0" i="0" dirty="0">
                <a:effectLst/>
              </a:rPr>
              <a:t> </a:t>
            </a:r>
            <a:r>
              <a:rPr lang="en-US" sz="2400" dirty="0"/>
              <a:t>2</a:t>
            </a:r>
            <a:r>
              <a:rPr lang="en-PK" sz="2400" b="0" i="0" dirty="0">
                <a:effectLst/>
              </a:rPr>
              <a:t>),</a:t>
            </a:r>
            <a:r>
              <a:rPr lang="en-US" sz="2400" b="0" i="0" dirty="0">
                <a:effectLst/>
              </a:rPr>
              <a:t> </a:t>
            </a:r>
            <a:r>
              <a:rPr lang="en-PK" sz="2400" b="0" i="0" dirty="0">
                <a:effectLst/>
              </a:rPr>
              <a:t>(2,</a:t>
            </a:r>
            <a:r>
              <a:rPr lang="en-US" sz="2400" b="0" i="0" dirty="0">
                <a:effectLst/>
              </a:rPr>
              <a:t> 3</a:t>
            </a:r>
            <a:r>
              <a:rPr lang="en-PK" sz="2400" b="0" i="0" dirty="0">
                <a:effectLst/>
              </a:rPr>
              <a:t>),</a:t>
            </a:r>
            <a:r>
              <a:rPr lang="en-US" sz="2400" b="0" i="0" dirty="0">
                <a:effectLst/>
              </a:rPr>
              <a:t> </a:t>
            </a:r>
            <a:r>
              <a:rPr lang="en-PK" sz="2400" b="0" i="0" dirty="0">
                <a:effectLst/>
              </a:rPr>
              <a:t>(3,</a:t>
            </a:r>
            <a:r>
              <a:rPr lang="en-US" sz="2400" b="0" i="0" dirty="0">
                <a:effectLst/>
              </a:rPr>
              <a:t> 1</a:t>
            </a:r>
            <a:r>
              <a:rPr lang="en-PK" sz="2400" b="0" i="0" dirty="0">
                <a:effectLst/>
              </a:rPr>
              <a:t>)</a:t>
            </a:r>
            <a:r>
              <a:rPr lang="en-US" sz="2400" b="0" i="0" dirty="0">
                <a:effectLst/>
              </a:rPr>
              <a:t> </a:t>
            </a:r>
            <a:r>
              <a:rPr lang="en-PK" sz="2400" b="0" i="0" dirty="0">
                <a:effectLst/>
              </a:rPr>
              <a:t>}</a:t>
            </a:r>
            <a:endParaRPr lang="en-US" sz="2400" b="0" i="0" dirty="0">
              <a:effectLst/>
            </a:endParaRPr>
          </a:p>
          <a:p>
            <a:pPr marL="0" indent="0">
              <a:buNone/>
            </a:pPr>
            <a:r>
              <a:rPr lang="en-US" sz="2400" dirty="0"/>
              <a:t>can be represented as:​</a:t>
            </a:r>
            <a:br>
              <a:rPr lang="en-US" sz="2400" dirty="0"/>
            </a:br>
            <a:endParaRPr lang="en-US" sz="2400" dirty="0"/>
          </a:p>
        </p:txBody>
      </p:sp>
      <p:graphicFrame>
        <p:nvGraphicFramePr>
          <p:cNvPr id="8" name="Table 43">
            <a:extLst>
              <a:ext uri="{FF2B5EF4-FFF2-40B4-BE49-F238E27FC236}">
                <a16:creationId xmlns:a16="http://schemas.microsoft.com/office/drawing/2014/main" id="{AD2B5B0C-F077-4B2F-8942-229B1DAB8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663308"/>
              </p:ext>
            </p:extLst>
          </p:nvPr>
        </p:nvGraphicFramePr>
        <p:xfrm>
          <a:off x="6511033" y="4048432"/>
          <a:ext cx="3528573" cy="213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243437003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20504075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495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6034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M</a:t>
                      </a:r>
                      <a:r>
                        <a:rPr lang="en-US" sz="2800" baseline="-25000" dirty="0">
                          <a:solidFill>
                            <a:schemeClr val="accent1"/>
                          </a:solidFill>
                        </a:rPr>
                        <a:t>R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 = </a:t>
                      </a:r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  <p:pic>
        <p:nvPicPr>
          <p:cNvPr id="9" name="Picture 8" descr="addin_tmp.png">
            <a:extLst>
              <a:ext uri="{FF2B5EF4-FFF2-40B4-BE49-F238E27FC236}">
                <a16:creationId xmlns:a16="http://schemas.microsoft.com/office/drawing/2014/main" id="{6A5D6635-2479-41B2-B9FF-1E3409F4FFC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0688" y="3696494"/>
            <a:ext cx="276034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Using Matrices 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26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351678-F42A-4FF1-9C5F-8259C608C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0" dirty="0">
                <a:effectLst/>
              </a:rPr>
              <a:t>Reflexive:</a:t>
            </a:r>
          </a:p>
          <a:p>
            <a:pPr marL="0" indent="0">
              <a:buNone/>
            </a:pPr>
            <a:r>
              <a:rPr lang="en-US" sz="2400" dirty="0"/>
              <a:t>A</a:t>
            </a:r>
            <a:r>
              <a:rPr lang="en-US" sz="2400" i="0" dirty="0">
                <a:effectLst/>
              </a:rPr>
              <a:t>ll the elements on the principal diagonal of M</a:t>
            </a:r>
            <a:r>
              <a:rPr lang="en-US" sz="2400" i="0" baseline="-25000" dirty="0">
                <a:effectLst/>
              </a:rPr>
              <a:t>R</a:t>
            </a:r>
            <a:r>
              <a:rPr lang="en-US" sz="2400" i="0" dirty="0">
                <a:effectLst/>
              </a:rPr>
              <a:t> are equal to 1</a:t>
            </a:r>
          </a:p>
          <a:p>
            <a:pPr algn="l"/>
            <a:r>
              <a:rPr lang="en-US" sz="2400" b="1" i="0" dirty="0">
                <a:effectLst/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A relation </a:t>
            </a:r>
            <a:r>
              <a:rPr lang="en-US" sz="2400" i="1" dirty="0"/>
              <a:t>R = </a:t>
            </a:r>
            <a:r>
              <a:rPr lang="en-PK" sz="2400" b="0" i="1" dirty="0">
                <a:effectLst/>
              </a:rPr>
              <a:t>{</a:t>
            </a:r>
            <a:r>
              <a:rPr lang="en-US" sz="2400" b="0" i="1" dirty="0">
                <a:effectLst/>
              </a:rPr>
              <a:t> </a:t>
            </a:r>
            <a:r>
              <a:rPr lang="en-PK" sz="2400" b="0" i="1" dirty="0">
                <a:effectLst/>
              </a:rPr>
              <a:t>(1,</a:t>
            </a:r>
            <a:r>
              <a:rPr lang="en-US" sz="2400" b="0" i="1" dirty="0">
                <a:effectLst/>
              </a:rPr>
              <a:t> </a:t>
            </a:r>
            <a:r>
              <a:rPr lang="en-PK" sz="2400" b="0" i="1" dirty="0">
                <a:effectLst/>
              </a:rPr>
              <a:t>1),</a:t>
            </a:r>
            <a:r>
              <a:rPr lang="en-US" sz="2400" b="0" i="1" dirty="0">
                <a:effectLst/>
              </a:rPr>
              <a:t> </a:t>
            </a:r>
            <a:r>
              <a:rPr lang="en-PK" sz="2400" b="0" i="1" dirty="0">
                <a:effectLst/>
              </a:rPr>
              <a:t>(2,</a:t>
            </a:r>
            <a:r>
              <a:rPr lang="en-US" sz="2400" b="0" i="1" dirty="0">
                <a:effectLst/>
              </a:rPr>
              <a:t> </a:t>
            </a:r>
            <a:r>
              <a:rPr lang="en-PK" sz="2400" b="0" i="1" dirty="0">
                <a:effectLst/>
              </a:rPr>
              <a:t>2),</a:t>
            </a:r>
            <a:r>
              <a:rPr lang="en-US" sz="2400" b="0" i="1" dirty="0">
                <a:effectLst/>
              </a:rPr>
              <a:t> </a:t>
            </a:r>
            <a:r>
              <a:rPr lang="en-PK" sz="2400" b="0" i="1" dirty="0">
                <a:effectLst/>
              </a:rPr>
              <a:t>(3,</a:t>
            </a:r>
            <a:r>
              <a:rPr lang="en-US" sz="2400" b="0" i="1" dirty="0">
                <a:effectLst/>
              </a:rPr>
              <a:t> </a:t>
            </a:r>
            <a:r>
              <a:rPr lang="en-PK" sz="2400" b="0" i="1" dirty="0">
                <a:effectLst/>
              </a:rPr>
              <a:t>3)</a:t>
            </a:r>
            <a:r>
              <a:rPr lang="en-US" sz="2400" b="0" i="1" dirty="0">
                <a:effectLst/>
              </a:rPr>
              <a:t> </a:t>
            </a:r>
            <a:r>
              <a:rPr lang="en-PK" sz="2400" b="0" i="1" dirty="0">
                <a:effectLst/>
              </a:rPr>
              <a:t>}</a:t>
            </a:r>
            <a:r>
              <a:rPr lang="en-US" sz="2400" b="0" i="1" dirty="0">
                <a:effectLst/>
              </a:rPr>
              <a:t> </a:t>
            </a:r>
            <a:r>
              <a:rPr lang="en-US" sz="2400" b="0" i="0" dirty="0">
                <a:effectLst/>
              </a:rPr>
              <a:t>in matrix form is:</a:t>
            </a:r>
            <a:br>
              <a:rPr lang="en-US" sz="2400" dirty="0"/>
            </a:br>
            <a:r>
              <a:rPr lang="en-US" sz="2400" dirty="0"/>
              <a:t>​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9" name="Content Placeholder 3" descr="0803.jpg">
            <a:extLst>
              <a:ext uri="{FF2B5EF4-FFF2-40B4-BE49-F238E27FC236}">
                <a16:creationId xmlns:a16="http://schemas.microsoft.com/office/drawing/2014/main" id="{59257DF8-B6D2-4683-B888-7B905852476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60058" y="3125513"/>
            <a:ext cx="1724294" cy="1751562"/>
          </a:xfrm>
          <a:prstGeom prst="rect">
            <a:avLst/>
          </a:prstGeom>
        </p:spPr>
      </p:pic>
      <p:graphicFrame>
        <p:nvGraphicFramePr>
          <p:cNvPr id="10" name="Table 43">
            <a:extLst>
              <a:ext uri="{FF2B5EF4-FFF2-40B4-BE49-F238E27FC236}">
                <a16:creationId xmlns:a16="http://schemas.microsoft.com/office/drawing/2014/main" id="{59147C19-4089-45AC-8F28-CF352BB6A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220417"/>
              </p:ext>
            </p:extLst>
          </p:nvPr>
        </p:nvGraphicFramePr>
        <p:xfrm>
          <a:off x="2567427" y="4038803"/>
          <a:ext cx="3528573" cy="213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243437003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20504075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495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6034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M</a:t>
                      </a:r>
                      <a:r>
                        <a:rPr lang="en-US" sz="2800" baseline="-25000" dirty="0">
                          <a:solidFill>
                            <a:schemeClr val="accent1"/>
                          </a:solidFill>
                        </a:rPr>
                        <a:t>R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 = </a:t>
                      </a:r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69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Using Matrices 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27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351678-F42A-4FF1-9C5F-8259C608C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04605"/>
          </a:xfrm>
        </p:spPr>
        <p:txBody>
          <a:bodyPr>
            <a:normAutofit/>
          </a:bodyPr>
          <a:lstStyle/>
          <a:p>
            <a:r>
              <a:rPr lang="en-US" sz="2400" b="1" i="0" dirty="0">
                <a:effectLst/>
              </a:rPr>
              <a:t>Symmetric: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en-US" sz="2400" dirty="0"/>
              <a:t> is a symmetric relation, if and only if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ij</a:t>
            </a:r>
            <a:r>
              <a:rPr lang="en-US" sz="2400" dirty="0"/>
              <a:t> = </a:t>
            </a:r>
            <a:r>
              <a:rPr lang="en-US" sz="2400" dirty="0">
                <a:ea typeface="Cambria Math" pitchFamily="18" charset="0"/>
              </a:rPr>
              <a:t>1 </a:t>
            </a:r>
            <a:r>
              <a:rPr lang="en-US" sz="2400" dirty="0"/>
              <a:t>whenever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ji</a:t>
            </a:r>
            <a:r>
              <a:rPr lang="en-US" sz="2400" dirty="0"/>
              <a:t> = </a:t>
            </a:r>
            <a:r>
              <a:rPr lang="en-US" sz="2400" dirty="0">
                <a:ea typeface="Cambria Math" pitchFamily="18" charset="0"/>
              </a:rPr>
              <a:t>1</a:t>
            </a:r>
            <a:endParaRPr lang="en-US" sz="2400" b="1" dirty="0"/>
          </a:p>
          <a:p>
            <a:r>
              <a:rPr lang="en-US" sz="2400" b="1" i="0" dirty="0">
                <a:effectLst/>
              </a:rPr>
              <a:t>Antisymmetri</a:t>
            </a:r>
            <a:r>
              <a:rPr lang="en-US" sz="2400" b="1" dirty="0"/>
              <a:t>c:</a:t>
            </a:r>
          </a:p>
          <a:p>
            <a:pPr marL="0" indent="0">
              <a:buNone/>
            </a:pPr>
            <a:r>
              <a:rPr lang="en-US" sz="2400" i="1" dirty="0"/>
              <a:t>R</a:t>
            </a:r>
            <a:r>
              <a:rPr lang="en-US" sz="2400" dirty="0"/>
              <a:t> is an antisymmetric relation, if and only if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ij</a:t>
            </a:r>
            <a:r>
              <a:rPr lang="en-US" sz="2400" dirty="0"/>
              <a:t> = </a:t>
            </a:r>
            <a:r>
              <a:rPr lang="en-US" sz="2400" dirty="0">
                <a:ea typeface="Cambria Math" pitchFamily="18" charset="0"/>
              </a:rPr>
              <a:t>0  or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ji</a:t>
            </a:r>
            <a:r>
              <a:rPr lang="en-US" sz="2400" dirty="0"/>
              <a:t> = </a:t>
            </a:r>
            <a:r>
              <a:rPr lang="en-US" sz="2400" dirty="0">
                <a:ea typeface="Cambria Math" pitchFamily="18" charset="0"/>
              </a:rPr>
              <a:t>0 when  </a:t>
            </a:r>
            <a:r>
              <a:rPr lang="en-US" sz="2400" i="1" dirty="0" err="1">
                <a:ea typeface="Cambria Math" pitchFamily="18" charset="0"/>
              </a:rPr>
              <a:t>i</a:t>
            </a:r>
            <a:r>
              <a:rPr lang="en-US" sz="2400" i="1" dirty="0">
                <a:ea typeface="Cambria Math" pitchFamily="18" charset="0"/>
              </a:rPr>
              <a:t> </a:t>
            </a:r>
            <a:r>
              <a:rPr lang="en-US" sz="2400" dirty="0">
                <a:ea typeface="Cambria Math"/>
              </a:rPr>
              <a:t>≠</a:t>
            </a:r>
            <a:r>
              <a:rPr lang="en-US" sz="2400" i="1" dirty="0">
                <a:ea typeface="Cambria Math" pitchFamily="18" charset="0"/>
              </a:rPr>
              <a:t> j</a:t>
            </a:r>
            <a:endParaRPr lang="en-US" sz="2400" i="0" dirty="0">
              <a:effectLst/>
            </a:endParaRPr>
          </a:p>
        </p:txBody>
      </p:sp>
      <p:pic>
        <p:nvPicPr>
          <p:cNvPr id="8" name="Content Placeholder 5" descr="0804.jpg">
            <a:extLst>
              <a:ext uri="{FF2B5EF4-FFF2-40B4-BE49-F238E27FC236}">
                <a16:creationId xmlns:a16="http://schemas.microsoft.com/office/drawing/2014/main" id="{4CA0259E-5E3B-49FB-98DC-9883E622702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06121" y="4130230"/>
            <a:ext cx="4779758" cy="2408682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DE4AC5E-EC73-45E2-AB5B-E0074A56C558}"/>
              </a:ext>
            </a:extLst>
          </p:cNvPr>
          <p:cNvSpPr txBox="1">
            <a:spLocks/>
          </p:cNvSpPr>
          <p:nvPr/>
        </p:nvSpPr>
        <p:spPr>
          <a:xfrm>
            <a:off x="838200" y="4130230"/>
            <a:ext cx="10515600" cy="2304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3" name="Table 43">
            <a:extLst>
              <a:ext uri="{FF2B5EF4-FFF2-40B4-BE49-F238E27FC236}">
                <a16:creationId xmlns:a16="http://schemas.microsoft.com/office/drawing/2014/main" id="{6C06BEDD-66C9-4ACD-AB62-7F5E62ED4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017739"/>
              </p:ext>
            </p:extLst>
          </p:nvPr>
        </p:nvGraphicFramePr>
        <p:xfrm>
          <a:off x="2096359" y="3998403"/>
          <a:ext cx="3600573" cy="213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243437003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20504075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495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6034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accent1"/>
                          </a:solidFill>
                        </a:rPr>
                        <a:t>M</a:t>
                      </a:r>
                      <a:r>
                        <a:rPr lang="en-US" sz="2800" baseline="-25000" dirty="0" err="1">
                          <a:solidFill>
                            <a:schemeClr val="accent1"/>
                          </a:solidFill>
                        </a:rPr>
                        <a:t>sym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 = </a:t>
                      </a:r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  <p:graphicFrame>
        <p:nvGraphicFramePr>
          <p:cNvPr id="14" name="Table 43">
            <a:extLst>
              <a:ext uri="{FF2B5EF4-FFF2-40B4-BE49-F238E27FC236}">
                <a16:creationId xmlns:a16="http://schemas.microsoft.com/office/drawing/2014/main" id="{5595E129-2182-4294-9A1C-5636FE0CC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608859"/>
              </p:ext>
            </p:extLst>
          </p:nvPr>
        </p:nvGraphicFramePr>
        <p:xfrm>
          <a:off x="6096000" y="3995293"/>
          <a:ext cx="3600573" cy="213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243437003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205040754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276191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495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6034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M</a:t>
                      </a:r>
                      <a:r>
                        <a:rPr lang="en-US" sz="2800" baseline="-25000" dirty="0">
                          <a:solidFill>
                            <a:schemeClr val="accent1"/>
                          </a:solidFill>
                        </a:rPr>
                        <a:t>anti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 = </a:t>
                      </a:r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K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95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Using Matrices 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28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351678-F42A-4FF1-9C5F-8259C608C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effectLst/>
              </a:rPr>
              <a:t>Join Operation (Union):</a:t>
            </a:r>
          </a:p>
          <a:p>
            <a:pPr marL="0" indent="0">
              <a:buNone/>
            </a:pPr>
            <a:r>
              <a:rPr lang="en-US" sz="2400" dirty="0">
                <a:effectLst/>
              </a:rPr>
              <a:t>The join of two relations </a:t>
            </a:r>
            <a:r>
              <a:rPr lang="en-US" sz="2400" i="1" dirty="0">
                <a:effectLst/>
              </a:rPr>
              <a:t>R</a:t>
            </a:r>
            <a:r>
              <a:rPr lang="en-US" sz="2400" baseline="-25000" dirty="0">
                <a:effectLst/>
              </a:rPr>
              <a:t>1​</a:t>
            </a:r>
            <a:r>
              <a:rPr lang="en-US" sz="2400" dirty="0">
                <a:effectLst/>
              </a:rPr>
              <a:t> and </a:t>
            </a:r>
            <a:r>
              <a:rPr lang="en-US" sz="2400" i="1" dirty="0">
                <a:effectLst/>
              </a:rPr>
              <a:t>R</a:t>
            </a:r>
            <a:r>
              <a:rPr lang="en-US" sz="2400" baseline="-25000" dirty="0">
                <a:effectLst/>
              </a:rPr>
              <a:t>2</a:t>
            </a:r>
            <a:r>
              <a:rPr lang="en-US" sz="2400" dirty="0">
                <a:effectLst/>
              </a:rPr>
              <a:t>​, denoted as </a:t>
            </a:r>
            <a:r>
              <a:rPr lang="en-US" sz="2400" i="1" dirty="0">
                <a:solidFill>
                  <a:schemeClr val="accent1"/>
                </a:solidFill>
                <a:effectLst/>
              </a:rPr>
              <a:t>R</a:t>
            </a:r>
            <a:r>
              <a:rPr lang="en-US" sz="2400" baseline="-25000" dirty="0">
                <a:solidFill>
                  <a:schemeClr val="accent1"/>
                </a:solidFill>
                <a:effectLst/>
              </a:rPr>
              <a:t>1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​ ∨ </a:t>
            </a:r>
            <a:r>
              <a:rPr lang="en-US" sz="2400" i="1" dirty="0">
                <a:solidFill>
                  <a:schemeClr val="accent1"/>
                </a:solidFill>
                <a:effectLst/>
              </a:rPr>
              <a:t>R</a:t>
            </a:r>
            <a:r>
              <a:rPr lang="en-US" sz="2400" baseline="-25000" dirty="0">
                <a:solidFill>
                  <a:schemeClr val="accent1"/>
                </a:solidFill>
                <a:effectLst/>
              </a:rPr>
              <a:t>2</a:t>
            </a:r>
            <a:r>
              <a:rPr lang="en-US" sz="2400" dirty="0">
                <a:effectLst/>
              </a:rPr>
              <a:t>​, is the union of the relations.</a:t>
            </a:r>
          </a:p>
          <a:p>
            <a:pPr marL="0" indent="0">
              <a:buNone/>
            </a:pPr>
            <a:r>
              <a:rPr lang="en-US" sz="2400" i="1" dirty="0">
                <a:effectLst/>
              </a:rPr>
              <a:t>R</a:t>
            </a:r>
            <a:r>
              <a:rPr lang="en-US" sz="2400" baseline="-25000" dirty="0">
                <a:effectLst/>
              </a:rPr>
              <a:t>1 </a:t>
            </a:r>
            <a:r>
              <a:rPr lang="en-US" sz="2400" dirty="0">
                <a:effectLst/>
              </a:rPr>
              <a:t>​∨ </a:t>
            </a:r>
            <a:r>
              <a:rPr lang="en-US" sz="2400" i="1" dirty="0">
                <a:effectLst/>
              </a:rPr>
              <a:t>R</a:t>
            </a:r>
            <a:r>
              <a:rPr lang="en-US" sz="2400" baseline="-25000" dirty="0">
                <a:effectLst/>
              </a:rPr>
              <a:t>2 </a:t>
            </a:r>
            <a:r>
              <a:rPr lang="en-US" sz="2400" dirty="0">
                <a:effectLst/>
              </a:rPr>
              <a:t>​= </a:t>
            </a:r>
            <a:r>
              <a:rPr lang="en-US" sz="2400" i="1" dirty="0">
                <a:effectLst/>
              </a:rPr>
              <a:t>M</a:t>
            </a:r>
            <a:r>
              <a:rPr lang="en-US" sz="2400" i="1" baseline="-25000" dirty="0">
                <a:effectLst/>
              </a:rPr>
              <a:t>R</a:t>
            </a:r>
            <a:r>
              <a:rPr lang="en-US" sz="2400" baseline="-25000" dirty="0">
                <a:effectLst/>
              </a:rPr>
              <a:t>1</a:t>
            </a:r>
            <a:r>
              <a:rPr lang="en-US" sz="2400" dirty="0">
                <a:effectLst/>
              </a:rPr>
              <a:t>​ ​∪ </a:t>
            </a:r>
            <a:r>
              <a:rPr lang="en-US" sz="2400" i="1" dirty="0">
                <a:effectLst/>
              </a:rPr>
              <a:t>M</a:t>
            </a:r>
            <a:r>
              <a:rPr lang="en-US" sz="2400" b="0" i="1" baseline="-25000" dirty="0">
                <a:effectLst/>
              </a:rPr>
              <a:t>R</a:t>
            </a:r>
            <a:r>
              <a:rPr lang="en-US" sz="2400" b="0" i="0" baseline="-25000" dirty="0">
                <a:effectLst/>
              </a:rPr>
              <a:t>2</a:t>
            </a:r>
            <a:r>
              <a:rPr lang="en-US" sz="2400" b="0" i="0" dirty="0">
                <a:effectLst/>
              </a:rPr>
              <a:t>​​</a:t>
            </a:r>
          </a:p>
          <a:p>
            <a:pPr marL="0" indent="0">
              <a:buNone/>
            </a:pPr>
            <a:endParaRPr lang="en-US" sz="2400" b="0" i="0" dirty="0">
              <a:effectLst/>
            </a:endParaRPr>
          </a:p>
          <a:p>
            <a:r>
              <a:rPr lang="en-US" sz="2400" b="1" dirty="0">
                <a:effectLst/>
              </a:rPr>
              <a:t>Meet Operation (Intersection):</a:t>
            </a:r>
          </a:p>
          <a:p>
            <a:pPr marL="0" indent="0">
              <a:buNone/>
            </a:pPr>
            <a:r>
              <a:rPr lang="en-US" sz="2400" dirty="0">
                <a:effectLst/>
              </a:rPr>
              <a:t>The meet of two relations </a:t>
            </a:r>
            <a:r>
              <a:rPr lang="en-US" sz="2400" i="1" dirty="0">
                <a:effectLst/>
              </a:rPr>
              <a:t>R</a:t>
            </a:r>
            <a:r>
              <a:rPr lang="en-US" sz="2400" baseline="-25000" dirty="0">
                <a:effectLst/>
              </a:rPr>
              <a:t>1​</a:t>
            </a:r>
            <a:r>
              <a:rPr lang="en-US" sz="2400" dirty="0">
                <a:effectLst/>
              </a:rPr>
              <a:t> and </a:t>
            </a:r>
            <a:r>
              <a:rPr lang="en-US" sz="2400" i="1" dirty="0">
                <a:effectLst/>
              </a:rPr>
              <a:t>R</a:t>
            </a:r>
            <a:r>
              <a:rPr lang="en-US" sz="2400" baseline="-25000" dirty="0">
                <a:effectLst/>
              </a:rPr>
              <a:t>2​</a:t>
            </a:r>
            <a:r>
              <a:rPr lang="en-US" sz="2400" dirty="0">
                <a:effectLst/>
              </a:rPr>
              <a:t>, denoted as </a:t>
            </a:r>
            <a:r>
              <a:rPr lang="en-US" sz="2400" i="1" dirty="0">
                <a:solidFill>
                  <a:schemeClr val="accent1"/>
                </a:solidFill>
                <a:effectLst/>
              </a:rPr>
              <a:t>R</a:t>
            </a:r>
            <a:r>
              <a:rPr lang="en-US" sz="2400" baseline="-25000" dirty="0">
                <a:solidFill>
                  <a:schemeClr val="accent1"/>
                </a:solidFill>
                <a:effectLst/>
              </a:rPr>
              <a:t>1​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 ∧ </a:t>
            </a:r>
            <a:r>
              <a:rPr lang="en-US" sz="2400" i="1" dirty="0">
                <a:solidFill>
                  <a:schemeClr val="accent1"/>
                </a:solidFill>
                <a:effectLst/>
              </a:rPr>
              <a:t>R</a:t>
            </a:r>
            <a:r>
              <a:rPr lang="en-US" sz="2400" baseline="-25000" dirty="0">
                <a:solidFill>
                  <a:schemeClr val="accent1"/>
                </a:solidFill>
                <a:effectLst/>
              </a:rPr>
              <a:t>2</a:t>
            </a:r>
            <a:r>
              <a:rPr lang="en-US" sz="2400" baseline="-25000" dirty="0">
                <a:effectLst/>
              </a:rPr>
              <a:t>​</a:t>
            </a:r>
            <a:r>
              <a:rPr lang="en-US" sz="2400" dirty="0">
                <a:effectLst/>
              </a:rPr>
              <a:t>, is the intersection of the relations.</a:t>
            </a:r>
          </a:p>
          <a:p>
            <a:pPr marL="0" indent="0">
              <a:buNone/>
            </a:pPr>
            <a:r>
              <a:rPr lang="en-US" sz="2400" i="1" dirty="0">
                <a:effectLst/>
              </a:rPr>
              <a:t>R</a:t>
            </a:r>
            <a:r>
              <a:rPr lang="en-US" sz="2400" baseline="-25000" dirty="0">
                <a:effectLst/>
              </a:rPr>
              <a:t>1</a:t>
            </a:r>
            <a:r>
              <a:rPr lang="en-US" sz="2400" dirty="0">
                <a:effectLst/>
              </a:rPr>
              <a:t>​ ∧ </a:t>
            </a:r>
            <a:r>
              <a:rPr lang="en-US" sz="2400" i="1" dirty="0">
                <a:effectLst/>
              </a:rPr>
              <a:t>R</a:t>
            </a:r>
            <a:r>
              <a:rPr lang="en-US" sz="2400" baseline="-25000" dirty="0">
                <a:effectLst/>
              </a:rPr>
              <a:t>2</a:t>
            </a:r>
            <a:r>
              <a:rPr lang="en-US" sz="2400" dirty="0">
                <a:effectLst/>
              </a:rPr>
              <a:t> ​= </a:t>
            </a:r>
            <a:r>
              <a:rPr lang="en-US" sz="2400" i="1" dirty="0">
                <a:effectLst/>
              </a:rPr>
              <a:t>M</a:t>
            </a:r>
            <a:r>
              <a:rPr lang="en-US" sz="2400" i="1" baseline="-25000" dirty="0">
                <a:effectLst/>
              </a:rPr>
              <a:t>R</a:t>
            </a:r>
            <a:r>
              <a:rPr lang="en-US" sz="2400" baseline="-25000" dirty="0">
                <a:effectLst/>
              </a:rPr>
              <a:t>1</a:t>
            </a:r>
            <a:r>
              <a:rPr lang="en-US" sz="2400" dirty="0">
                <a:effectLst/>
              </a:rPr>
              <a:t>​ ​∩ </a:t>
            </a:r>
            <a:r>
              <a:rPr lang="en-US" sz="2400" i="1" dirty="0">
                <a:effectLst/>
              </a:rPr>
              <a:t>M</a:t>
            </a:r>
            <a:r>
              <a:rPr lang="en-US" sz="2400" b="0" i="1" baseline="-25000" dirty="0">
                <a:effectLst/>
              </a:rPr>
              <a:t>R</a:t>
            </a:r>
            <a:r>
              <a:rPr lang="en-US" sz="2400" b="0" baseline="-25000" dirty="0">
                <a:effectLst/>
              </a:rPr>
              <a:t>2</a:t>
            </a:r>
            <a:r>
              <a:rPr lang="en-US" sz="2400" b="0" dirty="0">
                <a:effectLst/>
              </a:rPr>
              <a:t>​​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28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Using Matrices 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29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351678-F42A-4FF1-9C5F-8259C608C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Example:</a:t>
            </a:r>
          </a:p>
          <a:p>
            <a:pPr marL="0" indent="0" algn="l">
              <a:buNone/>
            </a:pPr>
            <a:r>
              <a:rPr lang="en-US" sz="2400" b="0" i="0" dirty="0">
                <a:effectLst/>
              </a:rPr>
              <a:t>Consider two relations </a:t>
            </a:r>
            <a:r>
              <a:rPr lang="en-US" sz="2400" b="0" i="1" dirty="0">
                <a:effectLst/>
              </a:rPr>
              <a:t>R</a:t>
            </a:r>
            <a:r>
              <a:rPr lang="en-US" sz="2400" b="0" i="0" baseline="-25000" dirty="0">
                <a:effectLst/>
              </a:rPr>
              <a:t>1</a:t>
            </a:r>
            <a:r>
              <a:rPr lang="en-US" sz="2400" b="0" i="0" dirty="0">
                <a:effectLst/>
              </a:rPr>
              <a:t>​ and </a:t>
            </a:r>
            <a:r>
              <a:rPr lang="en-US" sz="2400" b="0" i="1" dirty="0">
                <a:effectLst/>
              </a:rPr>
              <a:t>R</a:t>
            </a:r>
            <a:r>
              <a:rPr lang="en-US" sz="2400" b="0" i="0" baseline="-25000" dirty="0">
                <a:effectLst/>
              </a:rPr>
              <a:t>2</a:t>
            </a:r>
            <a:r>
              <a:rPr lang="en-US" sz="2400" b="0" i="0" dirty="0">
                <a:effectLst/>
              </a:rPr>
              <a:t>​ using 3x3 matrices: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/>
              <a:t>				</a:t>
            </a:r>
          </a:p>
          <a:p>
            <a:pPr marL="0" indent="0" algn="l">
              <a:buNone/>
            </a:pPr>
            <a:r>
              <a:rPr lang="en-US" sz="2400" dirty="0"/>
              <a:t>				</a:t>
            </a:r>
            <a:r>
              <a:rPr lang="en-US" sz="2400" dirty="0">
                <a:solidFill>
                  <a:schemeClr val="accent1"/>
                </a:solidFill>
              </a:rPr>
              <a:t>      &gt;&gt; </a:t>
            </a:r>
            <a:r>
              <a:rPr lang="en-US" sz="2400" dirty="0"/>
              <a:t>Join</a:t>
            </a:r>
            <a:r>
              <a:rPr lang="en-US" sz="2400" dirty="0">
                <a:solidFill>
                  <a:schemeClr val="accent1"/>
                </a:solidFill>
              </a:rPr>
              <a:t> &gt;&gt;</a:t>
            </a: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1"/>
                </a:solidFill>
              </a:rPr>
              <a:t>				     &gt;&gt; </a:t>
            </a:r>
            <a:r>
              <a:rPr lang="en-US" sz="2400" dirty="0"/>
              <a:t>Meet</a:t>
            </a:r>
            <a:r>
              <a:rPr lang="en-US" sz="2400" dirty="0">
                <a:solidFill>
                  <a:schemeClr val="accent1"/>
                </a:solidFill>
              </a:rPr>
              <a:t> &gt;&gt;</a:t>
            </a:r>
          </a:p>
        </p:txBody>
      </p:sp>
      <p:graphicFrame>
        <p:nvGraphicFramePr>
          <p:cNvPr id="9" name="Table 43">
            <a:extLst>
              <a:ext uri="{FF2B5EF4-FFF2-40B4-BE49-F238E27FC236}">
                <a16:creationId xmlns:a16="http://schemas.microsoft.com/office/drawing/2014/main" id="{1303BD47-2214-40E9-98F3-80F373D78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272668"/>
              </p:ext>
            </p:extLst>
          </p:nvPr>
        </p:nvGraphicFramePr>
        <p:xfrm>
          <a:off x="1307374" y="2987243"/>
          <a:ext cx="2788353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5913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236786">
                  <a:extLst>
                    <a:ext uri="{9D8B030D-6E8A-4147-A177-3AD203B41FA5}">
                      <a16:colId xmlns:a16="http://schemas.microsoft.com/office/drawing/2014/main" val="2050407541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236786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45797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45797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R</a:t>
                      </a:r>
                      <a:r>
                        <a:rPr lang="en-US" sz="2800" baseline="-25000" dirty="0">
                          <a:solidFill>
                            <a:schemeClr val="accent1"/>
                          </a:solidFill>
                        </a:rPr>
                        <a:t>1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 = </a:t>
                      </a:r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45797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  <p:graphicFrame>
        <p:nvGraphicFramePr>
          <p:cNvPr id="10" name="Table 43">
            <a:extLst>
              <a:ext uri="{FF2B5EF4-FFF2-40B4-BE49-F238E27FC236}">
                <a16:creationId xmlns:a16="http://schemas.microsoft.com/office/drawing/2014/main" id="{273A4F09-64F0-414E-A985-04ABBE7CA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9097"/>
              </p:ext>
            </p:extLst>
          </p:nvPr>
        </p:nvGraphicFramePr>
        <p:xfrm>
          <a:off x="1307373" y="4801870"/>
          <a:ext cx="2788353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5913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236786">
                  <a:extLst>
                    <a:ext uri="{9D8B030D-6E8A-4147-A177-3AD203B41FA5}">
                      <a16:colId xmlns:a16="http://schemas.microsoft.com/office/drawing/2014/main" val="2050407541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236786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45797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45797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R</a:t>
                      </a:r>
                      <a:r>
                        <a:rPr lang="en-US" sz="2800" baseline="-25000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 = </a:t>
                      </a:r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45797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  <p:graphicFrame>
        <p:nvGraphicFramePr>
          <p:cNvPr id="11" name="Table 43">
            <a:extLst>
              <a:ext uri="{FF2B5EF4-FFF2-40B4-BE49-F238E27FC236}">
                <a16:creationId xmlns:a16="http://schemas.microsoft.com/office/drawing/2014/main" id="{E5DA256C-91A0-4844-A93D-169D19767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429702"/>
              </p:ext>
            </p:extLst>
          </p:nvPr>
        </p:nvGraphicFramePr>
        <p:xfrm>
          <a:off x="7013292" y="2987243"/>
          <a:ext cx="3482440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236786">
                  <a:extLst>
                    <a:ext uri="{9D8B030D-6E8A-4147-A177-3AD203B41FA5}">
                      <a16:colId xmlns:a16="http://schemas.microsoft.com/office/drawing/2014/main" val="2050407541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236786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45797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457970"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solidFill>
                            <a:schemeClr val="accent1"/>
                          </a:solidFill>
                          <a:effectLst/>
                        </a:rPr>
                        <a:t>R</a:t>
                      </a:r>
                      <a:r>
                        <a:rPr lang="en-US" sz="2800" baseline="-25000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  <a:effectLst/>
                        </a:rPr>
                        <a:t>​ ∨ </a:t>
                      </a:r>
                      <a:r>
                        <a:rPr lang="en-US" sz="2800" i="1" dirty="0">
                          <a:solidFill>
                            <a:schemeClr val="accent1"/>
                          </a:solidFill>
                          <a:effectLst/>
                        </a:rPr>
                        <a:t>R</a:t>
                      </a:r>
                      <a:r>
                        <a:rPr lang="en-US" sz="2800" baseline="-25000" dirty="0">
                          <a:solidFill>
                            <a:schemeClr val="accent1"/>
                          </a:solidFill>
                          <a:effectLst/>
                        </a:rPr>
                        <a:t>2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 = </a:t>
                      </a:r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45797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  <p:graphicFrame>
        <p:nvGraphicFramePr>
          <p:cNvPr id="12" name="Table 43">
            <a:extLst>
              <a:ext uri="{FF2B5EF4-FFF2-40B4-BE49-F238E27FC236}">
                <a16:creationId xmlns:a16="http://schemas.microsoft.com/office/drawing/2014/main" id="{D49216FC-D789-45BD-AF34-B489B6F69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84010"/>
              </p:ext>
            </p:extLst>
          </p:nvPr>
        </p:nvGraphicFramePr>
        <p:xfrm>
          <a:off x="7013292" y="4801870"/>
          <a:ext cx="3482440" cy="155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1307947629"/>
                    </a:ext>
                  </a:extLst>
                </a:gridCol>
                <a:gridCol w="236786">
                  <a:extLst>
                    <a:ext uri="{9D8B030D-6E8A-4147-A177-3AD203B41FA5}">
                      <a16:colId xmlns:a16="http://schemas.microsoft.com/office/drawing/2014/main" val="2050407541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1655424674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673293229"/>
                    </a:ext>
                  </a:extLst>
                </a:gridCol>
                <a:gridCol w="462956">
                  <a:extLst>
                    <a:ext uri="{9D8B030D-6E8A-4147-A177-3AD203B41FA5}">
                      <a16:colId xmlns:a16="http://schemas.microsoft.com/office/drawing/2014/main" val="3842577041"/>
                    </a:ext>
                  </a:extLst>
                </a:gridCol>
                <a:gridCol w="236786">
                  <a:extLst>
                    <a:ext uri="{9D8B030D-6E8A-4147-A177-3AD203B41FA5}">
                      <a16:colId xmlns:a16="http://schemas.microsoft.com/office/drawing/2014/main" val="32664454"/>
                    </a:ext>
                  </a:extLst>
                </a:gridCol>
              </a:tblGrid>
              <a:tr h="45797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74694"/>
                  </a:ext>
                </a:extLst>
              </a:tr>
              <a:tr h="457970"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>
                          <a:solidFill>
                            <a:schemeClr val="accent1"/>
                          </a:solidFill>
                          <a:effectLst/>
                        </a:rPr>
                        <a:t>R</a:t>
                      </a:r>
                      <a:r>
                        <a:rPr lang="en-US" sz="2800" baseline="-25000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  <a:effectLst/>
                        </a:rPr>
                        <a:t>​ ∧ </a:t>
                      </a:r>
                      <a:r>
                        <a:rPr lang="en-US" sz="2800" i="1" dirty="0">
                          <a:solidFill>
                            <a:schemeClr val="accent1"/>
                          </a:solidFill>
                          <a:effectLst/>
                        </a:rPr>
                        <a:t>R</a:t>
                      </a:r>
                      <a:r>
                        <a:rPr lang="en-US" sz="2800" baseline="-25000" dirty="0">
                          <a:solidFill>
                            <a:schemeClr val="accent1"/>
                          </a:solidFill>
                          <a:effectLst/>
                        </a:rPr>
                        <a:t>2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 = </a:t>
                      </a:r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046"/>
                  </a:ext>
                </a:extLst>
              </a:tr>
              <a:tr h="457970"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PK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K" sz="28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494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59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Using Matrices 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30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351678-F42A-4FF1-9C5F-8259C608C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effectLst/>
              </a:rPr>
              <a:t>Composition Operation:</a:t>
            </a:r>
          </a:p>
          <a:p>
            <a:pPr marL="0" indent="0">
              <a:buNone/>
            </a:pPr>
            <a:r>
              <a:rPr lang="en-US" sz="2400" dirty="0">
                <a:effectLst/>
              </a:rPr>
              <a:t>The 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composition </a:t>
            </a:r>
            <a:r>
              <a:rPr lang="en-US" sz="2400" i="1" dirty="0">
                <a:solidFill>
                  <a:schemeClr val="accent1"/>
                </a:solidFill>
                <a:effectLst/>
                <a:latin typeface="KaTeX_Math"/>
              </a:rPr>
              <a:t>R</a:t>
            </a:r>
            <a:r>
              <a:rPr lang="en-US" sz="2400" baseline="-25000" dirty="0">
                <a:solidFill>
                  <a:schemeClr val="accent1"/>
                </a:solidFill>
                <a:effectLst/>
                <a:latin typeface="KaTeX_Main"/>
              </a:rPr>
              <a:t>1</a:t>
            </a:r>
            <a:r>
              <a:rPr lang="en-US" sz="2400" dirty="0">
                <a:solidFill>
                  <a:schemeClr val="accent1"/>
                </a:solidFill>
                <a:effectLst/>
                <a:latin typeface="KaTeX_Main"/>
              </a:rPr>
              <a:t>​ ∘ </a:t>
            </a:r>
            <a:r>
              <a:rPr lang="en-US" sz="2400" i="1" dirty="0">
                <a:solidFill>
                  <a:schemeClr val="accent1"/>
                </a:solidFill>
                <a:effectLst/>
                <a:latin typeface="KaTeX_Math"/>
              </a:rPr>
              <a:t>R</a:t>
            </a:r>
            <a:r>
              <a:rPr lang="en-US" sz="2400" baseline="-25000" dirty="0">
                <a:solidFill>
                  <a:schemeClr val="accent1"/>
                </a:solidFill>
                <a:effectLst/>
                <a:latin typeface="KaTeX_Main"/>
              </a:rPr>
              <a:t>2</a:t>
            </a:r>
            <a:r>
              <a:rPr lang="en-US" sz="2400" dirty="0">
                <a:effectLst/>
                <a:latin typeface="KaTeX_Main"/>
              </a:rPr>
              <a:t>​</a:t>
            </a:r>
            <a:r>
              <a:rPr lang="en-US" sz="2400" dirty="0">
                <a:effectLst/>
              </a:rPr>
              <a:t> is obtained by performing 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Boolean Product </a:t>
            </a:r>
            <a:r>
              <a:rPr lang="en-US" sz="2400" dirty="0">
                <a:effectLst/>
              </a:rPr>
              <a:t>between matrices</a:t>
            </a:r>
            <a:r>
              <a:rPr lang="en-US" sz="2400" dirty="0">
                <a:effectLst/>
                <a:latin typeface="KaTeX_Main"/>
              </a:rPr>
              <a:t>​​</a:t>
            </a:r>
            <a:r>
              <a:rPr lang="en-US" sz="2400" dirty="0">
                <a:effectLst/>
              </a:rPr>
              <a:t>.</a:t>
            </a:r>
          </a:p>
          <a:p>
            <a:pPr marL="0" indent="0">
              <a:buNone/>
            </a:pPr>
            <a:r>
              <a:rPr lang="en-US" sz="2400" i="1" dirty="0">
                <a:effectLst/>
                <a:latin typeface="KaTeX_Math"/>
              </a:rPr>
              <a:t>R</a:t>
            </a:r>
            <a:r>
              <a:rPr lang="en-US" sz="2400" baseline="-25000" dirty="0">
                <a:effectLst/>
                <a:latin typeface="KaTeX_Main"/>
              </a:rPr>
              <a:t>1</a:t>
            </a:r>
            <a:r>
              <a:rPr lang="en-US" sz="2400" dirty="0">
                <a:effectLst/>
                <a:latin typeface="KaTeX_Main"/>
              </a:rPr>
              <a:t>​ ∘ </a:t>
            </a:r>
            <a:r>
              <a:rPr lang="en-US" sz="2400" i="1" dirty="0">
                <a:effectLst/>
                <a:latin typeface="KaTeX_Math"/>
              </a:rPr>
              <a:t>R</a:t>
            </a:r>
            <a:r>
              <a:rPr lang="en-US" sz="2400" baseline="-25000" dirty="0">
                <a:effectLst/>
                <a:latin typeface="KaTeX_Main"/>
              </a:rPr>
              <a:t>2</a:t>
            </a:r>
            <a:r>
              <a:rPr lang="en-US" sz="2400" dirty="0">
                <a:effectLst/>
                <a:latin typeface="KaTeX_Main"/>
              </a:rPr>
              <a:t>​ = </a:t>
            </a:r>
            <a:r>
              <a:rPr lang="en-US" sz="2400" i="1" dirty="0">
                <a:effectLst/>
                <a:latin typeface="KaTeX_Math"/>
              </a:rPr>
              <a:t>M</a:t>
            </a:r>
            <a:r>
              <a:rPr lang="en-US" sz="2400" i="1" baseline="-25000" dirty="0">
                <a:effectLst/>
                <a:latin typeface="KaTeX_Math"/>
              </a:rPr>
              <a:t>R</a:t>
            </a:r>
            <a:r>
              <a:rPr lang="en-US" sz="2400" baseline="-25000" dirty="0">
                <a:effectLst/>
                <a:latin typeface="KaTeX_Main"/>
              </a:rPr>
              <a:t>1</a:t>
            </a:r>
            <a:r>
              <a:rPr lang="en-US" sz="2400" dirty="0">
                <a:effectLst/>
                <a:latin typeface="KaTeX_Main"/>
              </a:rPr>
              <a:t>​​ × </a:t>
            </a:r>
            <a:r>
              <a:rPr lang="en-US" sz="2400" i="1" dirty="0">
                <a:effectLst/>
                <a:latin typeface="KaTeX_Math"/>
              </a:rPr>
              <a:t>M</a:t>
            </a:r>
            <a:r>
              <a:rPr lang="en-US" sz="2400" b="0" i="1" baseline="-25000" dirty="0">
                <a:solidFill>
                  <a:srgbClr val="374151"/>
                </a:solidFill>
                <a:effectLst/>
                <a:latin typeface="KaTeX_Math"/>
              </a:rPr>
              <a:t>R</a:t>
            </a:r>
            <a:r>
              <a:rPr lang="en-US" sz="2400" b="0" i="0" baseline="-25000" dirty="0">
                <a:solidFill>
                  <a:srgbClr val="374151"/>
                </a:solidFill>
                <a:effectLst/>
                <a:latin typeface="KaTeX_Main"/>
              </a:rPr>
              <a:t>2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KaTeX_Main"/>
              </a:rPr>
              <a:t>​​</a:t>
            </a:r>
          </a:p>
          <a:p>
            <a:pPr marL="0" indent="0">
              <a:buNone/>
            </a:pPr>
            <a:endParaRPr lang="en-US" sz="2400" dirty="0">
              <a:solidFill>
                <a:srgbClr val="374151"/>
              </a:solidFill>
              <a:latin typeface="KaTeX_Main"/>
            </a:endParaRPr>
          </a:p>
          <a:p>
            <a:r>
              <a:rPr lang="en-US" sz="2400" b="1" dirty="0"/>
              <a:t>Example:</a:t>
            </a:r>
          </a:p>
          <a:p>
            <a:pPr marL="0" indent="0">
              <a:buNone/>
            </a:pPr>
            <a:r>
              <a:rPr lang="en-US" sz="2400" dirty="0"/>
              <a:t>Find the Boolean product of </a:t>
            </a:r>
            <a:r>
              <a:rPr lang="en-US" sz="2400" dirty="0">
                <a:solidFill>
                  <a:schemeClr val="accent1"/>
                </a:solidFill>
              </a:rPr>
              <a:t>A</a:t>
            </a:r>
            <a:r>
              <a:rPr lang="en-US" sz="2400" b="1" dirty="0"/>
              <a:t> </a:t>
            </a:r>
            <a:r>
              <a:rPr lang="en-US" sz="2400" dirty="0"/>
              <a:t>and</a:t>
            </a:r>
            <a:r>
              <a:rPr lang="en-US" sz="2400" b="1" dirty="0"/>
              <a:t> </a:t>
            </a:r>
            <a:r>
              <a:rPr lang="en-US" sz="2400" dirty="0">
                <a:solidFill>
                  <a:schemeClr val="accent1"/>
                </a:solidFill>
              </a:rPr>
              <a:t>B</a:t>
            </a:r>
            <a:r>
              <a:rPr lang="en-US" sz="2400" dirty="0"/>
              <a:t>, where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F9D7F-E910-4C54-BFAC-05E17929A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15038" y="4897755"/>
            <a:ext cx="7761924" cy="182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5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Using Matrices 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31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5E1AD908-B161-4DDA-9962-31E0966205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t="3770"/>
          <a:stretch/>
        </p:blipFill>
        <p:spPr>
          <a:xfrm>
            <a:off x="1744979" y="1965959"/>
            <a:ext cx="8702042" cy="414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91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Using Matrices 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6660AD-9BDA-4B2A-B36A-35E3F07EE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Power of Relation Matrix:</a:t>
            </a:r>
            <a:endParaRPr lang="en-US" sz="2400" b="1" baseline="-25000" dirty="0"/>
          </a:p>
          <a:p>
            <a:pPr marL="0" indent="0">
              <a:buNone/>
            </a:pPr>
            <a:r>
              <a:rPr lang="en-US" sz="2400" b="0" i="0" dirty="0">
                <a:effectLst/>
              </a:rPr>
              <a:t>The composition of a relation </a:t>
            </a:r>
            <a:r>
              <a:rPr lang="en-US" sz="2400" b="0" i="1" dirty="0">
                <a:effectLst/>
              </a:rPr>
              <a:t>R</a:t>
            </a:r>
            <a:r>
              <a:rPr lang="en-US" sz="2400" b="0" i="0" dirty="0">
                <a:effectLst/>
              </a:rPr>
              <a:t> with itself </a:t>
            </a:r>
            <a:r>
              <a:rPr lang="en-US" sz="2400" b="0" i="1" dirty="0">
                <a:effectLst/>
              </a:rPr>
              <a:t>n</a:t>
            </a:r>
            <a:r>
              <a:rPr lang="en-US" sz="2400" b="0" i="0" dirty="0">
                <a:effectLst/>
              </a:rPr>
              <a:t> times (denoted as </a:t>
            </a:r>
            <a:r>
              <a:rPr lang="en-US" sz="2400" b="0" i="1" dirty="0">
                <a:effectLst/>
              </a:rPr>
              <a:t>R</a:t>
            </a:r>
            <a:r>
              <a:rPr lang="en-US" sz="2400" b="0" i="1" baseline="30000" dirty="0">
                <a:effectLst/>
              </a:rPr>
              <a:t>n</a:t>
            </a:r>
            <a:r>
              <a:rPr lang="en-US" sz="2400" b="0" i="0" dirty="0">
                <a:effectLst/>
              </a:rPr>
              <a:t>) is obtained by performing the composition operation </a:t>
            </a:r>
            <a:r>
              <a:rPr lang="en-US" sz="2400" b="0" i="1" dirty="0">
                <a:effectLst/>
              </a:rPr>
              <a:t>n</a:t>
            </a:r>
            <a:r>
              <a:rPr lang="en-US" sz="2400" b="0" i="0" dirty="0">
                <a:effectLst/>
              </a:rPr>
              <a:t> times.</a:t>
            </a:r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51B0CA-51C3-4395-9555-B51ED3996F06}"/>
              </a:ext>
            </a:extLst>
          </p:cNvPr>
          <p:cNvGrpSpPr/>
          <p:nvPr/>
        </p:nvGrpSpPr>
        <p:grpSpPr>
          <a:xfrm>
            <a:off x="1776549" y="3429000"/>
            <a:ext cx="3351500" cy="2580641"/>
            <a:chOff x="4541520" y="3429000"/>
            <a:chExt cx="3351500" cy="258064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1B34137-C623-4C4C-8A7A-0E1226569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41520" y="4315873"/>
              <a:ext cx="3351500" cy="169376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57DDF31-3E61-4679-8791-DD914B7AC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41520" y="3429000"/>
              <a:ext cx="2050336" cy="9772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017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 Using Matrices 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33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9DE4C2B-7BA2-489E-9803-9BD85CF14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Example:</a:t>
            </a:r>
          </a:p>
          <a:p>
            <a:endParaRPr lang="en-PK" sz="24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F4BF4C-2550-438B-BD05-765D4CB3E1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b="69047"/>
          <a:stretch/>
        </p:blipFill>
        <p:spPr>
          <a:xfrm>
            <a:off x="838199" y="2468879"/>
            <a:ext cx="8065169" cy="7117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E313E9-B85D-4345-AF32-9AF3D66F20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6549" y="3794761"/>
            <a:ext cx="2773680" cy="15724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CCF1E8-DB2A-43CF-9AA6-D510E425F0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88267" y="3794759"/>
            <a:ext cx="3627184" cy="157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0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and Digraphs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34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1F91A18-6B0E-4390-BB16-15F78CDBB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Digraph:</a:t>
            </a:r>
          </a:p>
          <a:p>
            <a:pPr marL="0" indent="0">
              <a:buNone/>
            </a:pPr>
            <a:r>
              <a:rPr lang="en-US" sz="2400" dirty="0"/>
              <a:t>A digraph, short for </a:t>
            </a:r>
            <a:r>
              <a:rPr lang="en-US" sz="2400" dirty="0">
                <a:solidFill>
                  <a:schemeClr val="accent1"/>
                </a:solidFill>
              </a:rPr>
              <a:t>directed graph</a:t>
            </a:r>
            <a:r>
              <a:rPr lang="en-US" sz="2400" dirty="0"/>
              <a:t>, is a type of graph that is made up of nodes (or </a:t>
            </a:r>
            <a:r>
              <a:rPr lang="en-US" sz="2400" dirty="0">
                <a:solidFill>
                  <a:schemeClr val="accent1"/>
                </a:solidFill>
              </a:rPr>
              <a:t>vertices</a:t>
            </a:r>
            <a:r>
              <a:rPr lang="en-US" sz="2400" dirty="0"/>
              <a:t>) and </a:t>
            </a:r>
            <a:r>
              <a:rPr lang="en-US" sz="2400" dirty="0">
                <a:solidFill>
                  <a:schemeClr val="accent1"/>
                </a:solidFill>
              </a:rPr>
              <a:t>directed edges</a:t>
            </a:r>
            <a:r>
              <a:rPr lang="en-US" sz="2400" dirty="0"/>
              <a:t> (or arcs) between those nodes.</a:t>
            </a:r>
          </a:p>
          <a:p>
            <a:r>
              <a:rPr lang="en-US" sz="2400" b="1" dirty="0"/>
              <a:t>Examples: </a:t>
            </a:r>
          </a:p>
          <a:p>
            <a:pPr marL="0" indent="0">
              <a:buNone/>
            </a:pPr>
            <a:r>
              <a:rPr lang="en-US" sz="2400" dirty="0"/>
              <a:t>Consider a relation </a:t>
            </a:r>
            <a:r>
              <a:rPr lang="en-US" sz="2400" i="1" dirty="0"/>
              <a:t>R</a:t>
            </a:r>
            <a:r>
              <a:rPr lang="en-US" sz="2400" dirty="0"/>
              <a:t> = </a:t>
            </a:r>
            <a:r>
              <a:rPr lang="en-US" sz="2400" i="1" dirty="0"/>
              <a:t>{ (a, b), (a, d), (b, b), (b, d), (c, a), (c, b), (d, b) }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Content Placeholder 3" descr="0805.jpg">
            <a:extLst>
              <a:ext uri="{FF2B5EF4-FFF2-40B4-BE49-F238E27FC236}">
                <a16:creationId xmlns:a16="http://schemas.microsoft.com/office/drawing/2014/main" id="{C182623D-4DF1-44D2-B4AF-8D61B1E577F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79348" y="4345006"/>
            <a:ext cx="3112464" cy="199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and Digraphs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59969B-B6EC-43B2-996B-5881A947F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919288"/>
            <a:ext cx="9652522" cy="374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9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and Digraphs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36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4BD86EF7-CB04-4062-844F-64EF7585F54C}"/>
              </a:ext>
            </a:extLst>
          </p:cNvPr>
          <p:cNvSpPr/>
          <p:nvPr/>
        </p:nvSpPr>
        <p:spPr>
          <a:xfrm>
            <a:off x="5212080" y="2193348"/>
            <a:ext cx="4945378" cy="3660342"/>
          </a:xfrm>
          <a:prstGeom prst="rect">
            <a:avLst/>
          </a:prstGeom>
          <a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 l="-57941" t="-78239" r="-110515" b="-71457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75BC4-37C6-49B3-A672-513E5D8B9730}"/>
              </a:ext>
            </a:extLst>
          </p:cNvPr>
          <p:cNvSpPr txBox="1"/>
          <p:nvPr/>
        </p:nvSpPr>
        <p:spPr>
          <a:xfrm>
            <a:off x="838200" y="1954053"/>
            <a:ext cx="3459480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Reflexive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Symmetric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Antisymmetric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Transitive</a:t>
            </a:r>
            <a:endParaRPr lang="en-PK" sz="24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ECABEB-50A0-47F3-843E-6FF42C1695C4}"/>
              </a:ext>
            </a:extLst>
          </p:cNvPr>
          <p:cNvCxnSpPr/>
          <p:nvPr/>
        </p:nvCxnSpPr>
        <p:spPr>
          <a:xfrm>
            <a:off x="6560820" y="2948940"/>
            <a:ext cx="2446020" cy="0"/>
          </a:xfrm>
          <a:prstGeom prst="straightConnector1">
            <a:avLst/>
          </a:prstGeom>
          <a:ln w="38100">
            <a:solidFill>
              <a:srgbClr val="365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5FB6B8-3E84-47A3-AF38-04468D28B1C0}"/>
              </a:ext>
            </a:extLst>
          </p:cNvPr>
          <p:cNvCxnSpPr/>
          <p:nvPr/>
        </p:nvCxnSpPr>
        <p:spPr>
          <a:xfrm>
            <a:off x="6332220" y="3223260"/>
            <a:ext cx="0" cy="1623060"/>
          </a:xfrm>
          <a:prstGeom prst="straightConnector1">
            <a:avLst/>
          </a:prstGeom>
          <a:ln w="38100">
            <a:solidFill>
              <a:srgbClr val="365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267E28-6D62-49F7-ADBC-0377E6BA942B}"/>
              </a:ext>
            </a:extLst>
          </p:cNvPr>
          <p:cNvCxnSpPr>
            <a:cxnSpLocks/>
          </p:cNvCxnSpPr>
          <p:nvPr/>
        </p:nvCxnSpPr>
        <p:spPr>
          <a:xfrm>
            <a:off x="6560820" y="3137535"/>
            <a:ext cx="2606039" cy="1708784"/>
          </a:xfrm>
          <a:prstGeom prst="straightConnector1">
            <a:avLst/>
          </a:prstGeom>
          <a:ln w="38100">
            <a:solidFill>
              <a:srgbClr val="365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A3578066-3B3A-4EA2-B9CB-9B2D7254C1E0}"/>
              </a:ext>
            </a:extLst>
          </p:cNvPr>
          <p:cNvSpPr/>
          <p:nvPr/>
        </p:nvSpPr>
        <p:spPr>
          <a:xfrm>
            <a:off x="3634740" y="2617730"/>
            <a:ext cx="5532119" cy="708400"/>
          </a:xfrm>
          <a:prstGeom prst="arc">
            <a:avLst>
              <a:gd name="adj1" fmla="val 17829391"/>
              <a:gd name="adj2" fmla="val 21487939"/>
            </a:avLst>
          </a:prstGeom>
          <a:ln w="38100">
            <a:solidFill>
              <a:srgbClr val="365A8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3199E7-78A7-4A62-A97C-66CF1E2CF7FC}"/>
              </a:ext>
            </a:extLst>
          </p:cNvPr>
          <p:cNvCxnSpPr/>
          <p:nvPr/>
        </p:nvCxnSpPr>
        <p:spPr>
          <a:xfrm>
            <a:off x="9342120" y="3223260"/>
            <a:ext cx="0" cy="1623060"/>
          </a:xfrm>
          <a:prstGeom prst="straightConnector1">
            <a:avLst/>
          </a:prstGeom>
          <a:ln w="38100">
            <a:solidFill>
              <a:srgbClr val="365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EDD26CD9-DDDA-4BF6-9885-D7FCAE8462B1}"/>
              </a:ext>
            </a:extLst>
          </p:cNvPr>
          <p:cNvSpPr/>
          <p:nvPr/>
        </p:nvSpPr>
        <p:spPr>
          <a:xfrm>
            <a:off x="6096000" y="5120639"/>
            <a:ext cx="876299" cy="583824"/>
          </a:xfrm>
          <a:prstGeom prst="arc">
            <a:avLst>
              <a:gd name="adj1" fmla="val 16200000"/>
              <a:gd name="adj2" fmla="val 12899518"/>
            </a:avLst>
          </a:prstGeom>
          <a:ln w="38100">
            <a:solidFill>
              <a:srgbClr val="365A8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464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555C-FC96-43AE-9196-D3EAE72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and Digraphs 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B796-489C-49AF-9422-868F5A246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31/12/2023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6694-E378-4893-9483-F289AE6B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867E62-953C-4F43-9E81-934F1EEEE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9333" t="44000" r="3667" b="16334"/>
          <a:stretch/>
        </p:blipFill>
        <p:spPr>
          <a:xfrm>
            <a:off x="838200" y="2314116"/>
            <a:ext cx="4251960" cy="34188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254A47-4ED0-4ED5-94ED-76B87042DD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40" b="9086"/>
          <a:stretch/>
        </p:blipFill>
        <p:spPr>
          <a:xfrm>
            <a:off x="6743177" y="1859651"/>
            <a:ext cx="4610622" cy="432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9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0">
                <a:solidFill>
                  <a:srgbClr val="4169B4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241280" cy="27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  <a:defRPr sz="2600">
                <a:latin typeface="Aptos"/>
              </a:defRPr>
            </a:pPr>
            <a:r>
              <a:rPr sz="2400" b="1" dirty="0"/>
              <a:t>Relations </a:t>
            </a:r>
            <a:r>
              <a:rPr sz="2400" dirty="0"/>
              <a:t>describe connections between elements of sets.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  <a:defRPr sz="2600">
                <a:latin typeface="Aptos"/>
              </a:defRPr>
            </a:pPr>
            <a:r>
              <a:rPr sz="2400" dirty="0"/>
              <a:t>Properties such as </a:t>
            </a:r>
            <a:r>
              <a:rPr sz="2400" dirty="0">
                <a:solidFill>
                  <a:schemeClr val="accent1"/>
                </a:solidFill>
                <a:latin typeface="Aptos"/>
              </a:rPr>
              <a:t>reflexive</a:t>
            </a:r>
            <a:r>
              <a:rPr sz="2400" dirty="0"/>
              <a:t>, </a:t>
            </a:r>
            <a:r>
              <a:rPr sz="2400" dirty="0">
                <a:solidFill>
                  <a:schemeClr val="accent1"/>
                </a:solidFill>
                <a:latin typeface="Aptos"/>
              </a:rPr>
              <a:t>symmetric</a:t>
            </a:r>
            <a:r>
              <a:rPr sz="2400" dirty="0"/>
              <a:t>, </a:t>
            </a:r>
            <a:r>
              <a:rPr sz="2400" dirty="0">
                <a:solidFill>
                  <a:schemeClr val="accent1"/>
                </a:solidFill>
                <a:latin typeface="Aptos"/>
              </a:rPr>
              <a:t>antisymmetric</a:t>
            </a:r>
            <a:r>
              <a:rPr sz="2400" dirty="0"/>
              <a:t>, and </a:t>
            </a:r>
            <a:r>
              <a:rPr sz="2400" dirty="0">
                <a:solidFill>
                  <a:schemeClr val="accent1"/>
                </a:solidFill>
                <a:latin typeface="Aptos"/>
              </a:rPr>
              <a:t>transitive </a:t>
            </a:r>
            <a:r>
              <a:rPr sz="2400" dirty="0"/>
              <a:t>classify relations.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  <a:defRPr sz="2600">
                <a:latin typeface="Aptos"/>
              </a:defRPr>
            </a:pPr>
            <a:r>
              <a:rPr sz="2400" b="1" dirty="0"/>
              <a:t>Equivalence relations </a:t>
            </a:r>
            <a:r>
              <a:rPr sz="2400" dirty="0"/>
              <a:t>group similar elements; </a:t>
            </a:r>
            <a:r>
              <a:rPr sz="2400" b="1" dirty="0"/>
              <a:t>partial orders </a:t>
            </a:r>
            <a:r>
              <a:rPr sz="2400" dirty="0"/>
              <a:t>model hierarchy and ranking.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  <a:defRPr sz="2600">
                <a:latin typeface="Aptos"/>
              </a:defRPr>
            </a:pPr>
            <a:r>
              <a:rPr sz="2400" dirty="0"/>
              <a:t>Relations are applied in </a:t>
            </a:r>
            <a:r>
              <a:rPr sz="2400" dirty="0">
                <a:solidFill>
                  <a:schemeClr val="accent1"/>
                </a:solidFill>
                <a:latin typeface="Aptos"/>
              </a:rPr>
              <a:t>databases </a:t>
            </a:r>
            <a:r>
              <a:rPr sz="2400" dirty="0">
                <a:latin typeface="Aptos"/>
              </a:rPr>
              <a:t>through</a:t>
            </a:r>
            <a:r>
              <a:rPr sz="2400" dirty="0">
                <a:solidFill>
                  <a:schemeClr val="accent1"/>
                </a:solidFill>
                <a:latin typeface="Aptos"/>
              </a:rPr>
              <a:t> records</a:t>
            </a:r>
            <a:r>
              <a:rPr sz="2400" dirty="0"/>
              <a:t>, </a:t>
            </a:r>
            <a:r>
              <a:rPr sz="2400" dirty="0">
                <a:solidFill>
                  <a:schemeClr val="accent1"/>
                </a:solidFill>
                <a:latin typeface="Aptos"/>
              </a:rPr>
              <a:t>fields</a:t>
            </a:r>
            <a:r>
              <a:rPr sz="2400" dirty="0"/>
              <a:t>, </a:t>
            </a:r>
            <a:r>
              <a:rPr sz="2400" dirty="0">
                <a:solidFill>
                  <a:schemeClr val="accent1"/>
                </a:solidFill>
                <a:latin typeface="Aptos"/>
              </a:rPr>
              <a:t>primary keys</a:t>
            </a:r>
            <a:r>
              <a:rPr sz="2400" dirty="0"/>
              <a:t>, and </a:t>
            </a:r>
            <a:r>
              <a:rPr sz="2400" dirty="0">
                <a:solidFill>
                  <a:schemeClr val="accent1"/>
                </a:solidFill>
                <a:latin typeface="Aptos"/>
              </a:rPr>
              <a:t>composite keys</a:t>
            </a:r>
            <a:r>
              <a:rPr sz="2400" dirty="0"/>
              <a:t>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  <a:defRPr sz="2600">
                <a:latin typeface="Aptos"/>
              </a:defRPr>
            </a:pPr>
            <a:r>
              <a:rPr lang="en-GB" sz="2400" b="1" dirty="0"/>
              <a:t>Matrices </a:t>
            </a:r>
            <a:r>
              <a:rPr lang="en-GB" sz="2400" dirty="0"/>
              <a:t>and </a:t>
            </a:r>
            <a:r>
              <a:rPr lang="en-GB" sz="2400" b="1" dirty="0"/>
              <a:t>digraphs </a:t>
            </a:r>
            <a:r>
              <a:rPr lang="en-GB" sz="2400" dirty="0"/>
              <a:t>provide visual and computational ways to </a:t>
            </a:r>
            <a:r>
              <a:rPr lang="en-GB" sz="2400" dirty="0">
                <a:solidFill>
                  <a:schemeClr val="accent1"/>
                </a:solidFill>
                <a:latin typeface="Aptos"/>
              </a:rPr>
              <a:t>analyse relations</a:t>
            </a:r>
            <a:r>
              <a:rPr lang="en-GB" sz="24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31/12/2023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670B-ED04-43B7-87E2-1516830BE3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pc="600" dirty="0"/>
              <a:t>Discussion Time</a:t>
            </a:r>
            <a:endParaRPr lang="en-PK" spc="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50AC3-C381-4F51-9F87-6E9C20CDD2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spc="600" dirty="0"/>
              <a:t>Thank You</a:t>
            </a:r>
            <a:endParaRPr lang="en-PK" spc="600" dirty="0"/>
          </a:p>
        </p:txBody>
      </p:sp>
    </p:spTree>
    <p:extLst>
      <p:ext uri="{BB962C8B-B14F-4D97-AF65-F5344CB8AC3E}">
        <p14:creationId xmlns:p14="http://schemas.microsoft.com/office/powerpoint/2010/main" val="27350289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 m_{ij} = \left\{ \begin{array}{l}&#10; 1\; \mbox{if} \;(a_i, b_j) \in R,\\&#10;0\; \mbox{if}\; (a_i,b_j) \not\in R.\end{array}\right.&#10;$$&#10;&#10;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2862</Words>
  <Application>Microsoft Office PowerPoint</Application>
  <PresentationFormat>Widescreen</PresentationFormat>
  <Paragraphs>588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KaTeX_Main</vt:lpstr>
      <vt:lpstr>KaTeX_Math</vt:lpstr>
      <vt:lpstr>Söhne</vt:lpstr>
      <vt:lpstr>Aptos</vt:lpstr>
      <vt:lpstr>Arial</vt:lpstr>
      <vt:lpstr>Calibri</vt:lpstr>
      <vt:lpstr>Cambria</vt:lpstr>
      <vt:lpstr>Cambria Math</vt:lpstr>
      <vt:lpstr>Symbol</vt:lpstr>
      <vt:lpstr>Times New Roman</vt:lpstr>
      <vt:lpstr>Wingdings</vt:lpstr>
      <vt:lpstr>Office Theme</vt:lpstr>
      <vt:lpstr>RELATIONS AND THEIR PROPERTIES</vt:lpstr>
      <vt:lpstr>Table of Contents</vt:lpstr>
      <vt:lpstr>Cartesian Product</vt:lpstr>
      <vt:lpstr>Relations</vt:lpstr>
      <vt:lpstr>Relations</vt:lpstr>
      <vt:lpstr>Representing relations</vt:lpstr>
      <vt:lpstr>Functions as Relations </vt:lpstr>
      <vt:lpstr>Relations on a Set </vt:lpstr>
      <vt:lpstr>Properties of Relations </vt:lpstr>
      <vt:lpstr>Properties of Relations </vt:lpstr>
      <vt:lpstr>Properties of Relations </vt:lpstr>
      <vt:lpstr>Properties of Relations </vt:lpstr>
      <vt:lpstr>Properties of Relations </vt:lpstr>
      <vt:lpstr>Equivalence Relations</vt:lpstr>
      <vt:lpstr>Partial Order Relations</vt:lpstr>
      <vt:lpstr>Combining Relations</vt:lpstr>
      <vt:lpstr>Composite Relations</vt:lpstr>
      <vt:lpstr>Powers of Relations</vt:lpstr>
      <vt:lpstr>n-ary Relations </vt:lpstr>
      <vt:lpstr>Databases and Relations</vt:lpstr>
      <vt:lpstr>Databases and Relations</vt:lpstr>
      <vt:lpstr>Primary Key</vt:lpstr>
      <vt:lpstr>Composite Key</vt:lpstr>
      <vt:lpstr>Primary and Composite Keys</vt:lpstr>
      <vt:lpstr>Relations and Matrices</vt:lpstr>
      <vt:lpstr>Properties of Relations Using Matrices  </vt:lpstr>
      <vt:lpstr>Properties of Relations Using Matrices  </vt:lpstr>
      <vt:lpstr>Properties of Relations Using Matrices  </vt:lpstr>
      <vt:lpstr>Properties of Relations Using Matrices  </vt:lpstr>
      <vt:lpstr>Properties of Relations Using Matrices  </vt:lpstr>
      <vt:lpstr>Properties of Relations Using Matrices  </vt:lpstr>
      <vt:lpstr>Properties of Relations Using Matrices  </vt:lpstr>
      <vt:lpstr>Properties of Relations Using Matrices  </vt:lpstr>
      <vt:lpstr>Relations and Digraphs </vt:lpstr>
      <vt:lpstr>Relations and Digraphs </vt:lpstr>
      <vt:lpstr>Relations and Digraphs </vt:lpstr>
      <vt:lpstr>Relations and Digraphs </vt:lpstr>
      <vt:lpstr>PowerPoint Presentation</vt:lpstr>
      <vt:lpstr>Discussion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Hussain Ali</dc:creator>
  <cp:lastModifiedBy>Hussain Ali</cp:lastModifiedBy>
  <cp:revision>76</cp:revision>
  <dcterms:created xsi:type="dcterms:W3CDTF">2023-12-31T15:03:10Z</dcterms:created>
  <dcterms:modified xsi:type="dcterms:W3CDTF">2026-05-14T04:59:51Z</dcterms:modified>
</cp:coreProperties>
</file>