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67" r:id="rId2"/>
    <p:sldId id="257" r:id="rId3"/>
    <p:sldId id="261" r:id="rId4"/>
    <p:sldId id="258" r:id="rId5"/>
    <p:sldId id="286" r:id="rId6"/>
    <p:sldId id="269" r:id="rId7"/>
    <p:sldId id="270" r:id="rId8"/>
    <p:sldId id="264" r:id="rId9"/>
    <p:sldId id="292" r:id="rId10"/>
    <p:sldId id="275" r:id="rId11"/>
    <p:sldId id="262" r:id="rId12"/>
    <p:sldId id="271" r:id="rId13"/>
    <p:sldId id="272" r:id="rId14"/>
    <p:sldId id="263" r:id="rId15"/>
    <p:sldId id="273" r:id="rId16"/>
    <p:sldId id="293" r:id="rId17"/>
    <p:sldId id="274" r:id="rId18"/>
    <p:sldId id="265" r:id="rId19"/>
    <p:sldId id="289" r:id="rId20"/>
    <p:sldId id="290" r:id="rId21"/>
    <p:sldId id="260" r:id="rId22"/>
    <p:sldId id="280" r:id="rId23"/>
    <p:sldId id="268" r:id="rId24"/>
    <p:sldId id="284" r:id="rId25"/>
    <p:sldId id="285" r:id="rId26"/>
    <p:sldId id="294" r:id="rId27"/>
  </p:sldIdLst>
  <p:sldSz cx="12192000" cy="6858000"/>
  <p:notesSz cx="6858000" cy="9144000"/>
  <p:defaultTextStyle>
    <a:defPPr>
      <a:defRPr lang="aa-E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03E"/>
    <a:srgbClr val="092547"/>
    <a:srgbClr val="0D3769"/>
    <a:srgbClr val="E6E6E6"/>
    <a:srgbClr val="557C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5" autoAdjust="0"/>
    <p:restoredTop sz="90977" autoAdjust="0"/>
  </p:normalViewPr>
  <p:slideViewPr>
    <p:cSldViewPr snapToGrid="0">
      <p:cViewPr varScale="1">
        <p:scale>
          <a:sx n="75" d="100"/>
          <a:sy n="75" d="100"/>
        </p:scale>
        <p:origin x="974" y="53"/>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A2DAA4-8493-4CAF-8D5B-4B1CAC69E40B}" type="doc">
      <dgm:prSet loTypeId="urn:microsoft.com/office/officeart/2005/8/layout/orgChart1" loCatId="hierarchy" qsTypeId="urn:microsoft.com/office/officeart/2005/8/quickstyle/simple2" qsCatId="simple" csTypeId="urn:microsoft.com/office/officeart/2005/8/colors/accent3_4" csCatId="accent3" phldr="1"/>
      <dgm:spPr/>
      <dgm:t>
        <a:bodyPr/>
        <a:lstStyle/>
        <a:p>
          <a:endParaRPr lang="aa-ET"/>
        </a:p>
      </dgm:t>
    </dgm:pt>
    <dgm:pt modelId="{5CC0A964-3C80-4944-8AC6-4FF58789CD96}">
      <dgm:prSet phldrT="[Text]" custT="1"/>
      <dgm:spPr>
        <a:solidFill>
          <a:schemeClr val="bg1">
            <a:lumMod val="95000"/>
          </a:schemeClr>
        </a:solidFill>
        <a:ln>
          <a:solidFill>
            <a:schemeClr val="tx1"/>
          </a:solidFill>
        </a:ln>
      </dgm:spPr>
      <dgm:t>
        <a:bodyPr/>
        <a:lstStyle/>
        <a:p>
          <a:r>
            <a:rPr lang="en-US" sz="2400" b="1" dirty="0">
              <a:solidFill>
                <a:srgbClr val="08203E"/>
              </a:solidFill>
            </a:rPr>
            <a:t>Consumers</a:t>
          </a:r>
          <a:endParaRPr lang="aa-ET" sz="2400" b="1" dirty="0">
            <a:solidFill>
              <a:srgbClr val="08203E"/>
            </a:solidFill>
          </a:endParaRPr>
        </a:p>
      </dgm:t>
    </dgm:pt>
    <dgm:pt modelId="{29468F62-7F78-4F1A-A541-946C1B288471}" type="parTrans" cxnId="{E25E4787-1B34-44E6-9C09-1AECF31033B6}">
      <dgm:prSet/>
      <dgm:spPr/>
      <dgm:t>
        <a:bodyPr/>
        <a:lstStyle/>
        <a:p>
          <a:endParaRPr lang="aa-ET"/>
        </a:p>
      </dgm:t>
    </dgm:pt>
    <dgm:pt modelId="{9B6686D2-8BB0-4283-AD0A-70821B718DE3}" type="sibTrans" cxnId="{E25E4787-1B34-44E6-9C09-1AECF31033B6}">
      <dgm:prSet/>
      <dgm:spPr/>
      <dgm:t>
        <a:bodyPr/>
        <a:lstStyle/>
        <a:p>
          <a:endParaRPr lang="aa-ET"/>
        </a:p>
      </dgm:t>
    </dgm:pt>
    <dgm:pt modelId="{1A6BD3F5-D5E4-47C0-92EF-11BC988F9846}">
      <dgm:prSet phldrT="[Text]"/>
      <dgm:spPr>
        <a:solidFill>
          <a:srgbClr val="0D3769"/>
        </a:solidFill>
        <a:ln>
          <a:solidFill>
            <a:schemeClr val="tx1"/>
          </a:solidFill>
        </a:ln>
      </dgm:spPr>
      <dgm:t>
        <a:bodyPr/>
        <a:lstStyle/>
        <a:p>
          <a:pPr>
            <a:buAutoNum type="arabicPeriod"/>
          </a:pPr>
          <a:r>
            <a:rPr lang="en-US" dirty="0"/>
            <a:t>Telecom Operators</a:t>
          </a:r>
          <a:endParaRPr lang="aa-ET" dirty="0"/>
        </a:p>
      </dgm:t>
    </dgm:pt>
    <dgm:pt modelId="{D07BE8B0-49AD-465E-88E1-0ABA4C6291C3}" type="parTrans" cxnId="{F2A962FB-383D-4C6F-8E83-1386CD4688FA}">
      <dgm:prSet/>
      <dgm:spPr/>
      <dgm:t>
        <a:bodyPr/>
        <a:lstStyle/>
        <a:p>
          <a:endParaRPr lang="aa-ET"/>
        </a:p>
      </dgm:t>
    </dgm:pt>
    <dgm:pt modelId="{DA605931-092F-47BE-B189-ADCD2634EB41}" type="sibTrans" cxnId="{F2A962FB-383D-4C6F-8E83-1386CD4688FA}">
      <dgm:prSet/>
      <dgm:spPr/>
      <dgm:t>
        <a:bodyPr/>
        <a:lstStyle/>
        <a:p>
          <a:endParaRPr lang="aa-ET"/>
        </a:p>
      </dgm:t>
    </dgm:pt>
    <dgm:pt modelId="{28DF72A8-0A95-439F-A58D-F1FAF3D82891}">
      <dgm:prSet phldrT="[Text]"/>
      <dgm:spPr>
        <a:solidFill>
          <a:srgbClr val="0D3769"/>
        </a:solidFill>
        <a:ln>
          <a:solidFill>
            <a:schemeClr val="tx1"/>
          </a:solidFill>
        </a:ln>
      </dgm:spPr>
      <dgm:t>
        <a:bodyPr/>
        <a:lstStyle/>
        <a:p>
          <a:pPr>
            <a:buAutoNum type="arabicPeriod"/>
          </a:pPr>
          <a:r>
            <a:rPr lang="en-US" dirty="0"/>
            <a:t>Telecom equipment vendors</a:t>
          </a:r>
          <a:endParaRPr lang="aa-ET" dirty="0"/>
        </a:p>
      </dgm:t>
    </dgm:pt>
    <dgm:pt modelId="{45182603-9D93-461B-BEC4-A4B911F669D5}" type="parTrans" cxnId="{1CA2997D-C535-449D-9D05-2D55C532A14C}">
      <dgm:prSet/>
      <dgm:spPr/>
      <dgm:t>
        <a:bodyPr/>
        <a:lstStyle/>
        <a:p>
          <a:endParaRPr lang="aa-ET"/>
        </a:p>
      </dgm:t>
    </dgm:pt>
    <dgm:pt modelId="{0B2959CD-3F6C-45D5-8610-D31FB57924EC}" type="sibTrans" cxnId="{1CA2997D-C535-449D-9D05-2D55C532A14C}">
      <dgm:prSet/>
      <dgm:spPr/>
      <dgm:t>
        <a:bodyPr/>
        <a:lstStyle/>
        <a:p>
          <a:endParaRPr lang="aa-ET"/>
        </a:p>
      </dgm:t>
    </dgm:pt>
    <dgm:pt modelId="{90205A9F-3A0C-458E-962B-A7E655B7F212}">
      <dgm:prSet phldrT="[Text]"/>
      <dgm:spPr>
        <a:solidFill>
          <a:srgbClr val="0D3769"/>
        </a:solidFill>
        <a:ln>
          <a:solidFill>
            <a:schemeClr val="tx1"/>
          </a:solidFill>
        </a:ln>
      </dgm:spPr>
      <dgm:t>
        <a:bodyPr/>
        <a:lstStyle/>
        <a:p>
          <a:pPr>
            <a:buAutoNum type="arabicPeriod"/>
          </a:pPr>
          <a:r>
            <a:rPr lang="en-US" dirty="0"/>
            <a:t>Telecommunications infrastructure providers</a:t>
          </a:r>
          <a:endParaRPr lang="aa-ET" dirty="0"/>
        </a:p>
      </dgm:t>
    </dgm:pt>
    <dgm:pt modelId="{90F0D816-0EC9-44B9-B2A2-3C1B08DECC68}" type="parTrans" cxnId="{E9FD319A-0475-4BE6-BBA3-B6039020894F}">
      <dgm:prSet/>
      <dgm:spPr/>
      <dgm:t>
        <a:bodyPr/>
        <a:lstStyle/>
        <a:p>
          <a:endParaRPr lang="aa-ET"/>
        </a:p>
      </dgm:t>
    </dgm:pt>
    <dgm:pt modelId="{189B6A3D-4FE7-4AC8-AB4E-DFF6A5C02969}" type="sibTrans" cxnId="{E9FD319A-0475-4BE6-BBA3-B6039020894F}">
      <dgm:prSet/>
      <dgm:spPr/>
      <dgm:t>
        <a:bodyPr/>
        <a:lstStyle/>
        <a:p>
          <a:endParaRPr lang="aa-ET"/>
        </a:p>
      </dgm:t>
    </dgm:pt>
    <dgm:pt modelId="{D742D1CF-80BC-4203-866B-367776D8B2BF}">
      <dgm:prSet phldrT="[Text]"/>
      <dgm:spPr>
        <a:solidFill>
          <a:srgbClr val="0D3769"/>
        </a:solidFill>
        <a:ln>
          <a:solidFill>
            <a:schemeClr val="tx1"/>
          </a:solidFill>
        </a:ln>
      </dgm:spPr>
      <dgm:t>
        <a:bodyPr/>
        <a:lstStyle/>
        <a:p>
          <a:pPr>
            <a:buAutoNum type="arabicPeriod"/>
          </a:pPr>
          <a:r>
            <a:rPr lang="en-US" dirty="0"/>
            <a:t>Telecommunications regulatory bodies</a:t>
          </a:r>
          <a:endParaRPr lang="aa-ET" dirty="0"/>
        </a:p>
      </dgm:t>
    </dgm:pt>
    <dgm:pt modelId="{736DA277-6917-4D9B-BB90-B6A9D7AFD4B6}" type="parTrans" cxnId="{040ACEE1-FDAD-4B04-BA76-C9C7A1DAA021}">
      <dgm:prSet/>
      <dgm:spPr/>
      <dgm:t>
        <a:bodyPr/>
        <a:lstStyle/>
        <a:p>
          <a:endParaRPr lang="aa-ET"/>
        </a:p>
      </dgm:t>
    </dgm:pt>
    <dgm:pt modelId="{40512CA5-64FD-46CE-A9BC-1175E30ABC0D}" type="sibTrans" cxnId="{040ACEE1-FDAD-4B04-BA76-C9C7A1DAA021}">
      <dgm:prSet/>
      <dgm:spPr/>
      <dgm:t>
        <a:bodyPr/>
        <a:lstStyle/>
        <a:p>
          <a:endParaRPr lang="aa-ET"/>
        </a:p>
      </dgm:t>
    </dgm:pt>
    <dgm:pt modelId="{E18C1F5D-14A5-4C0C-9CD1-7FFB93F404D3}" type="pres">
      <dgm:prSet presAssocID="{CBA2DAA4-8493-4CAF-8D5B-4B1CAC69E40B}" presName="hierChild1" presStyleCnt="0">
        <dgm:presLayoutVars>
          <dgm:orgChart val="1"/>
          <dgm:chPref val="1"/>
          <dgm:dir/>
          <dgm:animOne val="branch"/>
          <dgm:animLvl val="lvl"/>
          <dgm:resizeHandles/>
        </dgm:presLayoutVars>
      </dgm:prSet>
      <dgm:spPr/>
    </dgm:pt>
    <dgm:pt modelId="{81E32A37-C48A-42B5-893D-A5A37436831D}" type="pres">
      <dgm:prSet presAssocID="{5CC0A964-3C80-4944-8AC6-4FF58789CD96}" presName="hierRoot1" presStyleCnt="0">
        <dgm:presLayoutVars>
          <dgm:hierBranch val="init"/>
        </dgm:presLayoutVars>
      </dgm:prSet>
      <dgm:spPr/>
    </dgm:pt>
    <dgm:pt modelId="{B17D5B11-2203-4A17-A70C-EC3803105081}" type="pres">
      <dgm:prSet presAssocID="{5CC0A964-3C80-4944-8AC6-4FF58789CD96}" presName="rootComposite1" presStyleCnt="0"/>
      <dgm:spPr/>
    </dgm:pt>
    <dgm:pt modelId="{561A0980-FD99-4F83-812B-E4F178B0C9F9}" type="pres">
      <dgm:prSet presAssocID="{5CC0A964-3C80-4944-8AC6-4FF58789CD96}" presName="rootText1" presStyleLbl="node0" presStyleIdx="0" presStyleCnt="1" custLinFactY="86779" custLinFactNeighborX="0" custLinFactNeighborY="100000">
        <dgm:presLayoutVars>
          <dgm:chPref val="3"/>
        </dgm:presLayoutVars>
      </dgm:prSet>
      <dgm:spPr>
        <a:prstGeom prst="roundRect">
          <a:avLst/>
        </a:prstGeom>
      </dgm:spPr>
    </dgm:pt>
    <dgm:pt modelId="{34B32088-F22B-4CF2-9F3E-D21D49CA2B91}" type="pres">
      <dgm:prSet presAssocID="{5CC0A964-3C80-4944-8AC6-4FF58789CD96}" presName="rootConnector1" presStyleLbl="node1" presStyleIdx="0" presStyleCnt="0"/>
      <dgm:spPr/>
    </dgm:pt>
    <dgm:pt modelId="{37663841-9007-4581-A578-68E35D8FB015}" type="pres">
      <dgm:prSet presAssocID="{5CC0A964-3C80-4944-8AC6-4FF58789CD96}" presName="hierChild2" presStyleCnt="0"/>
      <dgm:spPr/>
    </dgm:pt>
    <dgm:pt modelId="{84EC1E9D-FD17-41CB-9142-A469B7D3619C}" type="pres">
      <dgm:prSet presAssocID="{D07BE8B0-49AD-465E-88E1-0ABA4C6291C3}" presName="Name37" presStyleLbl="parChTrans1D2" presStyleIdx="0" presStyleCnt="4"/>
      <dgm:spPr/>
    </dgm:pt>
    <dgm:pt modelId="{B66DE324-4EF0-4958-B8FA-F7418531DD8E}" type="pres">
      <dgm:prSet presAssocID="{1A6BD3F5-D5E4-47C0-92EF-11BC988F9846}" presName="hierRoot2" presStyleCnt="0">
        <dgm:presLayoutVars>
          <dgm:hierBranch val="init"/>
        </dgm:presLayoutVars>
      </dgm:prSet>
      <dgm:spPr/>
    </dgm:pt>
    <dgm:pt modelId="{7D16B2D4-2BDE-4338-A0C6-2BED5AAD2AF3}" type="pres">
      <dgm:prSet presAssocID="{1A6BD3F5-D5E4-47C0-92EF-11BC988F9846}" presName="rootComposite" presStyleCnt="0"/>
      <dgm:spPr/>
    </dgm:pt>
    <dgm:pt modelId="{55C887F9-8E97-44BE-A6F4-7269F882BC43}" type="pres">
      <dgm:prSet presAssocID="{1A6BD3F5-D5E4-47C0-92EF-11BC988F9846}" presName="rootText" presStyleLbl="node2" presStyleIdx="0" presStyleCnt="4" custLinFactY="-100000" custLinFactNeighborX="240" custLinFactNeighborY="-104069">
        <dgm:presLayoutVars>
          <dgm:chPref val="3"/>
        </dgm:presLayoutVars>
      </dgm:prSet>
      <dgm:spPr>
        <a:prstGeom prst="roundRect">
          <a:avLst/>
        </a:prstGeom>
      </dgm:spPr>
    </dgm:pt>
    <dgm:pt modelId="{8E78C3BC-D1D9-49B8-BC50-27B07237A609}" type="pres">
      <dgm:prSet presAssocID="{1A6BD3F5-D5E4-47C0-92EF-11BC988F9846}" presName="rootConnector" presStyleLbl="node2" presStyleIdx="0" presStyleCnt="4"/>
      <dgm:spPr/>
    </dgm:pt>
    <dgm:pt modelId="{72E2A145-61F1-4E12-83FE-8E483745B91D}" type="pres">
      <dgm:prSet presAssocID="{1A6BD3F5-D5E4-47C0-92EF-11BC988F9846}" presName="hierChild4" presStyleCnt="0"/>
      <dgm:spPr/>
    </dgm:pt>
    <dgm:pt modelId="{ED7B4F72-551E-4EE7-BC25-857725C2C57F}" type="pres">
      <dgm:prSet presAssocID="{1A6BD3F5-D5E4-47C0-92EF-11BC988F9846}" presName="hierChild5" presStyleCnt="0"/>
      <dgm:spPr/>
    </dgm:pt>
    <dgm:pt modelId="{48ADBC6A-001C-4E1A-B5BA-22DFE86511A2}" type="pres">
      <dgm:prSet presAssocID="{45182603-9D93-461B-BEC4-A4B911F669D5}" presName="Name37" presStyleLbl="parChTrans1D2" presStyleIdx="1" presStyleCnt="4"/>
      <dgm:spPr/>
    </dgm:pt>
    <dgm:pt modelId="{8F19AB66-EA1A-4294-88D7-6303E04EA622}" type="pres">
      <dgm:prSet presAssocID="{28DF72A8-0A95-439F-A58D-F1FAF3D82891}" presName="hierRoot2" presStyleCnt="0">
        <dgm:presLayoutVars>
          <dgm:hierBranch val="init"/>
        </dgm:presLayoutVars>
      </dgm:prSet>
      <dgm:spPr/>
    </dgm:pt>
    <dgm:pt modelId="{4BE1F0DA-08A2-4BFE-8930-B8827BFBC693}" type="pres">
      <dgm:prSet presAssocID="{28DF72A8-0A95-439F-A58D-F1FAF3D82891}" presName="rootComposite" presStyleCnt="0"/>
      <dgm:spPr/>
    </dgm:pt>
    <dgm:pt modelId="{15EEB37A-37B2-4D35-9F72-FAAB82151E49}" type="pres">
      <dgm:prSet presAssocID="{28DF72A8-0A95-439F-A58D-F1FAF3D82891}" presName="rootText" presStyleLbl="node2" presStyleIdx="1" presStyleCnt="4" custLinFactY="-100000" custLinFactNeighborX="240" custLinFactNeighborY="-104069">
        <dgm:presLayoutVars>
          <dgm:chPref val="3"/>
        </dgm:presLayoutVars>
      </dgm:prSet>
      <dgm:spPr>
        <a:prstGeom prst="roundRect">
          <a:avLst/>
        </a:prstGeom>
      </dgm:spPr>
    </dgm:pt>
    <dgm:pt modelId="{741F28A1-B1D8-43AC-9375-AC041F728D60}" type="pres">
      <dgm:prSet presAssocID="{28DF72A8-0A95-439F-A58D-F1FAF3D82891}" presName="rootConnector" presStyleLbl="node2" presStyleIdx="1" presStyleCnt="4"/>
      <dgm:spPr/>
    </dgm:pt>
    <dgm:pt modelId="{B3CE88B3-3F21-48D1-87EF-B5987D754A97}" type="pres">
      <dgm:prSet presAssocID="{28DF72A8-0A95-439F-A58D-F1FAF3D82891}" presName="hierChild4" presStyleCnt="0"/>
      <dgm:spPr/>
    </dgm:pt>
    <dgm:pt modelId="{C7891657-2814-4D0B-86E2-BA7149C132EE}" type="pres">
      <dgm:prSet presAssocID="{28DF72A8-0A95-439F-A58D-F1FAF3D82891}" presName="hierChild5" presStyleCnt="0"/>
      <dgm:spPr/>
    </dgm:pt>
    <dgm:pt modelId="{DCF175B8-E586-4393-8E27-9171EAB997A4}" type="pres">
      <dgm:prSet presAssocID="{90F0D816-0EC9-44B9-B2A2-3C1B08DECC68}" presName="Name37" presStyleLbl="parChTrans1D2" presStyleIdx="2" presStyleCnt="4"/>
      <dgm:spPr/>
    </dgm:pt>
    <dgm:pt modelId="{037091EA-1546-4AAC-A92C-B95B78112131}" type="pres">
      <dgm:prSet presAssocID="{90205A9F-3A0C-458E-962B-A7E655B7F212}" presName="hierRoot2" presStyleCnt="0">
        <dgm:presLayoutVars>
          <dgm:hierBranch val="init"/>
        </dgm:presLayoutVars>
      </dgm:prSet>
      <dgm:spPr/>
    </dgm:pt>
    <dgm:pt modelId="{E757A348-9416-4716-96BB-FD547A1E5687}" type="pres">
      <dgm:prSet presAssocID="{90205A9F-3A0C-458E-962B-A7E655B7F212}" presName="rootComposite" presStyleCnt="0"/>
      <dgm:spPr/>
    </dgm:pt>
    <dgm:pt modelId="{2D8F7789-4C68-40D2-8038-E7D406AEEB5F}" type="pres">
      <dgm:prSet presAssocID="{90205A9F-3A0C-458E-962B-A7E655B7F212}" presName="rootText" presStyleLbl="node2" presStyleIdx="2" presStyleCnt="4" custLinFactY="-100000" custLinFactNeighborX="240" custLinFactNeighborY="-104069">
        <dgm:presLayoutVars>
          <dgm:chPref val="3"/>
        </dgm:presLayoutVars>
      </dgm:prSet>
      <dgm:spPr>
        <a:prstGeom prst="roundRect">
          <a:avLst/>
        </a:prstGeom>
      </dgm:spPr>
    </dgm:pt>
    <dgm:pt modelId="{49FD455D-E9B2-4274-8B99-457A6EB86652}" type="pres">
      <dgm:prSet presAssocID="{90205A9F-3A0C-458E-962B-A7E655B7F212}" presName="rootConnector" presStyleLbl="node2" presStyleIdx="2" presStyleCnt="4"/>
      <dgm:spPr/>
    </dgm:pt>
    <dgm:pt modelId="{16C87959-7D64-4F58-8889-689B36D7FB82}" type="pres">
      <dgm:prSet presAssocID="{90205A9F-3A0C-458E-962B-A7E655B7F212}" presName="hierChild4" presStyleCnt="0"/>
      <dgm:spPr/>
    </dgm:pt>
    <dgm:pt modelId="{831F35F7-FB8D-42DA-84ED-F613020E57A3}" type="pres">
      <dgm:prSet presAssocID="{90205A9F-3A0C-458E-962B-A7E655B7F212}" presName="hierChild5" presStyleCnt="0"/>
      <dgm:spPr/>
    </dgm:pt>
    <dgm:pt modelId="{6070F903-3F65-4CDB-A3C4-8D6067B0A24A}" type="pres">
      <dgm:prSet presAssocID="{736DA277-6917-4D9B-BB90-B6A9D7AFD4B6}" presName="Name37" presStyleLbl="parChTrans1D2" presStyleIdx="3" presStyleCnt="4"/>
      <dgm:spPr/>
    </dgm:pt>
    <dgm:pt modelId="{34FC2AFE-3BC8-4822-AAD3-D851AAE0958F}" type="pres">
      <dgm:prSet presAssocID="{D742D1CF-80BC-4203-866B-367776D8B2BF}" presName="hierRoot2" presStyleCnt="0">
        <dgm:presLayoutVars>
          <dgm:hierBranch val="init"/>
        </dgm:presLayoutVars>
      </dgm:prSet>
      <dgm:spPr/>
    </dgm:pt>
    <dgm:pt modelId="{8233A5BA-FB58-4197-9506-215FC8B942C3}" type="pres">
      <dgm:prSet presAssocID="{D742D1CF-80BC-4203-866B-367776D8B2BF}" presName="rootComposite" presStyleCnt="0"/>
      <dgm:spPr/>
    </dgm:pt>
    <dgm:pt modelId="{0EC02376-9103-468C-8429-48B631D66909}" type="pres">
      <dgm:prSet presAssocID="{D742D1CF-80BC-4203-866B-367776D8B2BF}" presName="rootText" presStyleLbl="node2" presStyleIdx="3" presStyleCnt="4" custLinFactY="-100000" custLinFactNeighborX="240" custLinFactNeighborY="-104069">
        <dgm:presLayoutVars>
          <dgm:chPref val="3"/>
        </dgm:presLayoutVars>
      </dgm:prSet>
      <dgm:spPr>
        <a:prstGeom prst="roundRect">
          <a:avLst/>
        </a:prstGeom>
      </dgm:spPr>
    </dgm:pt>
    <dgm:pt modelId="{0CE1C179-D76F-4BD0-A0C9-37658533B37F}" type="pres">
      <dgm:prSet presAssocID="{D742D1CF-80BC-4203-866B-367776D8B2BF}" presName="rootConnector" presStyleLbl="node2" presStyleIdx="3" presStyleCnt="4"/>
      <dgm:spPr/>
    </dgm:pt>
    <dgm:pt modelId="{956296AA-0788-440F-92C4-E7499F1CFC8C}" type="pres">
      <dgm:prSet presAssocID="{D742D1CF-80BC-4203-866B-367776D8B2BF}" presName="hierChild4" presStyleCnt="0"/>
      <dgm:spPr/>
    </dgm:pt>
    <dgm:pt modelId="{9FF3B6AF-15AD-4169-9505-FBB1ED2B5B45}" type="pres">
      <dgm:prSet presAssocID="{D742D1CF-80BC-4203-866B-367776D8B2BF}" presName="hierChild5" presStyleCnt="0"/>
      <dgm:spPr/>
    </dgm:pt>
    <dgm:pt modelId="{0B43C9CE-945F-42CF-8CD9-4C3C8BB3F557}" type="pres">
      <dgm:prSet presAssocID="{5CC0A964-3C80-4944-8AC6-4FF58789CD96}" presName="hierChild3" presStyleCnt="0"/>
      <dgm:spPr/>
    </dgm:pt>
  </dgm:ptLst>
  <dgm:cxnLst>
    <dgm:cxn modelId="{1A8D4817-3D9C-4A1D-B613-8292E80FCBB6}" type="presOf" srcId="{736DA277-6917-4D9B-BB90-B6A9D7AFD4B6}" destId="{6070F903-3F65-4CDB-A3C4-8D6067B0A24A}" srcOrd="0" destOrd="0" presId="urn:microsoft.com/office/officeart/2005/8/layout/orgChart1"/>
    <dgm:cxn modelId="{982CF718-E67C-400E-A5A6-DEEDED21D79F}" type="presOf" srcId="{90205A9F-3A0C-458E-962B-A7E655B7F212}" destId="{49FD455D-E9B2-4274-8B99-457A6EB86652}" srcOrd="1" destOrd="0" presId="urn:microsoft.com/office/officeart/2005/8/layout/orgChart1"/>
    <dgm:cxn modelId="{030C7B1A-B372-4F43-9891-3765AD2E7CC7}" type="presOf" srcId="{5CC0A964-3C80-4944-8AC6-4FF58789CD96}" destId="{34B32088-F22B-4CF2-9F3E-D21D49CA2B91}" srcOrd="1" destOrd="0" presId="urn:microsoft.com/office/officeart/2005/8/layout/orgChart1"/>
    <dgm:cxn modelId="{962B6D1C-196A-4669-B66C-80919712D0EF}" type="presOf" srcId="{28DF72A8-0A95-439F-A58D-F1FAF3D82891}" destId="{741F28A1-B1D8-43AC-9375-AC041F728D60}" srcOrd="1" destOrd="0" presId="urn:microsoft.com/office/officeart/2005/8/layout/orgChart1"/>
    <dgm:cxn modelId="{4650901C-5B0C-42F1-B5F5-358310722A76}" type="presOf" srcId="{5CC0A964-3C80-4944-8AC6-4FF58789CD96}" destId="{561A0980-FD99-4F83-812B-E4F178B0C9F9}" srcOrd="0" destOrd="0" presId="urn:microsoft.com/office/officeart/2005/8/layout/orgChart1"/>
    <dgm:cxn modelId="{73CAD725-6C1B-4980-ABE8-65A3DC78C6F7}" type="presOf" srcId="{28DF72A8-0A95-439F-A58D-F1FAF3D82891}" destId="{15EEB37A-37B2-4D35-9F72-FAAB82151E49}" srcOrd="0" destOrd="0" presId="urn:microsoft.com/office/officeart/2005/8/layout/orgChart1"/>
    <dgm:cxn modelId="{C3BB475D-244F-4659-86F4-7653EC88827D}" type="presOf" srcId="{1A6BD3F5-D5E4-47C0-92EF-11BC988F9846}" destId="{55C887F9-8E97-44BE-A6F4-7269F882BC43}" srcOrd="0" destOrd="0" presId="urn:microsoft.com/office/officeart/2005/8/layout/orgChart1"/>
    <dgm:cxn modelId="{1CA2997D-C535-449D-9D05-2D55C532A14C}" srcId="{5CC0A964-3C80-4944-8AC6-4FF58789CD96}" destId="{28DF72A8-0A95-439F-A58D-F1FAF3D82891}" srcOrd="1" destOrd="0" parTransId="{45182603-9D93-461B-BEC4-A4B911F669D5}" sibTransId="{0B2959CD-3F6C-45D5-8610-D31FB57924EC}"/>
    <dgm:cxn modelId="{7762FF7F-4F86-45A8-94E5-4B98F0058366}" type="presOf" srcId="{D742D1CF-80BC-4203-866B-367776D8B2BF}" destId="{0EC02376-9103-468C-8429-48B631D66909}" srcOrd="0" destOrd="0" presId="urn:microsoft.com/office/officeart/2005/8/layout/orgChart1"/>
    <dgm:cxn modelId="{E25E4787-1B34-44E6-9C09-1AECF31033B6}" srcId="{CBA2DAA4-8493-4CAF-8D5B-4B1CAC69E40B}" destId="{5CC0A964-3C80-4944-8AC6-4FF58789CD96}" srcOrd="0" destOrd="0" parTransId="{29468F62-7F78-4F1A-A541-946C1B288471}" sibTransId="{9B6686D2-8BB0-4283-AD0A-70821B718DE3}"/>
    <dgm:cxn modelId="{39A07F8C-6191-4454-AC68-A00C4DD3BFBB}" type="presOf" srcId="{CBA2DAA4-8493-4CAF-8D5B-4B1CAC69E40B}" destId="{E18C1F5D-14A5-4C0C-9CD1-7FFB93F404D3}" srcOrd="0" destOrd="0" presId="urn:microsoft.com/office/officeart/2005/8/layout/orgChart1"/>
    <dgm:cxn modelId="{E9FD319A-0475-4BE6-BBA3-B6039020894F}" srcId="{5CC0A964-3C80-4944-8AC6-4FF58789CD96}" destId="{90205A9F-3A0C-458E-962B-A7E655B7F212}" srcOrd="2" destOrd="0" parTransId="{90F0D816-0EC9-44B9-B2A2-3C1B08DECC68}" sibTransId="{189B6A3D-4FE7-4AC8-AB4E-DFF6A5C02969}"/>
    <dgm:cxn modelId="{CEB7849F-4D25-4622-8FD5-EB3FB852796C}" type="presOf" srcId="{D742D1CF-80BC-4203-866B-367776D8B2BF}" destId="{0CE1C179-D76F-4BD0-A0C9-37658533B37F}" srcOrd="1" destOrd="0" presId="urn:microsoft.com/office/officeart/2005/8/layout/orgChart1"/>
    <dgm:cxn modelId="{72D017AE-20F9-4897-8EA5-7E9EB7FEAC8B}" type="presOf" srcId="{1A6BD3F5-D5E4-47C0-92EF-11BC988F9846}" destId="{8E78C3BC-D1D9-49B8-BC50-27B07237A609}" srcOrd="1" destOrd="0" presId="urn:microsoft.com/office/officeart/2005/8/layout/orgChart1"/>
    <dgm:cxn modelId="{93C440BC-2C95-4863-8677-306924AFEACD}" type="presOf" srcId="{90F0D816-0EC9-44B9-B2A2-3C1B08DECC68}" destId="{DCF175B8-E586-4393-8E27-9171EAB997A4}" srcOrd="0" destOrd="0" presId="urn:microsoft.com/office/officeart/2005/8/layout/orgChart1"/>
    <dgm:cxn modelId="{01CDACCE-B2AD-4141-8D98-C61B01BE08AD}" type="presOf" srcId="{45182603-9D93-461B-BEC4-A4B911F669D5}" destId="{48ADBC6A-001C-4E1A-B5BA-22DFE86511A2}" srcOrd="0" destOrd="0" presId="urn:microsoft.com/office/officeart/2005/8/layout/orgChart1"/>
    <dgm:cxn modelId="{040ACEE1-FDAD-4B04-BA76-C9C7A1DAA021}" srcId="{5CC0A964-3C80-4944-8AC6-4FF58789CD96}" destId="{D742D1CF-80BC-4203-866B-367776D8B2BF}" srcOrd="3" destOrd="0" parTransId="{736DA277-6917-4D9B-BB90-B6A9D7AFD4B6}" sibTransId="{40512CA5-64FD-46CE-A9BC-1175E30ABC0D}"/>
    <dgm:cxn modelId="{473BDEF1-687C-4BDC-8ABC-6AE30F4AFC74}" type="presOf" srcId="{90205A9F-3A0C-458E-962B-A7E655B7F212}" destId="{2D8F7789-4C68-40D2-8038-E7D406AEEB5F}" srcOrd="0" destOrd="0" presId="urn:microsoft.com/office/officeart/2005/8/layout/orgChart1"/>
    <dgm:cxn modelId="{CF539EF2-25CE-4081-BBD8-E5A6677E0957}" type="presOf" srcId="{D07BE8B0-49AD-465E-88E1-0ABA4C6291C3}" destId="{84EC1E9D-FD17-41CB-9142-A469B7D3619C}" srcOrd="0" destOrd="0" presId="urn:microsoft.com/office/officeart/2005/8/layout/orgChart1"/>
    <dgm:cxn modelId="{F2A962FB-383D-4C6F-8E83-1386CD4688FA}" srcId="{5CC0A964-3C80-4944-8AC6-4FF58789CD96}" destId="{1A6BD3F5-D5E4-47C0-92EF-11BC988F9846}" srcOrd="0" destOrd="0" parTransId="{D07BE8B0-49AD-465E-88E1-0ABA4C6291C3}" sibTransId="{DA605931-092F-47BE-B189-ADCD2634EB41}"/>
    <dgm:cxn modelId="{967B211B-64FC-47EA-93CC-6359A2C1E165}" type="presParOf" srcId="{E18C1F5D-14A5-4C0C-9CD1-7FFB93F404D3}" destId="{81E32A37-C48A-42B5-893D-A5A37436831D}" srcOrd="0" destOrd="0" presId="urn:microsoft.com/office/officeart/2005/8/layout/orgChart1"/>
    <dgm:cxn modelId="{45384BFC-C533-4210-AF3B-847B40E0A123}" type="presParOf" srcId="{81E32A37-C48A-42B5-893D-A5A37436831D}" destId="{B17D5B11-2203-4A17-A70C-EC3803105081}" srcOrd="0" destOrd="0" presId="urn:microsoft.com/office/officeart/2005/8/layout/orgChart1"/>
    <dgm:cxn modelId="{50AF6D10-A1AB-48AA-B93F-CD777B5C521A}" type="presParOf" srcId="{B17D5B11-2203-4A17-A70C-EC3803105081}" destId="{561A0980-FD99-4F83-812B-E4F178B0C9F9}" srcOrd="0" destOrd="0" presId="urn:microsoft.com/office/officeart/2005/8/layout/orgChart1"/>
    <dgm:cxn modelId="{79839D05-1AA7-45E7-BB8C-B28E6D5A581F}" type="presParOf" srcId="{B17D5B11-2203-4A17-A70C-EC3803105081}" destId="{34B32088-F22B-4CF2-9F3E-D21D49CA2B91}" srcOrd="1" destOrd="0" presId="urn:microsoft.com/office/officeart/2005/8/layout/orgChart1"/>
    <dgm:cxn modelId="{29E640BB-3407-4D77-A13E-735E478E02DF}" type="presParOf" srcId="{81E32A37-C48A-42B5-893D-A5A37436831D}" destId="{37663841-9007-4581-A578-68E35D8FB015}" srcOrd="1" destOrd="0" presId="urn:microsoft.com/office/officeart/2005/8/layout/orgChart1"/>
    <dgm:cxn modelId="{B6B125DA-070E-4CAB-B352-1A16965ACF4A}" type="presParOf" srcId="{37663841-9007-4581-A578-68E35D8FB015}" destId="{84EC1E9D-FD17-41CB-9142-A469B7D3619C}" srcOrd="0" destOrd="0" presId="urn:microsoft.com/office/officeart/2005/8/layout/orgChart1"/>
    <dgm:cxn modelId="{E653884E-9EB7-4EC2-877B-C15F8C264FDA}" type="presParOf" srcId="{37663841-9007-4581-A578-68E35D8FB015}" destId="{B66DE324-4EF0-4958-B8FA-F7418531DD8E}" srcOrd="1" destOrd="0" presId="urn:microsoft.com/office/officeart/2005/8/layout/orgChart1"/>
    <dgm:cxn modelId="{1B621BCB-F394-4AFF-83DF-23594B50FDDE}" type="presParOf" srcId="{B66DE324-4EF0-4958-B8FA-F7418531DD8E}" destId="{7D16B2D4-2BDE-4338-A0C6-2BED5AAD2AF3}" srcOrd="0" destOrd="0" presId="urn:microsoft.com/office/officeart/2005/8/layout/orgChart1"/>
    <dgm:cxn modelId="{80183DCC-3D02-41C6-9DB5-5AE266E42344}" type="presParOf" srcId="{7D16B2D4-2BDE-4338-A0C6-2BED5AAD2AF3}" destId="{55C887F9-8E97-44BE-A6F4-7269F882BC43}" srcOrd="0" destOrd="0" presId="urn:microsoft.com/office/officeart/2005/8/layout/orgChart1"/>
    <dgm:cxn modelId="{6FD608DB-785F-4732-8C9D-1156AC1862A1}" type="presParOf" srcId="{7D16B2D4-2BDE-4338-A0C6-2BED5AAD2AF3}" destId="{8E78C3BC-D1D9-49B8-BC50-27B07237A609}" srcOrd="1" destOrd="0" presId="urn:microsoft.com/office/officeart/2005/8/layout/orgChart1"/>
    <dgm:cxn modelId="{50CD0F26-0DFD-4EA3-A818-98C346C91239}" type="presParOf" srcId="{B66DE324-4EF0-4958-B8FA-F7418531DD8E}" destId="{72E2A145-61F1-4E12-83FE-8E483745B91D}" srcOrd="1" destOrd="0" presId="urn:microsoft.com/office/officeart/2005/8/layout/orgChart1"/>
    <dgm:cxn modelId="{C25E39FB-2733-4AAE-8852-3EA10D93D3BC}" type="presParOf" srcId="{B66DE324-4EF0-4958-B8FA-F7418531DD8E}" destId="{ED7B4F72-551E-4EE7-BC25-857725C2C57F}" srcOrd="2" destOrd="0" presId="urn:microsoft.com/office/officeart/2005/8/layout/orgChart1"/>
    <dgm:cxn modelId="{10AAC324-946D-4A16-8348-13F3B004B717}" type="presParOf" srcId="{37663841-9007-4581-A578-68E35D8FB015}" destId="{48ADBC6A-001C-4E1A-B5BA-22DFE86511A2}" srcOrd="2" destOrd="0" presId="urn:microsoft.com/office/officeart/2005/8/layout/orgChart1"/>
    <dgm:cxn modelId="{F539EF8D-4167-4D3A-9D2A-92D800E08808}" type="presParOf" srcId="{37663841-9007-4581-A578-68E35D8FB015}" destId="{8F19AB66-EA1A-4294-88D7-6303E04EA622}" srcOrd="3" destOrd="0" presId="urn:microsoft.com/office/officeart/2005/8/layout/orgChart1"/>
    <dgm:cxn modelId="{A3B2DCEE-B3E5-4B28-A627-BF9FD4183FAC}" type="presParOf" srcId="{8F19AB66-EA1A-4294-88D7-6303E04EA622}" destId="{4BE1F0DA-08A2-4BFE-8930-B8827BFBC693}" srcOrd="0" destOrd="0" presId="urn:microsoft.com/office/officeart/2005/8/layout/orgChart1"/>
    <dgm:cxn modelId="{73BC05A5-8DC8-4BE3-B09B-03743DB0FEA8}" type="presParOf" srcId="{4BE1F0DA-08A2-4BFE-8930-B8827BFBC693}" destId="{15EEB37A-37B2-4D35-9F72-FAAB82151E49}" srcOrd="0" destOrd="0" presId="urn:microsoft.com/office/officeart/2005/8/layout/orgChart1"/>
    <dgm:cxn modelId="{A7862964-45D4-4BEB-A198-1E79213A10D8}" type="presParOf" srcId="{4BE1F0DA-08A2-4BFE-8930-B8827BFBC693}" destId="{741F28A1-B1D8-43AC-9375-AC041F728D60}" srcOrd="1" destOrd="0" presId="urn:microsoft.com/office/officeart/2005/8/layout/orgChart1"/>
    <dgm:cxn modelId="{8439663F-B30C-4436-B79B-DDE3BCF81429}" type="presParOf" srcId="{8F19AB66-EA1A-4294-88D7-6303E04EA622}" destId="{B3CE88B3-3F21-48D1-87EF-B5987D754A97}" srcOrd="1" destOrd="0" presId="urn:microsoft.com/office/officeart/2005/8/layout/orgChart1"/>
    <dgm:cxn modelId="{26C5A90A-E685-4200-8B63-DBD3FCFCB4AA}" type="presParOf" srcId="{8F19AB66-EA1A-4294-88D7-6303E04EA622}" destId="{C7891657-2814-4D0B-86E2-BA7149C132EE}" srcOrd="2" destOrd="0" presId="urn:microsoft.com/office/officeart/2005/8/layout/orgChart1"/>
    <dgm:cxn modelId="{368562BC-8CCF-4D57-BEA6-30FDAE1102AF}" type="presParOf" srcId="{37663841-9007-4581-A578-68E35D8FB015}" destId="{DCF175B8-E586-4393-8E27-9171EAB997A4}" srcOrd="4" destOrd="0" presId="urn:microsoft.com/office/officeart/2005/8/layout/orgChart1"/>
    <dgm:cxn modelId="{A35D146D-88A7-4604-8D20-1E8BBD76107D}" type="presParOf" srcId="{37663841-9007-4581-A578-68E35D8FB015}" destId="{037091EA-1546-4AAC-A92C-B95B78112131}" srcOrd="5" destOrd="0" presId="urn:microsoft.com/office/officeart/2005/8/layout/orgChart1"/>
    <dgm:cxn modelId="{4F06A640-BF5C-4B78-A48E-1C9EF207DA9B}" type="presParOf" srcId="{037091EA-1546-4AAC-A92C-B95B78112131}" destId="{E757A348-9416-4716-96BB-FD547A1E5687}" srcOrd="0" destOrd="0" presId="urn:microsoft.com/office/officeart/2005/8/layout/orgChart1"/>
    <dgm:cxn modelId="{7E9985A2-63E9-4D37-9312-20EFF77CFDBB}" type="presParOf" srcId="{E757A348-9416-4716-96BB-FD547A1E5687}" destId="{2D8F7789-4C68-40D2-8038-E7D406AEEB5F}" srcOrd="0" destOrd="0" presId="urn:microsoft.com/office/officeart/2005/8/layout/orgChart1"/>
    <dgm:cxn modelId="{A88FE91E-92DE-4477-8740-850FE2D299AD}" type="presParOf" srcId="{E757A348-9416-4716-96BB-FD547A1E5687}" destId="{49FD455D-E9B2-4274-8B99-457A6EB86652}" srcOrd="1" destOrd="0" presId="urn:microsoft.com/office/officeart/2005/8/layout/orgChart1"/>
    <dgm:cxn modelId="{253C475D-B852-4AB4-8657-01A820F7DC17}" type="presParOf" srcId="{037091EA-1546-4AAC-A92C-B95B78112131}" destId="{16C87959-7D64-4F58-8889-689B36D7FB82}" srcOrd="1" destOrd="0" presId="urn:microsoft.com/office/officeart/2005/8/layout/orgChart1"/>
    <dgm:cxn modelId="{23194B59-B343-4032-BC32-2A577238EB0B}" type="presParOf" srcId="{037091EA-1546-4AAC-A92C-B95B78112131}" destId="{831F35F7-FB8D-42DA-84ED-F613020E57A3}" srcOrd="2" destOrd="0" presId="urn:microsoft.com/office/officeart/2005/8/layout/orgChart1"/>
    <dgm:cxn modelId="{539EB41D-6460-4A06-968F-8A783E42564A}" type="presParOf" srcId="{37663841-9007-4581-A578-68E35D8FB015}" destId="{6070F903-3F65-4CDB-A3C4-8D6067B0A24A}" srcOrd="6" destOrd="0" presId="urn:microsoft.com/office/officeart/2005/8/layout/orgChart1"/>
    <dgm:cxn modelId="{4B7832C5-C690-48F2-A0BE-ED7DDF55D673}" type="presParOf" srcId="{37663841-9007-4581-A578-68E35D8FB015}" destId="{34FC2AFE-3BC8-4822-AAD3-D851AAE0958F}" srcOrd="7" destOrd="0" presId="urn:microsoft.com/office/officeart/2005/8/layout/orgChart1"/>
    <dgm:cxn modelId="{27AFE415-3553-41C9-8B77-8CE9C6A48F8D}" type="presParOf" srcId="{34FC2AFE-3BC8-4822-AAD3-D851AAE0958F}" destId="{8233A5BA-FB58-4197-9506-215FC8B942C3}" srcOrd="0" destOrd="0" presId="urn:microsoft.com/office/officeart/2005/8/layout/orgChart1"/>
    <dgm:cxn modelId="{6C810F73-DF56-4979-8658-BD4A9A901D7C}" type="presParOf" srcId="{8233A5BA-FB58-4197-9506-215FC8B942C3}" destId="{0EC02376-9103-468C-8429-48B631D66909}" srcOrd="0" destOrd="0" presId="urn:microsoft.com/office/officeart/2005/8/layout/orgChart1"/>
    <dgm:cxn modelId="{153A0F6B-6C7C-4473-8B1A-D6DDC1D4EB8E}" type="presParOf" srcId="{8233A5BA-FB58-4197-9506-215FC8B942C3}" destId="{0CE1C179-D76F-4BD0-A0C9-37658533B37F}" srcOrd="1" destOrd="0" presId="urn:microsoft.com/office/officeart/2005/8/layout/orgChart1"/>
    <dgm:cxn modelId="{0660D1DF-41F3-4606-8ABC-73026E820012}" type="presParOf" srcId="{34FC2AFE-3BC8-4822-AAD3-D851AAE0958F}" destId="{956296AA-0788-440F-92C4-E7499F1CFC8C}" srcOrd="1" destOrd="0" presId="urn:microsoft.com/office/officeart/2005/8/layout/orgChart1"/>
    <dgm:cxn modelId="{5D84B6E6-6998-4B3F-A295-7E2BF1B61E6A}" type="presParOf" srcId="{34FC2AFE-3BC8-4822-AAD3-D851AAE0958F}" destId="{9FF3B6AF-15AD-4169-9505-FBB1ED2B5B45}" srcOrd="2" destOrd="0" presId="urn:microsoft.com/office/officeart/2005/8/layout/orgChart1"/>
    <dgm:cxn modelId="{D74D8940-430B-4557-A658-46C4E542183D}" type="presParOf" srcId="{81E32A37-C48A-42B5-893D-A5A37436831D}" destId="{0B43C9CE-945F-42CF-8CD9-4C3C8BB3F5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F061D4-A889-4AA0-84A0-1FB73CD6066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aa-ET"/>
        </a:p>
      </dgm:t>
    </dgm:pt>
    <dgm:pt modelId="{2CFBA3F1-7120-408D-9B64-5F19018BFC0E}">
      <dgm:prSet phldrT="[Text]" custT="1"/>
      <dgm:spPr/>
      <dgm:t>
        <a:bodyPr/>
        <a:lstStyle/>
        <a:p>
          <a:pPr>
            <a:buNone/>
          </a:pPr>
          <a:r>
            <a:rPr lang="en-US" sz="2000" dirty="0"/>
            <a:t>Data breaches</a:t>
          </a:r>
          <a:endParaRPr lang="aa-ET" sz="2000" dirty="0"/>
        </a:p>
      </dgm:t>
    </dgm:pt>
    <dgm:pt modelId="{30040FCE-E2D1-4373-B8A0-8151E8DE4821}" type="parTrans" cxnId="{85CDE22D-7F06-4079-AE9E-62B644D07F23}">
      <dgm:prSet/>
      <dgm:spPr/>
      <dgm:t>
        <a:bodyPr/>
        <a:lstStyle/>
        <a:p>
          <a:endParaRPr lang="aa-ET" sz="1800"/>
        </a:p>
      </dgm:t>
    </dgm:pt>
    <dgm:pt modelId="{05BE8DCC-53E9-4C81-9D5F-7EB62DBF79CE}" type="sibTrans" cxnId="{85CDE22D-7F06-4079-AE9E-62B644D07F23}">
      <dgm:prSet/>
      <dgm:spPr/>
      <dgm:t>
        <a:bodyPr/>
        <a:lstStyle/>
        <a:p>
          <a:endParaRPr lang="aa-ET" sz="1800"/>
        </a:p>
      </dgm:t>
    </dgm:pt>
    <dgm:pt modelId="{6EFEE994-4301-44D6-B11B-F1D2B68FD411}">
      <dgm:prSet phldrT="[Text]" custT="1"/>
      <dgm:spPr/>
      <dgm:t>
        <a:bodyPr/>
        <a:lstStyle/>
        <a:p>
          <a:pPr>
            <a:buNone/>
          </a:pPr>
          <a:r>
            <a:rPr lang="en-US" sz="2000" dirty="0"/>
            <a:t>Denial-of-service (DoS) attacks</a:t>
          </a:r>
          <a:endParaRPr lang="aa-ET" sz="2000" dirty="0"/>
        </a:p>
      </dgm:t>
    </dgm:pt>
    <dgm:pt modelId="{E23C7DDE-84FD-45DB-B24A-7AA51716183A}" type="parTrans" cxnId="{2C99BF0A-09B9-4476-B448-11956A72A4F5}">
      <dgm:prSet/>
      <dgm:spPr/>
      <dgm:t>
        <a:bodyPr/>
        <a:lstStyle/>
        <a:p>
          <a:endParaRPr lang="aa-ET" sz="1800"/>
        </a:p>
      </dgm:t>
    </dgm:pt>
    <dgm:pt modelId="{C9D843B5-AB01-47F5-BCA5-96438D320BD5}" type="sibTrans" cxnId="{2C99BF0A-09B9-4476-B448-11956A72A4F5}">
      <dgm:prSet/>
      <dgm:spPr/>
      <dgm:t>
        <a:bodyPr/>
        <a:lstStyle/>
        <a:p>
          <a:endParaRPr lang="aa-ET" sz="1800"/>
        </a:p>
      </dgm:t>
    </dgm:pt>
    <dgm:pt modelId="{7DF3F031-20F5-4237-A342-8A40253E9BA8}">
      <dgm:prSet phldrT="[Text]" custT="1"/>
      <dgm:spPr/>
      <dgm:t>
        <a:bodyPr/>
        <a:lstStyle/>
        <a:p>
          <a:pPr>
            <a:buNone/>
          </a:pPr>
          <a:r>
            <a:rPr lang="en-US" sz="2000" dirty="0"/>
            <a:t>Man-in-the-middle (MitM) attacks:</a:t>
          </a:r>
          <a:endParaRPr lang="aa-ET" sz="2000" dirty="0"/>
        </a:p>
      </dgm:t>
    </dgm:pt>
    <dgm:pt modelId="{D42EDBB3-950B-4C02-8630-C3104138937F}" type="parTrans" cxnId="{D6BA2364-4996-4A05-8BBE-5BD89CC0E410}">
      <dgm:prSet/>
      <dgm:spPr/>
      <dgm:t>
        <a:bodyPr/>
        <a:lstStyle/>
        <a:p>
          <a:endParaRPr lang="aa-ET" sz="1800"/>
        </a:p>
      </dgm:t>
    </dgm:pt>
    <dgm:pt modelId="{BADE3B28-D5DF-43DE-AB4E-826C01507511}" type="sibTrans" cxnId="{D6BA2364-4996-4A05-8BBE-5BD89CC0E410}">
      <dgm:prSet/>
      <dgm:spPr/>
      <dgm:t>
        <a:bodyPr/>
        <a:lstStyle/>
        <a:p>
          <a:endParaRPr lang="aa-ET" sz="1800"/>
        </a:p>
      </dgm:t>
    </dgm:pt>
    <dgm:pt modelId="{0D83A82D-3DA8-4D2D-BBDC-33F84743CC41}">
      <dgm:prSet phldrT="[Text]" custT="1"/>
      <dgm:spPr/>
      <dgm:t>
        <a:bodyPr/>
        <a:lstStyle/>
        <a:p>
          <a:pPr>
            <a:buNone/>
          </a:pPr>
          <a:r>
            <a:rPr lang="en-US" sz="2000" dirty="0"/>
            <a:t>Malware attacks:</a:t>
          </a:r>
          <a:endParaRPr lang="aa-ET" sz="2000" dirty="0"/>
        </a:p>
      </dgm:t>
    </dgm:pt>
    <dgm:pt modelId="{8CBCF7DD-C55F-4936-9251-4492729ADC15}" type="parTrans" cxnId="{F9256D84-7891-4F3F-99EC-E531344B0E2E}">
      <dgm:prSet/>
      <dgm:spPr/>
      <dgm:t>
        <a:bodyPr/>
        <a:lstStyle/>
        <a:p>
          <a:endParaRPr lang="aa-ET" sz="1800"/>
        </a:p>
      </dgm:t>
    </dgm:pt>
    <dgm:pt modelId="{4EF8E5D7-D60D-4885-BF6E-B915DCFE76E3}" type="sibTrans" cxnId="{F9256D84-7891-4F3F-99EC-E531344B0E2E}">
      <dgm:prSet/>
      <dgm:spPr/>
      <dgm:t>
        <a:bodyPr/>
        <a:lstStyle/>
        <a:p>
          <a:endParaRPr lang="aa-ET" sz="1800"/>
        </a:p>
      </dgm:t>
    </dgm:pt>
    <dgm:pt modelId="{DD85A06F-1DC8-47E7-A43C-046097F363B6}">
      <dgm:prSet custT="1"/>
      <dgm:spPr/>
      <dgm:t>
        <a:bodyPr anchor="ctr"/>
        <a:lstStyle/>
        <a:p>
          <a:pPr algn="ctr">
            <a:buNone/>
          </a:pPr>
          <a:r>
            <a:rPr lang="en-US" sz="2800" dirty="0"/>
            <a:t>$4.24 million</a:t>
          </a:r>
          <a:endParaRPr lang="aa-ET" sz="2800" dirty="0"/>
        </a:p>
      </dgm:t>
    </dgm:pt>
    <dgm:pt modelId="{329CD633-DE9E-42EF-BE85-91A558EB45A1}" type="parTrans" cxnId="{62A4D0C9-4003-4308-90D3-01EBCC11731F}">
      <dgm:prSet/>
      <dgm:spPr/>
      <dgm:t>
        <a:bodyPr/>
        <a:lstStyle/>
        <a:p>
          <a:endParaRPr lang="aa-ET" sz="1800"/>
        </a:p>
      </dgm:t>
    </dgm:pt>
    <dgm:pt modelId="{3157E724-79B0-439D-A49B-991A40F3D6C0}" type="sibTrans" cxnId="{62A4D0C9-4003-4308-90D3-01EBCC11731F}">
      <dgm:prSet/>
      <dgm:spPr/>
      <dgm:t>
        <a:bodyPr/>
        <a:lstStyle/>
        <a:p>
          <a:endParaRPr lang="aa-ET" sz="1800"/>
        </a:p>
      </dgm:t>
    </dgm:pt>
    <dgm:pt modelId="{3E092077-5F97-4D61-9ECB-D5C094AC5DEA}">
      <dgm:prSet custT="1"/>
      <dgm:spPr/>
      <dgm:t>
        <a:bodyPr anchor="ctr"/>
        <a:lstStyle/>
        <a:p>
          <a:pPr algn="ctr">
            <a:buNone/>
          </a:pPr>
          <a:r>
            <a:rPr lang="en-US" sz="2800" dirty="0"/>
            <a:t>$200,000</a:t>
          </a:r>
          <a:endParaRPr lang="aa-ET" sz="2800" dirty="0"/>
        </a:p>
      </dgm:t>
    </dgm:pt>
    <dgm:pt modelId="{6282FBA0-11F5-4DD5-9351-8490C3C1812E}" type="parTrans" cxnId="{91D0EA40-4CB2-4898-B8F5-928D302570FE}">
      <dgm:prSet/>
      <dgm:spPr/>
      <dgm:t>
        <a:bodyPr/>
        <a:lstStyle/>
        <a:p>
          <a:endParaRPr lang="aa-ET" sz="1800"/>
        </a:p>
      </dgm:t>
    </dgm:pt>
    <dgm:pt modelId="{45B6501E-B784-4483-BAF0-55A567CE3333}" type="sibTrans" cxnId="{91D0EA40-4CB2-4898-B8F5-928D302570FE}">
      <dgm:prSet/>
      <dgm:spPr/>
      <dgm:t>
        <a:bodyPr/>
        <a:lstStyle/>
        <a:p>
          <a:endParaRPr lang="aa-ET" sz="1800"/>
        </a:p>
      </dgm:t>
    </dgm:pt>
    <dgm:pt modelId="{D221290E-2DD4-46A7-8706-33E04D62760F}">
      <dgm:prSet custT="1"/>
      <dgm:spPr/>
      <dgm:t>
        <a:bodyPr anchor="ctr"/>
        <a:lstStyle/>
        <a:p>
          <a:pPr algn="ctr">
            <a:buNone/>
          </a:pPr>
          <a:r>
            <a:rPr lang="en-US" sz="2800" dirty="0"/>
            <a:t>$80,000</a:t>
          </a:r>
          <a:endParaRPr lang="aa-ET" sz="2800" dirty="0"/>
        </a:p>
      </dgm:t>
    </dgm:pt>
    <dgm:pt modelId="{71F00CAC-09B6-4AFD-B739-E7F722F01818}" type="parTrans" cxnId="{C86B56C8-5878-4EF5-836C-A352997A3CE3}">
      <dgm:prSet/>
      <dgm:spPr/>
      <dgm:t>
        <a:bodyPr/>
        <a:lstStyle/>
        <a:p>
          <a:endParaRPr lang="aa-ET" sz="1800"/>
        </a:p>
      </dgm:t>
    </dgm:pt>
    <dgm:pt modelId="{AB22968B-D1AC-4A33-812A-073A46B0E320}" type="sibTrans" cxnId="{C86B56C8-5878-4EF5-836C-A352997A3CE3}">
      <dgm:prSet/>
      <dgm:spPr/>
      <dgm:t>
        <a:bodyPr/>
        <a:lstStyle/>
        <a:p>
          <a:endParaRPr lang="aa-ET" sz="1800"/>
        </a:p>
      </dgm:t>
    </dgm:pt>
    <dgm:pt modelId="{A353D73E-77F1-41EB-8191-CEFC99AE0115}">
      <dgm:prSet custT="1"/>
      <dgm:spPr/>
      <dgm:t>
        <a:bodyPr anchor="ctr"/>
        <a:lstStyle/>
        <a:p>
          <a:pPr algn="ctr">
            <a:buNone/>
          </a:pPr>
          <a:r>
            <a:rPr lang="en-US" sz="2800"/>
            <a:t>$2.6 million</a:t>
          </a:r>
          <a:endParaRPr lang="aa-ET" sz="2800"/>
        </a:p>
      </dgm:t>
    </dgm:pt>
    <dgm:pt modelId="{A43D779D-AD97-4EF7-94AF-86F0AFA9F800}" type="parTrans" cxnId="{B0E3926F-5676-43BB-A379-2B82BD9589D8}">
      <dgm:prSet/>
      <dgm:spPr/>
      <dgm:t>
        <a:bodyPr/>
        <a:lstStyle/>
        <a:p>
          <a:endParaRPr lang="aa-ET" sz="1800"/>
        </a:p>
      </dgm:t>
    </dgm:pt>
    <dgm:pt modelId="{765F15DB-E82C-4F9F-9905-D8556354665A}" type="sibTrans" cxnId="{B0E3926F-5676-43BB-A379-2B82BD9589D8}">
      <dgm:prSet/>
      <dgm:spPr/>
      <dgm:t>
        <a:bodyPr/>
        <a:lstStyle/>
        <a:p>
          <a:endParaRPr lang="aa-ET" sz="1800"/>
        </a:p>
      </dgm:t>
    </dgm:pt>
    <dgm:pt modelId="{065A3FFB-F7BE-4260-BBA8-311FCF88881C}" type="pres">
      <dgm:prSet presAssocID="{97F061D4-A889-4AA0-84A0-1FB73CD6066B}" presName="Name0" presStyleCnt="0">
        <dgm:presLayoutVars>
          <dgm:dir/>
          <dgm:animLvl val="lvl"/>
          <dgm:resizeHandles val="exact"/>
        </dgm:presLayoutVars>
      </dgm:prSet>
      <dgm:spPr/>
    </dgm:pt>
    <dgm:pt modelId="{427EEDDF-8551-4880-A1E7-CB112E870F20}" type="pres">
      <dgm:prSet presAssocID="{2CFBA3F1-7120-408D-9B64-5F19018BFC0E}" presName="composite" presStyleCnt="0"/>
      <dgm:spPr/>
    </dgm:pt>
    <dgm:pt modelId="{D7CE6555-0AAD-4E1C-8A65-DD2CE0FE6CB0}" type="pres">
      <dgm:prSet presAssocID="{2CFBA3F1-7120-408D-9B64-5F19018BFC0E}" presName="parTx" presStyleLbl="alignNode1" presStyleIdx="0" presStyleCnt="4">
        <dgm:presLayoutVars>
          <dgm:chMax val="0"/>
          <dgm:chPref val="0"/>
          <dgm:bulletEnabled val="1"/>
        </dgm:presLayoutVars>
      </dgm:prSet>
      <dgm:spPr/>
    </dgm:pt>
    <dgm:pt modelId="{376ACB94-0E07-41A0-8F0C-ED817FA3E88F}" type="pres">
      <dgm:prSet presAssocID="{2CFBA3F1-7120-408D-9B64-5F19018BFC0E}" presName="desTx" presStyleLbl="alignAccFollowNode1" presStyleIdx="0" presStyleCnt="4">
        <dgm:presLayoutVars>
          <dgm:bulletEnabled val="1"/>
        </dgm:presLayoutVars>
      </dgm:prSet>
      <dgm:spPr/>
    </dgm:pt>
    <dgm:pt modelId="{B1C9DD93-38B1-4824-9E3E-41A3851E3DF9}" type="pres">
      <dgm:prSet presAssocID="{05BE8DCC-53E9-4C81-9D5F-7EB62DBF79CE}" presName="space" presStyleCnt="0"/>
      <dgm:spPr/>
    </dgm:pt>
    <dgm:pt modelId="{71DB39CC-3624-4B81-AE69-1741A897FE0C}" type="pres">
      <dgm:prSet presAssocID="{6EFEE994-4301-44D6-B11B-F1D2B68FD411}" presName="composite" presStyleCnt="0"/>
      <dgm:spPr/>
    </dgm:pt>
    <dgm:pt modelId="{36641601-6E36-413B-BBC0-A0DF555A686A}" type="pres">
      <dgm:prSet presAssocID="{6EFEE994-4301-44D6-B11B-F1D2B68FD411}" presName="parTx" presStyleLbl="alignNode1" presStyleIdx="1" presStyleCnt="4">
        <dgm:presLayoutVars>
          <dgm:chMax val="0"/>
          <dgm:chPref val="0"/>
          <dgm:bulletEnabled val="1"/>
        </dgm:presLayoutVars>
      </dgm:prSet>
      <dgm:spPr/>
    </dgm:pt>
    <dgm:pt modelId="{E7286EF7-E119-4999-966E-CE03DFAFB756}" type="pres">
      <dgm:prSet presAssocID="{6EFEE994-4301-44D6-B11B-F1D2B68FD411}" presName="desTx" presStyleLbl="alignAccFollowNode1" presStyleIdx="1" presStyleCnt="4">
        <dgm:presLayoutVars>
          <dgm:bulletEnabled val="1"/>
        </dgm:presLayoutVars>
      </dgm:prSet>
      <dgm:spPr/>
    </dgm:pt>
    <dgm:pt modelId="{A82CB8C8-2119-4CE5-B0A1-865594267106}" type="pres">
      <dgm:prSet presAssocID="{C9D843B5-AB01-47F5-BCA5-96438D320BD5}" presName="space" presStyleCnt="0"/>
      <dgm:spPr/>
    </dgm:pt>
    <dgm:pt modelId="{56AAE4B8-0969-46B7-AB5D-A8CB7A439D01}" type="pres">
      <dgm:prSet presAssocID="{7DF3F031-20F5-4237-A342-8A40253E9BA8}" presName="composite" presStyleCnt="0"/>
      <dgm:spPr/>
    </dgm:pt>
    <dgm:pt modelId="{C1132B93-525E-4DDF-AF81-C06015CA502A}" type="pres">
      <dgm:prSet presAssocID="{7DF3F031-20F5-4237-A342-8A40253E9BA8}" presName="parTx" presStyleLbl="alignNode1" presStyleIdx="2" presStyleCnt="4">
        <dgm:presLayoutVars>
          <dgm:chMax val="0"/>
          <dgm:chPref val="0"/>
          <dgm:bulletEnabled val="1"/>
        </dgm:presLayoutVars>
      </dgm:prSet>
      <dgm:spPr/>
    </dgm:pt>
    <dgm:pt modelId="{348ABDC1-B8ED-4786-B042-C739B4AA45CE}" type="pres">
      <dgm:prSet presAssocID="{7DF3F031-20F5-4237-A342-8A40253E9BA8}" presName="desTx" presStyleLbl="alignAccFollowNode1" presStyleIdx="2" presStyleCnt="4">
        <dgm:presLayoutVars>
          <dgm:bulletEnabled val="1"/>
        </dgm:presLayoutVars>
      </dgm:prSet>
      <dgm:spPr/>
    </dgm:pt>
    <dgm:pt modelId="{368D9284-03C5-4F10-B5EA-518A327E2841}" type="pres">
      <dgm:prSet presAssocID="{BADE3B28-D5DF-43DE-AB4E-826C01507511}" presName="space" presStyleCnt="0"/>
      <dgm:spPr/>
    </dgm:pt>
    <dgm:pt modelId="{FA745E03-82E4-4298-BDA4-B16932EE74B8}" type="pres">
      <dgm:prSet presAssocID="{0D83A82D-3DA8-4D2D-BBDC-33F84743CC41}" presName="composite" presStyleCnt="0"/>
      <dgm:spPr/>
    </dgm:pt>
    <dgm:pt modelId="{E641E008-30B1-4500-92D9-460625F9C02F}" type="pres">
      <dgm:prSet presAssocID="{0D83A82D-3DA8-4D2D-BBDC-33F84743CC41}" presName="parTx" presStyleLbl="alignNode1" presStyleIdx="3" presStyleCnt="4">
        <dgm:presLayoutVars>
          <dgm:chMax val="0"/>
          <dgm:chPref val="0"/>
          <dgm:bulletEnabled val="1"/>
        </dgm:presLayoutVars>
      </dgm:prSet>
      <dgm:spPr/>
    </dgm:pt>
    <dgm:pt modelId="{2E2C633B-A316-4FBD-8FC1-E8A8DE06415D}" type="pres">
      <dgm:prSet presAssocID="{0D83A82D-3DA8-4D2D-BBDC-33F84743CC41}" presName="desTx" presStyleLbl="alignAccFollowNode1" presStyleIdx="3" presStyleCnt="4">
        <dgm:presLayoutVars>
          <dgm:bulletEnabled val="1"/>
        </dgm:presLayoutVars>
      </dgm:prSet>
      <dgm:spPr/>
    </dgm:pt>
  </dgm:ptLst>
  <dgm:cxnLst>
    <dgm:cxn modelId="{2C99BF0A-09B9-4476-B448-11956A72A4F5}" srcId="{97F061D4-A889-4AA0-84A0-1FB73CD6066B}" destId="{6EFEE994-4301-44D6-B11B-F1D2B68FD411}" srcOrd="1" destOrd="0" parTransId="{E23C7DDE-84FD-45DB-B24A-7AA51716183A}" sibTransId="{C9D843B5-AB01-47F5-BCA5-96438D320BD5}"/>
    <dgm:cxn modelId="{0FD4D10E-8407-408E-A061-0504502EDFA5}" type="presOf" srcId="{DD85A06F-1DC8-47E7-A43C-046097F363B6}" destId="{376ACB94-0E07-41A0-8F0C-ED817FA3E88F}" srcOrd="0" destOrd="0" presId="urn:microsoft.com/office/officeart/2005/8/layout/hList1"/>
    <dgm:cxn modelId="{85CDE22D-7F06-4079-AE9E-62B644D07F23}" srcId="{97F061D4-A889-4AA0-84A0-1FB73CD6066B}" destId="{2CFBA3F1-7120-408D-9B64-5F19018BFC0E}" srcOrd="0" destOrd="0" parTransId="{30040FCE-E2D1-4373-B8A0-8151E8DE4821}" sibTransId="{05BE8DCC-53E9-4C81-9D5F-7EB62DBF79CE}"/>
    <dgm:cxn modelId="{91D0EA40-4CB2-4898-B8F5-928D302570FE}" srcId="{6EFEE994-4301-44D6-B11B-F1D2B68FD411}" destId="{3E092077-5F97-4D61-9ECB-D5C094AC5DEA}" srcOrd="0" destOrd="0" parTransId="{6282FBA0-11F5-4DD5-9351-8490C3C1812E}" sibTransId="{45B6501E-B784-4483-BAF0-55A567CE3333}"/>
    <dgm:cxn modelId="{D6BA2364-4996-4A05-8BBE-5BD89CC0E410}" srcId="{97F061D4-A889-4AA0-84A0-1FB73CD6066B}" destId="{7DF3F031-20F5-4237-A342-8A40253E9BA8}" srcOrd="2" destOrd="0" parTransId="{D42EDBB3-950B-4C02-8630-C3104138937F}" sibTransId="{BADE3B28-D5DF-43DE-AB4E-826C01507511}"/>
    <dgm:cxn modelId="{B0E3926F-5676-43BB-A379-2B82BD9589D8}" srcId="{0D83A82D-3DA8-4D2D-BBDC-33F84743CC41}" destId="{A353D73E-77F1-41EB-8191-CEFC99AE0115}" srcOrd="0" destOrd="0" parTransId="{A43D779D-AD97-4EF7-94AF-86F0AFA9F800}" sibTransId="{765F15DB-E82C-4F9F-9905-D8556354665A}"/>
    <dgm:cxn modelId="{03F1D557-85CC-4E9E-8CD0-ED830FBA8E7D}" type="presOf" srcId="{3E092077-5F97-4D61-9ECB-D5C094AC5DEA}" destId="{E7286EF7-E119-4999-966E-CE03DFAFB756}" srcOrd="0" destOrd="0" presId="urn:microsoft.com/office/officeart/2005/8/layout/hList1"/>
    <dgm:cxn modelId="{F9256D84-7891-4F3F-99EC-E531344B0E2E}" srcId="{97F061D4-A889-4AA0-84A0-1FB73CD6066B}" destId="{0D83A82D-3DA8-4D2D-BBDC-33F84743CC41}" srcOrd="3" destOrd="0" parTransId="{8CBCF7DD-C55F-4936-9251-4492729ADC15}" sibTransId="{4EF8E5D7-D60D-4885-BF6E-B915DCFE76E3}"/>
    <dgm:cxn modelId="{051EE68F-4F17-493D-B89A-0EADBB52B1E2}" type="presOf" srcId="{7DF3F031-20F5-4237-A342-8A40253E9BA8}" destId="{C1132B93-525E-4DDF-AF81-C06015CA502A}" srcOrd="0" destOrd="0" presId="urn:microsoft.com/office/officeart/2005/8/layout/hList1"/>
    <dgm:cxn modelId="{26AE849F-4B9D-4F94-9346-8C7389B8A053}" type="presOf" srcId="{6EFEE994-4301-44D6-B11B-F1D2B68FD411}" destId="{36641601-6E36-413B-BBC0-A0DF555A686A}" srcOrd="0" destOrd="0" presId="urn:microsoft.com/office/officeart/2005/8/layout/hList1"/>
    <dgm:cxn modelId="{C408A7AB-D918-4B3A-897B-B07993055301}" type="presOf" srcId="{97F061D4-A889-4AA0-84A0-1FB73CD6066B}" destId="{065A3FFB-F7BE-4260-BBA8-311FCF88881C}" srcOrd="0" destOrd="0" presId="urn:microsoft.com/office/officeart/2005/8/layout/hList1"/>
    <dgm:cxn modelId="{207CB2BE-21CA-46F8-872B-B3C96A785333}" type="presOf" srcId="{A353D73E-77F1-41EB-8191-CEFC99AE0115}" destId="{2E2C633B-A316-4FBD-8FC1-E8A8DE06415D}" srcOrd="0" destOrd="0" presId="urn:microsoft.com/office/officeart/2005/8/layout/hList1"/>
    <dgm:cxn modelId="{588A8BC3-B1C8-4339-8F42-8DAE19F41276}" type="presOf" srcId="{2CFBA3F1-7120-408D-9B64-5F19018BFC0E}" destId="{D7CE6555-0AAD-4E1C-8A65-DD2CE0FE6CB0}" srcOrd="0" destOrd="0" presId="urn:microsoft.com/office/officeart/2005/8/layout/hList1"/>
    <dgm:cxn modelId="{C86B56C8-5878-4EF5-836C-A352997A3CE3}" srcId="{7DF3F031-20F5-4237-A342-8A40253E9BA8}" destId="{D221290E-2DD4-46A7-8706-33E04D62760F}" srcOrd="0" destOrd="0" parTransId="{71F00CAC-09B6-4AFD-B739-E7F722F01818}" sibTransId="{AB22968B-D1AC-4A33-812A-073A46B0E320}"/>
    <dgm:cxn modelId="{62A4D0C9-4003-4308-90D3-01EBCC11731F}" srcId="{2CFBA3F1-7120-408D-9B64-5F19018BFC0E}" destId="{DD85A06F-1DC8-47E7-A43C-046097F363B6}" srcOrd="0" destOrd="0" parTransId="{329CD633-DE9E-42EF-BE85-91A558EB45A1}" sibTransId="{3157E724-79B0-439D-A49B-991A40F3D6C0}"/>
    <dgm:cxn modelId="{CD171BDB-46CB-4D82-994E-DC020E186020}" type="presOf" srcId="{D221290E-2DD4-46A7-8706-33E04D62760F}" destId="{348ABDC1-B8ED-4786-B042-C739B4AA45CE}" srcOrd="0" destOrd="0" presId="urn:microsoft.com/office/officeart/2005/8/layout/hList1"/>
    <dgm:cxn modelId="{D6F6DDFC-891C-45E0-AD81-78CB2A15218C}" type="presOf" srcId="{0D83A82D-3DA8-4D2D-BBDC-33F84743CC41}" destId="{E641E008-30B1-4500-92D9-460625F9C02F}" srcOrd="0" destOrd="0" presId="urn:microsoft.com/office/officeart/2005/8/layout/hList1"/>
    <dgm:cxn modelId="{73D7DE3D-FF75-4875-BE45-1F72A15A97C2}" type="presParOf" srcId="{065A3FFB-F7BE-4260-BBA8-311FCF88881C}" destId="{427EEDDF-8551-4880-A1E7-CB112E870F20}" srcOrd="0" destOrd="0" presId="urn:microsoft.com/office/officeart/2005/8/layout/hList1"/>
    <dgm:cxn modelId="{F251143A-9A5E-4BD3-BF3E-F1E067309CF3}" type="presParOf" srcId="{427EEDDF-8551-4880-A1E7-CB112E870F20}" destId="{D7CE6555-0AAD-4E1C-8A65-DD2CE0FE6CB0}" srcOrd="0" destOrd="0" presId="urn:microsoft.com/office/officeart/2005/8/layout/hList1"/>
    <dgm:cxn modelId="{F30E9211-2638-41E3-A199-FB9F330D58F8}" type="presParOf" srcId="{427EEDDF-8551-4880-A1E7-CB112E870F20}" destId="{376ACB94-0E07-41A0-8F0C-ED817FA3E88F}" srcOrd="1" destOrd="0" presId="urn:microsoft.com/office/officeart/2005/8/layout/hList1"/>
    <dgm:cxn modelId="{99C56F25-02D0-4948-9E21-9E2A3562EF3E}" type="presParOf" srcId="{065A3FFB-F7BE-4260-BBA8-311FCF88881C}" destId="{B1C9DD93-38B1-4824-9E3E-41A3851E3DF9}" srcOrd="1" destOrd="0" presId="urn:microsoft.com/office/officeart/2005/8/layout/hList1"/>
    <dgm:cxn modelId="{446F68DF-C878-48DC-B225-7D1B288FCB7E}" type="presParOf" srcId="{065A3FFB-F7BE-4260-BBA8-311FCF88881C}" destId="{71DB39CC-3624-4B81-AE69-1741A897FE0C}" srcOrd="2" destOrd="0" presId="urn:microsoft.com/office/officeart/2005/8/layout/hList1"/>
    <dgm:cxn modelId="{DEC203B8-7862-4526-8558-E8C6D4E5759A}" type="presParOf" srcId="{71DB39CC-3624-4B81-AE69-1741A897FE0C}" destId="{36641601-6E36-413B-BBC0-A0DF555A686A}" srcOrd="0" destOrd="0" presId="urn:microsoft.com/office/officeart/2005/8/layout/hList1"/>
    <dgm:cxn modelId="{1954E93E-6075-4916-87AF-4C3640B232FC}" type="presParOf" srcId="{71DB39CC-3624-4B81-AE69-1741A897FE0C}" destId="{E7286EF7-E119-4999-966E-CE03DFAFB756}" srcOrd="1" destOrd="0" presId="urn:microsoft.com/office/officeart/2005/8/layout/hList1"/>
    <dgm:cxn modelId="{7A42C7D4-3449-4378-B02D-BCBE92A5E7AE}" type="presParOf" srcId="{065A3FFB-F7BE-4260-BBA8-311FCF88881C}" destId="{A82CB8C8-2119-4CE5-B0A1-865594267106}" srcOrd="3" destOrd="0" presId="urn:microsoft.com/office/officeart/2005/8/layout/hList1"/>
    <dgm:cxn modelId="{135CBAD9-5124-4FEE-A1A7-CDB07CD6F495}" type="presParOf" srcId="{065A3FFB-F7BE-4260-BBA8-311FCF88881C}" destId="{56AAE4B8-0969-46B7-AB5D-A8CB7A439D01}" srcOrd="4" destOrd="0" presId="urn:microsoft.com/office/officeart/2005/8/layout/hList1"/>
    <dgm:cxn modelId="{E4E9564A-23C9-4511-92D0-C819F14B92AC}" type="presParOf" srcId="{56AAE4B8-0969-46B7-AB5D-A8CB7A439D01}" destId="{C1132B93-525E-4DDF-AF81-C06015CA502A}" srcOrd="0" destOrd="0" presId="urn:microsoft.com/office/officeart/2005/8/layout/hList1"/>
    <dgm:cxn modelId="{FBC4EB75-DAE0-4E33-A86A-35F78121F0EA}" type="presParOf" srcId="{56AAE4B8-0969-46B7-AB5D-A8CB7A439D01}" destId="{348ABDC1-B8ED-4786-B042-C739B4AA45CE}" srcOrd="1" destOrd="0" presId="urn:microsoft.com/office/officeart/2005/8/layout/hList1"/>
    <dgm:cxn modelId="{C39001C8-C69D-4DE1-B94F-1F3241494F23}" type="presParOf" srcId="{065A3FFB-F7BE-4260-BBA8-311FCF88881C}" destId="{368D9284-03C5-4F10-B5EA-518A327E2841}" srcOrd="5" destOrd="0" presId="urn:microsoft.com/office/officeart/2005/8/layout/hList1"/>
    <dgm:cxn modelId="{640C5298-296B-48A7-932B-7B7734335340}" type="presParOf" srcId="{065A3FFB-F7BE-4260-BBA8-311FCF88881C}" destId="{FA745E03-82E4-4298-BDA4-B16932EE74B8}" srcOrd="6" destOrd="0" presId="urn:microsoft.com/office/officeart/2005/8/layout/hList1"/>
    <dgm:cxn modelId="{CD4FB21D-C68A-4716-8577-CE7688AE5ACE}" type="presParOf" srcId="{FA745E03-82E4-4298-BDA4-B16932EE74B8}" destId="{E641E008-30B1-4500-92D9-460625F9C02F}" srcOrd="0" destOrd="0" presId="urn:microsoft.com/office/officeart/2005/8/layout/hList1"/>
    <dgm:cxn modelId="{A71F7706-EAFB-45FB-A8BF-C7D4D61F4DD2}" type="presParOf" srcId="{FA745E03-82E4-4298-BDA4-B16932EE74B8}" destId="{2E2C633B-A316-4FBD-8FC1-E8A8DE06415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342498-52DB-4EAD-92FE-716E7FA680A9}"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aa-ET"/>
        </a:p>
      </dgm:t>
    </dgm:pt>
    <dgm:pt modelId="{1A3E5B6C-1654-44B6-AA73-D84F81D97D7F}">
      <dgm:prSet phldrT="[Text]"/>
      <dgm:spPr/>
      <dgm:t>
        <a:bodyPr/>
        <a:lstStyle/>
        <a:p>
          <a:r>
            <a:rPr lang="en-US" b="1" dirty="0"/>
            <a:t>Market Size:</a:t>
          </a:r>
          <a:endParaRPr lang="aa-ET" dirty="0"/>
        </a:p>
      </dgm:t>
    </dgm:pt>
    <dgm:pt modelId="{320C6072-5D7E-4E48-ABC0-B72F0E67B83C}" type="parTrans" cxnId="{F097DAA8-3040-439C-88E2-EE9B4BA69F7E}">
      <dgm:prSet/>
      <dgm:spPr/>
      <dgm:t>
        <a:bodyPr/>
        <a:lstStyle/>
        <a:p>
          <a:endParaRPr lang="aa-ET"/>
        </a:p>
      </dgm:t>
    </dgm:pt>
    <dgm:pt modelId="{26135615-A220-459D-9388-C4AC7E581E44}" type="sibTrans" cxnId="{F097DAA8-3040-439C-88E2-EE9B4BA69F7E}">
      <dgm:prSet/>
      <dgm:spPr/>
      <dgm:t>
        <a:bodyPr/>
        <a:lstStyle/>
        <a:p>
          <a:endParaRPr lang="aa-ET"/>
        </a:p>
      </dgm:t>
    </dgm:pt>
    <dgm:pt modelId="{3F14FAFB-AA0B-496F-A3CF-4496827CF3D6}">
      <dgm:prSet phldrT="[Text]" custT="1"/>
      <dgm:spPr/>
      <dgm:t>
        <a:bodyPr/>
        <a:lstStyle/>
        <a:p>
          <a:pPr>
            <a:buNone/>
          </a:pPr>
          <a:r>
            <a:rPr lang="en-US" sz="2400" dirty="0"/>
            <a:t>Expected to reach </a:t>
          </a:r>
          <a:r>
            <a:rPr lang="en-US" sz="2400" b="1" dirty="0"/>
            <a:t>USD 3102.74 billion by 2030</a:t>
          </a:r>
          <a:r>
            <a:rPr lang="en-US" sz="2400" dirty="0"/>
            <a:t>, growing at a </a:t>
          </a:r>
          <a:r>
            <a:rPr lang="en-US" sz="2400" b="1" dirty="0"/>
            <a:t>CAGR of 6.2%</a:t>
          </a:r>
          <a:r>
            <a:rPr lang="en-US" sz="2400" dirty="0"/>
            <a:t> in the forecast period (2023-2030).</a:t>
          </a:r>
          <a:endParaRPr lang="aa-ET" sz="2400" dirty="0"/>
        </a:p>
      </dgm:t>
    </dgm:pt>
    <dgm:pt modelId="{4E177828-A277-4DBE-A55F-C1223AC62E86}" type="parTrans" cxnId="{1AD81D2C-0452-46D3-BB8B-58A86FF6F062}">
      <dgm:prSet/>
      <dgm:spPr/>
      <dgm:t>
        <a:bodyPr/>
        <a:lstStyle/>
        <a:p>
          <a:endParaRPr lang="aa-ET"/>
        </a:p>
      </dgm:t>
    </dgm:pt>
    <dgm:pt modelId="{CEE29A1D-C05B-4EB0-848B-368AF617EEF8}" type="sibTrans" cxnId="{1AD81D2C-0452-46D3-BB8B-58A86FF6F062}">
      <dgm:prSet/>
      <dgm:spPr/>
      <dgm:t>
        <a:bodyPr/>
        <a:lstStyle/>
        <a:p>
          <a:endParaRPr lang="aa-ET"/>
        </a:p>
      </dgm:t>
    </dgm:pt>
    <dgm:pt modelId="{34132078-6731-4C15-B282-7158DED4EB07}">
      <dgm:prSet phldrT="[Text]"/>
      <dgm:spPr/>
      <dgm:t>
        <a:bodyPr/>
        <a:lstStyle/>
        <a:p>
          <a:r>
            <a:rPr lang="en-US" b="1" dirty="0"/>
            <a:t>Current Situation:</a:t>
          </a:r>
          <a:endParaRPr lang="aa-ET" dirty="0"/>
        </a:p>
      </dgm:t>
    </dgm:pt>
    <dgm:pt modelId="{C74D2778-2987-4199-8CDC-71C97C9C37F4}" type="parTrans" cxnId="{D248D2EC-6AF9-401B-A6D3-A9A99FA510C1}">
      <dgm:prSet/>
      <dgm:spPr/>
      <dgm:t>
        <a:bodyPr/>
        <a:lstStyle/>
        <a:p>
          <a:endParaRPr lang="aa-ET"/>
        </a:p>
      </dgm:t>
    </dgm:pt>
    <dgm:pt modelId="{49A7C208-79EC-48BF-81A6-85EA91C1FC33}" type="sibTrans" cxnId="{D248D2EC-6AF9-401B-A6D3-A9A99FA510C1}">
      <dgm:prSet/>
      <dgm:spPr/>
      <dgm:t>
        <a:bodyPr/>
        <a:lstStyle/>
        <a:p>
          <a:endParaRPr lang="aa-ET"/>
        </a:p>
      </dgm:t>
    </dgm:pt>
    <dgm:pt modelId="{4B721E00-D326-44E8-911E-8A373E24D8A7}">
      <dgm:prSet phldrT="[Text]" custT="1"/>
      <dgm:spPr/>
      <dgm:t>
        <a:bodyPr/>
        <a:lstStyle/>
        <a:p>
          <a:pPr>
            <a:buNone/>
          </a:pPr>
          <a:r>
            <a:rPr lang="en-US" sz="2400" dirty="0"/>
            <a:t>Cybercriminals are becoming more sophisticated and are targeting telecom companies with new and innovative methods.</a:t>
          </a:r>
          <a:endParaRPr lang="aa-ET" sz="2400" dirty="0"/>
        </a:p>
      </dgm:t>
    </dgm:pt>
    <dgm:pt modelId="{7F7C57F7-5D59-45FD-988E-C3B952314E5E}" type="parTrans" cxnId="{3A18BA0B-37A5-4836-87AD-DCD915A461A2}">
      <dgm:prSet/>
      <dgm:spPr/>
      <dgm:t>
        <a:bodyPr/>
        <a:lstStyle/>
        <a:p>
          <a:endParaRPr lang="aa-ET"/>
        </a:p>
      </dgm:t>
    </dgm:pt>
    <dgm:pt modelId="{A25903E5-4818-43DB-A8A0-C47C034DA3FF}" type="sibTrans" cxnId="{3A18BA0B-37A5-4836-87AD-DCD915A461A2}">
      <dgm:prSet/>
      <dgm:spPr/>
      <dgm:t>
        <a:bodyPr/>
        <a:lstStyle/>
        <a:p>
          <a:endParaRPr lang="aa-ET"/>
        </a:p>
      </dgm:t>
    </dgm:pt>
    <dgm:pt modelId="{41AEC8F8-FF4A-4107-8190-E83FB70FE0E4}">
      <dgm:prSet phldrT="[Text]"/>
      <dgm:spPr/>
      <dgm:t>
        <a:bodyPr/>
        <a:lstStyle/>
        <a:p>
          <a:r>
            <a:rPr lang="en-US" b="1" dirty="0"/>
            <a:t>Organizations:</a:t>
          </a:r>
          <a:endParaRPr lang="aa-ET" dirty="0"/>
        </a:p>
      </dgm:t>
    </dgm:pt>
    <dgm:pt modelId="{06B130EB-FC59-4A5F-9437-81523232EA58}" type="parTrans" cxnId="{7AF59194-2680-4B94-907E-70A4CE27EB8B}">
      <dgm:prSet/>
      <dgm:spPr/>
      <dgm:t>
        <a:bodyPr/>
        <a:lstStyle/>
        <a:p>
          <a:endParaRPr lang="aa-ET"/>
        </a:p>
      </dgm:t>
    </dgm:pt>
    <dgm:pt modelId="{E02D8E67-141A-47D9-A5C6-30C001A34FA5}" type="sibTrans" cxnId="{7AF59194-2680-4B94-907E-70A4CE27EB8B}">
      <dgm:prSet/>
      <dgm:spPr/>
      <dgm:t>
        <a:bodyPr/>
        <a:lstStyle/>
        <a:p>
          <a:endParaRPr lang="aa-ET"/>
        </a:p>
      </dgm:t>
    </dgm:pt>
    <dgm:pt modelId="{5434CB6B-7664-4775-A309-E10F06CB98CD}">
      <dgm:prSet phldrT="[Text]" custT="1"/>
      <dgm:spPr/>
      <dgm:t>
        <a:bodyPr/>
        <a:lstStyle/>
        <a:p>
          <a:pPr>
            <a:buNone/>
          </a:pPr>
          <a:r>
            <a:rPr lang="en-US" sz="2400" dirty="0"/>
            <a:t>The United Nations </a:t>
          </a:r>
          <a:r>
            <a:rPr lang="en-US" sz="2400" b="1" dirty="0"/>
            <a:t>(UNO)</a:t>
          </a:r>
        </a:p>
        <a:p>
          <a:pPr>
            <a:buNone/>
          </a:pPr>
          <a:r>
            <a:rPr lang="en-US" sz="2400" dirty="0"/>
            <a:t>International Telecommunication Union </a:t>
          </a:r>
          <a:r>
            <a:rPr lang="en-US" sz="2400" b="1" dirty="0"/>
            <a:t>(ITU)</a:t>
          </a:r>
        </a:p>
      </dgm:t>
    </dgm:pt>
    <dgm:pt modelId="{E54EDD75-AFB3-4ECB-9109-2221FEF972C7}" type="parTrans" cxnId="{2046B330-4939-4243-858D-193D31F367C9}">
      <dgm:prSet/>
      <dgm:spPr/>
      <dgm:t>
        <a:bodyPr/>
        <a:lstStyle/>
        <a:p>
          <a:endParaRPr lang="aa-ET"/>
        </a:p>
      </dgm:t>
    </dgm:pt>
    <dgm:pt modelId="{34922DD2-0A45-4FB6-A051-4BA845D3F6A6}" type="sibTrans" cxnId="{2046B330-4939-4243-858D-193D31F367C9}">
      <dgm:prSet/>
      <dgm:spPr/>
      <dgm:t>
        <a:bodyPr/>
        <a:lstStyle/>
        <a:p>
          <a:endParaRPr lang="aa-ET"/>
        </a:p>
      </dgm:t>
    </dgm:pt>
    <dgm:pt modelId="{9ABBF044-4F6F-4383-9F9C-FF5A97E29C87}" type="pres">
      <dgm:prSet presAssocID="{94342498-52DB-4EAD-92FE-716E7FA680A9}" presName="Name0" presStyleCnt="0">
        <dgm:presLayoutVars>
          <dgm:chMax/>
          <dgm:chPref val="3"/>
          <dgm:dir/>
          <dgm:animOne val="branch"/>
          <dgm:animLvl val="lvl"/>
        </dgm:presLayoutVars>
      </dgm:prSet>
      <dgm:spPr/>
    </dgm:pt>
    <dgm:pt modelId="{078BD08C-3FC6-4040-B38A-FD1858FB4CCD}" type="pres">
      <dgm:prSet presAssocID="{1A3E5B6C-1654-44B6-AA73-D84F81D97D7F}" presName="composite" presStyleCnt="0"/>
      <dgm:spPr/>
    </dgm:pt>
    <dgm:pt modelId="{35C2A696-33C6-4A38-881F-E836E8579E43}" type="pres">
      <dgm:prSet presAssocID="{1A3E5B6C-1654-44B6-AA73-D84F81D97D7F}" presName="FirstChild" presStyleLbl="revTx" presStyleIdx="0" presStyleCnt="3">
        <dgm:presLayoutVars>
          <dgm:chMax val="0"/>
          <dgm:chPref val="0"/>
          <dgm:bulletEnabled val="1"/>
        </dgm:presLayoutVars>
      </dgm:prSet>
      <dgm:spPr/>
    </dgm:pt>
    <dgm:pt modelId="{38DD3546-60F8-41C0-836F-F5AEB086402C}" type="pres">
      <dgm:prSet presAssocID="{1A3E5B6C-1654-44B6-AA73-D84F81D97D7F}" presName="Parent" presStyleLbl="alignNode1" presStyleIdx="0" presStyleCnt="3" custScaleY="72399" custLinFactNeighborY="13811">
        <dgm:presLayoutVars>
          <dgm:chMax val="3"/>
          <dgm:chPref val="3"/>
          <dgm:bulletEnabled val="1"/>
        </dgm:presLayoutVars>
      </dgm:prSet>
      <dgm:spPr/>
    </dgm:pt>
    <dgm:pt modelId="{5E4502CD-F79F-49FB-8030-E875BF6E82A2}" type="pres">
      <dgm:prSet presAssocID="{1A3E5B6C-1654-44B6-AA73-D84F81D97D7F}" presName="Accent" presStyleLbl="parChTrans1D1" presStyleIdx="0" presStyleCnt="3"/>
      <dgm:spPr/>
    </dgm:pt>
    <dgm:pt modelId="{855AA61B-CEFE-4A9E-BB03-4BECF6728384}" type="pres">
      <dgm:prSet presAssocID="{26135615-A220-459D-9388-C4AC7E581E44}" presName="sibTrans" presStyleCnt="0"/>
      <dgm:spPr/>
    </dgm:pt>
    <dgm:pt modelId="{382762EC-CBFC-4537-A6C0-CB3D8E08221D}" type="pres">
      <dgm:prSet presAssocID="{34132078-6731-4C15-B282-7158DED4EB07}" presName="composite" presStyleCnt="0"/>
      <dgm:spPr/>
    </dgm:pt>
    <dgm:pt modelId="{55946F7D-C2DD-4B0F-8598-B62BA9305D2E}" type="pres">
      <dgm:prSet presAssocID="{34132078-6731-4C15-B282-7158DED4EB07}" presName="FirstChild" presStyleLbl="revTx" presStyleIdx="1" presStyleCnt="3">
        <dgm:presLayoutVars>
          <dgm:chMax val="0"/>
          <dgm:chPref val="0"/>
          <dgm:bulletEnabled val="1"/>
        </dgm:presLayoutVars>
      </dgm:prSet>
      <dgm:spPr/>
    </dgm:pt>
    <dgm:pt modelId="{1D4D1A44-4416-4BF0-87AC-17FB24B18648}" type="pres">
      <dgm:prSet presAssocID="{34132078-6731-4C15-B282-7158DED4EB07}" presName="Parent" presStyleLbl="alignNode1" presStyleIdx="1" presStyleCnt="3" custScaleY="72399" custLinFactNeighborY="13811">
        <dgm:presLayoutVars>
          <dgm:chMax val="3"/>
          <dgm:chPref val="3"/>
          <dgm:bulletEnabled val="1"/>
        </dgm:presLayoutVars>
      </dgm:prSet>
      <dgm:spPr/>
    </dgm:pt>
    <dgm:pt modelId="{55834DE0-1352-4A32-BF75-EF4D5497E23B}" type="pres">
      <dgm:prSet presAssocID="{34132078-6731-4C15-B282-7158DED4EB07}" presName="Accent" presStyleLbl="parChTrans1D1" presStyleIdx="1" presStyleCnt="3"/>
      <dgm:spPr/>
    </dgm:pt>
    <dgm:pt modelId="{30B6E288-830E-4518-B371-21B18DAA2E3D}" type="pres">
      <dgm:prSet presAssocID="{49A7C208-79EC-48BF-81A6-85EA91C1FC33}" presName="sibTrans" presStyleCnt="0"/>
      <dgm:spPr/>
    </dgm:pt>
    <dgm:pt modelId="{C70B38A9-E45E-4768-8C9B-529C31B8B54D}" type="pres">
      <dgm:prSet presAssocID="{41AEC8F8-FF4A-4107-8190-E83FB70FE0E4}" presName="composite" presStyleCnt="0"/>
      <dgm:spPr/>
    </dgm:pt>
    <dgm:pt modelId="{1700D744-256F-4658-AB83-D86DAFD67BED}" type="pres">
      <dgm:prSet presAssocID="{41AEC8F8-FF4A-4107-8190-E83FB70FE0E4}" presName="FirstChild" presStyleLbl="revTx" presStyleIdx="2" presStyleCnt="3">
        <dgm:presLayoutVars>
          <dgm:chMax val="0"/>
          <dgm:chPref val="0"/>
          <dgm:bulletEnabled val="1"/>
        </dgm:presLayoutVars>
      </dgm:prSet>
      <dgm:spPr/>
    </dgm:pt>
    <dgm:pt modelId="{602BAA04-1AE5-42B9-A030-7508C96D077B}" type="pres">
      <dgm:prSet presAssocID="{41AEC8F8-FF4A-4107-8190-E83FB70FE0E4}" presName="Parent" presStyleLbl="alignNode1" presStyleIdx="2" presStyleCnt="3" custScaleY="72399" custLinFactNeighborY="13811">
        <dgm:presLayoutVars>
          <dgm:chMax val="3"/>
          <dgm:chPref val="3"/>
          <dgm:bulletEnabled val="1"/>
        </dgm:presLayoutVars>
      </dgm:prSet>
      <dgm:spPr/>
    </dgm:pt>
    <dgm:pt modelId="{05F89E64-4E2B-4311-A474-3C6C2BEC4A73}" type="pres">
      <dgm:prSet presAssocID="{41AEC8F8-FF4A-4107-8190-E83FB70FE0E4}" presName="Accent" presStyleLbl="parChTrans1D1" presStyleIdx="2" presStyleCnt="3"/>
      <dgm:spPr/>
    </dgm:pt>
  </dgm:ptLst>
  <dgm:cxnLst>
    <dgm:cxn modelId="{33B4C407-523E-4D1B-B676-F6CF527AC993}" type="presOf" srcId="{5434CB6B-7664-4775-A309-E10F06CB98CD}" destId="{1700D744-256F-4658-AB83-D86DAFD67BED}" srcOrd="0" destOrd="0" presId="urn:microsoft.com/office/officeart/2011/layout/TabList"/>
    <dgm:cxn modelId="{3A18BA0B-37A5-4836-87AD-DCD915A461A2}" srcId="{34132078-6731-4C15-B282-7158DED4EB07}" destId="{4B721E00-D326-44E8-911E-8A373E24D8A7}" srcOrd="0" destOrd="0" parTransId="{7F7C57F7-5D59-45FD-988E-C3B952314E5E}" sibTransId="{A25903E5-4818-43DB-A8A0-C47C034DA3FF}"/>
    <dgm:cxn modelId="{1AD81D2C-0452-46D3-BB8B-58A86FF6F062}" srcId="{1A3E5B6C-1654-44B6-AA73-D84F81D97D7F}" destId="{3F14FAFB-AA0B-496F-A3CF-4496827CF3D6}" srcOrd="0" destOrd="0" parTransId="{4E177828-A277-4DBE-A55F-C1223AC62E86}" sibTransId="{CEE29A1D-C05B-4EB0-848B-368AF617EEF8}"/>
    <dgm:cxn modelId="{2046B330-4939-4243-858D-193D31F367C9}" srcId="{41AEC8F8-FF4A-4107-8190-E83FB70FE0E4}" destId="{5434CB6B-7664-4775-A309-E10F06CB98CD}" srcOrd="0" destOrd="0" parTransId="{E54EDD75-AFB3-4ECB-9109-2221FEF972C7}" sibTransId="{34922DD2-0A45-4FB6-A051-4BA845D3F6A6}"/>
    <dgm:cxn modelId="{11FF1F39-A8E1-41DA-95F6-D7AC7317EFC6}" type="presOf" srcId="{3F14FAFB-AA0B-496F-A3CF-4496827CF3D6}" destId="{35C2A696-33C6-4A38-881F-E836E8579E43}" srcOrd="0" destOrd="0" presId="urn:microsoft.com/office/officeart/2011/layout/TabList"/>
    <dgm:cxn modelId="{28831766-387D-4128-A54E-8E03FD63842C}" type="presOf" srcId="{4B721E00-D326-44E8-911E-8A373E24D8A7}" destId="{55946F7D-C2DD-4B0F-8598-B62BA9305D2E}" srcOrd="0" destOrd="0" presId="urn:microsoft.com/office/officeart/2011/layout/TabList"/>
    <dgm:cxn modelId="{033A8E4E-8CC6-402E-A341-B09B53982FFC}" type="presOf" srcId="{34132078-6731-4C15-B282-7158DED4EB07}" destId="{1D4D1A44-4416-4BF0-87AC-17FB24B18648}" srcOrd="0" destOrd="0" presId="urn:microsoft.com/office/officeart/2011/layout/TabList"/>
    <dgm:cxn modelId="{73EE127A-A84A-42F4-9B98-9A3822CAF640}" type="presOf" srcId="{41AEC8F8-FF4A-4107-8190-E83FB70FE0E4}" destId="{602BAA04-1AE5-42B9-A030-7508C96D077B}" srcOrd="0" destOrd="0" presId="urn:microsoft.com/office/officeart/2011/layout/TabList"/>
    <dgm:cxn modelId="{7AF59194-2680-4B94-907E-70A4CE27EB8B}" srcId="{94342498-52DB-4EAD-92FE-716E7FA680A9}" destId="{41AEC8F8-FF4A-4107-8190-E83FB70FE0E4}" srcOrd="2" destOrd="0" parTransId="{06B130EB-FC59-4A5F-9437-81523232EA58}" sibTransId="{E02D8E67-141A-47D9-A5C6-30C001A34FA5}"/>
    <dgm:cxn modelId="{F097DAA8-3040-439C-88E2-EE9B4BA69F7E}" srcId="{94342498-52DB-4EAD-92FE-716E7FA680A9}" destId="{1A3E5B6C-1654-44B6-AA73-D84F81D97D7F}" srcOrd="0" destOrd="0" parTransId="{320C6072-5D7E-4E48-ABC0-B72F0E67B83C}" sibTransId="{26135615-A220-459D-9388-C4AC7E581E44}"/>
    <dgm:cxn modelId="{EB6F52AD-2461-4D68-85A8-EE1721E96FEE}" type="presOf" srcId="{94342498-52DB-4EAD-92FE-716E7FA680A9}" destId="{9ABBF044-4F6F-4383-9F9C-FF5A97E29C87}" srcOrd="0" destOrd="0" presId="urn:microsoft.com/office/officeart/2011/layout/TabList"/>
    <dgm:cxn modelId="{1222CFD5-E3F6-4A9D-B9A2-4AC3C75CAF7A}" type="presOf" srcId="{1A3E5B6C-1654-44B6-AA73-D84F81D97D7F}" destId="{38DD3546-60F8-41C0-836F-F5AEB086402C}" srcOrd="0" destOrd="0" presId="urn:microsoft.com/office/officeart/2011/layout/TabList"/>
    <dgm:cxn modelId="{D248D2EC-6AF9-401B-A6D3-A9A99FA510C1}" srcId="{94342498-52DB-4EAD-92FE-716E7FA680A9}" destId="{34132078-6731-4C15-B282-7158DED4EB07}" srcOrd="1" destOrd="0" parTransId="{C74D2778-2987-4199-8CDC-71C97C9C37F4}" sibTransId="{49A7C208-79EC-48BF-81A6-85EA91C1FC33}"/>
    <dgm:cxn modelId="{18B86B17-3C11-45CB-835E-B5C47E802774}" type="presParOf" srcId="{9ABBF044-4F6F-4383-9F9C-FF5A97E29C87}" destId="{078BD08C-3FC6-4040-B38A-FD1858FB4CCD}" srcOrd="0" destOrd="0" presId="urn:microsoft.com/office/officeart/2011/layout/TabList"/>
    <dgm:cxn modelId="{CD443D5D-7632-414B-AA53-B80A30547FA8}" type="presParOf" srcId="{078BD08C-3FC6-4040-B38A-FD1858FB4CCD}" destId="{35C2A696-33C6-4A38-881F-E836E8579E43}" srcOrd="0" destOrd="0" presId="urn:microsoft.com/office/officeart/2011/layout/TabList"/>
    <dgm:cxn modelId="{E4B2820B-CE75-4ED8-8879-8053692F7FEE}" type="presParOf" srcId="{078BD08C-3FC6-4040-B38A-FD1858FB4CCD}" destId="{38DD3546-60F8-41C0-836F-F5AEB086402C}" srcOrd="1" destOrd="0" presId="urn:microsoft.com/office/officeart/2011/layout/TabList"/>
    <dgm:cxn modelId="{5EB161EE-86F6-417D-BDF9-C62E5827C990}" type="presParOf" srcId="{078BD08C-3FC6-4040-B38A-FD1858FB4CCD}" destId="{5E4502CD-F79F-49FB-8030-E875BF6E82A2}" srcOrd="2" destOrd="0" presId="urn:microsoft.com/office/officeart/2011/layout/TabList"/>
    <dgm:cxn modelId="{68F6E7BD-078F-4686-BD42-1860330CC397}" type="presParOf" srcId="{9ABBF044-4F6F-4383-9F9C-FF5A97E29C87}" destId="{855AA61B-CEFE-4A9E-BB03-4BECF6728384}" srcOrd="1" destOrd="0" presId="urn:microsoft.com/office/officeart/2011/layout/TabList"/>
    <dgm:cxn modelId="{0714A476-AC6E-4690-A53D-7AE2B2518444}" type="presParOf" srcId="{9ABBF044-4F6F-4383-9F9C-FF5A97E29C87}" destId="{382762EC-CBFC-4537-A6C0-CB3D8E08221D}" srcOrd="2" destOrd="0" presId="urn:microsoft.com/office/officeart/2011/layout/TabList"/>
    <dgm:cxn modelId="{F01D6CDC-D935-47AE-BF4A-DA7415125C5E}" type="presParOf" srcId="{382762EC-CBFC-4537-A6C0-CB3D8E08221D}" destId="{55946F7D-C2DD-4B0F-8598-B62BA9305D2E}" srcOrd="0" destOrd="0" presId="urn:microsoft.com/office/officeart/2011/layout/TabList"/>
    <dgm:cxn modelId="{CFDDF6C4-2744-445B-958D-7F0773EA40D2}" type="presParOf" srcId="{382762EC-CBFC-4537-A6C0-CB3D8E08221D}" destId="{1D4D1A44-4416-4BF0-87AC-17FB24B18648}" srcOrd="1" destOrd="0" presId="urn:microsoft.com/office/officeart/2011/layout/TabList"/>
    <dgm:cxn modelId="{03D8767A-879F-42FD-8EDF-634A5606099C}" type="presParOf" srcId="{382762EC-CBFC-4537-A6C0-CB3D8E08221D}" destId="{55834DE0-1352-4A32-BF75-EF4D5497E23B}" srcOrd="2" destOrd="0" presId="urn:microsoft.com/office/officeart/2011/layout/TabList"/>
    <dgm:cxn modelId="{3B0928DE-14B6-4FE7-87D0-06E69D25345B}" type="presParOf" srcId="{9ABBF044-4F6F-4383-9F9C-FF5A97E29C87}" destId="{30B6E288-830E-4518-B371-21B18DAA2E3D}" srcOrd="3" destOrd="0" presId="urn:microsoft.com/office/officeart/2011/layout/TabList"/>
    <dgm:cxn modelId="{0119B119-8742-4C8C-B526-3C5807C2901F}" type="presParOf" srcId="{9ABBF044-4F6F-4383-9F9C-FF5A97E29C87}" destId="{C70B38A9-E45E-4768-8C9B-529C31B8B54D}" srcOrd="4" destOrd="0" presId="urn:microsoft.com/office/officeart/2011/layout/TabList"/>
    <dgm:cxn modelId="{3669594F-B573-4480-9B5E-22E884553CA8}" type="presParOf" srcId="{C70B38A9-E45E-4768-8C9B-529C31B8B54D}" destId="{1700D744-256F-4658-AB83-D86DAFD67BED}" srcOrd="0" destOrd="0" presId="urn:microsoft.com/office/officeart/2011/layout/TabList"/>
    <dgm:cxn modelId="{138506EC-53F6-465B-ADCC-BA6B01D6A53A}" type="presParOf" srcId="{C70B38A9-E45E-4768-8C9B-529C31B8B54D}" destId="{602BAA04-1AE5-42B9-A030-7508C96D077B}" srcOrd="1" destOrd="0" presId="urn:microsoft.com/office/officeart/2011/layout/TabList"/>
    <dgm:cxn modelId="{619E6FFE-7277-411B-B3D2-495D3EDBE30B}" type="presParOf" srcId="{C70B38A9-E45E-4768-8C9B-529C31B8B54D}" destId="{05F89E64-4E2B-4311-A474-3C6C2BEC4A73}"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342498-52DB-4EAD-92FE-716E7FA680A9}"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aa-ET"/>
        </a:p>
      </dgm:t>
    </dgm:pt>
    <dgm:pt modelId="{1A3E5B6C-1654-44B6-AA73-D84F81D97D7F}">
      <dgm:prSet phldrT="[Text]"/>
      <dgm:spPr/>
      <dgm:t>
        <a:bodyPr/>
        <a:lstStyle/>
        <a:p>
          <a:r>
            <a:rPr lang="en-US" b="1" dirty="0"/>
            <a:t>Market Size:</a:t>
          </a:r>
          <a:endParaRPr lang="aa-ET" dirty="0"/>
        </a:p>
      </dgm:t>
    </dgm:pt>
    <dgm:pt modelId="{320C6072-5D7E-4E48-ABC0-B72F0E67B83C}" type="parTrans" cxnId="{F097DAA8-3040-439C-88E2-EE9B4BA69F7E}">
      <dgm:prSet/>
      <dgm:spPr/>
      <dgm:t>
        <a:bodyPr/>
        <a:lstStyle/>
        <a:p>
          <a:endParaRPr lang="aa-ET"/>
        </a:p>
      </dgm:t>
    </dgm:pt>
    <dgm:pt modelId="{26135615-A220-459D-9388-C4AC7E581E44}" type="sibTrans" cxnId="{F097DAA8-3040-439C-88E2-EE9B4BA69F7E}">
      <dgm:prSet/>
      <dgm:spPr/>
      <dgm:t>
        <a:bodyPr/>
        <a:lstStyle/>
        <a:p>
          <a:endParaRPr lang="aa-ET"/>
        </a:p>
      </dgm:t>
    </dgm:pt>
    <dgm:pt modelId="{3F14FAFB-AA0B-496F-A3CF-4496827CF3D6}">
      <dgm:prSet phldrT="[Text]" custT="1"/>
      <dgm:spPr/>
      <dgm:t>
        <a:bodyPr/>
        <a:lstStyle/>
        <a:p>
          <a:pPr>
            <a:buNone/>
          </a:pPr>
          <a:r>
            <a:rPr lang="en-US" sz="2400" dirty="0"/>
            <a:t>Expected to reach </a:t>
          </a:r>
          <a:r>
            <a:rPr lang="en-US" sz="2400" b="1" dirty="0"/>
            <a:t>USD 5.15 billion by 2028</a:t>
          </a:r>
          <a:r>
            <a:rPr lang="en-US" sz="2400" dirty="0"/>
            <a:t>, growing at a </a:t>
          </a:r>
          <a:r>
            <a:rPr lang="en-US" sz="2400" b="1" dirty="0"/>
            <a:t>CAGR of 3.28% </a:t>
          </a:r>
          <a:r>
            <a:rPr lang="en-US" sz="2400" dirty="0"/>
            <a:t>in the forecast period (2023-2028).</a:t>
          </a:r>
          <a:endParaRPr lang="aa-ET" sz="2400" dirty="0"/>
        </a:p>
      </dgm:t>
    </dgm:pt>
    <dgm:pt modelId="{4E177828-A277-4DBE-A55F-C1223AC62E86}" type="parTrans" cxnId="{1AD81D2C-0452-46D3-BB8B-58A86FF6F062}">
      <dgm:prSet/>
      <dgm:spPr/>
      <dgm:t>
        <a:bodyPr/>
        <a:lstStyle/>
        <a:p>
          <a:endParaRPr lang="aa-ET"/>
        </a:p>
      </dgm:t>
    </dgm:pt>
    <dgm:pt modelId="{CEE29A1D-C05B-4EB0-848B-368AF617EEF8}" type="sibTrans" cxnId="{1AD81D2C-0452-46D3-BB8B-58A86FF6F062}">
      <dgm:prSet/>
      <dgm:spPr/>
      <dgm:t>
        <a:bodyPr/>
        <a:lstStyle/>
        <a:p>
          <a:endParaRPr lang="aa-ET"/>
        </a:p>
      </dgm:t>
    </dgm:pt>
    <dgm:pt modelId="{34132078-6731-4C15-B282-7158DED4EB07}">
      <dgm:prSet phldrT="[Text]"/>
      <dgm:spPr/>
      <dgm:t>
        <a:bodyPr/>
        <a:lstStyle/>
        <a:p>
          <a:r>
            <a:rPr lang="en-US" b="1" dirty="0"/>
            <a:t>Current Situation:</a:t>
          </a:r>
          <a:endParaRPr lang="aa-ET" dirty="0"/>
        </a:p>
      </dgm:t>
    </dgm:pt>
    <dgm:pt modelId="{C74D2778-2987-4199-8CDC-71C97C9C37F4}" type="parTrans" cxnId="{D248D2EC-6AF9-401B-A6D3-A9A99FA510C1}">
      <dgm:prSet/>
      <dgm:spPr/>
      <dgm:t>
        <a:bodyPr/>
        <a:lstStyle/>
        <a:p>
          <a:endParaRPr lang="aa-ET"/>
        </a:p>
      </dgm:t>
    </dgm:pt>
    <dgm:pt modelId="{49A7C208-79EC-48BF-81A6-85EA91C1FC33}" type="sibTrans" cxnId="{D248D2EC-6AF9-401B-A6D3-A9A99FA510C1}">
      <dgm:prSet/>
      <dgm:spPr/>
      <dgm:t>
        <a:bodyPr/>
        <a:lstStyle/>
        <a:p>
          <a:endParaRPr lang="aa-ET"/>
        </a:p>
      </dgm:t>
    </dgm:pt>
    <dgm:pt modelId="{4B721E00-D326-44E8-911E-8A373E24D8A7}">
      <dgm:prSet phldrT="[Text]" custT="1"/>
      <dgm:spPr/>
      <dgm:t>
        <a:bodyPr/>
        <a:lstStyle/>
        <a:p>
          <a:pPr>
            <a:buNone/>
          </a:pPr>
          <a:r>
            <a:rPr lang="en-US" sz="2400" dirty="0"/>
            <a:t>The government and telecom companies are investing in cybersecurity and developing new regulations to protect telecom networks.</a:t>
          </a:r>
          <a:endParaRPr lang="aa-ET" sz="2400" dirty="0"/>
        </a:p>
      </dgm:t>
    </dgm:pt>
    <dgm:pt modelId="{7F7C57F7-5D59-45FD-988E-C3B952314E5E}" type="parTrans" cxnId="{3A18BA0B-37A5-4836-87AD-DCD915A461A2}">
      <dgm:prSet/>
      <dgm:spPr/>
      <dgm:t>
        <a:bodyPr/>
        <a:lstStyle/>
        <a:p>
          <a:endParaRPr lang="aa-ET"/>
        </a:p>
      </dgm:t>
    </dgm:pt>
    <dgm:pt modelId="{A25903E5-4818-43DB-A8A0-C47C034DA3FF}" type="sibTrans" cxnId="{3A18BA0B-37A5-4836-87AD-DCD915A461A2}">
      <dgm:prSet/>
      <dgm:spPr/>
      <dgm:t>
        <a:bodyPr/>
        <a:lstStyle/>
        <a:p>
          <a:endParaRPr lang="aa-ET"/>
        </a:p>
      </dgm:t>
    </dgm:pt>
    <dgm:pt modelId="{41AEC8F8-FF4A-4107-8190-E83FB70FE0E4}">
      <dgm:prSet phldrT="[Text]"/>
      <dgm:spPr/>
      <dgm:t>
        <a:bodyPr/>
        <a:lstStyle/>
        <a:p>
          <a:r>
            <a:rPr lang="en-US" b="1" dirty="0"/>
            <a:t>Organizations:</a:t>
          </a:r>
          <a:endParaRPr lang="aa-ET" dirty="0"/>
        </a:p>
      </dgm:t>
    </dgm:pt>
    <dgm:pt modelId="{06B130EB-FC59-4A5F-9437-81523232EA58}" type="parTrans" cxnId="{7AF59194-2680-4B94-907E-70A4CE27EB8B}">
      <dgm:prSet/>
      <dgm:spPr/>
      <dgm:t>
        <a:bodyPr/>
        <a:lstStyle/>
        <a:p>
          <a:endParaRPr lang="aa-ET"/>
        </a:p>
      </dgm:t>
    </dgm:pt>
    <dgm:pt modelId="{E02D8E67-141A-47D9-A5C6-30C001A34FA5}" type="sibTrans" cxnId="{7AF59194-2680-4B94-907E-70A4CE27EB8B}">
      <dgm:prSet/>
      <dgm:spPr/>
      <dgm:t>
        <a:bodyPr/>
        <a:lstStyle/>
        <a:p>
          <a:endParaRPr lang="aa-ET"/>
        </a:p>
      </dgm:t>
    </dgm:pt>
    <dgm:pt modelId="{5434CB6B-7664-4775-A309-E10F06CB98CD}">
      <dgm:prSet phldrT="[Text]" custT="1"/>
      <dgm:spPr/>
      <dgm:t>
        <a:bodyPr/>
        <a:lstStyle/>
        <a:p>
          <a:pPr>
            <a:buNone/>
          </a:pPr>
          <a:r>
            <a:rPr lang="en-US" sz="2400" b="0" i="0" dirty="0"/>
            <a:t>Pakistan Telecommunication Authority </a:t>
          </a:r>
          <a:r>
            <a:rPr lang="en-US" sz="2400" b="1" i="0" dirty="0"/>
            <a:t>(PTA)</a:t>
          </a:r>
        </a:p>
        <a:p>
          <a:pPr>
            <a:buNone/>
          </a:pPr>
          <a:r>
            <a:rPr lang="en-US" sz="2400" dirty="0"/>
            <a:t>National Telecom Security Operations Center </a:t>
          </a:r>
          <a:r>
            <a:rPr lang="en-US" sz="2400" b="1" dirty="0"/>
            <a:t>(NTSOC)</a:t>
          </a:r>
        </a:p>
      </dgm:t>
    </dgm:pt>
    <dgm:pt modelId="{E54EDD75-AFB3-4ECB-9109-2221FEF972C7}" type="parTrans" cxnId="{2046B330-4939-4243-858D-193D31F367C9}">
      <dgm:prSet/>
      <dgm:spPr/>
      <dgm:t>
        <a:bodyPr/>
        <a:lstStyle/>
        <a:p>
          <a:endParaRPr lang="aa-ET"/>
        </a:p>
      </dgm:t>
    </dgm:pt>
    <dgm:pt modelId="{34922DD2-0A45-4FB6-A051-4BA845D3F6A6}" type="sibTrans" cxnId="{2046B330-4939-4243-858D-193D31F367C9}">
      <dgm:prSet/>
      <dgm:spPr/>
      <dgm:t>
        <a:bodyPr/>
        <a:lstStyle/>
        <a:p>
          <a:endParaRPr lang="aa-ET"/>
        </a:p>
      </dgm:t>
    </dgm:pt>
    <dgm:pt modelId="{9ABBF044-4F6F-4383-9F9C-FF5A97E29C87}" type="pres">
      <dgm:prSet presAssocID="{94342498-52DB-4EAD-92FE-716E7FA680A9}" presName="Name0" presStyleCnt="0">
        <dgm:presLayoutVars>
          <dgm:chMax/>
          <dgm:chPref val="3"/>
          <dgm:dir/>
          <dgm:animOne val="branch"/>
          <dgm:animLvl val="lvl"/>
        </dgm:presLayoutVars>
      </dgm:prSet>
      <dgm:spPr/>
    </dgm:pt>
    <dgm:pt modelId="{078BD08C-3FC6-4040-B38A-FD1858FB4CCD}" type="pres">
      <dgm:prSet presAssocID="{1A3E5B6C-1654-44B6-AA73-D84F81D97D7F}" presName="composite" presStyleCnt="0"/>
      <dgm:spPr/>
    </dgm:pt>
    <dgm:pt modelId="{35C2A696-33C6-4A38-881F-E836E8579E43}" type="pres">
      <dgm:prSet presAssocID="{1A3E5B6C-1654-44B6-AA73-D84F81D97D7F}" presName="FirstChild" presStyleLbl="revTx" presStyleIdx="0" presStyleCnt="3">
        <dgm:presLayoutVars>
          <dgm:chMax val="0"/>
          <dgm:chPref val="0"/>
          <dgm:bulletEnabled val="1"/>
        </dgm:presLayoutVars>
      </dgm:prSet>
      <dgm:spPr/>
    </dgm:pt>
    <dgm:pt modelId="{38DD3546-60F8-41C0-836F-F5AEB086402C}" type="pres">
      <dgm:prSet presAssocID="{1A3E5B6C-1654-44B6-AA73-D84F81D97D7F}" presName="Parent" presStyleLbl="alignNode1" presStyleIdx="0" presStyleCnt="3" custScaleY="72399" custLinFactNeighborY="13811">
        <dgm:presLayoutVars>
          <dgm:chMax val="3"/>
          <dgm:chPref val="3"/>
          <dgm:bulletEnabled val="1"/>
        </dgm:presLayoutVars>
      </dgm:prSet>
      <dgm:spPr/>
    </dgm:pt>
    <dgm:pt modelId="{5E4502CD-F79F-49FB-8030-E875BF6E82A2}" type="pres">
      <dgm:prSet presAssocID="{1A3E5B6C-1654-44B6-AA73-D84F81D97D7F}" presName="Accent" presStyleLbl="parChTrans1D1" presStyleIdx="0" presStyleCnt="3"/>
      <dgm:spPr/>
    </dgm:pt>
    <dgm:pt modelId="{855AA61B-CEFE-4A9E-BB03-4BECF6728384}" type="pres">
      <dgm:prSet presAssocID="{26135615-A220-459D-9388-C4AC7E581E44}" presName="sibTrans" presStyleCnt="0"/>
      <dgm:spPr/>
    </dgm:pt>
    <dgm:pt modelId="{382762EC-CBFC-4537-A6C0-CB3D8E08221D}" type="pres">
      <dgm:prSet presAssocID="{34132078-6731-4C15-B282-7158DED4EB07}" presName="composite" presStyleCnt="0"/>
      <dgm:spPr/>
    </dgm:pt>
    <dgm:pt modelId="{55946F7D-C2DD-4B0F-8598-B62BA9305D2E}" type="pres">
      <dgm:prSet presAssocID="{34132078-6731-4C15-B282-7158DED4EB07}" presName="FirstChild" presStyleLbl="revTx" presStyleIdx="1" presStyleCnt="3">
        <dgm:presLayoutVars>
          <dgm:chMax val="0"/>
          <dgm:chPref val="0"/>
          <dgm:bulletEnabled val="1"/>
        </dgm:presLayoutVars>
      </dgm:prSet>
      <dgm:spPr/>
    </dgm:pt>
    <dgm:pt modelId="{1D4D1A44-4416-4BF0-87AC-17FB24B18648}" type="pres">
      <dgm:prSet presAssocID="{34132078-6731-4C15-B282-7158DED4EB07}" presName="Parent" presStyleLbl="alignNode1" presStyleIdx="1" presStyleCnt="3" custScaleY="72399" custLinFactNeighborY="13811">
        <dgm:presLayoutVars>
          <dgm:chMax val="3"/>
          <dgm:chPref val="3"/>
          <dgm:bulletEnabled val="1"/>
        </dgm:presLayoutVars>
      </dgm:prSet>
      <dgm:spPr/>
    </dgm:pt>
    <dgm:pt modelId="{55834DE0-1352-4A32-BF75-EF4D5497E23B}" type="pres">
      <dgm:prSet presAssocID="{34132078-6731-4C15-B282-7158DED4EB07}" presName="Accent" presStyleLbl="parChTrans1D1" presStyleIdx="1" presStyleCnt="3"/>
      <dgm:spPr/>
    </dgm:pt>
    <dgm:pt modelId="{30B6E288-830E-4518-B371-21B18DAA2E3D}" type="pres">
      <dgm:prSet presAssocID="{49A7C208-79EC-48BF-81A6-85EA91C1FC33}" presName="sibTrans" presStyleCnt="0"/>
      <dgm:spPr/>
    </dgm:pt>
    <dgm:pt modelId="{C70B38A9-E45E-4768-8C9B-529C31B8B54D}" type="pres">
      <dgm:prSet presAssocID="{41AEC8F8-FF4A-4107-8190-E83FB70FE0E4}" presName="composite" presStyleCnt="0"/>
      <dgm:spPr/>
    </dgm:pt>
    <dgm:pt modelId="{1700D744-256F-4658-AB83-D86DAFD67BED}" type="pres">
      <dgm:prSet presAssocID="{41AEC8F8-FF4A-4107-8190-E83FB70FE0E4}" presName="FirstChild" presStyleLbl="revTx" presStyleIdx="2" presStyleCnt="3">
        <dgm:presLayoutVars>
          <dgm:chMax val="0"/>
          <dgm:chPref val="0"/>
          <dgm:bulletEnabled val="1"/>
        </dgm:presLayoutVars>
      </dgm:prSet>
      <dgm:spPr/>
    </dgm:pt>
    <dgm:pt modelId="{602BAA04-1AE5-42B9-A030-7508C96D077B}" type="pres">
      <dgm:prSet presAssocID="{41AEC8F8-FF4A-4107-8190-E83FB70FE0E4}" presName="Parent" presStyleLbl="alignNode1" presStyleIdx="2" presStyleCnt="3" custScaleY="72399" custLinFactNeighborY="13811">
        <dgm:presLayoutVars>
          <dgm:chMax val="3"/>
          <dgm:chPref val="3"/>
          <dgm:bulletEnabled val="1"/>
        </dgm:presLayoutVars>
      </dgm:prSet>
      <dgm:spPr/>
    </dgm:pt>
    <dgm:pt modelId="{05F89E64-4E2B-4311-A474-3C6C2BEC4A73}" type="pres">
      <dgm:prSet presAssocID="{41AEC8F8-FF4A-4107-8190-E83FB70FE0E4}" presName="Accent" presStyleLbl="parChTrans1D1" presStyleIdx="2" presStyleCnt="3"/>
      <dgm:spPr/>
    </dgm:pt>
  </dgm:ptLst>
  <dgm:cxnLst>
    <dgm:cxn modelId="{33B4C407-523E-4D1B-B676-F6CF527AC993}" type="presOf" srcId="{5434CB6B-7664-4775-A309-E10F06CB98CD}" destId="{1700D744-256F-4658-AB83-D86DAFD67BED}" srcOrd="0" destOrd="0" presId="urn:microsoft.com/office/officeart/2011/layout/TabList"/>
    <dgm:cxn modelId="{3A18BA0B-37A5-4836-87AD-DCD915A461A2}" srcId="{34132078-6731-4C15-B282-7158DED4EB07}" destId="{4B721E00-D326-44E8-911E-8A373E24D8A7}" srcOrd="0" destOrd="0" parTransId="{7F7C57F7-5D59-45FD-988E-C3B952314E5E}" sibTransId="{A25903E5-4818-43DB-A8A0-C47C034DA3FF}"/>
    <dgm:cxn modelId="{1AD81D2C-0452-46D3-BB8B-58A86FF6F062}" srcId="{1A3E5B6C-1654-44B6-AA73-D84F81D97D7F}" destId="{3F14FAFB-AA0B-496F-A3CF-4496827CF3D6}" srcOrd="0" destOrd="0" parTransId="{4E177828-A277-4DBE-A55F-C1223AC62E86}" sibTransId="{CEE29A1D-C05B-4EB0-848B-368AF617EEF8}"/>
    <dgm:cxn modelId="{2046B330-4939-4243-858D-193D31F367C9}" srcId="{41AEC8F8-FF4A-4107-8190-E83FB70FE0E4}" destId="{5434CB6B-7664-4775-A309-E10F06CB98CD}" srcOrd="0" destOrd="0" parTransId="{E54EDD75-AFB3-4ECB-9109-2221FEF972C7}" sibTransId="{34922DD2-0A45-4FB6-A051-4BA845D3F6A6}"/>
    <dgm:cxn modelId="{11FF1F39-A8E1-41DA-95F6-D7AC7317EFC6}" type="presOf" srcId="{3F14FAFB-AA0B-496F-A3CF-4496827CF3D6}" destId="{35C2A696-33C6-4A38-881F-E836E8579E43}" srcOrd="0" destOrd="0" presId="urn:microsoft.com/office/officeart/2011/layout/TabList"/>
    <dgm:cxn modelId="{28831766-387D-4128-A54E-8E03FD63842C}" type="presOf" srcId="{4B721E00-D326-44E8-911E-8A373E24D8A7}" destId="{55946F7D-C2DD-4B0F-8598-B62BA9305D2E}" srcOrd="0" destOrd="0" presId="urn:microsoft.com/office/officeart/2011/layout/TabList"/>
    <dgm:cxn modelId="{033A8E4E-8CC6-402E-A341-B09B53982FFC}" type="presOf" srcId="{34132078-6731-4C15-B282-7158DED4EB07}" destId="{1D4D1A44-4416-4BF0-87AC-17FB24B18648}" srcOrd="0" destOrd="0" presId="urn:microsoft.com/office/officeart/2011/layout/TabList"/>
    <dgm:cxn modelId="{73EE127A-A84A-42F4-9B98-9A3822CAF640}" type="presOf" srcId="{41AEC8F8-FF4A-4107-8190-E83FB70FE0E4}" destId="{602BAA04-1AE5-42B9-A030-7508C96D077B}" srcOrd="0" destOrd="0" presId="urn:microsoft.com/office/officeart/2011/layout/TabList"/>
    <dgm:cxn modelId="{7AF59194-2680-4B94-907E-70A4CE27EB8B}" srcId="{94342498-52DB-4EAD-92FE-716E7FA680A9}" destId="{41AEC8F8-FF4A-4107-8190-E83FB70FE0E4}" srcOrd="2" destOrd="0" parTransId="{06B130EB-FC59-4A5F-9437-81523232EA58}" sibTransId="{E02D8E67-141A-47D9-A5C6-30C001A34FA5}"/>
    <dgm:cxn modelId="{F097DAA8-3040-439C-88E2-EE9B4BA69F7E}" srcId="{94342498-52DB-4EAD-92FE-716E7FA680A9}" destId="{1A3E5B6C-1654-44B6-AA73-D84F81D97D7F}" srcOrd="0" destOrd="0" parTransId="{320C6072-5D7E-4E48-ABC0-B72F0E67B83C}" sibTransId="{26135615-A220-459D-9388-C4AC7E581E44}"/>
    <dgm:cxn modelId="{EB6F52AD-2461-4D68-85A8-EE1721E96FEE}" type="presOf" srcId="{94342498-52DB-4EAD-92FE-716E7FA680A9}" destId="{9ABBF044-4F6F-4383-9F9C-FF5A97E29C87}" srcOrd="0" destOrd="0" presId="urn:microsoft.com/office/officeart/2011/layout/TabList"/>
    <dgm:cxn modelId="{1222CFD5-E3F6-4A9D-B9A2-4AC3C75CAF7A}" type="presOf" srcId="{1A3E5B6C-1654-44B6-AA73-D84F81D97D7F}" destId="{38DD3546-60F8-41C0-836F-F5AEB086402C}" srcOrd="0" destOrd="0" presId="urn:microsoft.com/office/officeart/2011/layout/TabList"/>
    <dgm:cxn modelId="{D248D2EC-6AF9-401B-A6D3-A9A99FA510C1}" srcId="{94342498-52DB-4EAD-92FE-716E7FA680A9}" destId="{34132078-6731-4C15-B282-7158DED4EB07}" srcOrd="1" destOrd="0" parTransId="{C74D2778-2987-4199-8CDC-71C97C9C37F4}" sibTransId="{49A7C208-79EC-48BF-81A6-85EA91C1FC33}"/>
    <dgm:cxn modelId="{18B86B17-3C11-45CB-835E-B5C47E802774}" type="presParOf" srcId="{9ABBF044-4F6F-4383-9F9C-FF5A97E29C87}" destId="{078BD08C-3FC6-4040-B38A-FD1858FB4CCD}" srcOrd="0" destOrd="0" presId="urn:microsoft.com/office/officeart/2011/layout/TabList"/>
    <dgm:cxn modelId="{CD443D5D-7632-414B-AA53-B80A30547FA8}" type="presParOf" srcId="{078BD08C-3FC6-4040-B38A-FD1858FB4CCD}" destId="{35C2A696-33C6-4A38-881F-E836E8579E43}" srcOrd="0" destOrd="0" presId="urn:microsoft.com/office/officeart/2011/layout/TabList"/>
    <dgm:cxn modelId="{E4B2820B-CE75-4ED8-8879-8053692F7FEE}" type="presParOf" srcId="{078BD08C-3FC6-4040-B38A-FD1858FB4CCD}" destId="{38DD3546-60F8-41C0-836F-F5AEB086402C}" srcOrd="1" destOrd="0" presId="urn:microsoft.com/office/officeart/2011/layout/TabList"/>
    <dgm:cxn modelId="{5EB161EE-86F6-417D-BDF9-C62E5827C990}" type="presParOf" srcId="{078BD08C-3FC6-4040-B38A-FD1858FB4CCD}" destId="{5E4502CD-F79F-49FB-8030-E875BF6E82A2}" srcOrd="2" destOrd="0" presId="urn:microsoft.com/office/officeart/2011/layout/TabList"/>
    <dgm:cxn modelId="{68F6E7BD-078F-4686-BD42-1860330CC397}" type="presParOf" srcId="{9ABBF044-4F6F-4383-9F9C-FF5A97E29C87}" destId="{855AA61B-CEFE-4A9E-BB03-4BECF6728384}" srcOrd="1" destOrd="0" presId="urn:microsoft.com/office/officeart/2011/layout/TabList"/>
    <dgm:cxn modelId="{0714A476-AC6E-4690-A53D-7AE2B2518444}" type="presParOf" srcId="{9ABBF044-4F6F-4383-9F9C-FF5A97E29C87}" destId="{382762EC-CBFC-4537-A6C0-CB3D8E08221D}" srcOrd="2" destOrd="0" presId="urn:microsoft.com/office/officeart/2011/layout/TabList"/>
    <dgm:cxn modelId="{F01D6CDC-D935-47AE-BF4A-DA7415125C5E}" type="presParOf" srcId="{382762EC-CBFC-4537-A6C0-CB3D8E08221D}" destId="{55946F7D-C2DD-4B0F-8598-B62BA9305D2E}" srcOrd="0" destOrd="0" presId="urn:microsoft.com/office/officeart/2011/layout/TabList"/>
    <dgm:cxn modelId="{CFDDF6C4-2744-445B-958D-7F0773EA40D2}" type="presParOf" srcId="{382762EC-CBFC-4537-A6C0-CB3D8E08221D}" destId="{1D4D1A44-4416-4BF0-87AC-17FB24B18648}" srcOrd="1" destOrd="0" presId="urn:microsoft.com/office/officeart/2011/layout/TabList"/>
    <dgm:cxn modelId="{03D8767A-879F-42FD-8EDF-634A5606099C}" type="presParOf" srcId="{382762EC-CBFC-4537-A6C0-CB3D8E08221D}" destId="{55834DE0-1352-4A32-BF75-EF4D5497E23B}" srcOrd="2" destOrd="0" presId="urn:microsoft.com/office/officeart/2011/layout/TabList"/>
    <dgm:cxn modelId="{3B0928DE-14B6-4FE7-87D0-06E69D25345B}" type="presParOf" srcId="{9ABBF044-4F6F-4383-9F9C-FF5A97E29C87}" destId="{30B6E288-830E-4518-B371-21B18DAA2E3D}" srcOrd="3" destOrd="0" presId="urn:microsoft.com/office/officeart/2011/layout/TabList"/>
    <dgm:cxn modelId="{0119B119-8742-4C8C-B526-3C5807C2901F}" type="presParOf" srcId="{9ABBF044-4F6F-4383-9F9C-FF5A97E29C87}" destId="{C70B38A9-E45E-4768-8C9B-529C31B8B54D}" srcOrd="4" destOrd="0" presId="urn:microsoft.com/office/officeart/2011/layout/TabList"/>
    <dgm:cxn modelId="{3669594F-B573-4480-9B5E-22E884553CA8}" type="presParOf" srcId="{C70B38A9-E45E-4768-8C9B-529C31B8B54D}" destId="{1700D744-256F-4658-AB83-D86DAFD67BED}" srcOrd="0" destOrd="0" presId="urn:microsoft.com/office/officeart/2011/layout/TabList"/>
    <dgm:cxn modelId="{138506EC-53F6-465B-ADCC-BA6B01D6A53A}" type="presParOf" srcId="{C70B38A9-E45E-4768-8C9B-529C31B8B54D}" destId="{602BAA04-1AE5-42B9-A030-7508C96D077B}" srcOrd="1" destOrd="0" presId="urn:microsoft.com/office/officeart/2011/layout/TabList"/>
    <dgm:cxn modelId="{619E6FFE-7277-411B-B3D2-495D3EDBE30B}" type="presParOf" srcId="{C70B38A9-E45E-4768-8C9B-529C31B8B54D}" destId="{05F89E64-4E2B-4311-A474-3C6C2BEC4A73}"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0F903-3F65-4CDB-A3C4-8D6067B0A24A}">
      <dsp:nvSpPr>
        <dsp:cNvPr id="0" name=""/>
        <dsp:cNvSpPr/>
      </dsp:nvSpPr>
      <dsp:spPr>
        <a:xfrm>
          <a:off x="5731042" y="0"/>
          <a:ext cx="4494516" cy="4196055"/>
        </a:xfrm>
        <a:custGeom>
          <a:avLst/>
          <a:gdLst/>
          <a:ahLst/>
          <a:cxnLst/>
          <a:rect l="0" t="0" r="0" b="0"/>
          <a:pathLst>
            <a:path>
              <a:moveTo>
                <a:pt x="0" y="4196055"/>
              </a:moveTo>
              <a:lnTo>
                <a:pt x="4494516" y="0"/>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CF175B8-E586-4393-8E27-9171EAB997A4}">
      <dsp:nvSpPr>
        <dsp:cNvPr id="0" name=""/>
        <dsp:cNvSpPr/>
      </dsp:nvSpPr>
      <dsp:spPr>
        <a:xfrm>
          <a:off x="5731042" y="0"/>
          <a:ext cx="1502131" cy="4196055"/>
        </a:xfrm>
        <a:custGeom>
          <a:avLst/>
          <a:gdLst/>
          <a:ahLst/>
          <a:cxnLst/>
          <a:rect l="0" t="0" r="0" b="0"/>
          <a:pathLst>
            <a:path>
              <a:moveTo>
                <a:pt x="0" y="4196055"/>
              </a:moveTo>
              <a:lnTo>
                <a:pt x="1502131" y="0"/>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ADBC6A-001C-4E1A-B5BA-22DFE86511A2}">
      <dsp:nvSpPr>
        <dsp:cNvPr id="0" name=""/>
        <dsp:cNvSpPr/>
      </dsp:nvSpPr>
      <dsp:spPr>
        <a:xfrm>
          <a:off x="4240781" y="0"/>
          <a:ext cx="1490260" cy="4196055"/>
        </a:xfrm>
        <a:custGeom>
          <a:avLst/>
          <a:gdLst/>
          <a:ahLst/>
          <a:cxnLst/>
          <a:rect l="0" t="0" r="0" b="0"/>
          <a:pathLst>
            <a:path>
              <a:moveTo>
                <a:pt x="1490260" y="4196055"/>
              </a:moveTo>
              <a:lnTo>
                <a:pt x="0" y="0"/>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EC1E9D-FD17-41CB-9142-A469B7D3619C}">
      <dsp:nvSpPr>
        <dsp:cNvPr id="0" name=""/>
        <dsp:cNvSpPr/>
      </dsp:nvSpPr>
      <dsp:spPr>
        <a:xfrm>
          <a:off x="1248389" y="0"/>
          <a:ext cx="4482652" cy="4196055"/>
        </a:xfrm>
        <a:custGeom>
          <a:avLst/>
          <a:gdLst/>
          <a:ahLst/>
          <a:cxnLst/>
          <a:rect l="0" t="0" r="0" b="0"/>
          <a:pathLst>
            <a:path>
              <a:moveTo>
                <a:pt x="4482652" y="4196055"/>
              </a:moveTo>
              <a:lnTo>
                <a:pt x="0" y="0"/>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1A0980-FD99-4F83-812B-E4F178B0C9F9}">
      <dsp:nvSpPr>
        <dsp:cNvPr id="0" name=""/>
        <dsp:cNvSpPr/>
      </dsp:nvSpPr>
      <dsp:spPr>
        <a:xfrm>
          <a:off x="4494516" y="2959530"/>
          <a:ext cx="2473050" cy="1236525"/>
        </a:xfrm>
        <a:prstGeom prst="roundRect">
          <a:avLst/>
        </a:prstGeom>
        <a:solidFill>
          <a:schemeClr val="bg1">
            <a:lumMod val="95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08203E"/>
              </a:solidFill>
            </a:rPr>
            <a:t>Consumers</a:t>
          </a:r>
          <a:endParaRPr lang="aa-ET" sz="2400" b="1" kern="1200" dirty="0">
            <a:solidFill>
              <a:srgbClr val="08203E"/>
            </a:solidFill>
          </a:endParaRPr>
        </a:p>
      </dsp:txBody>
      <dsp:txXfrm>
        <a:off x="4554878" y="3019892"/>
        <a:ext cx="2352326" cy="1115801"/>
      </dsp:txXfrm>
    </dsp:sp>
    <dsp:sp modelId="{55C887F9-8E97-44BE-A6F4-7269F882BC43}">
      <dsp:nvSpPr>
        <dsp:cNvPr id="0" name=""/>
        <dsp:cNvSpPr/>
      </dsp:nvSpPr>
      <dsp:spPr>
        <a:xfrm>
          <a:off x="11864" y="0"/>
          <a:ext cx="2473050" cy="1236525"/>
        </a:xfrm>
        <a:prstGeom prst="roundRect">
          <a:avLst/>
        </a:prstGeom>
        <a:solidFill>
          <a:srgbClr val="0D3769"/>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Telecom Operators</a:t>
          </a:r>
          <a:endParaRPr lang="aa-ET" sz="2000" kern="1200" dirty="0"/>
        </a:p>
      </dsp:txBody>
      <dsp:txXfrm>
        <a:off x="72226" y="60362"/>
        <a:ext cx="2352326" cy="1115801"/>
      </dsp:txXfrm>
    </dsp:sp>
    <dsp:sp modelId="{15EEB37A-37B2-4D35-9F72-FAAB82151E49}">
      <dsp:nvSpPr>
        <dsp:cNvPr id="0" name=""/>
        <dsp:cNvSpPr/>
      </dsp:nvSpPr>
      <dsp:spPr>
        <a:xfrm>
          <a:off x="3004256" y="0"/>
          <a:ext cx="2473050" cy="1236525"/>
        </a:xfrm>
        <a:prstGeom prst="roundRect">
          <a:avLst/>
        </a:prstGeom>
        <a:solidFill>
          <a:srgbClr val="0D3769"/>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Telecom equipment vendors</a:t>
          </a:r>
          <a:endParaRPr lang="aa-ET" sz="2000" kern="1200" dirty="0"/>
        </a:p>
      </dsp:txBody>
      <dsp:txXfrm>
        <a:off x="3064618" y="60362"/>
        <a:ext cx="2352326" cy="1115801"/>
      </dsp:txXfrm>
    </dsp:sp>
    <dsp:sp modelId="{2D8F7789-4C68-40D2-8038-E7D406AEEB5F}">
      <dsp:nvSpPr>
        <dsp:cNvPr id="0" name=""/>
        <dsp:cNvSpPr/>
      </dsp:nvSpPr>
      <dsp:spPr>
        <a:xfrm>
          <a:off x="5996647" y="0"/>
          <a:ext cx="2473050" cy="1236525"/>
        </a:xfrm>
        <a:prstGeom prst="roundRect">
          <a:avLst/>
        </a:prstGeom>
        <a:solidFill>
          <a:srgbClr val="0D3769"/>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Telecommunications infrastructure providers</a:t>
          </a:r>
          <a:endParaRPr lang="aa-ET" sz="2000" kern="1200" dirty="0"/>
        </a:p>
      </dsp:txBody>
      <dsp:txXfrm>
        <a:off x="6057009" y="60362"/>
        <a:ext cx="2352326" cy="1115801"/>
      </dsp:txXfrm>
    </dsp:sp>
    <dsp:sp modelId="{0EC02376-9103-468C-8429-48B631D66909}">
      <dsp:nvSpPr>
        <dsp:cNvPr id="0" name=""/>
        <dsp:cNvSpPr/>
      </dsp:nvSpPr>
      <dsp:spPr>
        <a:xfrm>
          <a:off x="8989033" y="0"/>
          <a:ext cx="2473050" cy="1236525"/>
        </a:xfrm>
        <a:prstGeom prst="roundRect">
          <a:avLst/>
        </a:prstGeom>
        <a:solidFill>
          <a:srgbClr val="0D3769"/>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Telecommunications regulatory bodies</a:t>
          </a:r>
          <a:endParaRPr lang="aa-ET" sz="2000" kern="1200" dirty="0"/>
        </a:p>
      </dsp:txBody>
      <dsp:txXfrm>
        <a:off x="9049395" y="60362"/>
        <a:ext cx="2352326" cy="11158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CE6555-0AAD-4E1C-8A65-DD2CE0FE6CB0}">
      <dsp:nvSpPr>
        <dsp:cNvPr id="0" name=""/>
        <dsp:cNvSpPr/>
      </dsp:nvSpPr>
      <dsp:spPr>
        <a:xfrm>
          <a:off x="4309" y="10026"/>
          <a:ext cx="2591281" cy="103651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Data breaches</a:t>
          </a:r>
          <a:endParaRPr lang="aa-ET" sz="2000" kern="1200" dirty="0"/>
        </a:p>
      </dsp:txBody>
      <dsp:txXfrm>
        <a:off x="4309" y="10026"/>
        <a:ext cx="2591281" cy="1036512"/>
      </dsp:txXfrm>
    </dsp:sp>
    <dsp:sp modelId="{376ACB94-0E07-41A0-8F0C-ED817FA3E88F}">
      <dsp:nvSpPr>
        <dsp:cNvPr id="0" name=""/>
        <dsp:cNvSpPr/>
      </dsp:nvSpPr>
      <dsp:spPr>
        <a:xfrm>
          <a:off x="4309" y="1046539"/>
          <a:ext cx="2591281" cy="16689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ctr" anchorCtr="0">
          <a:noAutofit/>
        </a:bodyPr>
        <a:lstStyle/>
        <a:p>
          <a:pPr marL="285750" lvl="1" indent="-285750" algn="ctr" defTabSz="1244600">
            <a:lnSpc>
              <a:spcPct val="90000"/>
            </a:lnSpc>
            <a:spcBef>
              <a:spcPct val="0"/>
            </a:spcBef>
            <a:spcAft>
              <a:spcPct val="15000"/>
            </a:spcAft>
            <a:buNone/>
          </a:pPr>
          <a:r>
            <a:rPr lang="en-US" sz="2800" kern="1200" dirty="0"/>
            <a:t>$4.24 million</a:t>
          </a:r>
          <a:endParaRPr lang="aa-ET" sz="2800" kern="1200" dirty="0"/>
        </a:p>
      </dsp:txBody>
      <dsp:txXfrm>
        <a:off x="4309" y="1046539"/>
        <a:ext cx="2591281" cy="1668960"/>
      </dsp:txXfrm>
    </dsp:sp>
    <dsp:sp modelId="{36641601-6E36-413B-BBC0-A0DF555A686A}">
      <dsp:nvSpPr>
        <dsp:cNvPr id="0" name=""/>
        <dsp:cNvSpPr/>
      </dsp:nvSpPr>
      <dsp:spPr>
        <a:xfrm>
          <a:off x="2958370" y="10026"/>
          <a:ext cx="2591281" cy="103651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Denial-of-service (DoS) attacks</a:t>
          </a:r>
          <a:endParaRPr lang="aa-ET" sz="2000" kern="1200" dirty="0"/>
        </a:p>
      </dsp:txBody>
      <dsp:txXfrm>
        <a:off x="2958370" y="10026"/>
        <a:ext cx="2591281" cy="1036512"/>
      </dsp:txXfrm>
    </dsp:sp>
    <dsp:sp modelId="{E7286EF7-E119-4999-966E-CE03DFAFB756}">
      <dsp:nvSpPr>
        <dsp:cNvPr id="0" name=""/>
        <dsp:cNvSpPr/>
      </dsp:nvSpPr>
      <dsp:spPr>
        <a:xfrm>
          <a:off x="2958370" y="1046539"/>
          <a:ext cx="2591281" cy="16689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ctr" anchorCtr="0">
          <a:noAutofit/>
        </a:bodyPr>
        <a:lstStyle/>
        <a:p>
          <a:pPr marL="285750" lvl="1" indent="-285750" algn="ctr" defTabSz="1244600">
            <a:lnSpc>
              <a:spcPct val="90000"/>
            </a:lnSpc>
            <a:spcBef>
              <a:spcPct val="0"/>
            </a:spcBef>
            <a:spcAft>
              <a:spcPct val="15000"/>
            </a:spcAft>
            <a:buNone/>
          </a:pPr>
          <a:r>
            <a:rPr lang="en-US" sz="2800" kern="1200" dirty="0"/>
            <a:t>$200,000</a:t>
          </a:r>
          <a:endParaRPr lang="aa-ET" sz="2800" kern="1200" dirty="0"/>
        </a:p>
      </dsp:txBody>
      <dsp:txXfrm>
        <a:off x="2958370" y="1046539"/>
        <a:ext cx="2591281" cy="1668960"/>
      </dsp:txXfrm>
    </dsp:sp>
    <dsp:sp modelId="{C1132B93-525E-4DDF-AF81-C06015CA502A}">
      <dsp:nvSpPr>
        <dsp:cNvPr id="0" name=""/>
        <dsp:cNvSpPr/>
      </dsp:nvSpPr>
      <dsp:spPr>
        <a:xfrm>
          <a:off x="5912431" y="10026"/>
          <a:ext cx="2591281" cy="103651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Man-in-the-middle (MitM) attacks:</a:t>
          </a:r>
          <a:endParaRPr lang="aa-ET" sz="2000" kern="1200" dirty="0"/>
        </a:p>
      </dsp:txBody>
      <dsp:txXfrm>
        <a:off x="5912431" y="10026"/>
        <a:ext cx="2591281" cy="1036512"/>
      </dsp:txXfrm>
    </dsp:sp>
    <dsp:sp modelId="{348ABDC1-B8ED-4786-B042-C739B4AA45CE}">
      <dsp:nvSpPr>
        <dsp:cNvPr id="0" name=""/>
        <dsp:cNvSpPr/>
      </dsp:nvSpPr>
      <dsp:spPr>
        <a:xfrm>
          <a:off x="5912431" y="1046539"/>
          <a:ext cx="2591281" cy="16689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ctr" anchorCtr="0">
          <a:noAutofit/>
        </a:bodyPr>
        <a:lstStyle/>
        <a:p>
          <a:pPr marL="285750" lvl="1" indent="-285750" algn="ctr" defTabSz="1244600">
            <a:lnSpc>
              <a:spcPct val="90000"/>
            </a:lnSpc>
            <a:spcBef>
              <a:spcPct val="0"/>
            </a:spcBef>
            <a:spcAft>
              <a:spcPct val="15000"/>
            </a:spcAft>
            <a:buNone/>
          </a:pPr>
          <a:r>
            <a:rPr lang="en-US" sz="2800" kern="1200" dirty="0"/>
            <a:t>$80,000</a:t>
          </a:r>
          <a:endParaRPr lang="aa-ET" sz="2800" kern="1200" dirty="0"/>
        </a:p>
      </dsp:txBody>
      <dsp:txXfrm>
        <a:off x="5912431" y="1046539"/>
        <a:ext cx="2591281" cy="1668960"/>
      </dsp:txXfrm>
    </dsp:sp>
    <dsp:sp modelId="{E641E008-30B1-4500-92D9-460625F9C02F}">
      <dsp:nvSpPr>
        <dsp:cNvPr id="0" name=""/>
        <dsp:cNvSpPr/>
      </dsp:nvSpPr>
      <dsp:spPr>
        <a:xfrm>
          <a:off x="8866492" y="10026"/>
          <a:ext cx="2591281" cy="103651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Malware attacks:</a:t>
          </a:r>
          <a:endParaRPr lang="aa-ET" sz="2000" kern="1200" dirty="0"/>
        </a:p>
      </dsp:txBody>
      <dsp:txXfrm>
        <a:off x="8866492" y="10026"/>
        <a:ext cx="2591281" cy="1036512"/>
      </dsp:txXfrm>
    </dsp:sp>
    <dsp:sp modelId="{2E2C633B-A316-4FBD-8FC1-E8A8DE06415D}">
      <dsp:nvSpPr>
        <dsp:cNvPr id="0" name=""/>
        <dsp:cNvSpPr/>
      </dsp:nvSpPr>
      <dsp:spPr>
        <a:xfrm>
          <a:off x="8866492" y="1046539"/>
          <a:ext cx="2591281" cy="16689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ctr" anchorCtr="0">
          <a:noAutofit/>
        </a:bodyPr>
        <a:lstStyle/>
        <a:p>
          <a:pPr marL="285750" lvl="1" indent="-285750" algn="ctr" defTabSz="1244600">
            <a:lnSpc>
              <a:spcPct val="90000"/>
            </a:lnSpc>
            <a:spcBef>
              <a:spcPct val="0"/>
            </a:spcBef>
            <a:spcAft>
              <a:spcPct val="15000"/>
            </a:spcAft>
            <a:buNone/>
          </a:pPr>
          <a:r>
            <a:rPr lang="en-US" sz="2800" kern="1200"/>
            <a:t>$2.6 million</a:t>
          </a:r>
          <a:endParaRPr lang="aa-ET" sz="2800" kern="1200"/>
        </a:p>
      </dsp:txBody>
      <dsp:txXfrm>
        <a:off x="8866492" y="1046539"/>
        <a:ext cx="2591281" cy="16689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F89E64-4E2B-4311-A474-3C6C2BEC4A73}">
      <dsp:nvSpPr>
        <dsp:cNvPr id="0" name=""/>
        <dsp:cNvSpPr/>
      </dsp:nvSpPr>
      <dsp:spPr>
        <a:xfrm>
          <a:off x="0" y="4632413"/>
          <a:ext cx="1096344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834DE0-1352-4A32-BF75-EF4D5497E23B}">
      <dsp:nvSpPr>
        <dsp:cNvPr id="0" name=""/>
        <dsp:cNvSpPr/>
      </dsp:nvSpPr>
      <dsp:spPr>
        <a:xfrm>
          <a:off x="0" y="3063423"/>
          <a:ext cx="1096344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4502CD-F79F-49FB-8030-E875BF6E82A2}">
      <dsp:nvSpPr>
        <dsp:cNvPr id="0" name=""/>
        <dsp:cNvSpPr/>
      </dsp:nvSpPr>
      <dsp:spPr>
        <a:xfrm>
          <a:off x="0" y="1494432"/>
          <a:ext cx="1096344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C2A696-33C6-4A38-881F-E836E8579E43}">
      <dsp:nvSpPr>
        <dsp:cNvPr id="0" name=""/>
        <dsp:cNvSpPr/>
      </dsp:nvSpPr>
      <dsp:spPr>
        <a:xfrm>
          <a:off x="2850494" y="156"/>
          <a:ext cx="8112947" cy="149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kern="1200" dirty="0"/>
            <a:t>Expected to reach </a:t>
          </a:r>
          <a:r>
            <a:rPr lang="en-US" sz="2400" b="1" kern="1200" dirty="0"/>
            <a:t>USD 3102.74 billion by 2030</a:t>
          </a:r>
          <a:r>
            <a:rPr lang="en-US" sz="2400" kern="1200" dirty="0"/>
            <a:t>, growing at a </a:t>
          </a:r>
          <a:r>
            <a:rPr lang="en-US" sz="2400" b="1" kern="1200" dirty="0"/>
            <a:t>CAGR of 6.2%</a:t>
          </a:r>
          <a:r>
            <a:rPr lang="en-US" sz="2400" kern="1200" dirty="0"/>
            <a:t> in the forecast period (2023-2030).</a:t>
          </a:r>
          <a:endParaRPr lang="aa-ET" sz="2400" kern="1200" dirty="0"/>
        </a:p>
      </dsp:txBody>
      <dsp:txXfrm>
        <a:off x="2850494" y="156"/>
        <a:ext cx="8112947" cy="1494276"/>
      </dsp:txXfrm>
    </dsp:sp>
    <dsp:sp modelId="{38DD3546-60F8-41C0-836F-F5AEB086402C}">
      <dsp:nvSpPr>
        <dsp:cNvPr id="0" name=""/>
        <dsp:cNvSpPr/>
      </dsp:nvSpPr>
      <dsp:spPr>
        <a:xfrm>
          <a:off x="0" y="412748"/>
          <a:ext cx="2850494" cy="108184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55245" rIns="55245" bIns="55245" numCol="1" spcCol="1270" anchor="ctr" anchorCtr="0">
          <a:noAutofit/>
        </a:bodyPr>
        <a:lstStyle/>
        <a:p>
          <a:pPr marL="0" lvl="0" indent="0" algn="ctr" defTabSz="1289050">
            <a:lnSpc>
              <a:spcPct val="90000"/>
            </a:lnSpc>
            <a:spcBef>
              <a:spcPct val="0"/>
            </a:spcBef>
            <a:spcAft>
              <a:spcPct val="35000"/>
            </a:spcAft>
            <a:buNone/>
          </a:pPr>
          <a:r>
            <a:rPr lang="en-US" sz="2900" b="1" kern="1200" dirty="0"/>
            <a:t>Market Size:</a:t>
          </a:r>
          <a:endParaRPr lang="aa-ET" sz="2900" kern="1200" dirty="0"/>
        </a:p>
      </dsp:txBody>
      <dsp:txXfrm>
        <a:off x="52821" y="465569"/>
        <a:ext cx="2744852" cy="1029020"/>
      </dsp:txXfrm>
    </dsp:sp>
    <dsp:sp modelId="{55946F7D-C2DD-4B0F-8598-B62BA9305D2E}">
      <dsp:nvSpPr>
        <dsp:cNvPr id="0" name=""/>
        <dsp:cNvSpPr/>
      </dsp:nvSpPr>
      <dsp:spPr>
        <a:xfrm>
          <a:off x="2850494" y="1569146"/>
          <a:ext cx="8112947" cy="149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kern="1200" dirty="0"/>
            <a:t>Cybercriminals are becoming more sophisticated and are targeting telecom companies with new and innovative methods.</a:t>
          </a:r>
          <a:endParaRPr lang="aa-ET" sz="2400" kern="1200" dirty="0"/>
        </a:p>
      </dsp:txBody>
      <dsp:txXfrm>
        <a:off x="2850494" y="1569146"/>
        <a:ext cx="8112947" cy="1494276"/>
      </dsp:txXfrm>
    </dsp:sp>
    <dsp:sp modelId="{1D4D1A44-4416-4BF0-87AC-17FB24B18648}">
      <dsp:nvSpPr>
        <dsp:cNvPr id="0" name=""/>
        <dsp:cNvSpPr/>
      </dsp:nvSpPr>
      <dsp:spPr>
        <a:xfrm>
          <a:off x="0" y="1981738"/>
          <a:ext cx="2850494" cy="108184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55245" rIns="55245" bIns="55245" numCol="1" spcCol="1270" anchor="ctr" anchorCtr="0">
          <a:noAutofit/>
        </a:bodyPr>
        <a:lstStyle/>
        <a:p>
          <a:pPr marL="0" lvl="0" indent="0" algn="ctr" defTabSz="1289050">
            <a:lnSpc>
              <a:spcPct val="90000"/>
            </a:lnSpc>
            <a:spcBef>
              <a:spcPct val="0"/>
            </a:spcBef>
            <a:spcAft>
              <a:spcPct val="35000"/>
            </a:spcAft>
            <a:buNone/>
          </a:pPr>
          <a:r>
            <a:rPr lang="en-US" sz="2900" b="1" kern="1200" dirty="0"/>
            <a:t>Current Situation:</a:t>
          </a:r>
          <a:endParaRPr lang="aa-ET" sz="2900" kern="1200" dirty="0"/>
        </a:p>
      </dsp:txBody>
      <dsp:txXfrm>
        <a:off x="52821" y="2034559"/>
        <a:ext cx="2744852" cy="1029020"/>
      </dsp:txXfrm>
    </dsp:sp>
    <dsp:sp modelId="{1700D744-256F-4658-AB83-D86DAFD67BED}">
      <dsp:nvSpPr>
        <dsp:cNvPr id="0" name=""/>
        <dsp:cNvSpPr/>
      </dsp:nvSpPr>
      <dsp:spPr>
        <a:xfrm>
          <a:off x="2850494" y="3138137"/>
          <a:ext cx="8112947" cy="149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kern="1200" dirty="0"/>
            <a:t>The United Nations </a:t>
          </a:r>
          <a:r>
            <a:rPr lang="en-US" sz="2400" b="1" kern="1200" dirty="0"/>
            <a:t>(UNO)</a:t>
          </a:r>
        </a:p>
        <a:p>
          <a:pPr marL="0" lvl="0" indent="0" algn="l" defTabSz="1066800">
            <a:lnSpc>
              <a:spcPct val="90000"/>
            </a:lnSpc>
            <a:spcBef>
              <a:spcPct val="0"/>
            </a:spcBef>
            <a:spcAft>
              <a:spcPct val="35000"/>
            </a:spcAft>
            <a:buNone/>
          </a:pPr>
          <a:r>
            <a:rPr lang="en-US" sz="2400" kern="1200" dirty="0"/>
            <a:t>International Telecommunication Union </a:t>
          </a:r>
          <a:r>
            <a:rPr lang="en-US" sz="2400" b="1" kern="1200" dirty="0"/>
            <a:t>(ITU)</a:t>
          </a:r>
        </a:p>
      </dsp:txBody>
      <dsp:txXfrm>
        <a:off x="2850494" y="3138137"/>
        <a:ext cx="8112947" cy="1494276"/>
      </dsp:txXfrm>
    </dsp:sp>
    <dsp:sp modelId="{602BAA04-1AE5-42B9-A030-7508C96D077B}">
      <dsp:nvSpPr>
        <dsp:cNvPr id="0" name=""/>
        <dsp:cNvSpPr/>
      </dsp:nvSpPr>
      <dsp:spPr>
        <a:xfrm>
          <a:off x="0" y="3550728"/>
          <a:ext cx="2850494" cy="108184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55245" rIns="55245" bIns="55245" numCol="1" spcCol="1270" anchor="ctr" anchorCtr="0">
          <a:noAutofit/>
        </a:bodyPr>
        <a:lstStyle/>
        <a:p>
          <a:pPr marL="0" lvl="0" indent="0" algn="ctr" defTabSz="1289050">
            <a:lnSpc>
              <a:spcPct val="90000"/>
            </a:lnSpc>
            <a:spcBef>
              <a:spcPct val="0"/>
            </a:spcBef>
            <a:spcAft>
              <a:spcPct val="35000"/>
            </a:spcAft>
            <a:buNone/>
          </a:pPr>
          <a:r>
            <a:rPr lang="en-US" sz="2900" b="1" kern="1200" dirty="0"/>
            <a:t>Organizations:</a:t>
          </a:r>
          <a:endParaRPr lang="aa-ET" sz="2900" kern="1200" dirty="0"/>
        </a:p>
      </dsp:txBody>
      <dsp:txXfrm>
        <a:off x="52821" y="3603549"/>
        <a:ext cx="2744852" cy="10290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F89E64-4E2B-4311-A474-3C6C2BEC4A73}">
      <dsp:nvSpPr>
        <dsp:cNvPr id="0" name=""/>
        <dsp:cNvSpPr/>
      </dsp:nvSpPr>
      <dsp:spPr>
        <a:xfrm>
          <a:off x="0" y="4632413"/>
          <a:ext cx="1096344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834DE0-1352-4A32-BF75-EF4D5497E23B}">
      <dsp:nvSpPr>
        <dsp:cNvPr id="0" name=""/>
        <dsp:cNvSpPr/>
      </dsp:nvSpPr>
      <dsp:spPr>
        <a:xfrm>
          <a:off x="0" y="3063423"/>
          <a:ext cx="1096344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4502CD-F79F-49FB-8030-E875BF6E82A2}">
      <dsp:nvSpPr>
        <dsp:cNvPr id="0" name=""/>
        <dsp:cNvSpPr/>
      </dsp:nvSpPr>
      <dsp:spPr>
        <a:xfrm>
          <a:off x="0" y="1494432"/>
          <a:ext cx="1096344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C2A696-33C6-4A38-881F-E836E8579E43}">
      <dsp:nvSpPr>
        <dsp:cNvPr id="0" name=""/>
        <dsp:cNvSpPr/>
      </dsp:nvSpPr>
      <dsp:spPr>
        <a:xfrm>
          <a:off x="2850494" y="156"/>
          <a:ext cx="8112947" cy="149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kern="1200" dirty="0"/>
            <a:t>Expected to reach </a:t>
          </a:r>
          <a:r>
            <a:rPr lang="en-US" sz="2400" b="1" kern="1200" dirty="0"/>
            <a:t>USD 5.15 billion by 2028</a:t>
          </a:r>
          <a:r>
            <a:rPr lang="en-US" sz="2400" kern="1200" dirty="0"/>
            <a:t>, growing at a </a:t>
          </a:r>
          <a:r>
            <a:rPr lang="en-US" sz="2400" b="1" kern="1200" dirty="0"/>
            <a:t>CAGR of 3.28% </a:t>
          </a:r>
          <a:r>
            <a:rPr lang="en-US" sz="2400" kern="1200" dirty="0"/>
            <a:t>in the forecast period (2023-2028).</a:t>
          </a:r>
          <a:endParaRPr lang="aa-ET" sz="2400" kern="1200" dirty="0"/>
        </a:p>
      </dsp:txBody>
      <dsp:txXfrm>
        <a:off x="2850494" y="156"/>
        <a:ext cx="8112947" cy="1494276"/>
      </dsp:txXfrm>
    </dsp:sp>
    <dsp:sp modelId="{38DD3546-60F8-41C0-836F-F5AEB086402C}">
      <dsp:nvSpPr>
        <dsp:cNvPr id="0" name=""/>
        <dsp:cNvSpPr/>
      </dsp:nvSpPr>
      <dsp:spPr>
        <a:xfrm>
          <a:off x="0" y="412748"/>
          <a:ext cx="2850494" cy="108184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55245" rIns="55245" bIns="55245" numCol="1" spcCol="1270" anchor="ctr" anchorCtr="0">
          <a:noAutofit/>
        </a:bodyPr>
        <a:lstStyle/>
        <a:p>
          <a:pPr marL="0" lvl="0" indent="0" algn="ctr" defTabSz="1289050">
            <a:lnSpc>
              <a:spcPct val="90000"/>
            </a:lnSpc>
            <a:spcBef>
              <a:spcPct val="0"/>
            </a:spcBef>
            <a:spcAft>
              <a:spcPct val="35000"/>
            </a:spcAft>
            <a:buNone/>
          </a:pPr>
          <a:r>
            <a:rPr lang="en-US" sz="2900" b="1" kern="1200" dirty="0"/>
            <a:t>Market Size:</a:t>
          </a:r>
          <a:endParaRPr lang="aa-ET" sz="2900" kern="1200" dirty="0"/>
        </a:p>
      </dsp:txBody>
      <dsp:txXfrm>
        <a:off x="52821" y="465569"/>
        <a:ext cx="2744852" cy="1029020"/>
      </dsp:txXfrm>
    </dsp:sp>
    <dsp:sp modelId="{55946F7D-C2DD-4B0F-8598-B62BA9305D2E}">
      <dsp:nvSpPr>
        <dsp:cNvPr id="0" name=""/>
        <dsp:cNvSpPr/>
      </dsp:nvSpPr>
      <dsp:spPr>
        <a:xfrm>
          <a:off x="2850494" y="1569146"/>
          <a:ext cx="8112947" cy="149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kern="1200" dirty="0"/>
            <a:t>The government and telecom companies are investing in cybersecurity and developing new regulations to protect telecom networks.</a:t>
          </a:r>
          <a:endParaRPr lang="aa-ET" sz="2400" kern="1200" dirty="0"/>
        </a:p>
      </dsp:txBody>
      <dsp:txXfrm>
        <a:off x="2850494" y="1569146"/>
        <a:ext cx="8112947" cy="1494276"/>
      </dsp:txXfrm>
    </dsp:sp>
    <dsp:sp modelId="{1D4D1A44-4416-4BF0-87AC-17FB24B18648}">
      <dsp:nvSpPr>
        <dsp:cNvPr id="0" name=""/>
        <dsp:cNvSpPr/>
      </dsp:nvSpPr>
      <dsp:spPr>
        <a:xfrm>
          <a:off x="0" y="1981738"/>
          <a:ext cx="2850494" cy="108184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55245" rIns="55245" bIns="55245" numCol="1" spcCol="1270" anchor="ctr" anchorCtr="0">
          <a:noAutofit/>
        </a:bodyPr>
        <a:lstStyle/>
        <a:p>
          <a:pPr marL="0" lvl="0" indent="0" algn="ctr" defTabSz="1289050">
            <a:lnSpc>
              <a:spcPct val="90000"/>
            </a:lnSpc>
            <a:spcBef>
              <a:spcPct val="0"/>
            </a:spcBef>
            <a:spcAft>
              <a:spcPct val="35000"/>
            </a:spcAft>
            <a:buNone/>
          </a:pPr>
          <a:r>
            <a:rPr lang="en-US" sz="2900" b="1" kern="1200" dirty="0"/>
            <a:t>Current Situation:</a:t>
          </a:r>
          <a:endParaRPr lang="aa-ET" sz="2900" kern="1200" dirty="0"/>
        </a:p>
      </dsp:txBody>
      <dsp:txXfrm>
        <a:off x="52821" y="2034559"/>
        <a:ext cx="2744852" cy="1029020"/>
      </dsp:txXfrm>
    </dsp:sp>
    <dsp:sp modelId="{1700D744-256F-4658-AB83-D86DAFD67BED}">
      <dsp:nvSpPr>
        <dsp:cNvPr id="0" name=""/>
        <dsp:cNvSpPr/>
      </dsp:nvSpPr>
      <dsp:spPr>
        <a:xfrm>
          <a:off x="2850494" y="3138137"/>
          <a:ext cx="8112947" cy="149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0" i="0" kern="1200" dirty="0"/>
            <a:t>Pakistan Telecommunication Authority </a:t>
          </a:r>
          <a:r>
            <a:rPr lang="en-US" sz="2400" b="1" i="0" kern="1200" dirty="0"/>
            <a:t>(PTA)</a:t>
          </a:r>
        </a:p>
        <a:p>
          <a:pPr marL="0" lvl="0" indent="0" algn="l" defTabSz="1066800">
            <a:lnSpc>
              <a:spcPct val="90000"/>
            </a:lnSpc>
            <a:spcBef>
              <a:spcPct val="0"/>
            </a:spcBef>
            <a:spcAft>
              <a:spcPct val="35000"/>
            </a:spcAft>
            <a:buNone/>
          </a:pPr>
          <a:r>
            <a:rPr lang="en-US" sz="2400" kern="1200" dirty="0"/>
            <a:t>National Telecom Security Operations Center </a:t>
          </a:r>
          <a:r>
            <a:rPr lang="en-US" sz="2400" b="1" kern="1200" dirty="0"/>
            <a:t>(NTSOC)</a:t>
          </a:r>
        </a:p>
      </dsp:txBody>
      <dsp:txXfrm>
        <a:off x="2850494" y="3138137"/>
        <a:ext cx="8112947" cy="1494276"/>
      </dsp:txXfrm>
    </dsp:sp>
    <dsp:sp modelId="{602BAA04-1AE5-42B9-A030-7508C96D077B}">
      <dsp:nvSpPr>
        <dsp:cNvPr id="0" name=""/>
        <dsp:cNvSpPr/>
      </dsp:nvSpPr>
      <dsp:spPr>
        <a:xfrm>
          <a:off x="0" y="3550728"/>
          <a:ext cx="2850494" cy="108184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55245" rIns="55245" bIns="55245" numCol="1" spcCol="1270" anchor="ctr" anchorCtr="0">
          <a:noAutofit/>
        </a:bodyPr>
        <a:lstStyle/>
        <a:p>
          <a:pPr marL="0" lvl="0" indent="0" algn="ctr" defTabSz="1289050">
            <a:lnSpc>
              <a:spcPct val="90000"/>
            </a:lnSpc>
            <a:spcBef>
              <a:spcPct val="0"/>
            </a:spcBef>
            <a:spcAft>
              <a:spcPct val="35000"/>
            </a:spcAft>
            <a:buNone/>
          </a:pPr>
          <a:r>
            <a:rPr lang="en-US" sz="2900" b="1" kern="1200" dirty="0"/>
            <a:t>Organizations:</a:t>
          </a:r>
          <a:endParaRPr lang="aa-ET" sz="2900" kern="1200" dirty="0"/>
        </a:p>
      </dsp:txBody>
      <dsp:txXfrm>
        <a:off x="52821" y="3603549"/>
        <a:ext cx="2744852" cy="102902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aa-E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B2C92-C50A-4344-BAE5-4192B5FCD8A5}" type="datetimeFigureOut">
              <a:rPr lang="aa-ET" smtClean="0"/>
              <a:t>05/14/2026</a:t>
            </a:fld>
            <a:endParaRPr lang="aa-E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a-E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a-E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aa-E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8C73F-D72E-4995-BA29-43C256E4B77A}" type="slidenum">
              <a:rPr lang="aa-ET" smtClean="0"/>
              <a:t>‹#›</a:t>
            </a:fld>
            <a:endParaRPr lang="aa-ET"/>
          </a:p>
        </p:txBody>
      </p:sp>
    </p:spTree>
    <p:extLst>
      <p:ext uri="{BB962C8B-B14F-4D97-AF65-F5344CB8AC3E}">
        <p14:creationId xmlns:p14="http://schemas.microsoft.com/office/powerpoint/2010/main" val="3355877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Telecommunication is the transmission of information over significant distances by electronic means. It refers to all types of voice, data, and video transmission. Telecommunication networks are essential for modern communication and society, enabling people to stay connected and access information and services from anywhere in the world.</a:t>
            </a:r>
          </a:p>
          <a:p>
            <a:endParaRPr lang="en-US" dirty="0"/>
          </a:p>
          <a:p>
            <a:r>
              <a:rPr lang="en-US" dirty="0"/>
              <a:t>There are two main types of telecommunication networks: wired and wireless.</a:t>
            </a:r>
          </a:p>
          <a:p>
            <a:endParaRPr lang="en-US" dirty="0"/>
          </a:p>
          <a:p>
            <a:r>
              <a:rPr lang="en-US" dirty="0"/>
              <a:t>Wired networks: These networks use physical cables, such as copper wires or fiber optic cables, to transmit data. Wired networks are generally more reliable and have higher bandwidth than wireless networks, but they can be more expensive to deploy and maintain.</a:t>
            </a:r>
          </a:p>
          <a:p>
            <a:r>
              <a:rPr lang="en-US" dirty="0"/>
              <a:t>Wireless networks: These networks use radio waves to transmit data. Wireless networks are more flexible and less expensive to deploy than wired networks, but they can be less reliable and have lower bandwidth.</a:t>
            </a:r>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4</a:t>
            </a:fld>
            <a:endParaRPr lang="aa-ET"/>
          </a:p>
        </p:txBody>
      </p:sp>
    </p:spTree>
    <p:extLst>
      <p:ext uri="{BB962C8B-B14F-4D97-AF65-F5344CB8AC3E}">
        <p14:creationId xmlns:p14="http://schemas.microsoft.com/office/powerpoint/2010/main" val="35548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1F1F1F"/>
                </a:solidFill>
                <a:effectLst/>
                <a:latin typeface="Google Sans"/>
              </a:rPr>
              <a:t>Internet: The internet is a global network of computers that allows people to communicate with each other and access information and services from anywhere in the world. The internet is used for a wide range of telecommunication activities, including:</a:t>
            </a:r>
          </a:p>
          <a:p>
            <a:pPr marL="742950" lvl="1" indent="-285750" algn="l">
              <a:buFont typeface="Arial" panose="020B0604020202020204" pitchFamily="34" charset="0"/>
              <a:buChar char="•"/>
            </a:pPr>
            <a:r>
              <a:rPr lang="en-US" b="0" i="0" dirty="0">
                <a:solidFill>
                  <a:srgbClr val="1F1F1F"/>
                </a:solidFill>
                <a:effectLst/>
                <a:latin typeface="Google Sans"/>
              </a:rPr>
              <a:t>Email: Email is a method of exchanging electronic messages between people.</a:t>
            </a:r>
          </a:p>
          <a:p>
            <a:pPr marL="742950" lvl="1" indent="-285750" algn="l">
              <a:buFont typeface="Arial" panose="020B0604020202020204" pitchFamily="34" charset="0"/>
              <a:buChar char="•"/>
            </a:pPr>
            <a:r>
              <a:rPr lang="en-US" b="0" i="0" dirty="0">
                <a:solidFill>
                  <a:srgbClr val="1F1F1F"/>
                </a:solidFill>
                <a:effectLst/>
                <a:latin typeface="Google Sans"/>
              </a:rPr>
              <a:t>Instant messaging: Instant messaging is a type of online communication that allows people to have real-time conversations with each other.</a:t>
            </a:r>
          </a:p>
          <a:p>
            <a:pPr marL="742950" lvl="1" indent="-285750" algn="l">
              <a:buFont typeface="Arial" panose="020B0604020202020204" pitchFamily="34" charset="0"/>
              <a:buChar char="•"/>
            </a:pPr>
            <a:r>
              <a:rPr lang="en-US" b="0" i="0" dirty="0">
                <a:solidFill>
                  <a:srgbClr val="1F1F1F"/>
                </a:solidFill>
                <a:effectLst/>
                <a:latin typeface="Google Sans"/>
              </a:rPr>
              <a:t>Video conferencing: Video conferencing is a type of online communication that allows people to see and hear each other in real time.</a:t>
            </a:r>
          </a:p>
          <a:p>
            <a:pPr marL="742950" lvl="1" indent="-285750" algn="l">
              <a:buFont typeface="Arial" panose="020B0604020202020204" pitchFamily="34" charset="0"/>
              <a:buChar char="•"/>
            </a:pPr>
            <a:r>
              <a:rPr lang="en-US" b="0" i="0" dirty="0">
                <a:solidFill>
                  <a:srgbClr val="1F1F1F"/>
                </a:solidFill>
                <a:effectLst/>
                <a:latin typeface="Google Sans"/>
              </a:rPr>
              <a:t>Voice over IP (VoIP): VoIP is a technology that allows people to make and receive phone calls over the internet.</a:t>
            </a:r>
          </a:p>
          <a:p>
            <a:pPr algn="l">
              <a:buFont typeface="Arial" panose="020B0604020202020204" pitchFamily="34" charset="0"/>
              <a:buChar char="•"/>
            </a:pPr>
            <a:r>
              <a:rPr lang="en-US" b="0" i="0" dirty="0">
                <a:solidFill>
                  <a:srgbClr val="1F1F1F"/>
                </a:solidFill>
                <a:effectLst/>
                <a:latin typeface="Google Sans"/>
              </a:rPr>
              <a:t>Mobile phone: Mobile phones are wireless telephones that allow people to communicate with each other from anywhere in the world. Mobile phones can be used to make and receive phone calls, send and receive text messages, and access the internet.</a:t>
            </a:r>
          </a:p>
          <a:p>
            <a:pPr algn="l">
              <a:buFont typeface="Arial" panose="020B0604020202020204" pitchFamily="34" charset="0"/>
              <a:buChar char="•"/>
            </a:pPr>
            <a:r>
              <a:rPr lang="en-US" b="0" i="0" dirty="0">
                <a:solidFill>
                  <a:srgbClr val="1F1F1F"/>
                </a:solidFill>
                <a:effectLst/>
                <a:latin typeface="Google Sans"/>
              </a:rPr>
              <a:t>Social media: Social media platforms such as Facebook, Twitter, and Instagram allow people to connect with each other and share information. Social media can also be used to communicate with businesses and organizations.</a:t>
            </a:r>
          </a:p>
          <a:p>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5</a:t>
            </a:fld>
            <a:endParaRPr lang="aa-ET"/>
          </a:p>
        </p:txBody>
      </p:sp>
    </p:spTree>
    <p:extLst>
      <p:ext uri="{BB962C8B-B14F-4D97-AF65-F5344CB8AC3E}">
        <p14:creationId xmlns:p14="http://schemas.microsoft.com/office/powerpoint/2010/main" val="1272143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1F1F1F"/>
                </a:solidFill>
                <a:effectLst/>
                <a:latin typeface="Google Sans"/>
              </a:rPr>
              <a:t> Telecommunications companies:</a:t>
            </a:r>
          </a:p>
          <a:p>
            <a:pPr lvl="1" algn="l">
              <a:buFont typeface="Arial" panose="020B0604020202020204" pitchFamily="34" charset="0"/>
              <a:buNone/>
            </a:pPr>
            <a:r>
              <a:rPr lang="en-US" b="0" i="0" dirty="0">
                <a:solidFill>
                  <a:srgbClr val="1F1F1F"/>
                </a:solidFill>
                <a:effectLst/>
                <a:latin typeface="Google Sans"/>
              </a:rPr>
              <a:t>These companies provide telecommunications services to consumers and businesses. Examples of telecommunications companies include Telenor, </a:t>
            </a:r>
            <a:r>
              <a:rPr lang="en-US" b="0" i="0" dirty="0" err="1">
                <a:solidFill>
                  <a:srgbClr val="1F1F1F"/>
                </a:solidFill>
                <a:effectLst/>
                <a:latin typeface="Google Sans"/>
              </a:rPr>
              <a:t>Zong</a:t>
            </a:r>
            <a:r>
              <a:rPr lang="en-US" b="0" i="0" dirty="0">
                <a:solidFill>
                  <a:srgbClr val="1F1F1F"/>
                </a:solidFill>
                <a:effectLst/>
                <a:latin typeface="Google Sans"/>
              </a:rPr>
              <a:t>, Jazz, and Ufone.</a:t>
            </a:r>
          </a:p>
          <a:p>
            <a:pPr algn="l">
              <a:buFont typeface="Arial" panose="020B0604020202020204" pitchFamily="34" charset="0"/>
              <a:buChar char="•"/>
            </a:pPr>
            <a:r>
              <a:rPr lang="en-US" b="0" i="0" dirty="0">
                <a:solidFill>
                  <a:srgbClr val="1F1F1F"/>
                </a:solidFill>
                <a:effectLst/>
                <a:latin typeface="Google Sans"/>
              </a:rPr>
              <a:t> Telecommunications equipment manufacturers:</a:t>
            </a:r>
          </a:p>
          <a:p>
            <a:pPr lvl="1" algn="l">
              <a:buFont typeface="Arial" panose="020B0604020202020204" pitchFamily="34" charset="0"/>
              <a:buNone/>
            </a:pPr>
            <a:r>
              <a:rPr lang="en-US" b="0" i="0" dirty="0">
                <a:solidFill>
                  <a:srgbClr val="1F1F1F"/>
                </a:solidFill>
                <a:effectLst/>
                <a:latin typeface="Google Sans"/>
              </a:rPr>
              <a:t>These companies manufacture the equipment that is used by telecommunications companies to provide their services. Examples of telecommunications equipment manufacturers include Huawei, Nokia, and Ericsson.</a:t>
            </a:r>
          </a:p>
          <a:p>
            <a:pPr algn="l">
              <a:buFont typeface="Arial" panose="020B0604020202020204" pitchFamily="34" charset="0"/>
              <a:buChar char="•"/>
            </a:pPr>
            <a:r>
              <a:rPr lang="en-US" b="0" i="0" dirty="0">
                <a:solidFill>
                  <a:srgbClr val="1F1F1F"/>
                </a:solidFill>
                <a:effectLst/>
                <a:latin typeface="Google Sans"/>
              </a:rPr>
              <a:t>Telecommunications infrastructure providers: </a:t>
            </a:r>
          </a:p>
          <a:p>
            <a:pPr lvl="1" algn="l">
              <a:buFont typeface="Arial" panose="020B0604020202020204" pitchFamily="34" charset="0"/>
              <a:buNone/>
            </a:pPr>
            <a:r>
              <a:rPr lang="en-US" b="0" i="0" dirty="0">
                <a:solidFill>
                  <a:srgbClr val="1F1F1F"/>
                </a:solidFill>
                <a:effectLst/>
                <a:latin typeface="Google Sans"/>
              </a:rPr>
              <a:t>These companies build and maintain the infrastructure that is used by telecommunications companies to provide their services. Examples of telecommunications infrastructure providers include tower companies and fiber optic cable providers.</a:t>
            </a:r>
          </a:p>
          <a:p>
            <a:pPr algn="l">
              <a:buFont typeface="Arial" panose="020B0604020202020204" pitchFamily="34" charset="0"/>
              <a:buChar char="•"/>
            </a:pPr>
            <a:r>
              <a:rPr lang="en-US" b="0" i="0" dirty="0">
                <a:solidFill>
                  <a:srgbClr val="1F1F1F"/>
                </a:solidFill>
                <a:effectLst/>
                <a:latin typeface="Google Sans"/>
              </a:rPr>
              <a:t>Telecommunications regulatory bodies:</a:t>
            </a:r>
          </a:p>
          <a:p>
            <a:pPr lvl="1" algn="l">
              <a:buFont typeface="Arial" panose="020B0604020202020204" pitchFamily="34" charset="0"/>
              <a:buNone/>
            </a:pPr>
            <a:r>
              <a:rPr lang="en-US" b="0" i="0" dirty="0">
                <a:solidFill>
                  <a:srgbClr val="1F1F1F"/>
                </a:solidFill>
                <a:effectLst/>
                <a:latin typeface="Google Sans"/>
              </a:rPr>
              <a:t>These organizations are responsible for regulating the telecommunications sector and ensuring that telecommunications companies comply with the relevant laws and regulations. Examples of telecommunications regulatory bodies include the Pakistan Telecommunication Authority (PTA) and the Federal Communications Commission (FCC) in the United States.</a:t>
            </a:r>
          </a:p>
        </p:txBody>
      </p:sp>
      <p:sp>
        <p:nvSpPr>
          <p:cNvPr id="4" name="Slide Number Placeholder 3"/>
          <p:cNvSpPr>
            <a:spLocks noGrp="1"/>
          </p:cNvSpPr>
          <p:nvPr>
            <p:ph type="sldNum" sz="quarter" idx="5"/>
          </p:nvPr>
        </p:nvSpPr>
        <p:spPr/>
        <p:txBody>
          <a:bodyPr/>
          <a:lstStyle/>
          <a:p>
            <a:fld id="{EE98C73F-D72E-4995-BA29-43C256E4B77A}" type="slidenum">
              <a:rPr lang="aa-ET" smtClean="0"/>
              <a:t>6</a:t>
            </a:fld>
            <a:endParaRPr lang="aa-ET"/>
          </a:p>
        </p:txBody>
      </p:sp>
    </p:spTree>
    <p:extLst>
      <p:ext uri="{BB962C8B-B14F-4D97-AF65-F5344CB8AC3E}">
        <p14:creationId xmlns:p14="http://schemas.microsoft.com/office/powerpoint/2010/main" val="1723969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Telecom companies hold a vast amount of sensitive customer data</a:t>
            </a:r>
            <a:r>
              <a:rPr lang="en-US" dirty="0"/>
              <a:t>. This includes customer names, addresses, phone numbers, social security numbers, and billing information. This data is a valuable target for cybercriminals, who can use it to commit identity theft, fraud, and other crimes.</a:t>
            </a:r>
          </a:p>
          <a:p>
            <a:r>
              <a:rPr lang="en-US" b="1" dirty="0"/>
              <a:t>Telecom networks are critical infrastructure. </a:t>
            </a:r>
            <a:r>
              <a:rPr lang="en-US" dirty="0"/>
              <a:t>Telecom networks are essential for communication, commerce, and public safety. A cyber attack on a telecom network could disrupt these services and cause significant damage.</a:t>
            </a:r>
          </a:p>
          <a:p>
            <a:r>
              <a:rPr lang="en-US" b="1" dirty="0"/>
              <a:t>Telecom companies are increasingly interconnected. </a:t>
            </a:r>
            <a:r>
              <a:rPr lang="en-US" dirty="0"/>
              <a:t>Telecom companies often partner with each other to provide services to customers. This interconnectedness can make it easier for cybercriminals to spread an attack from one company to another.</a:t>
            </a:r>
          </a:p>
          <a:p>
            <a:r>
              <a:rPr lang="en-US" b="1" dirty="0"/>
              <a:t>Telecom companies are often seen as having large amounts of money. </a:t>
            </a:r>
            <a:r>
              <a:rPr lang="en-US" dirty="0"/>
              <a:t>This makes them a target for ransomware attacks, where cybercriminals encrypt the company's data and demand a ransom payment to decrypt it.</a:t>
            </a:r>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7</a:t>
            </a:fld>
            <a:endParaRPr lang="aa-ET"/>
          </a:p>
        </p:txBody>
      </p:sp>
    </p:spTree>
    <p:extLst>
      <p:ext uri="{BB962C8B-B14F-4D97-AF65-F5344CB8AC3E}">
        <p14:creationId xmlns:p14="http://schemas.microsoft.com/office/powerpoint/2010/main" val="861105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TYPES:</a:t>
            </a:r>
          </a:p>
          <a:p>
            <a:r>
              <a:rPr lang="en-US" b="1" dirty="0"/>
              <a:t>Data breaches:</a:t>
            </a:r>
            <a:r>
              <a:rPr lang="en-US" b="0" dirty="0"/>
              <a:t> involve the unauthorized access, theft, or exposure of sensitive data, such as customer information, financial data, or intellectual property. Data breaches can have a significant impact on telecom companies, as they can damage their reputation, lead to financial losses, and result in legal and regulatory penalties.</a:t>
            </a:r>
          </a:p>
          <a:p>
            <a:endParaRPr lang="en-US" b="1" dirty="0"/>
          </a:p>
          <a:p>
            <a:r>
              <a:rPr lang="en-US" b="1" dirty="0"/>
              <a:t>DDoS attacks: </a:t>
            </a:r>
            <a:r>
              <a:rPr lang="en-US" b="0" dirty="0"/>
              <a:t>are designed to overwhelm a website or server with traffic, making it unavailable to legitimate users. DoS attacks can be used to extort money from telecom companies or to disrupt their services for political or other reasons.</a:t>
            </a:r>
          </a:p>
          <a:p>
            <a:endParaRPr lang="en-US" b="1" dirty="0"/>
          </a:p>
          <a:p>
            <a:r>
              <a:rPr lang="en-US" b="1" dirty="0"/>
              <a:t>MitM attacks: </a:t>
            </a:r>
            <a:r>
              <a:rPr lang="en-US" b="0" dirty="0"/>
              <a:t>involve the attacker intercepting communication between two parties and impersonating one of the parties. This can be used to steal sensitive information, such as passwords or credit card numbers.</a:t>
            </a:r>
          </a:p>
          <a:p>
            <a:endParaRPr lang="en-US" b="1" dirty="0"/>
          </a:p>
          <a:p>
            <a:r>
              <a:rPr lang="en-US" b="1" dirty="0"/>
              <a:t>Malware attacks: </a:t>
            </a:r>
            <a:r>
              <a:rPr lang="en-US" b="0" dirty="0"/>
              <a:t>involve the installation of malicious software on a device. This software can be used to steal data, damage the device, or disrupt services.</a:t>
            </a:r>
          </a:p>
          <a:p>
            <a:endParaRPr lang="en-US" b="0" dirty="0"/>
          </a:p>
          <a:p>
            <a:r>
              <a:rPr lang="en-US" b="1" i="0" dirty="0">
                <a:effectLst/>
                <a:latin typeface="Söhne"/>
              </a:rPr>
              <a:t>Phishing Attacks:</a:t>
            </a:r>
            <a:r>
              <a:rPr lang="en-US" b="0" i="0" dirty="0">
                <a:solidFill>
                  <a:srgbClr val="374151"/>
                </a:solidFill>
                <a:effectLst/>
                <a:latin typeface="Söhne"/>
              </a:rPr>
              <a:t> Phishing attacks involve sending deceptive emails or messages to trick users into revealing sensitive information, such as login credentials. Telecom customers may receive phishing emails that appear to be from their service providers, leading to identity theft and fraud.</a:t>
            </a:r>
          </a:p>
          <a:p>
            <a:endParaRPr lang="en-US" b="0" i="0">
              <a:solidFill>
                <a:srgbClr val="374151"/>
              </a:solidFill>
              <a:effectLst/>
              <a:latin typeface="Söhne"/>
            </a:endParaRPr>
          </a:p>
          <a:p>
            <a:endParaRPr lang="aa-ET" b="0" dirty="0"/>
          </a:p>
        </p:txBody>
      </p:sp>
      <p:sp>
        <p:nvSpPr>
          <p:cNvPr id="4" name="Slide Number Placeholder 3"/>
          <p:cNvSpPr>
            <a:spLocks noGrp="1"/>
          </p:cNvSpPr>
          <p:nvPr>
            <p:ph type="sldNum" sz="quarter" idx="5"/>
          </p:nvPr>
        </p:nvSpPr>
        <p:spPr/>
        <p:txBody>
          <a:bodyPr/>
          <a:lstStyle/>
          <a:p>
            <a:fld id="{EE98C73F-D72E-4995-BA29-43C256E4B77A}" type="slidenum">
              <a:rPr lang="aa-ET" smtClean="0"/>
              <a:t>9</a:t>
            </a:fld>
            <a:endParaRPr lang="aa-ET"/>
          </a:p>
        </p:txBody>
      </p:sp>
    </p:spTree>
    <p:extLst>
      <p:ext uri="{BB962C8B-B14F-4D97-AF65-F5344CB8AC3E}">
        <p14:creationId xmlns:p14="http://schemas.microsoft.com/office/powerpoint/2010/main" val="1135345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dirty="0"/>
              <a:t>Telenor Email Spoofing (2017): </a:t>
            </a:r>
            <a:r>
              <a:rPr lang="en-US" b="0" i="0" dirty="0">
                <a:solidFill>
                  <a:srgbClr val="333333"/>
                </a:solidFill>
                <a:effectLst/>
                <a:latin typeface="Helvetica Neue"/>
              </a:rPr>
              <a:t>The attack took place on November 08 when a malicious email was received by employees from an apparently legitimate email address. The exact nature of the attack and the extent of damage to consumer data remains unclear. The subject line of the email was “confidential” and it contained a ‘word’ document as an attachment. The email informed the recipients that the attachment was a new policy guideline from Ministry of Information Technology [MOIT] regarding IT security. As soon as the recipient clicked on the attachment, the embedded trojan code automatically forwarded the email to contacts within Telenor using the recipient’s email address, numerous computers were infected. The victim’s social and email accounts were all compromised while the trojan was able to retrieve data from the computers, simultaneously installing a key-logger in the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Vodafone ransomware attack (2020): </a:t>
            </a:r>
            <a:r>
              <a:rPr lang="en-US" b="0" i="0" dirty="0">
                <a:solidFill>
                  <a:srgbClr val="1F1F1F"/>
                </a:solidFill>
                <a:effectLst/>
                <a:latin typeface="Google Sans"/>
              </a:rPr>
              <a:t>In December 2020, Vodafone suffered a ransomware attack that disrupted its services in several countries. The attackers encrypted Vodafone's data and demanded a ransom payment. Vodafone has not disclosed the amount of the ransom payment, but it is estimated to have been in the millions of dollars.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T-Mobile data breach (2021): </a:t>
            </a:r>
            <a:r>
              <a:rPr lang="en-US" b="0" i="0" dirty="0">
                <a:solidFill>
                  <a:srgbClr val="1F1F1F"/>
                </a:solidFill>
                <a:effectLst/>
                <a:latin typeface="Google Sans"/>
              </a:rPr>
              <a:t>In August 2021, T-Mobile suffered a data breach that affected over 47 million customers. The attackers were able to gain access to customer names, addresses, phone numbers, social security numbers, and dates of birth. T-Mobile has not disclosed the cost of the data breach, but it is estimated to have cost the company millions of dollars.</a:t>
            </a:r>
            <a:endParaRPr lang="en-US" b="1" dirty="0"/>
          </a:p>
          <a:p>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10</a:t>
            </a:fld>
            <a:endParaRPr lang="aa-ET"/>
          </a:p>
        </p:txBody>
      </p:sp>
    </p:spTree>
    <p:extLst>
      <p:ext uri="{BB962C8B-B14F-4D97-AF65-F5344CB8AC3E}">
        <p14:creationId xmlns:p14="http://schemas.microsoft.com/office/powerpoint/2010/main" val="2283648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 Disruption of Communication Services</a:t>
            </a:r>
          </a:p>
          <a:p>
            <a:r>
              <a:rPr lang="en-US" b="0" dirty="0"/>
              <a:t>1. Service Outages: Cyberattacks, such as DDoS attacks, can overwhelm telecom networks, leading to service outages and rendering voice calls, data transmission, and internet services unavailable to customers.</a:t>
            </a:r>
          </a:p>
          <a:p>
            <a:r>
              <a:rPr lang="en-US" b="0" dirty="0"/>
              <a:t>2. Emergency Communications: Disruptions in communication services can hinder emergency response efforts, making it challenging for first responders and public safety agencies to coordinate during crises.</a:t>
            </a:r>
          </a:p>
          <a:p>
            <a:r>
              <a:rPr lang="en-US" b="0" dirty="0"/>
              <a:t>3. Loss of Connectivity: Customers and businesses may face interruptions in their ability to connect, causing inconvenience and potential financial losses.</a:t>
            </a:r>
          </a:p>
          <a:p>
            <a:endParaRPr lang="en-US" b="0" dirty="0"/>
          </a:p>
          <a:p>
            <a:r>
              <a:rPr lang="en-US" b="1" dirty="0"/>
              <a:t>B. Data Breaches and Privacy Concerns</a:t>
            </a:r>
          </a:p>
          <a:p>
            <a:r>
              <a:rPr lang="en-US" b="0" dirty="0"/>
              <a:t>1. Customer Data Exposure: Cyberattacks can result in the theft of customer data, including personal information, call records, and billing details, leading to privacy breaches and identity theft.</a:t>
            </a:r>
          </a:p>
          <a:p>
            <a:r>
              <a:rPr lang="en-US" b="0" dirty="0"/>
              <a:t>2. Regulatory Non-Compliance: Data breaches may violate data protection regulations and laws, resulting in legal consequences and fines for telecom companies.</a:t>
            </a:r>
          </a:p>
          <a:p>
            <a:r>
              <a:rPr lang="en-US" b="0" dirty="0"/>
              <a:t>3. Trust Erosion: Customer trust in telecom providers can erode when data breaches occur, impacting long-term customer relationships and brand reputation.</a:t>
            </a:r>
          </a:p>
          <a:p>
            <a:endParaRPr lang="en-US" b="0" dirty="0"/>
          </a:p>
          <a:p>
            <a:r>
              <a:rPr lang="en-US" b="1" dirty="0"/>
              <a:t>C. Financial Losses and Reputation Damage</a:t>
            </a:r>
          </a:p>
          <a:p>
            <a:r>
              <a:rPr lang="en-US" b="0" dirty="0"/>
              <a:t>1. Operational Costs: Cyberattacks necessitate significant expenditures on incident response, recovery, and cybersecurity improvements, increasing operational costs for telecom companies.</a:t>
            </a:r>
          </a:p>
          <a:p>
            <a:r>
              <a:rPr lang="en-US" b="0" dirty="0"/>
              <a:t>2. Reputation Damage: High-profile cyberattacks can damage the reputation of telecom companies, leading to customer churn and loss of market share.</a:t>
            </a:r>
          </a:p>
          <a:p>
            <a:r>
              <a:rPr lang="en-US" b="0" dirty="0"/>
              <a:t>3. Litigation and Fines: Data breaches and privacy violations can result in legal action and financial penalties, further exacerbating financial losses.</a:t>
            </a:r>
          </a:p>
          <a:p>
            <a:r>
              <a:rPr lang="en-US" b="0" dirty="0"/>
              <a:t>4. Insurance Premiums: The financial impact of cyberattacks can lead to increased insurance premiums, affecting the overall cost of doing business in the sector.</a:t>
            </a:r>
          </a:p>
          <a:p>
            <a:endParaRPr lang="en-US" b="0" dirty="0"/>
          </a:p>
          <a:p>
            <a:r>
              <a:rPr lang="en-US" b="0" dirty="0"/>
              <a:t>These impacts highlight the far-reaching consequences of cyberattacks on the telecom sector. To mitigate these risks, telecom companies must invest in robust cybersecurity measures, incident response plans, and data protection practices to safeguard communication services, customer data, and their reputations.</a:t>
            </a:r>
            <a:endParaRPr lang="aa-ET" b="0" dirty="0"/>
          </a:p>
        </p:txBody>
      </p:sp>
      <p:sp>
        <p:nvSpPr>
          <p:cNvPr id="4" name="Slide Number Placeholder 3"/>
          <p:cNvSpPr>
            <a:spLocks noGrp="1"/>
          </p:cNvSpPr>
          <p:nvPr>
            <p:ph type="sldNum" sz="quarter" idx="5"/>
          </p:nvPr>
        </p:nvSpPr>
        <p:spPr/>
        <p:txBody>
          <a:bodyPr/>
          <a:lstStyle/>
          <a:p>
            <a:fld id="{EE98C73F-D72E-4995-BA29-43C256E4B77A}" type="slidenum">
              <a:rPr lang="aa-ET" smtClean="0"/>
              <a:t>12</a:t>
            </a:fld>
            <a:endParaRPr lang="aa-ET"/>
          </a:p>
        </p:txBody>
      </p:sp>
    </p:spTree>
    <p:extLst>
      <p:ext uri="{BB962C8B-B14F-4D97-AF65-F5344CB8AC3E}">
        <p14:creationId xmlns:p14="http://schemas.microsoft.com/office/powerpoint/2010/main" val="2216481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 breaches: </a:t>
            </a:r>
            <a:r>
              <a:rPr lang="en-US" dirty="0"/>
              <a:t>The average cost of a data breach in the United States is $4.24 million, according to IBM. This includes the cost of investigating the breach, notifying customers, and complying with regulations.</a:t>
            </a:r>
          </a:p>
          <a:p>
            <a:endParaRPr lang="en-US" dirty="0"/>
          </a:p>
          <a:p>
            <a:r>
              <a:rPr lang="en-US" b="1" dirty="0"/>
              <a:t>Denial-of-service (DoS) attacks: </a:t>
            </a:r>
            <a:r>
              <a:rPr lang="en-US" dirty="0"/>
              <a:t>The average cost of a DoS attack is $200,000, according to </a:t>
            </a:r>
            <a:r>
              <a:rPr lang="en-US" dirty="0" err="1"/>
              <a:t>Radware</a:t>
            </a:r>
            <a:r>
              <a:rPr lang="en-US" dirty="0"/>
              <a:t>. This includes the cost of lost sales and productivity, as well as the cost of mitigating the attack.</a:t>
            </a:r>
          </a:p>
          <a:p>
            <a:endParaRPr lang="en-US" dirty="0"/>
          </a:p>
          <a:p>
            <a:r>
              <a:rPr lang="en-US" b="1" i="0" dirty="0">
                <a:solidFill>
                  <a:srgbClr val="1F1F1F"/>
                </a:solidFill>
                <a:effectLst/>
                <a:latin typeface="Google Sans"/>
              </a:rPr>
              <a:t>Man-in-the-middle (MitM) attacks: </a:t>
            </a:r>
            <a:r>
              <a:rPr lang="en-US" dirty="0"/>
              <a:t>The average cost of a man-in-the-middle (MitM) attack is also difficult to quantify, as it depends on the specific attack and the type of data that is stolen. However, a 2020 report by Verizon found that the median cost of a MitM attack is $80,000.</a:t>
            </a:r>
          </a:p>
          <a:p>
            <a:endParaRPr lang="en-US" dirty="0"/>
          </a:p>
          <a:p>
            <a:r>
              <a:rPr lang="en-US" b="1" i="0" dirty="0">
                <a:solidFill>
                  <a:srgbClr val="1F1F1F"/>
                </a:solidFill>
                <a:effectLst/>
                <a:latin typeface="Google Sans"/>
              </a:rPr>
              <a:t>Malware attacks: </a:t>
            </a:r>
            <a:r>
              <a:rPr lang="en-US" dirty="0"/>
              <a:t>The average cost of malware attacks varies depending on the type of malware and the size of the organization. However, a recent study by IBM found that the average cost of a malware attack is $2.6 million.</a:t>
            </a:r>
          </a:p>
        </p:txBody>
      </p:sp>
      <p:sp>
        <p:nvSpPr>
          <p:cNvPr id="4" name="Slide Number Placeholder 3"/>
          <p:cNvSpPr>
            <a:spLocks noGrp="1"/>
          </p:cNvSpPr>
          <p:nvPr>
            <p:ph type="sldNum" sz="quarter" idx="5"/>
          </p:nvPr>
        </p:nvSpPr>
        <p:spPr/>
        <p:txBody>
          <a:bodyPr/>
          <a:lstStyle/>
          <a:p>
            <a:fld id="{EE98C73F-D72E-4995-BA29-43C256E4B77A}" type="slidenum">
              <a:rPr lang="aa-ET" smtClean="0"/>
              <a:t>13</a:t>
            </a:fld>
            <a:endParaRPr lang="aa-ET"/>
          </a:p>
        </p:txBody>
      </p:sp>
    </p:spTree>
    <p:extLst>
      <p:ext uri="{BB962C8B-B14F-4D97-AF65-F5344CB8AC3E}">
        <p14:creationId xmlns:p14="http://schemas.microsoft.com/office/powerpoint/2010/main" val="3808556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Protecting Critical Infrastructure: The Role of Cybersecurity: </a:t>
            </a:r>
            <a:r>
              <a:rPr lang="en-US" dirty="0"/>
              <a:t>Telecom networks are critical infrastructure, essential for the functioning of society and the economy. A cyber attack on a telecom network could have a devastating impact, disrupting essential services and causing widespread chaos. Cybersecurity plays a vital role in protecting telecom networks from cyber attacks and ensuring the continuity of essential services.</a:t>
            </a:r>
          </a:p>
          <a:p>
            <a:endParaRPr lang="en-US" dirty="0"/>
          </a:p>
          <a:p>
            <a:r>
              <a:rPr lang="en-US" b="1" dirty="0"/>
              <a:t>Trust in Telecom: The Importance of Cybersecurity: </a:t>
            </a:r>
            <a:r>
              <a:rPr lang="en-US" dirty="0"/>
              <a:t>Trust is essential for the telecom sector. Customers need to be confident that their data is secure and that their communications will not be intercepted. Cybersecurity helps to build trust by demonstrating that telecom companies are taking steps to protect their customers and their networks.</a:t>
            </a:r>
          </a:p>
          <a:p>
            <a:endParaRPr lang="en-US" dirty="0"/>
          </a:p>
          <a:p>
            <a:r>
              <a:rPr lang="en-US" b="1" dirty="0"/>
              <a:t>Cybersecurity for Telecom Transformation: </a:t>
            </a:r>
            <a:r>
              <a:rPr lang="en-US" dirty="0"/>
              <a:t>The telecom sector is undergoing a rapid transformation, driven by new technologies such as 5G, cloud computing, and the Internet of Things (IoT). These new technologies offer new opportunities for telecom companies, but they also create new security challenges. Cybersecurity is essential for telecom companies to navigate this transformation and to deliver secure and reliable services to their customers.</a:t>
            </a:r>
          </a:p>
          <a:p>
            <a:endParaRPr lang="en-US" dirty="0"/>
          </a:p>
          <a:p>
            <a:r>
              <a:rPr lang="en-US" b="1" dirty="0"/>
              <a:t>Nation-State Threats: Protecting Telco Infrastructure: </a:t>
            </a:r>
            <a:r>
              <a:rPr lang="en-US" dirty="0"/>
              <a:t>Nation-state actors are increasingly targeting telecom networks in cyber attacks. These attacks are often highly sophisticated and difficult to defend against. Telecom companies need to be aware of the nation-state threat and to implement robust cybersecurity measures to protect their networks.</a:t>
            </a:r>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15</a:t>
            </a:fld>
            <a:endParaRPr lang="aa-ET"/>
          </a:p>
        </p:txBody>
      </p:sp>
    </p:spTree>
    <p:extLst>
      <p:ext uri="{BB962C8B-B14F-4D97-AF65-F5344CB8AC3E}">
        <p14:creationId xmlns:p14="http://schemas.microsoft.com/office/powerpoint/2010/main" val="2064201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i="0" dirty="0">
                <a:effectLst/>
                <a:latin typeface="Söhne"/>
              </a:rPr>
              <a:t>Network Monitoring and Threat Detection:</a:t>
            </a:r>
            <a:r>
              <a:rPr lang="en-US" b="0" i="0" dirty="0">
                <a:solidFill>
                  <a:srgbClr val="374151"/>
                </a:solidFill>
                <a:effectLst/>
                <a:latin typeface="Söhne"/>
              </a:rPr>
              <a:t> Implementing advanced threat detection systems and continuous network monitoring to identify and respond to potential threats in real-time. </a:t>
            </a:r>
          </a:p>
          <a:p>
            <a:pPr marL="228600" indent="-228600">
              <a:buAutoNum type="arabicPeriod"/>
            </a:pPr>
            <a:r>
              <a:rPr lang="en-US" b="1" i="0" dirty="0">
                <a:effectLst/>
                <a:latin typeface="Söhne"/>
              </a:rPr>
              <a:t>Multi-Layered Security:</a:t>
            </a:r>
            <a:r>
              <a:rPr lang="en-US" b="0" i="0" dirty="0">
                <a:solidFill>
                  <a:srgbClr val="374151"/>
                </a:solidFill>
                <a:effectLst/>
                <a:latin typeface="Söhne"/>
              </a:rPr>
              <a:t> Employing a multi-faceted approach to security, including firewalls, intrusion detection systems, encryption, and access controls. </a:t>
            </a:r>
          </a:p>
          <a:p>
            <a:pPr marL="228600" indent="-228600">
              <a:buAutoNum type="arabicPeriod"/>
            </a:pPr>
            <a:r>
              <a:rPr lang="en-US" b="1" i="0" dirty="0">
                <a:effectLst/>
                <a:latin typeface="Söhne"/>
              </a:rPr>
              <a:t>Employee Training:</a:t>
            </a:r>
            <a:r>
              <a:rPr lang="en-US" b="0" i="0" dirty="0">
                <a:solidFill>
                  <a:srgbClr val="374151"/>
                </a:solidFill>
                <a:effectLst/>
                <a:latin typeface="Söhne"/>
              </a:rPr>
              <a:t> Regularly training employees on cybersecurity best practices and raising awareness about potential threats, such as phishing and social engineering.</a:t>
            </a:r>
          </a:p>
          <a:p>
            <a:pPr marL="228600" indent="-228600">
              <a:buAutoNum type="arabicPeriod"/>
            </a:pPr>
            <a:r>
              <a:rPr lang="en-US" b="1" i="0" dirty="0">
                <a:effectLst/>
                <a:latin typeface="Söhne"/>
              </a:rPr>
              <a:t>Incident Response Plans:</a:t>
            </a:r>
            <a:r>
              <a:rPr lang="en-US" b="0" i="0" dirty="0">
                <a:solidFill>
                  <a:srgbClr val="374151"/>
                </a:solidFill>
                <a:effectLst/>
                <a:latin typeface="Söhne"/>
              </a:rPr>
              <a:t> Developing comprehensive incident response plans to mitigate the impact of cyberattacks, including steps for containment, eradication, and recovery.</a:t>
            </a:r>
          </a:p>
          <a:p>
            <a:pPr marL="228600" indent="-228600">
              <a:buAutoNum type="arabicPeriod"/>
            </a:pPr>
            <a:r>
              <a:rPr lang="en-US" b="1" i="0" dirty="0">
                <a:effectLst/>
                <a:latin typeface="Söhne"/>
              </a:rPr>
              <a:t>Patch Management:</a:t>
            </a:r>
            <a:r>
              <a:rPr lang="en-US" b="0" i="0" dirty="0">
                <a:solidFill>
                  <a:srgbClr val="374151"/>
                </a:solidFill>
                <a:effectLst/>
                <a:latin typeface="Söhne"/>
              </a:rPr>
              <a:t> Keeping software, hardware, and firmware up to date to address known vulnerabilities and reduce the attack surface.</a:t>
            </a:r>
          </a:p>
          <a:p>
            <a:pPr marL="228600" indent="-228600">
              <a:buAutoNum type="arabicPeriod"/>
            </a:pPr>
            <a:r>
              <a:rPr lang="en-US" b="1" i="0" dirty="0">
                <a:effectLst/>
                <a:latin typeface="Söhne"/>
              </a:rPr>
              <a:t>Collaboration with Cybersecurity Experts:</a:t>
            </a:r>
            <a:r>
              <a:rPr lang="en-US" b="0" i="0" dirty="0">
                <a:solidFill>
                  <a:srgbClr val="374151"/>
                </a:solidFill>
                <a:effectLst/>
                <a:latin typeface="Söhne"/>
              </a:rPr>
              <a:t> Engaging with cybersecurity experts and sharing threat intelligence to stay updated on emerging threats and vulnerabilities.</a:t>
            </a:r>
          </a:p>
          <a:p>
            <a:pPr marL="228600" indent="-228600">
              <a:buAutoNum type="arabicPeriod"/>
            </a:pPr>
            <a:r>
              <a:rPr lang="en-US" b="1" i="0" dirty="0">
                <a:effectLst/>
                <a:latin typeface="Söhne"/>
              </a:rPr>
              <a:t>Secure Software Development:</a:t>
            </a:r>
            <a:r>
              <a:rPr lang="en-US" b="0" i="0" dirty="0">
                <a:solidFill>
                  <a:srgbClr val="374151"/>
                </a:solidFill>
                <a:effectLst/>
                <a:latin typeface="Söhne"/>
              </a:rPr>
              <a:t> Ensuring that telecom software is developed with security in mind to prevent vulnerabilities from being introduced.</a:t>
            </a:r>
          </a:p>
          <a:p>
            <a:pPr marL="228600" indent="-228600">
              <a:buAutoNum type="arabicPeriod"/>
            </a:pPr>
            <a:r>
              <a:rPr lang="en-US" b="1" i="0" dirty="0">
                <a:effectLst/>
                <a:latin typeface="Söhne"/>
              </a:rPr>
              <a:t>User Authentication and Access Control:</a:t>
            </a:r>
            <a:r>
              <a:rPr lang="en-US" b="0" i="0" dirty="0">
                <a:solidFill>
                  <a:srgbClr val="374151"/>
                </a:solidFill>
                <a:effectLst/>
                <a:latin typeface="Söhne"/>
              </a:rPr>
              <a:t> Implementing strong user authentication methods and strict access control policies to limit access to critical systems and data.</a:t>
            </a:r>
          </a:p>
          <a:p>
            <a:pPr marL="228600" indent="-228600">
              <a:buAutoNum type="arabicPeriod"/>
            </a:pPr>
            <a:r>
              <a:rPr lang="en-US" b="1" i="0" dirty="0">
                <a:effectLst/>
                <a:latin typeface="Söhne"/>
              </a:rPr>
              <a:t>Data Encryption:</a:t>
            </a:r>
            <a:r>
              <a:rPr lang="en-US" b="0" i="0" dirty="0">
                <a:solidFill>
                  <a:srgbClr val="374151"/>
                </a:solidFill>
                <a:effectLst/>
                <a:latin typeface="Söhne"/>
              </a:rPr>
              <a:t> Encrypting sensitive data both in transit and at rest to protect it from unauthorized access.</a:t>
            </a:r>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16</a:t>
            </a:fld>
            <a:endParaRPr lang="aa-ET"/>
          </a:p>
        </p:txBody>
      </p:sp>
    </p:spTree>
    <p:extLst>
      <p:ext uri="{BB962C8B-B14F-4D97-AF65-F5344CB8AC3E}">
        <p14:creationId xmlns:p14="http://schemas.microsoft.com/office/powerpoint/2010/main" val="3736125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Google Sans"/>
              </a:rPr>
              <a:t>In 2019, AT&amp;T successfully defended against a man-in-the-middle attack that targeted its customers. The attackers were able to intercept traffic between AT&amp;T customers and their banks, but AT&amp;T was able to detect the attack and prevent the attackers from stealing any money.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F1F1F"/>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Google Sans"/>
              </a:rPr>
              <a:t>In 2020, Deutsche Telekom successfully defended against a ransomware attack that targeted its network. The attackers were able to encrypt some of Deutsche Telekom's data, but the company was able to restore the data from backups and prevent the attackers from disrupting its 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F1F1F"/>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Google Sans"/>
              </a:rPr>
              <a:t>In 2021, Verizon successfully defended against a major DDoS attack that targeted its network. The attack was one of the largest DDoS attacks ever recorded, but Verizon was able to mitigate the attack and keep its services running.</a:t>
            </a:r>
          </a:p>
          <a:p>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17</a:t>
            </a:fld>
            <a:endParaRPr lang="aa-ET"/>
          </a:p>
        </p:txBody>
      </p:sp>
    </p:spTree>
    <p:extLst>
      <p:ext uri="{BB962C8B-B14F-4D97-AF65-F5344CB8AC3E}">
        <p14:creationId xmlns:p14="http://schemas.microsoft.com/office/powerpoint/2010/main" val="475287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ITU is a specialized agency of the United Nations responsible for telecommunications and information and communication technologies (ICTs). The ITU's Cybersecurity Framework provides guidance on how to improve cybersecurity in the telecom sector. It covers a wide range of topics, including risk management, security controls, and incident response.</a:t>
            </a:r>
          </a:p>
          <a:p>
            <a:endParaRPr lang="en-US" dirty="0"/>
          </a:p>
          <a:p>
            <a:r>
              <a:rPr lang="en-US" dirty="0"/>
              <a:t>The OECD is an intergovernmental economic organization with 38 member countries. The OECD's Guidelines for the Security of Information and Communication Technologies provide guidance on how to develop and implement cybersecurity policies and procedures for organizations of all sizes. They are particularly relevant for telecom companies, as they cover a wide range of issues that are specific to the telecom sector.</a:t>
            </a:r>
          </a:p>
          <a:p>
            <a:endParaRPr lang="en-US" dirty="0"/>
          </a:p>
          <a:p>
            <a:r>
              <a:rPr lang="en-US" dirty="0"/>
              <a:t>The United Nations General Assembly has passed a number of resolutions on cybersecurity, including Resolution 70/237 on "The role of the International Telecommunication Union in developing countries in the field of information and communication technologies" and Resolution 68/167 on "Developing culture of peace". These resolutions highlight the importance of cybersecurity for international peace and security.</a:t>
            </a:r>
          </a:p>
          <a:p>
            <a:endParaRPr lang="en-US" dirty="0"/>
          </a:p>
          <a:p>
            <a:r>
              <a:rPr lang="en-US" dirty="0"/>
              <a:t>All three organizations work together to promote cybersecurity in the telecom sector. They do this by developing policies and guidelines, providing training and resources, and sharing information about cyber threats and best practices.</a:t>
            </a:r>
          </a:p>
          <a:p>
            <a:endParaRPr lang="en-US" dirty="0"/>
          </a:p>
          <a:p>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19</a:t>
            </a:fld>
            <a:endParaRPr lang="aa-ET"/>
          </a:p>
        </p:txBody>
      </p:sp>
    </p:spTree>
    <p:extLst>
      <p:ext uri="{BB962C8B-B14F-4D97-AF65-F5344CB8AC3E}">
        <p14:creationId xmlns:p14="http://schemas.microsoft.com/office/powerpoint/2010/main" val="1088991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Telecom cybersecurity in Pakistan, as in many countries, is of paramount importance due to the critical role of the telecommunications sector in facilitating communication, digital services, and economic activities. Pakistan, like other nations, faces a range of cybersecurity challenges and works to implement measures to protect its telecommunications infrastructure, networks, and sensitive data. </a:t>
            </a:r>
          </a:p>
          <a:p>
            <a:endParaRPr lang="en-US" b="0" i="0" dirty="0">
              <a:solidFill>
                <a:srgbClr val="374151"/>
              </a:solidFill>
              <a:effectLst/>
              <a:latin typeface="Söhne"/>
            </a:endParaRPr>
          </a:p>
          <a:p>
            <a:pPr algn="l"/>
            <a:r>
              <a:rPr lang="en-US" b="0" i="0" dirty="0">
                <a:solidFill>
                  <a:srgbClr val="374151"/>
                </a:solidFill>
                <a:effectLst/>
                <a:latin typeface="Söhne"/>
              </a:rPr>
              <a:t>Here are some key aspects of telecom cybersecurity in Pakistan:</a:t>
            </a:r>
          </a:p>
          <a:p>
            <a:pPr algn="l">
              <a:buFont typeface="+mj-lt"/>
              <a:buAutoNum type="arabicPeriod"/>
            </a:pPr>
            <a:r>
              <a:rPr lang="en-US" b="1" i="0" dirty="0">
                <a:solidFill>
                  <a:srgbClr val="374151"/>
                </a:solidFill>
                <a:effectLst/>
                <a:latin typeface="Söhne"/>
              </a:rPr>
              <a:t>Regulatory Framework:</a:t>
            </a:r>
            <a:r>
              <a:rPr lang="en-US" b="0" i="0" dirty="0">
                <a:solidFill>
                  <a:srgbClr val="374151"/>
                </a:solidFill>
                <a:effectLst/>
                <a:latin typeface="Söhne"/>
              </a:rPr>
              <a:t> Pakistan has established a regulatory framework to govern and oversee the telecommunications sector. The Pakistan Telecommunication Authority (PTA) is the primary regulatory body responsible for ensuring the security, integrity, and reliability of telecom services.</a:t>
            </a:r>
          </a:p>
          <a:p>
            <a:pPr algn="l">
              <a:buFont typeface="+mj-lt"/>
              <a:buAutoNum type="arabicPeriod"/>
            </a:pPr>
            <a:r>
              <a:rPr lang="en-US" b="1" i="0" dirty="0">
                <a:solidFill>
                  <a:srgbClr val="374151"/>
                </a:solidFill>
                <a:effectLst/>
                <a:latin typeface="Söhne"/>
              </a:rPr>
              <a:t>National Response Center for Cyber Crimes (NR3C):</a:t>
            </a:r>
            <a:r>
              <a:rPr lang="en-US" b="0" i="0" dirty="0">
                <a:solidFill>
                  <a:srgbClr val="374151"/>
                </a:solidFill>
                <a:effectLst/>
                <a:latin typeface="Söhne"/>
              </a:rPr>
              <a:t> The NR3C, a unit of the Federal Investigation Agency (FIA), plays a significant role in investigating and addressing cybercrimes, including those related to telecom networks and services.</a:t>
            </a:r>
          </a:p>
          <a:p>
            <a:pPr algn="l">
              <a:buFont typeface="+mj-lt"/>
              <a:buAutoNum type="arabicPeriod"/>
            </a:pPr>
            <a:r>
              <a:rPr lang="en-US" b="1" i="0" dirty="0">
                <a:solidFill>
                  <a:srgbClr val="374151"/>
                </a:solidFill>
                <a:effectLst/>
                <a:latin typeface="Söhne"/>
              </a:rPr>
              <a:t>Security Guidelines and Standards: </a:t>
            </a:r>
            <a:r>
              <a:rPr lang="en-US" b="0" i="0" dirty="0">
                <a:solidFill>
                  <a:srgbClr val="374151"/>
                </a:solidFill>
                <a:effectLst/>
                <a:latin typeface="Söhne"/>
              </a:rPr>
              <a:t>The PTA has issued security guidelines and standards that telecom operators are expected to follow to protect their networks and customer data.</a:t>
            </a:r>
          </a:p>
          <a:p>
            <a:pPr algn="l">
              <a:buFont typeface="+mj-lt"/>
              <a:buAutoNum type="arabicPeriod"/>
            </a:pPr>
            <a:r>
              <a:rPr lang="en-US" b="1" i="0" dirty="0">
                <a:solidFill>
                  <a:srgbClr val="374151"/>
                </a:solidFill>
                <a:effectLst/>
                <a:latin typeface="Söhne"/>
              </a:rPr>
              <a:t>Data Protection and Privacy:</a:t>
            </a:r>
            <a:r>
              <a:rPr lang="en-US" b="0" i="0" dirty="0">
                <a:solidFill>
                  <a:srgbClr val="374151"/>
                </a:solidFill>
                <a:effectLst/>
                <a:latin typeface="Söhne"/>
              </a:rPr>
              <a:t> Pakistan has data protection laws, including the Data Protection Act 2012, to safeguard the privacy of individuals and the security of their personal data, which includes data held by telecom companies.</a:t>
            </a:r>
          </a:p>
          <a:p>
            <a:pPr algn="l">
              <a:buFont typeface="+mj-lt"/>
              <a:buAutoNum type="arabicPeriod"/>
            </a:pPr>
            <a:r>
              <a:rPr lang="en-US" b="1" i="0" dirty="0">
                <a:solidFill>
                  <a:srgbClr val="374151"/>
                </a:solidFill>
                <a:effectLst/>
                <a:latin typeface="Söhne"/>
              </a:rPr>
              <a:t>Incident Response and Reporting:</a:t>
            </a:r>
            <a:r>
              <a:rPr lang="en-US" b="0" i="0" dirty="0">
                <a:solidFill>
                  <a:srgbClr val="374151"/>
                </a:solidFill>
                <a:effectLst/>
                <a:latin typeface="Söhne"/>
              </a:rPr>
              <a:t> Telecom operators in Pakistan are required to have incident response plans in place to promptly detect and respond to cyber incidents. They must report any significant cybersecurity breaches to the PTA.</a:t>
            </a:r>
          </a:p>
          <a:p>
            <a:pPr algn="l">
              <a:buFont typeface="+mj-lt"/>
              <a:buAutoNum type="arabicPeriod"/>
            </a:pPr>
            <a:r>
              <a:rPr lang="en-US" b="1" i="0" dirty="0">
                <a:solidFill>
                  <a:srgbClr val="374151"/>
                </a:solidFill>
                <a:effectLst/>
                <a:latin typeface="Söhne"/>
              </a:rPr>
              <a:t>International Cooperation:</a:t>
            </a:r>
            <a:r>
              <a:rPr lang="en-US" b="0" i="0" dirty="0">
                <a:solidFill>
                  <a:srgbClr val="374151"/>
                </a:solidFill>
                <a:effectLst/>
                <a:latin typeface="Söhne"/>
              </a:rPr>
              <a:t> Pakistan collaborates with international organizations and law enforcement agencies to combat cyber threats. This includes sharing threat intelligence and cooperating in cybercrime investigations.</a:t>
            </a:r>
          </a:p>
          <a:p>
            <a:pPr algn="l">
              <a:buFont typeface="+mj-lt"/>
              <a:buAutoNum type="arabicPeriod"/>
            </a:pPr>
            <a:r>
              <a:rPr lang="en-US" b="1" i="0" dirty="0">
                <a:solidFill>
                  <a:srgbClr val="374151"/>
                </a:solidFill>
                <a:effectLst/>
                <a:latin typeface="Söhne"/>
              </a:rPr>
              <a:t>Threat Landscape:</a:t>
            </a:r>
            <a:r>
              <a:rPr lang="en-US" b="0" i="0" dirty="0">
                <a:solidFill>
                  <a:srgbClr val="374151"/>
                </a:solidFill>
                <a:effectLst/>
                <a:latin typeface="Söhne"/>
              </a:rPr>
              <a:t> Telecom companies in Pakistan face various cybersecurity threats, including DDoS attacks, phishing, malware, and insider threats. These can disrupt services and compromise customer data.</a:t>
            </a:r>
          </a:p>
          <a:p>
            <a:pPr algn="l">
              <a:buFont typeface="+mj-lt"/>
              <a:buAutoNum type="arabicPeriod"/>
            </a:pPr>
            <a:r>
              <a:rPr lang="en-US" b="1" i="0" dirty="0">
                <a:solidFill>
                  <a:srgbClr val="374151"/>
                </a:solidFill>
                <a:effectLst/>
                <a:latin typeface="Söhne"/>
              </a:rPr>
              <a:t>Collaboration with Telecom Operators:</a:t>
            </a:r>
            <a:r>
              <a:rPr lang="en-US" b="0" i="0" dirty="0">
                <a:solidFill>
                  <a:srgbClr val="374151"/>
                </a:solidFill>
                <a:effectLst/>
                <a:latin typeface="Söhne"/>
              </a:rPr>
              <a:t> The PTA collaborates with telecom operators to improve cybersecurity practices, encourage employee training, and conduct security audits.</a:t>
            </a:r>
          </a:p>
          <a:p>
            <a:pPr algn="l">
              <a:buFont typeface="+mj-lt"/>
              <a:buAutoNum type="arabicPeriod"/>
            </a:pPr>
            <a:r>
              <a:rPr lang="en-US" b="1" i="0" dirty="0">
                <a:solidFill>
                  <a:srgbClr val="374151"/>
                </a:solidFill>
                <a:effectLst/>
                <a:latin typeface="Söhne"/>
              </a:rPr>
              <a:t>Public Awareness and Education:</a:t>
            </a:r>
            <a:r>
              <a:rPr lang="en-US" b="0" i="0" dirty="0">
                <a:solidFill>
                  <a:srgbClr val="374151"/>
                </a:solidFill>
                <a:effectLst/>
                <a:latin typeface="Söhne"/>
              </a:rPr>
              <a:t> Efforts are made to raise public awareness about cybersecurity best practices and to educate users about the risks of cyber threats, including those targeting the telecom sector.</a:t>
            </a:r>
          </a:p>
          <a:p>
            <a:pPr algn="l">
              <a:buFont typeface="+mj-lt"/>
              <a:buAutoNum type="arabicPeriod"/>
            </a:pPr>
            <a:r>
              <a:rPr lang="en-US" b="1" i="0" dirty="0">
                <a:solidFill>
                  <a:srgbClr val="374151"/>
                </a:solidFill>
                <a:effectLst/>
                <a:latin typeface="Söhne"/>
              </a:rPr>
              <a:t>Secure Mobile Banking and Payments:</a:t>
            </a:r>
            <a:r>
              <a:rPr lang="en-US" b="0" i="0" dirty="0">
                <a:solidFill>
                  <a:srgbClr val="374151"/>
                </a:solidFill>
                <a:effectLst/>
                <a:latin typeface="Söhne"/>
              </a:rPr>
              <a:t> Given the growth of mobile banking and digital payments in Pakistan, securing these services is a priority. Ensuring the protection of financial transactions is essential.</a:t>
            </a:r>
          </a:p>
          <a:p>
            <a:pPr algn="l">
              <a:buFont typeface="+mj-lt"/>
              <a:buAutoNum type="arabicPeriod"/>
            </a:pPr>
            <a:r>
              <a:rPr lang="en-US" b="1" i="0" dirty="0">
                <a:solidFill>
                  <a:srgbClr val="374151"/>
                </a:solidFill>
                <a:effectLst/>
                <a:latin typeface="Söhne"/>
              </a:rPr>
              <a:t>Protection of Critical Infrastructure:</a:t>
            </a:r>
            <a:r>
              <a:rPr lang="en-US" b="0" i="0" dirty="0">
                <a:solidFill>
                  <a:srgbClr val="374151"/>
                </a:solidFill>
                <a:effectLst/>
                <a:latin typeface="Söhne"/>
              </a:rPr>
              <a:t> Critical telecom infrastructure, such as the national backbone network, is a key focus for protection against cyber threats.</a:t>
            </a:r>
          </a:p>
          <a:p>
            <a:pPr algn="l">
              <a:buFont typeface="+mj-lt"/>
              <a:buAutoNum type="arabicPeriod"/>
            </a:pPr>
            <a:r>
              <a:rPr lang="en-US" b="1" i="0" dirty="0">
                <a:solidFill>
                  <a:srgbClr val="374151"/>
                </a:solidFill>
                <a:effectLst/>
                <a:latin typeface="Söhne"/>
              </a:rPr>
              <a:t>Internet of Things (IoT):</a:t>
            </a:r>
            <a:r>
              <a:rPr lang="en-US" b="0" i="0" dirty="0">
                <a:solidFill>
                  <a:srgbClr val="374151"/>
                </a:solidFill>
                <a:effectLst/>
                <a:latin typeface="Söhne"/>
              </a:rPr>
              <a:t> The proliferation of IoT devices in Pakistan requires a focus on securing these devices, as they can be entry points for cyberattacks.</a:t>
            </a:r>
          </a:p>
          <a:p>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20</a:t>
            </a:fld>
            <a:endParaRPr lang="aa-ET"/>
          </a:p>
        </p:txBody>
      </p:sp>
    </p:spTree>
    <p:extLst>
      <p:ext uri="{BB962C8B-B14F-4D97-AF65-F5344CB8AC3E}">
        <p14:creationId xmlns:p14="http://schemas.microsoft.com/office/powerpoint/2010/main" val="3681955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A. </a:t>
            </a:r>
            <a:r>
              <a:rPr lang="en-US" b="1" i="0" dirty="0">
                <a:solidFill>
                  <a:srgbClr val="374151"/>
                </a:solidFill>
                <a:effectLst/>
                <a:latin typeface="Söhne"/>
              </a:rPr>
              <a:t>Government Regulations and Policies</a:t>
            </a:r>
            <a:r>
              <a:rPr lang="en-US" b="0" i="0" dirty="0">
                <a:solidFill>
                  <a:srgbClr val="374151"/>
                </a:solidFill>
                <a:effectLst/>
                <a:latin typeface="Söhne"/>
              </a:rPr>
              <a:t> 1. </a:t>
            </a:r>
            <a:r>
              <a:rPr lang="en-US" b="1" i="0" dirty="0">
                <a:solidFill>
                  <a:srgbClr val="374151"/>
                </a:solidFill>
                <a:effectLst/>
                <a:latin typeface="Söhne"/>
              </a:rPr>
              <a:t>Legislation:</a:t>
            </a:r>
            <a:r>
              <a:rPr lang="en-US" b="0" i="0" dirty="0">
                <a:solidFill>
                  <a:srgbClr val="374151"/>
                </a:solidFill>
                <a:effectLst/>
                <a:latin typeface="Söhne"/>
              </a:rPr>
              <a:t> Enactment and enforcement of cybersecurity-related laws and regulations at the national level, such as data protection and privacy laws. 2. </a:t>
            </a:r>
            <a:r>
              <a:rPr lang="en-US" b="1" i="0" dirty="0">
                <a:solidFill>
                  <a:srgbClr val="374151"/>
                </a:solidFill>
                <a:effectLst/>
                <a:latin typeface="Söhne"/>
              </a:rPr>
              <a:t>Regulatory Authorities:</a:t>
            </a:r>
            <a:r>
              <a:rPr lang="en-US" b="0" i="0" dirty="0">
                <a:solidFill>
                  <a:srgbClr val="374151"/>
                </a:solidFill>
                <a:effectLst/>
                <a:latin typeface="Söhne"/>
              </a:rPr>
              <a:t> Establishment of regulatory bodies responsible for overseeing cybersecurity compliance and ensuring that telecom companies and other organizations adhere to security standards. 3. </a:t>
            </a:r>
            <a:r>
              <a:rPr lang="en-US" b="1" i="0" dirty="0">
                <a:solidFill>
                  <a:srgbClr val="374151"/>
                </a:solidFill>
                <a:effectLst/>
                <a:latin typeface="Söhne"/>
              </a:rPr>
              <a:t>Incident Reporting Requirements:</a:t>
            </a:r>
            <a:r>
              <a:rPr lang="en-US" b="0" i="0" dirty="0">
                <a:solidFill>
                  <a:srgbClr val="374151"/>
                </a:solidFill>
                <a:effectLst/>
                <a:latin typeface="Söhne"/>
              </a:rPr>
              <a:t> Mandating that organizations report cybersecurity incidents to the appropriate authorities, enabling a coordinated response and threat intelligence sharing. 4. </a:t>
            </a:r>
            <a:r>
              <a:rPr lang="en-US" b="1" i="0" dirty="0">
                <a:solidFill>
                  <a:srgbClr val="374151"/>
                </a:solidFill>
                <a:effectLst/>
                <a:latin typeface="Söhne"/>
              </a:rPr>
              <a:t>National Cybersecurity Strategies:</a:t>
            </a:r>
            <a:r>
              <a:rPr lang="en-US" b="0" i="0" dirty="0">
                <a:solidFill>
                  <a:srgbClr val="374151"/>
                </a:solidFill>
                <a:effectLst/>
                <a:latin typeface="Söhne"/>
              </a:rPr>
              <a:t> Formulation of national strategies to guide the development and implementation of cybersecurity measures at the state level. 5. </a:t>
            </a:r>
            <a:r>
              <a:rPr lang="en-US" b="1" i="0" dirty="0">
                <a:solidFill>
                  <a:srgbClr val="374151"/>
                </a:solidFill>
                <a:effectLst/>
                <a:latin typeface="Söhne"/>
              </a:rPr>
              <a:t>Critical Infrastructure Protection:</a:t>
            </a:r>
            <a:r>
              <a:rPr lang="en-US" b="0" i="0" dirty="0">
                <a:solidFill>
                  <a:srgbClr val="374151"/>
                </a:solidFill>
                <a:effectLst/>
                <a:latin typeface="Söhne"/>
              </a:rPr>
              <a:t> Special regulations and standards for safeguarding critical infrastructure sectors, including the telecom sector. 6. </a:t>
            </a:r>
            <a:r>
              <a:rPr lang="en-US" b="1" i="0" dirty="0">
                <a:solidFill>
                  <a:srgbClr val="374151"/>
                </a:solidFill>
                <a:effectLst/>
                <a:latin typeface="Söhne"/>
              </a:rPr>
              <a:t>Cross-Border Collaboration:</a:t>
            </a:r>
            <a:r>
              <a:rPr lang="en-US" b="0" i="0" dirty="0">
                <a:solidFill>
                  <a:srgbClr val="374151"/>
                </a:solidFill>
                <a:effectLst/>
                <a:latin typeface="Söhne"/>
              </a:rPr>
              <a:t> Engagement in international cooperation and information sharing to address transnational cyber threats.</a:t>
            </a:r>
          </a:p>
          <a:p>
            <a:pPr algn="l"/>
            <a:r>
              <a:rPr lang="en-US" b="0" i="0" dirty="0">
                <a:solidFill>
                  <a:srgbClr val="374151"/>
                </a:solidFill>
                <a:effectLst/>
                <a:latin typeface="Söhne"/>
              </a:rPr>
              <a:t>B. </a:t>
            </a:r>
            <a:r>
              <a:rPr lang="en-US" b="1" i="0" dirty="0">
                <a:solidFill>
                  <a:srgbClr val="374151"/>
                </a:solidFill>
                <a:effectLst/>
                <a:latin typeface="Söhne"/>
              </a:rPr>
              <a:t>Industry Best Practices and Standards</a:t>
            </a:r>
            <a:r>
              <a:rPr lang="en-US" b="0" i="0" dirty="0">
                <a:solidFill>
                  <a:srgbClr val="374151"/>
                </a:solidFill>
                <a:effectLst/>
                <a:latin typeface="Söhne"/>
              </a:rPr>
              <a:t> 1. </a:t>
            </a:r>
            <a:r>
              <a:rPr lang="en-US" b="1" i="0" dirty="0">
                <a:solidFill>
                  <a:srgbClr val="374151"/>
                </a:solidFill>
                <a:effectLst/>
                <a:latin typeface="Söhne"/>
              </a:rPr>
              <a:t>Security Frameworks:</a:t>
            </a:r>
            <a:r>
              <a:rPr lang="en-US" b="0" i="0" dirty="0">
                <a:solidFill>
                  <a:srgbClr val="374151"/>
                </a:solidFill>
                <a:effectLst/>
                <a:latin typeface="Söhne"/>
              </a:rPr>
              <a:t> Adoption of internationally recognized cybersecurity frameworks like NIST Cybersecurity Framework, ISO 27001, and CIS Critical Security Controls. 2. </a:t>
            </a:r>
            <a:r>
              <a:rPr lang="en-US" b="1" i="0" dirty="0">
                <a:solidFill>
                  <a:srgbClr val="374151"/>
                </a:solidFill>
                <a:effectLst/>
                <a:latin typeface="Söhne"/>
              </a:rPr>
              <a:t>Security Certification:</a:t>
            </a:r>
            <a:r>
              <a:rPr lang="en-US" b="0" i="0" dirty="0">
                <a:solidFill>
                  <a:srgbClr val="374151"/>
                </a:solidFill>
                <a:effectLst/>
                <a:latin typeface="Söhne"/>
              </a:rPr>
              <a:t> Encouragement of industry-specific security certifications to ensure that organizations meet specific cybersecurity standards. 3. </a:t>
            </a:r>
            <a:r>
              <a:rPr lang="en-US" b="1" i="0" dirty="0">
                <a:solidFill>
                  <a:srgbClr val="374151"/>
                </a:solidFill>
                <a:effectLst/>
                <a:latin typeface="Söhne"/>
              </a:rPr>
              <a:t>Secure Software Development:</a:t>
            </a:r>
            <a:r>
              <a:rPr lang="en-US" b="0" i="0" dirty="0">
                <a:solidFill>
                  <a:srgbClr val="374151"/>
                </a:solidFill>
                <a:effectLst/>
                <a:latin typeface="Söhne"/>
              </a:rPr>
              <a:t> Promoting secure coding practices and secure development lifecycles to minimize software vulnerabilities. 4. </a:t>
            </a:r>
            <a:r>
              <a:rPr lang="en-US" b="1" i="0" dirty="0">
                <a:solidFill>
                  <a:srgbClr val="374151"/>
                </a:solidFill>
                <a:effectLst/>
                <a:latin typeface="Söhne"/>
              </a:rPr>
              <a:t>Vendor and Supply Chain Security:</a:t>
            </a:r>
            <a:r>
              <a:rPr lang="en-US" b="0" i="0" dirty="0">
                <a:solidFill>
                  <a:srgbClr val="374151"/>
                </a:solidFill>
                <a:effectLst/>
                <a:latin typeface="Söhne"/>
              </a:rPr>
              <a:t> Implementation of supply chain security measures, ensuring that products and services are free from vulnerabilities. 5. </a:t>
            </a:r>
            <a:r>
              <a:rPr lang="en-US" b="1" i="0" dirty="0">
                <a:solidFill>
                  <a:srgbClr val="374151"/>
                </a:solidFill>
                <a:effectLst/>
                <a:latin typeface="Söhne"/>
              </a:rPr>
              <a:t>Threat Intelligence Sharing:</a:t>
            </a:r>
            <a:r>
              <a:rPr lang="en-US" b="0" i="0" dirty="0">
                <a:solidFill>
                  <a:srgbClr val="374151"/>
                </a:solidFill>
                <a:effectLst/>
                <a:latin typeface="Söhne"/>
              </a:rPr>
              <a:t> Collaboration among industry stakeholders for sharing threat intelligence and best practices. 6. </a:t>
            </a:r>
            <a:r>
              <a:rPr lang="en-US" b="1" i="0" dirty="0">
                <a:solidFill>
                  <a:srgbClr val="374151"/>
                </a:solidFill>
                <a:effectLst/>
                <a:latin typeface="Söhne"/>
              </a:rPr>
              <a:t>Multi-Factor Authentication:</a:t>
            </a:r>
            <a:r>
              <a:rPr lang="en-US" b="0" i="0" dirty="0">
                <a:solidFill>
                  <a:srgbClr val="374151"/>
                </a:solidFill>
                <a:effectLst/>
                <a:latin typeface="Söhne"/>
              </a:rPr>
              <a:t> Encouragement of multi-factor authentication for enhancing access security. 7. </a:t>
            </a:r>
            <a:r>
              <a:rPr lang="en-US" b="1" i="0" dirty="0">
                <a:solidFill>
                  <a:srgbClr val="374151"/>
                </a:solidFill>
                <a:effectLst/>
                <a:latin typeface="Söhne"/>
              </a:rPr>
              <a:t>Penetration Testing and Security Audits:</a:t>
            </a:r>
            <a:r>
              <a:rPr lang="en-US" b="0" i="0" dirty="0">
                <a:solidFill>
                  <a:srgbClr val="374151"/>
                </a:solidFill>
                <a:effectLst/>
                <a:latin typeface="Söhne"/>
              </a:rPr>
              <a:t> Regular security testing and audits to identify vulnerabilities and weaknesses. 8. </a:t>
            </a:r>
            <a:r>
              <a:rPr lang="en-US" b="1" i="0" dirty="0">
                <a:solidFill>
                  <a:srgbClr val="374151"/>
                </a:solidFill>
                <a:effectLst/>
                <a:latin typeface="Söhne"/>
              </a:rPr>
              <a:t>Access Control and Identity Management:</a:t>
            </a:r>
            <a:r>
              <a:rPr lang="en-US" b="0" i="0" dirty="0">
                <a:solidFill>
                  <a:srgbClr val="374151"/>
                </a:solidFill>
                <a:effectLst/>
                <a:latin typeface="Söhne"/>
              </a:rPr>
              <a:t> Strong access controls, identity and access management systems, and privilege management.</a:t>
            </a:r>
          </a:p>
          <a:p>
            <a:pPr algn="l"/>
            <a:r>
              <a:rPr lang="en-US" b="0" i="0" dirty="0">
                <a:solidFill>
                  <a:srgbClr val="374151"/>
                </a:solidFill>
                <a:effectLst/>
                <a:latin typeface="Söhne"/>
              </a:rPr>
              <a:t>C. </a:t>
            </a:r>
            <a:r>
              <a:rPr lang="en-US" b="1" i="0" dirty="0">
                <a:solidFill>
                  <a:srgbClr val="374151"/>
                </a:solidFill>
                <a:effectLst/>
                <a:latin typeface="Söhne"/>
              </a:rPr>
              <a:t>Public Awareness and Education Initiatives</a:t>
            </a:r>
            <a:r>
              <a:rPr lang="en-US" b="0" i="0" dirty="0">
                <a:solidFill>
                  <a:srgbClr val="374151"/>
                </a:solidFill>
                <a:effectLst/>
                <a:latin typeface="Söhne"/>
              </a:rPr>
              <a:t> 1. </a:t>
            </a:r>
            <a:r>
              <a:rPr lang="en-US" b="1" i="0" dirty="0">
                <a:solidFill>
                  <a:srgbClr val="374151"/>
                </a:solidFill>
                <a:effectLst/>
                <a:latin typeface="Söhne"/>
              </a:rPr>
              <a:t>Cybersecurity Awareness Campaigns:</a:t>
            </a:r>
            <a:r>
              <a:rPr lang="en-US" b="0" i="0" dirty="0">
                <a:solidFill>
                  <a:srgbClr val="374151"/>
                </a:solidFill>
                <a:effectLst/>
                <a:latin typeface="Söhne"/>
              </a:rPr>
              <a:t> Launching national and sector-specific campaigns to educate the public and organizations about cybersecurity best practices and risks. 2. </a:t>
            </a:r>
            <a:r>
              <a:rPr lang="en-US" b="1" i="0" dirty="0">
                <a:solidFill>
                  <a:srgbClr val="374151"/>
                </a:solidFill>
                <a:effectLst/>
                <a:latin typeface="Söhne"/>
              </a:rPr>
              <a:t>School Programs:</a:t>
            </a:r>
            <a:r>
              <a:rPr lang="en-US" b="0" i="0" dirty="0">
                <a:solidFill>
                  <a:srgbClr val="374151"/>
                </a:solidFill>
                <a:effectLst/>
                <a:latin typeface="Söhne"/>
              </a:rPr>
              <a:t> Integrating cybersecurity education into school curricula to raise awareness among the younger generation. 3. </a:t>
            </a:r>
            <a:r>
              <a:rPr lang="en-US" b="1" i="0" dirty="0">
                <a:solidFill>
                  <a:srgbClr val="374151"/>
                </a:solidFill>
                <a:effectLst/>
                <a:latin typeface="Söhne"/>
              </a:rPr>
              <a:t>Workshops and Training:</a:t>
            </a:r>
            <a:r>
              <a:rPr lang="en-US" b="0" i="0" dirty="0">
                <a:solidFill>
                  <a:srgbClr val="374151"/>
                </a:solidFill>
                <a:effectLst/>
                <a:latin typeface="Söhne"/>
              </a:rPr>
              <a:t> Offering workshops, training sessions, and webinars to enhance cybersecurity knowledge and skills among the public and industry professionals. 4. </a:t>
            </a:r>
            <a:r>
              <a:rPr lang="en-US" b="1" i="0" dirty="0">
                <a:solidFill>
                  <a:srgbClr val="374151"/>
                </a:solidFill>
                <a:effectLst/>
                <a:latin typeface="Söhne"/>
              </a:rPr>
              <a:t>Cyber Hygiene:</a:t>
            </a:r>
            <a:r>
              <a:rPr lang="en-US" b="0" i="0" dirty="0">
                <a:solidFill>
                  <a:srgbClr val="374151"/>
                </a:solidFill>
                <a:effectLst/>
                <a:latin typeface="Söhne"/>
              </a:rPr>
              <a:t> Promoting basic cybersecurity hygiene, including strong password practices, software updates, and email security. 5. </a:t>
            </a:r>
            <a:r>
              <a:rPr lang="en-US" b="1" i="0" dirty="0">
                <a:solidFill>
                  <a:srgbClr val="374151"/>
                </a:solidFill>
                <a:effectLst/>
                <a:latin typeface="Söhne"/>
              </a:rPr>
              <a:t>Media and Information Dissemination:</a:t>
            </a:r>
            <a:r>
              <a:rPr lang="en-US" b="0" i="0" dirty="0">
                <a:solidFill>
                  <a:srgbClr val="374151"/>
                </a:solidFill>
                <a:effectLst/>
                <a:latin typeface="Söhne"/>
              </a:rPr>
              <a:t> Engaging with media to provide cybersecurity news, updates, and tips to the public. 6. </a:t>
            </a:r>
            <a:r>
              <a:rPr lang="en-US" b="1" i="0" dirty="0">
                <a:solidFill>
                  <a:srgbClr val="374151"/>
                </a:solidFill>
                <a:effectLst/>
                <a:latin typeface="Söhne"/>
              </a:rPr>
              <a:t>Public-Private Partnerships:</a:t>
            </a:r>
            <a:r>
              <a:rPr lang="en-US" b="0" i="0" dirty="0">
                <a:solidFill>
                  <a:srgbClr val="374151"/>
                </a:solidFill>
                <a:effectLst/>
                <a:latin typeface="Söhne"/>
              </a:rPr>
              <a:t> Collaborating with private sector organizations to deliver cybersecurity education and awareness initiatives.</a:t>
            </a:r>
          </a:p>
          <a:p>
            <a:endParaRPr lang="aa-ET" dirty="0"/>
          </a:p>
        </p:txBody>
      </p:sp>
      <p:sp>
        <p:nvSpPr>
          <p:cNvPr id="4" name="Slide Number Placeholder 3"/>
          <p:cNvSpPr>
            <a:spLocks noGrp="1"/>
          </p:cNvSpPr>
          <p:nvPr>
            <p:ph type="sldNum" sz="quarter" idx="5"/>
          </p:nvPr>
        </p:nvSpPr>
        <p:spPr/>
        <p:txBody>
          <a:bodyPr/>
          <a:lstStyle/>
          <a:p>
            <a:fld id="{EE98C73F-D72E-4995-BA29-43C256E4B77A}" type="slidenum">
              <a:rPr lang="aa-ET" smtClean="0"/>
              <a:t>22</a:t>
            </a:fld>
            <a:endParaRPr lang="aa-ET"/>
          </a:p>
        </p:txBody>
      </p:sp>
    </p:spTree>
    <p:extLst>
      <p:ext uri="{BB962C8B-B14F-4D97-AF65-F5344CB8AC3E}">
        <p14:creationId xmlns:p14="http://schemas.microsoft.com/office/powerpoint/2010/main" val="4081201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EE98C73F-D72E-4995-BA29-43C256E4B77A}" type="slidenum">
              <a:rPr lang="aa-ET" smtClean="0"/>
              <a:t>24</a:t>
            </a:fld>
            <a:endParaRPr lang="aa-ET"/>
          </a:p>
        </p:txBody>
      </p:sp>
    </p:spTree>
    <p:extLst>
      <p:ext uri="{BB962C8B-B14F-4D97-AF65-F5344CB8AC3E}">
        <p14:creationId xmlns:p14="http://schemas.microsoft.com/office/powerpoint/2010/main" val="8149391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aumc.edu.pk/"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hyperlink" Target="https://aumc.edu.pk/"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EF42962-CB25-41CF-D640-A2666B723A9F}"/>
              </a:ext>
            </a:extLst>
          </p:cNvPr>
          <p:cNvSpPr txBox="1"/>
          <p:nvPr userDrawn="1"/>
        </p:nvSpPr>
        <p:spPr>
          <a:xfrm>
            <a:off x="3351244" y="1122364"/>
            <a:ext cx="5489512" cy="4613274"/>
          </a:xfrm>
          <a:prstGeom prst="rect">
            <a:avLst/>
          </a:prstGeom>
          <a:blipFill dpi="0" rotWithShape="1">
            <a:blip r:embed="rId2">
              <a:alphaModFix amt="30000"/>
              <a:extLst>
                <a:ext uri="{837473B0-CC2E-450A-ABE3-18F120FF3D39}">
                  <a1611:picAttrSrcUrl xmlns:a1611="http://schemas.microsoft.com/office/drawing/2016/11/main" r:id="rId3"/>
                </a:ext>
              </a:extLst>
            </a:blip>
            <a:srcRect/>
            <a:stretch>
              <a:fillRect/>
            </a:stretch>
          </a:blipFill>
        </p:spPr>
        <p:txBody>
          <a:bodyPr wrap="square" rtlCol="0">
            <a:spAutoFit/>
          </a:bodyPr>
          <a:lstStyle/>
          <a:p>
            <a:endParaRPr lang="aa-ET" dirty="0"/>
          </a:p>
        </p:txBody>
      </p:sp>
      <p:sp>
        <p:nvSpPr>
          <p:cNvPr id="11" name="TextBox 10">
            <a:extLst>
              <a:ext uri="{FF2B5EF4-FFF2-40B4-BE49-F238E27FC236}">
                <a16:creationId xmlns:a16="http://schemas.microsoft.com/office/drawing/2014/main" id="{1009135F-2F28-7F64-2171-12E45623B74D}"/>
              </a:ext>
            </a:extLst>
          </p:cNvPr>
          <p:cNvSpPr txBox="1"/>
          <p:nvPr userDrawn="1"/>
        </p:nvSpPr>
        <p:spPr>
          <a:xfrm>
            <a:off x="0" y="5735635"/>
            <a:ext cx="1524000" cy="1122362"/>
          </a:xfrm>
          <a:prstGeom prst="rect">
            <a:avLst/>
          </a:prstGeom>
          <a:blipFill dpi="0" rotWithShape="1">
            <a:blip r:embed="rId4"/>
            <a:srcRect/>
            <a:stretch>
              <a:fillRect/>
            </a:stretch>
          </a:blipFill>
        </p:spPr>
        <p:txBody>
          <a:bodyPr wrap="square" rtlCol="0">
            <a:spAutoFit/>
          </a:bodyPr>
          <a:lstStyle/>
          <a:p>
            <a:endParaRPr lang="aa-ET" dirty="0"/>
          </a:p>
        </p:txBody>
      </p:sp>
      <p:sp>
        <p:nvSpPr>
          <p:cNvPr id="2" name="Title 1">
            <a:extLst>
              <a:ext uri="{FF2B5EF4-FFF2-40B4-BE49-F238E27FC236}">
                <a16:creationId xmlns:a16="http://schemas.microsoft.com/office/drawing/2014/main" id="{C9848C54-5063-170D-BF52-66D9AD3C0FD9}"/>
              </a:ext>
            </a:extLst>
          </p:cNvPr>
          <p:cNvSpPr>
            <a:spLocks noGrp="1"/>
          </p:cNvSpPr>
          <p:nvPr>
            <p:ph type="ctrTitle"/>
          </p:nvPr>
        </p:nvSpPr>
        <p:spPr>
          <a:xfrm>
            <a:off x="0" y="1122362"/>
            <a:ext cx="12192000" cy="4124741"/>
          </a:xfrm>
        </p:spPr>
        <p:txBody>
          <a:bodyPr lIns="0" tIns="0" rIns="0" bIns="0" anchor="ctr">
            <a:normAutofit/>
          </a:bodyPr>
          <a:lstStyle>
            <a:lvl1pPr algn="ctr">
              <a:defRPr sz="6000" b="1">
                <a:solidFill>
                  <a:schemeClr val="tx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defRPr>
            </a:lvl1pPr>
          </a:lstStyle>
          <a:p>
            <a:r>
              <a:rPr lang="en-US" dirty="0"/>
              <a:t>Click to edit Master title style</a:t>
            </a:r>
            <a:endParaRPr lang="aa-ET" dirty="0"/>
          </a:p>
        </p:txBody>
      </p:sp>
      <p:sp>
        <p:nvSpPr>
          <p:cNvPr id="4" name="Date Placeholder 3">
            <a:extLst>
              <a:ext uri="{FF2B5EF4-FFF2-40B4-BE49-F238E27FC236}">
                <a16:creationId xmlns:a16="http://schemas.microsoft.com/office/drawing/2014/main" id="{9B27292F-3BD5-CB00-8FE2-CFF1F7C7A7B6}"/>
              </a:ext>
            </a:extLst>
          </p:cNvPr>
          <p:cNvSpPr>
            <a:spLocks noGrp="1"/>
          </p:cNvSpPr>
          <p:nvPr>
            <p:ph type="dt" sz="half" idx="10"/>
          </p:nvPr>
        </p:nvSpPr>
        <p:spPr>
          <a:xfrm>
            <a:off x="0" y="6492873"/>
            <a:ext cx="2743200" cy="365125"/>
          </a:xfrm>
        </p:spPr>
        <p:txBody>
          <a:bodyPr/>
          <a:lstStyle/>
          <a:p>
            <a:fld id="{43AED2C3-2F8A-447D-8B08-93CA20F1D4CE}" type="datetime8">
              <a:rPr lang="aa-ET" smtClean="0"/>
              <a:t>05/14/2026 14:45</a:t>
            </a:fld>
            <a:endParaRPr lang="aa-ET" dirty="0"/>
          </a:p>
        </p:txBody>
      </p:sp>
      <p:sp>
        <p:nvSpPr>
          <p:cNvPr id="5" name="Footer Placeholder 4">
            <a:extLst>
              <a:ext uri="{FF2B5EF4-FFF2-40B4-BE49-F238E27FC236}">
                <a16:creationId xmlns:a16="http://schemas.microsoft.com/office/drawing/2014/main" id="{3B8C8455-2068-D099-77D3-0D66D7F286E9}"/>
              </a:ext>
            </a:extLst>
          </p:cNvPr>
          <p:cNvSpPr>
            <a:spLocks noGrp="1"/>
          </p:cNvSpPr>
          <p:nvPr>
            <p:ph type="ftr" sz="quarter" idx="11"/>
          </p:nvPr>
        </p:nvSpPr>
        <p:spPr>
          <a:xfrm>
            <a:off x="4038600" y="6492872"/>
            <a:ext cx="4114800" cy="365125"/>
          </a:xfrm>
        </p:spPr>
        <p:txBody>
          <a:bodyPr/>
          <a:lstStyle/>
          <a:p>
            <a:endParaRPr lang="aa-ET" dirty="0"/>
          </a:p>
        </p:txBody>
      </p:sp>
      <p:sp>
        <p:nvSpPr>
          <p:cNvPr id="6" name="Slide Number Placeholder 5">
            <a:extLst>
              <a:ext uri="{FF2B5EF4-FFF2-40B4-BE49-F238E27FC236}">
                <a16:creationId xmlns:a16="http://schemas.microsoft.com/office/drawing/2014/main" id="{6CD4E66D-666E-3BFB-7DB6-2B37A6602159}"/>
              </a:ext>
            </a:extLst>
          </p:cNvPr>
          <p:cNvSpPr>
            <a:spLocks noGrp="1"/>
          </p:cNvSpPr>
          <p:nvPr>
            <p:ph type="sldNum" sz="quarter" idx="12"/>
          </p:nvPr>
        </p:nvSpPr>
        <p:spPr>
          <a:xfrm>
            <a:off x="10668000" y="6492874"/>
            <a:ext cx="1524000" cy="365125"/>
          </a:xfrm>
          <a:noFill/>
        </p:spPr>
        <p:txBody>
          <a:bodyPr/>
          <a:lstStyle>
            <a:lvl1pPr>
              <a:defRPr>
                <a:solidFill>
                  <a:schemeClr val="tx1"/>
                </a:solidFill>
              </a:defRPr>
            </a:lvl1pPr>
          </a:lstStyle>
          <a:p>
            <a:fld id="{9CF5882A-489D-47FB-AE42-7D761C6CCCEE}" type="slidenum">
              <a:rPr lang="aa-ET" smtClean="0"/>
              <a:pPr/>
              <a:t>‹#›</a:t>
            </a:fld>
            <a:endParaRPr lang="aa-ET" dirty="0"/>
          </a:p>
        </p:txBody>
      </p:sp>
      <p:sp>
        <p:nvSpPr>
          <p:cNvPr id="9" name="Rectangle 8">
            <a:extLst>
              <a:ext uri="{FF2B5EF4-FFF2-40B4-BE49-F238E27FC236}">
                <a16:creationId xmlns:a16="http://schemas.microsoft.com/office/drawing/2014/main" id="{520E85B4-139E-9EAE-D6CD-63C3AB8C5E21}"/>
              </a:ext>
            </a:extLst>
          </p:cNvPr>
          <p:cNvSpPr/>
          <p:nvPr userDrawn="1"/>
        </p:nvSpPr>
        <p:spPr>
          <a:xfrm>
            <a:off x="0" y="1015415"/>
            <a:ext cx="12192000" cy="96253"/>
          </a:xfrm>
          <a:prstGeom prst="rect">
            <a:avLst/>
          </a:prstGeom>
          <a:gradFill flip="none" rotWithShape="1">
            <a:gsLst>
              <a:gs pos="100000">
                <a:srgbClr val="08203E"/>
              </a:gs>
              <a:gs pos="0">
                <a:srgbClr val="08203E"/>
              </a:gs>
              <a:gs pos="75000">
                <a:srgbClr val="557C93"/>
              </a:gs>
              <a:gs pos="50000">
                <a:srgbClr val="08203E">
                  <a:alpha val="80000"/>
                </a:srgbClr>
              </a:gs>
              <a:gs pos="25000">
                <a:srgbClr val="557C93"/>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10" name="Rectangle 9">
            <a:extLst>
              <a:ext uri="{FF2B5EF4-FFF2-40B4-BE49-F238E27FC236}">
                <a16:creationId xmlns:a16="http://schemas.microsoft.com/office/drawing/2014/main" id="{C9480828-06E4-BF13-265C-F611D97AC7B8}"/>
              </a:ext>
            </a:extLst>
          </p:cNvPr>
          <p:cNvSpPr/>
          <p:nvPr userDrawn="1"/>
        </p:nvSpPr>
        <p:spPr>
          <a:xfrm>
            <a:off x="0" y="5257800"/>
            <a:ext cx="12192000" cy="96253"/>
          </a:xfrm>
          <a:prstGeom prst="rect">
            <a:avLst/>
          </a:prstGeom>
          <a:gradFill flip="none" rotWithShape="1">
            <a:gsLst>
              <a:gs pos="100000">
                <a:srgbClr val="08203E"/>
              </a:gs>
              <a:gs pos="0">
                <a:srgbClr val="08203E"/>
              </a:gs>
              <a:gs pos="75000">
                <a:srgbClr val="557C93"/>
              </a:gs>
              <a:gs pos="50000">
                <a:srgbClr val="08203E">
                  <a:alpha val="80000"/>
                </a:srgbClr>
              </a:gs>
              <a:gs pos="25000">
                <a:srgbClr val="557C93"/>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Tree>
    <p:extLst>
      <p:ext uri="{BB962C8B-B14F-4D97-AF65-F5344CB8AC3E}">
        <p14:creationId xmlns:p14="http://schemas.microsoft.com/office/powerpoint/2010/main" val="40228570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6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7E7CCB7-9D13-D971-FED4-C0F3C02A53BB}"/>
              </a:ext>
            </a:extLst>
          </p:cNvPr>
          <p:cNvSpPr txBox="1"/>
          <p:nvPr userDrawn="1"/>
        </p:nvSpPr>
        <p:spPr>
          <a:xfrm>
            <a:off x="10668000" y="-1"/>
            <a:ext cx="1524000" cy="1122362"/>
          </a:xfrm>
          <a:prstGeom prst="rect">
            <a:avLst/>
          </a:prstGeom>
          <a:blipFill dpi="0" rotWithShape="1">
            <a:blip r:embed="rId2"/>
            <a:srcRect/>
            <a:stretch>
              <a:fillRect/>
            </a:stretch>
          </a:blipFill>
        </p:spPr>
        <p:txBody>
          <a:bodyPr wrap="square" rtlCol="0">
            <a:spAutoFit/>
          </a:bodyPr>
          <a:lstStyle/>
          <a:p>
            <a:endParaRPr lang="aa-ET" dirty="0"/>
          </a:p>
        </p:txBody>
      </p:sp>
      <p:sp>
        <p:nvSpPr>
          <p:cNvPr id="2" name="Title 1">
            <a:extLst>
              <a:ext uri="{FF2B5EF4-FFF2-40B4-BE49-F238E27FC236}">
                <a16:creationId xmlns:a16="http://schemas.microsoft.com/office/drawing/2014/main" id="{5B1816E1-6321-9FE5-C0A8-B0999DB50E77}"/>
              </a:ext>
            </a:extLst>
          </p:cNvPr>
          <p:cNvSpPr>
            <a:spLocks noGrp="1"/>
          </p:cNvSpPr>
          <p:nvPr>
            <p:ph type="title"/>
          </p:nvPr>
        </p:nvSpPr>
        <p:spPr>
          <a:xfrm>
            <a:off x="192088" y="18256"/>
            <a:ext cx="10475912" cy="1104105"/>
          </a:xfrm>
        </p:spPr>
        <p:txBody>
          <a:bodyPr lIns="0" tIns="0" rIns="0" bIns="0">
            <a:normAutofit/>
          </a:bodyPr>
          <a:lstStyle>
            <a:lvl1pPr>
              <a:defRPr sz="3200" b="1">
                <a:solidFill>
                  <a:schemeClr val="accent1">
                    <a:lumMod val="75000"/>
                  </a:schemeClr>
                </a:solidFill>
                <a:effectLst>
                  <a:outerShdw blurRad="38100" dist="38100" dir="2700000" algn="tl">
                    <a:srgbClr val="000000">
                      <a:alpha val="43137"/>
                    </a:srgbClr>
                  </a:outerShdw>
                </a:effectLst>
                <a:latin typeface="+mn-lt"/>
              </a:defRPr>
            </a:lvl1pPr>
          </a:lstStyle>
          <a:p>
            <a:r>
              <a:rPr lang="en-US" dirty="0"/>
              <a:t>Click to edit Master title style</a:t>
            </a:r>
            <a:endParaRPr lang="aa-ET" dirty="0"/>
          </a:p>
        </p:txBody>
      </p:sp>
      <p:sp>
        <p:nvSpPr>
          <p:cNvPr id="3" name="Content Placeholder 2">
            <a:extLst>
              <a:ext uri="{FF2B5EF4-FFF2-40B4-BE49-F238E27FC236}">
                <a16:creationId xmlns:a16="http://schemas.microsoft.com/office/drawing/2014/main" id="{1B0A6B42-9ACC-0A6D-DDE0-1875DCCB3316}"/>
              </a:ext>
            </a:extLst>
          </p:cNvPr>
          <p:cNvSpPr>
            <a:spLocks noGrp="1"/>
          </p:cNvSpPr>
          <p:nvPr>
            <p:ph idx="1"/>
          </p:nvPr>
        </p:nvSpPr>
        <p:spPr>
          <a:xfrm>
            <a:off x="563479" y="1484313"/>
            <a:ext cx="11065042" cy="4660984"/>
          </a:xfrm>
        </p:spPr>
        <p:txBody>
          <a:bodyPr lIns="0" tIns="0" rIns="0" bIns="0"/>
          <a:lstStyle>
            <a:lvl1pPr>
              <a:defRPr sz="24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aa-ET" dirty="0"/>
          </a:p>
        </p:txBody>
      </p:sp>
      <p:sp>
        <p:nvSpPr>
          <p:cNvPr id="4" name="Date Placeholder 3">
            <a:extLst>
              <a:ext uri="{FF2B5EF4-FFF2-40B4-BE49-F238E27FC236}">
                <a16:creationId xmlns:a16="http://schemas.microsoft.com/office/drawing/2014/main" id="{1601DEE1-A95C-7B0B-7EA3-C112C5603801}"/>
              </a:ext>
            </a:extLst>
          </p:cNvPr>
          <p:cNvSpPr>
            <a:spLocks noGrp="1"/>
          </p:cNvSpPr>
          <p:nvPr>
            <p:ph type="dt" sz="half" idx="10"/>
          </p:nvPr>
        </p:nvSpPr>
        <p:spPr>
          <a:xfrm>
            <a:off x="0" y="6492873"/>
            <a:ext cx="2743200" cy="365125"/>
          </a:xfrm>
        </p:spPr>
        <p:txBody>
          <a:bodyPr/>
          <a:lstStyle/>
          <a:p>
            <a:fld id="{B8A8258F-5086-4387-B25F-C68B4E74197E}" type="datetime8">
              <a:rPr lang="aa-ET" smtClean="0"/>
              <a:t>05/14/2026 14:45</a:t>
            </a:fld>
            <a:endParaRPr lang="aa-ET"/>
          </a:p>
        </p:txBody>
      </p:sp>
      <p:sp>
        <p:nvSpPr>
          <p:cNvPr id="5" name="Footer Placeholder 4">
            <a:extLst>
              <a:ext uri="{FF2B5EF4-FFF2-40B4-BE49-F238E27FC236}">
                <a16:creationId xmlns:a16="http://schemas.microsoft.com/office/drawing/2014/main" id="{46CFC17C-C105-1BB3-34E7-BA195604E270}"/>
              </a:ext>
            </a:extLst>
          </p:cNvPr>
          <p:cNvSpPr>
            <a:spLocks noGrp="1"/>
          </p:cNvSpPr>
          <p:nvPr>
            <p:ph type="ftr" sz="quarter" idx="11"/>
          </p:nvPr>
        </p:nvSpPr>
        <p:spPr>
          <a:xfrm>
            <a:off x="4038600" y="6492875"/>
            <a:ext cx="4114800" cy="365125"/>
          </a:xfrm>
        </p:spPr>
        <p:txBody>
          <a:bodyPr/>
          <a:lstStyle/>
          <a:p>
            <a:endParaRPr lang="aa-ET" dirty="0"/>
          </a:p>
        </p:txBody>
      </p:sp>
      <p:sp>
        <p:nvSpPr>
          <p:cNvPr id="6" name="Slide Number Placeholder 5">
            <a:extLst>
              <a:ext uri="{FF2B5EF4-FFF2-40B4-BE49-F238E27FC236}">
                <a16:creationId xmlns:a16="http://schemas.microsoft.com/office/drawing/2014/main" id="{3EABBC93-D2E0-AACE-3ACF-6B2A3895107E}"/>
              </a:ext>
            </a:extLst>
          </p:cNvPr>
          <p:cNvSpPr>
            <a:spLocks noGrp="1"/>
          </p:cNvSpPr>
          <p:nvPr>
            <p:ph type="sldNum" sz="quarter" idx="12"/>
          </p:nvPr>
        </p:nvSpPr>
        <p:spPr>
          <a:xfrm>
            <a:off x="11827042" y="6492875"/>
            <a:ext cx="364958" cy="365125"/>
          </a:xfrm>
          <a:solidFill>
            <a:srgbClr val="0D3769"/>
          </a:solidFill>
        </p:spPr>
        <p:txBody>
          <a:bodyPr/>
          <a:lstStyle>
            <a:lvl1pPr algn="ctr">
              <a:defRPr>
                <a:solidFill>
                  <a:schemeClr val="bg1"/>
                </a:solidFill>
              </a:defRPr>
            </a:lvl1pPr>
          </a:lstStyle>
          <a:p>
            <a:fld id="{9CF5882A-489D-47FB-AE42-7D761C6CCCEE}" type="slidenum">
              <a:rPr lang="aa-ET" smtClean="0"/>
              <a:pPr/>
              <a:t>‹#›</a:t>
            </a:fld>
            <a:endParaRPr lang="aa-ET" dirty="0"/>
          </a:p>
        </p:txBody>
      </p:sp>
      <p:sp>
        <p:nvSpPr>
          <p:cNvPr id="7" name="TextBox 6">
            <a:extLst>
              <a:ext uri="{FF2B5EF4-FFF2-40B4-BE49-F238E27FC236}">
                <a16:creationId xmlns:a16="http://schemas.microsoft.com/office/drawing/2014/main" id="{FD412DE9-60C3-94D8-07D3-9C626ADAF837}"/>
              </a:ext>
            </a:extLst>
          </p:cNvPr>
          <p:cNvSpPr txBox="1"/>
          <p:nvPr userDrawn="1"/>
        </p:nvSpPr>
        <p:spPr>
          <a:xfrm>
            <a:off x="3351244" y="1122364"/>
            <a:ext cx="5489512" cy="4613274"/>
          </a:xfrm>
          <a:prstGeom prst="rect">
            <a:avLst/>
          </a:prstGeom>
          <a:blipFill dpi="0" rotWithShape="1">
            <a:blip r:embed="rId3">
              <a:alphaModFix amt="30000"/>
              <a:extLst>
                <a:ext uri="{837473B0-CC2E-450A-ABE3-18F120FF3D39}">
                  <a1611:picAttrSrcUrl xmlns:a1611="http://schemas.microsoft.com/office/drawing/2016/11/main" r:id="rId4"/>
                </a:ext>
              </a:extLst>
            </a:blip>
            <a:srcRect/>
            <a:stretch>
              <a:fillRect/>
            </a:stretch>
          </a:blipFill>
        </p:spPr>
        <p:txBody>
          <a:bodyPr wrap="square" rtlCol="0">
            <a:spAutoFit/>
          </a:bodyPr>
          <a:lstStyle/>
          <a:p>
            <a:endParaRPr lang="aa-ET" dirty="0"/>
          </a:p>
        </p:txBody>
      </p:sp>
      <p:sp>
        <p:nvSpPr>
          <p:cNvPr id="9" name="Rectangle 8">
            <a:extLst>
              <a:ext uri="{FF2B5EF4-FFF2-40B4-BE49-F238E27FC236}">
                <a16:creationId xmlns:a16="http://schemas.microsoft.com/office/drawing/2014/main" id="{0E04ADDC-9A0D-5C7A-5CE8-BE5F38E47EE5}"/>
              </a:ext>
            </a:extLst>
          </p:cNvPr>
          <p:cNvSpPr/>
          <p:nvPr userDrawn="1"/>
        </p:nvSpPr>
        <p:spPr>
          <a:xfrm>
            <a:off x="0" y="1122362"/>
            <a:ext cx="12192000" cy="96253"/>
          </a:xfrm>
          <a:prstGeom prst="rect">
            <a:avLst/>
          </a:prstGeom>
          <a:gradFill flip="none" rotWithShape="1">
            <a:gsLst>
              <a:gs pos="100000">
                <a:srgbClr val="08203E"/>
              </a:gs>
              <a:gs pos="0">
                <a:srgbClr val="08203E"/>
              </a:gs>
              <a:gs pos="75000">
                <a:srgbClr val="557C93"/>
              </a:gs>
              <a:gs pos="50000">
                <a:srgbClr val="08203E">
                  <a:alpha val="80000"/>
                </a:srgbClr>
              </a:gs>
              <a:gs pos="25000">
                <a:srgbClr val="557C93"/>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Tree>
    <p:extLst>
      <p:ext uri="{BB962C8B-B14F-4D97-AF65-F5344CB8AC3E}">
        <p14:creationId xmlns:p14="http://schemas.microsoft.com/office/powerpoint/2010/main" val="58615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B44AA-D004-1E7D-9171-CD1472E8A6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a-ET"/>
          </a:p>
        </p:txBody>
      </p:sp>
      <p:sp>
        <p:nvSpPr>
          <p:cNvPr id="3" name="Text Placeholder 2">
            <a:extLst>
              <a:ext uri="{FF2B5EF4-FFF2-40B4-BE49-F238E27FC236}">
                <a16:creationId xmlns:a16="http://schemas.microsoft.com/office/drawing/2014/main" id="{CC2CD24C-E4FA-B048-FF91-DE7DF537A7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54531D-9CA5-2A47-E307-A0ADADF550B2}"/>
              </a:ext>
            </a:extLst>
          </p:cNvPr>
          <p:cNvSpPr>
            <a:spLocks noGrp="1"/>
          </p:cNvSpPr>
          <p:nvPr>
            <p:ph type="dt" sz="half" idx="10"/>
          </p:nvPr>
        </p:nvSpPr>
        <p:spPr/>
        <p:txBody>
          <a:bodyPr/>
          <a:lstStyle/>
          <a:p>
            <a:fld id="{BE754AB7-A829-4DBF-ACE6-19AE9255AA4F}" type="datetime8">
              <a:rPr lang="aa-ET" smtClean="0"/>
              <a:t>05/14/2026 14:45</a:t>
            </a:fld>
            <a:endParaRPr lang="aa-ET"/>
          </a:p>
        </p:txBody>
      </p:sp>
      <p:sp>
        <p:nvSpPr>
          <p:cNvPr id="5" name="Footer Placeholder 4">
            <a:extLst>
              <a:ext uri="{FF2B5EF4-FFF2-40B4-BE49-F238E27FC236}">
                <a16:creationId xmlns:a16="http://schemas.microsoft.com/office/drawing/2014/main" id="{748C06D8-68C0-2C81-FB52-DAC1C574ACF9}"/>
              </a:ext>
            </a:extLst>
          </p:cNvPr>
          <p:cNvSpPr>
            <a:spLocks noGrp="1"/>
          </p:cNvSpPr>
          <p:nvPr>
            <p:ph type="ftr" sz="quarter" idx="11"/>
          </p:nvPr>
        </p:nvSpPr>
        <p:spPr/>
        <p:txBody>
          <a:bodyPr/>
          <a:lstStyle/>
          <a:p>
            <a:endParaRPr lang="aa-ET"/>
          </a:p>
        </p:txBody>
      </p:sp>
      <p:sp>
        <p:nvSpPr>
          <p:cNvPr id="6" name="Slide Number Placeholder 5">
            <a:extLst>
              <a:ext uri="{FF2B5EF4-FFF2-40B4-BE49-F238E27FC236}">
                <a16:creationId xmlns:a16="http://schemas.microsoft.com/office/drawing/2014/main" id="{4F156D2D-BDBE-04BA-FB8B-24AA61B939B0}"/>
              </a:ext>
            </a:extLst>
          </p:cNvPr>
          <p:cNvSpPr>
            <a:spLocks noGrp="1"/>
          </p:cNvSpPr>
          <p:nvPr>
            <p:ph type="sldNum" sz="quarter" idx="12"/>
          </p:nvPr>
        </p:nvSpPr>
        <p:spPr/>
        <p:txBody>
          <a:bodyPr/>
          <a:lstStyle/>
          <a:p>
            <a:fld id="{9CF5882A-489D-47FB-AE42-7D761C6CCCEE}" type="slidenum">
              <a:rPr lang="aa-ET" smtClean="0"/>
              <a:t>‹#›</a:t>
            </a:fld>
            <a:endParaRPr lang="aa-ET"/>
          </a:p>
        </p:txBody>
      </p:sp>
    </p:spTree>
    <p:extLst>
      <p:ext uri="{BB962C8B-B14F-4D97-AF65-F5344CB8AC3E}">
        <p14:creationId xmlns:p14="http://schemas.microsoft.com/office/powerpoint/2010/main" val="4080250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46BE4-3F88-F5D8-AC89-09D860284F92}"/>
              </a:ext>
            </a:extLst>
          </p:cNvPr>
          <p:cNvSpPr>
            <a:spLocks noGrp="1"/>
          </p:cNvSpPr>
          <p:nvPr>
            <p:ph type="title"/>
          </p:nvPr>
        </p:nvSpPr>
        <p:spPr/>
        <p:txBody>
          <a:bodyPr/>
          <a:lstStyle/>
          <a:p>
            <a:r>
              <a:rPr lang="en-US"/>
              <a:t>Click to edit Master title style</a:t>
            </a:r>
            <a:endParaRPr lang="aa-ET"/>
          </a:p>
        </p:txBody>
      </p:sp>
      <p:sp>
        <p:nvSpPr>
          <p:cNvPr id="3" name="Content Placeholder 2">
            <a:extLst>
              <a:ext uri="{FF2B5EF4-FFF2-40B4-BE49-F238E27FC236}">
                <a16:creationId xmlns:a16="http://schemas.microsoft.com/office/drawing/2014/main" id="{F8FD569F-545E-D767-DD8A-4CFBFD6ED4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a-ET"/>
          </a:p>
        </p:txBody>
      </p:sp>
      <p:sp>
        <p:nvSpPr>
          <p:cNvPr id="4" name="Content Placeholder 3">
            <a:extLst>
              <a:ext uri="{FF2B5EF4-FFF2-40B4-BE49-F238E27FC236}">
                <a16:creationId xmlns:a16="http://schemas.microsoft.com/office/drawing/2014/main" id="{E617AC19-7457-7389-DC7D-F90FBA8BFC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a-ET"/>
          </a:p>
        </p:txBody>
      </p:sp>
      <p:sp>
        <p:nvSpPr>
          <p:cNvPr id="5" name="Date Placeholder 4">
            <a:extLst>
              <a:ext uri="{FF2B5EF4-FFF2-40B4-BE49-F238E27FC236}">
                <a16:creationId xmlns:a16="http://schemas.microsoft.com/office/drawing/2014/main" id="{8F5E3C89-B6CD-4AD8-4AAD-F8A282DA2F62}"/>
              </a:ext>
            </a:extLst>
          </p:cNvPr>
          <p:cNvSpPr>
            <a:spLocks noGrp="1"/>
          </p:cNvSpPr>
          <p:nvPr>
            <p:ph type="dt" sz="half" idx="10"/>
          </p:nvPr>
        </p:nvSpPr>
        <p:spPr/>
        <p:txBody>
          <a:bodyPr/>
          <a:lstStyle/>
          <a:p>
            <a:fld id="{A24ADA23-7889-43C9-AC43-CA06C6E7FF16}" type="datetime8">
              <a:rPr lang="aa-ET" smtClean="0"/>
              <a:t>05/14/2026 14:45</a:t>
            </a:fld>
            <a:endParaRPr lang="aa-ET"/>
          </a:p>
        </p:txBody>
      </p:sp>
      <p:sp>
        <p:nvSpPr>
          <p:cNvPr id="6" name="Footer Placeholder 5">
            <a:extLst>
              <a:ext uri="{FF2B5EF4-FFF2-40B4-BE49-F238E27FC236}">
                <a16:creationId xmlns:a16="http://schemas.microsoft.com/office/drawing/2014/main" id="{9C9D4D83-198C-F931-16E4-5FAF4537CBCD}"/>
              </a:ext>
            </a:extLst>
          </p:cNvPr>
          <p:cNvSpPr>
            <a:spLocks noGrp="1"/>
          </p:cNvSpPr>
          <p:nvPr>
            <p:ph type="ftr" sz="quarter" idx="11"/>
          </p:nvPr>
        </p:nvSpPr>
        <p:spPr/>
        <p:txBody>
          <a:bodyPr/>
          <a:lstStyle/>
          <a:p>
            <a:endParaRPr lang="aa-ET"/>
          </a:p>
        </p:txBody>
      </p:sp>
      <p:sp>
        <p:nvSpPr>
          <p:cNvPr id="7" name="Slide Number Placeholder 6">
            <a:extLst>
              <a:ext uri="{FF2B5EF4-FFF2-40B4-BE49-F238E27FC236}">
                <a16:creationId xmlns:a16="http://schemas.microsoft.com/office/drawing/2014/main" id="{89EF40DA-EC6A-8DCE-CA0E-AB86012BEA8F}"/>
              </a:ext>
            </a:extLst>
          </p:cNvPr>
          <p:cNvSpPr>
            <a:spLocks noGrp="1"/>
          </p:cNvSpPr>
          <p:nvPr>
            <p:ph type="sldNum" sz="quarter" idx="12"/>
          </p:nvPr>
        </p:nvSpPr>
        <p:spPr/>
        <p:txBody>
          <a:bodyPr/>
          <a:lstStyle/>
          <a:p>
            <a:fld id="{9CF5882A-489D-47FB-AE42-7D761C6CCCEE}" type="slidenum">
              <a:rPr lang="aa-ET" smtClean="0"/>
              <a:t>‹#›</a:t>
            </a:fld>
            <a:endParaRPr lang="aa-ET"/>
          </a:p>
        </p:txBody>
      </p:sp>
    </p:spTree>
    <p:extLst>
      <p:ext uri="{BB962C8B-B14F-4D97-AF65-F5344CB8AC3E}">
        <p14:creationId xmlns:p14="http://schemas.microsoft.com/office/powerpoint/2010/main" val="1611811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9ABEE-1C46-F445-0379-1BDDFADF9068}"/>
              </a:ext>
            </a:extLst>
          </p:cNvPr>
          <p:cNvSpPr>
            <a:spLocks noGrp="1"/>
          </p:cNvSpPr>
          <p:nvPr>
            <p:ph type="title"/>
          </p:nvPr>
        </p:nvSpPr>
        <p:spPr>
          <a:xfrm>
            <a:off x="839788" y="365125"/>
            <a:ext cx="10515600" cy="1325563"/>
          </a:xfrm>
        </p:spPr>
        <p:txBody>
          <a:bodyPr/>
          <a:lstStyle/>
          <a:p>
            <a:r>
              <a:rPr lang="en-US"/>
              <a:t>Click to edit Master title style</a:t>
            </a:r>
            <a:endParaRPr lang="aa-ET"/>
          </a:p>
        </p:txBody>
      </p:sp>
      <p:sp>
        <p:nvSpPr>
          <p:cNvPr id="3" name="Text Placeholder 2">
            <a:extLst>
              <a:ext uri="{FF2B5EF4-FFF2-40B4-BE49-F238E27FC236}">
                <a16:creationId xmlns:a16="http://schemas.microsoft.com/office/drawing/2014/main" id="{99BACB53-BE36-BCB8-0476-9D2313A0B1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7109D5-586D-0EE8-0E9C-FF09048373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a-ET"/>
          </a:p>
        </p:txBody>
      </p:sp>
      <p:sp>
        <p:nvSpPr>
          <p:cNvPr id="5" name="Text Placeholder 4">
            <a:extLst>
              <a:ext uri="{FF2B5EF4-FFF2-40B4-BE49-F238E27FC236}">
                <a16:creationId xmlns:a16="http://schemas.microsoft.com/office/drawing/2014/main" id="{4A018AAA-38E5-6F61-DA4E-291D32F38E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0FCF55-C072-019E-9BF3-18413BAB7A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a-ET"/>
          </a:p>
        </p:txBody>
      </p:sp>
      <p:sp>
        <p:nvSpPr>
          <p:cNvPr id="7" name="Date Placeholder 6">
            <a:extLst>
              <a:ext uri="{FF2B5EF4-FFF2-40B4-BE49-F238E27FC236}">
                <a16:creationId xmlns:a16="http://schemas.microsoft.com/office/drawing/2014/main" id="{F012BD87-530E-8F9E-E2DF-0E3DF0808447}"/>
              </a:ext>
            </a:extLst>
          </p:cNvPr>
          <p:cNvSpPr>
            <a:spLocks noGrp="1"/>
          </p:cNvSpPr>
          <p:nvPr>
            <p:ph type="dt" sz="half" idx="10"/>
          </p:nvPr>
        </p:nvSpPr>
        <p:spPr/>
        <p:txBody>
          <a:bodyPr/>
          <a:lstStyle/>
          <a:p>
            <a:fld id="{8BC68AF3-A1BF-484E-97C5-1F7A91928FB4}" type="datetime8">
              <a:rPr lang="aa-ET" smtClean="0"/>
              <a:t>05/14/2026 14:45</a:t>
            </a:fld>
            <a:endParaRPr lang="aa-ET"/>
          </a:p>
        </p:txBody>
      </p:sp>
      <p:sp>
        <p:nvSpPr>
          <p:cNvPr id="8" name="Footer Placeholder 7">
            <a:extLst>
              <a:ext uri="{FF2B5EF4-FFF2-40B4-BE49-F238E27FC236}">
                <a16:creationId xmlns:a16="http://schemas.microsoft.com/office/drawing/2014/main" id="{3B355AA6-A872-3E48-E155-B0B8CE2C5CCC}"/>
              </a:ext>
            </a:extLst>
          </p:cNvPr>
          <p:cNvSpPr>
            <a:spLocks noGrp="1"/>
          </p:cNvSpPr>
          <p:nvPr>
            <p:ph type="ftr" sz="quarter" idx="11"/>
          </p:nvPr>
        </p:nvSpPr>
        <p:spPr/>
        <p:txBody>
          <a:bodyPr/>
          <a:lstStyle/>
          <a:p>
            <a:endParaRPr lang="aa-ET"/>
          </a:p>
        </p:txBody>
      </p:sp>
      <p:sp>
        <p:nvSpPr>
          <p:cNvPr id="9" name="Slide Number Placeholder 8">
            <a:extLst>
              <a:ext uri="{FF2B5EF4-FFF2-40B4-BE49-F238E27FC236}">
                <a16:creationId xmlns:a16="http://schemas.microsoft.com/office/drawing/2014/main" id="{7A60F39D-9D7C-44C6-55A3-E0A42F3748DF}"/>
              </a:ext>
            </a:extLst>
          </p:cNvPr>
          <p:cNvSpPr>
            <a:spLocks noGrp="1"/>
          </p:cNvSpPr>
          <p:nvPr>
            <p:ph type="sldNum" sz="quarter" idx="12"/>
          </p:nvPr>
        </p:nvSpPr>
        <p:spPr/>
        <p:txBody>
          <a:bodyPr/>
          <a:lstStyle/>
          <a:p>
            <a:fld id="{9CF5882A-489D-47FB-AE42-7D761C6CCCEE}" type="slidenum">
              <a:rPr lang="aa-ET" smtClean="0"/>
              <a:t>‹#›</a:t>
            </a:fld>
            <a:endParaRPr lang="aa-ET"/>
          </a:p>
        </p:txBody>
      </p:sp>
    </p:spTree>
    <p:extLst>
      <p:ext uri="{BB962C8B-B14F-4D97-AF65-F5344CB8AC3E}">
        <p14:creationId xmlns:p14="http://schemas.microsoft.com/office/powerpoint/2010/main" val="2968278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789E9-1BA8-E489-162F-9FB3A9D8E0B8}"/>
              </a:ext>
            </a:extLst>
          </p:cNvPr>
          <p:cNvSpPr>
            <a:spLocks noGrp="1"/>
          </p:cNvSpPr>
          <p:nvPr>
            <p:ph type="title"/>
          </p:nvPr>
        </p:nvSpPr>
        <p:spPr/>
        <p:txBody>
          <a:bodyPr/>
          <a:lstStyle/>
          <a:p>
            <a:r>
              <a:rPr lang="en-US"/>
              <a:t>Click to edit Master title style</a:t>
            </a:r>
            <a:endParaRPr lang="aa-ET"/>
          </a:p>
        </p:txBody>
      </p:sp>
      <p:sp>
        <p:nvSpPr>
          <p:cNvPr id="3" name="Date Placeholder 2">
            <a:extLst>
              <a:ext uri="{FF2B5EF4-FFF2-40B4-BE49-F238E27FC236}">
                <a16:creationId xmlns:a16="http://schemas.microsoft.com/office/drawing/2014/main" id="{BFC3F3A4-5EB5-B6C2-8BB5-F52FE20D1330}"/>
              </a:ext>
            </a:extLst>
          </p:cNvPr>
          <p:cNvSpPr>
            <a:spLocks noGrp="1"/>
          </p:cNvSpPr>
          <p:nvPr>
            <p:ph type="dt" sz="half" idx="10"/>
          </p:nvPr>
        </p:nvSpPr>
        <p:spPr/>
        <p:txBody>
          <a:bodyPr/>
          <a:lstStyle/>
          <a:p>
            <a:fld id="{760EBAE5-E758-4C6A-AD31-CB5E71A6A03E}" type="datetime8">
              <a:rPr lang="aa-ET" smtClean="0"/>
              <a:t>05/14/2026 14:45</a:t>
            </a:fld>
            <a:endParaRPr lang="aa-ET"/>
          </a:p>
        </p:txBody>
      </p:sp>
      <p:sp>
        <p:nvSpPr>
          <p:cNvPr id="4" name="Footer Placeholder 3">
            <a:extLst>
              <a:ext uri="{FF2B5EF4-FFF2-40B4-BE49-F238E27FC236}">
                <a16:creationId xmlns:a16="http://schemas.microsoft.com/office/drawing/2014/main" id="{67845DEF-52D9-9EA2-7975-04EC64FFCF67}"/>
              </a:ext>
            </a:extLst>
          </p:cNvPr>
          <p:cNvSpPr>
            <a:spLocks noGrp="1"/>
          </p:cNvSpPr>
          <p:nvPr>
            <p:ph type="ftr" sz="quarter" idx="11"/>
          </p:nvPr>
        </p:nvSpPr>
        <p:spPr/>
        <p:txBody>
          <a:bodyPr/>
          <a:lstStyle/>
          <a:p>
            <a:endParaRPr lang="aa-ET"/>
          </a:p>
        </p:txBody>
      </p:sp>
      <p:sp>
        <p:nvSpPr>
          <p:cNvPr id="5" name="Slide Number Placeholder 4">
            <a:extLst>
              <a:ext uri="{FF2B5EF4-FFF2-40B4-BE49-F238E27FC236}">
                <a16:creationId xmlns:a16="http://schemas.microsoft.com/office/drawing/2014/main" id="{CF3B41BA-0422-DCE8-C40A-CB2F47256752}"/>
              </a:ext>
            </a:extLst>
          </p:cNvPr>
          <p:cNvSpPr>
            <a:spLocks noGrp="1"/>
          </p:cNvSpPr>
          <p:nvPr>
            <p:ph type="sldNum" sz="quarter" idx="12"/>
          </p:nvPr>
        </p:nvSpPr>
        <p:spPr/>
        <p:txBody>
          <a:bodyPr/>
          <a:lstStyle/>
          <a:p>
            <a:fld id="{9CF5882A-489D-47FB-AE42-7D761C6CCCEE}" type="slidenum">
              <a:rPr lang="aa-ET" smtClean="0"/>
              <a:t>‹#›</a:t>
            </a:fld>
            <a:endParaRPr lang="aa-ET"/>
          </a:p>
        </p:txBody>
      </p:sp>
    </p:spTree>
    <p:extLst>
      <p:ext uri="{BB962C8B-B14F-4D97-AF65-F5344CB8AC3E}">
        <p14:creationId xmlns:p14="http://schemas.microsoft.com/office/powerpoint/2010/main" val="3848642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CB4D25-619E-2079-FE04-8267FE2F96F6}"/>
              </a:ext>
            </a:extLst>
          </p:cNvPr>
          <p:cNvSpPr>
            <a:spLocks noGrp="1"/>
          </p:cNvSpPr>
          <p:nvPr>
            <p:ph type="dt" sz="half" idx="10"/>
          </p:nvPr>
        </p:nvSpPr>
        <p:spPr/>
        <p:txBody>
          <a:bodyPr/>
          <a:lstStyle/>
          <a:p>
            <a:fld id="{78F54F64-EA1F-4B25-BC74-BFF0FE311D2C}" type="datetime8">
              <a:rPr lang="aa-ET" smtClean="0"/>
              <a:t>05/14/2026 14:45</a:t>
            </a:fld>
            <a:endParaRPr lang="aa-ET"/>
          </a:p>
        </p:txBody>
      </p:sp>
      <p:sp>
        <p:nvSpPr>
          <p:cNvPr id="3" name="Footer Placeholder 2">
            <a:extLst>
              <a:ext uri="{FF2B5EF4-FFF2-40B4-BE49-F238E27FC236}">
                <a16:creationId xmlns:a16="http://schemas.microsoft.com/office/drawing/2014/main" id="{9585D7ED-7CD3-64A6-C543-4FF752A70D8C}"/>
              </a:ext>
            </a:extLst>
          </p:cNvPr>
          <p:cNvSpPr>
            <a:spLocks noGrp="1"/>
          </p:cNvSpPr>
          <p:nvPr>
            <p:ph type="ftr" sz="quarter" idx="11"/>
          </p:nvPr>
        </p:nvSpPr>
        <p:spPr/>
        <p:txBody>
          <a:bodyPr/>
          <a:lstStyle/>
          <a:p>
            <a:endParaRPr lang="aa-ET"/>
          </a:p>
        </p:txBody>
      </p:sp>
      <p:sp>
        <p:nvSpPr>
          <p:cNvPr id="4" name="Slide Number Placeholder 3">
            <a:extLst>
              <a:ext uri="{FF2B5EF4-FFF2-40B4-BE49-F238E27FC236}">
                <a16:creationId xmlns:a16="http://schemas.microsoft.com/office/drawing/2014/main" id="{23A22825-639F-1EE5-5613-D6F38EAF91EA}"/>
              </a:ext>
            </a:extLst>
          </p:cNvPr>
          <p:cNvSpPr>
            <a:spLocks noGrp="1"/>
          </p:cNvSpPr>
          <p:nvPr>
            <p:ph type="sldNum" sz="quarter" idx="12"/>
          </p:nvPr>
        </p:nvSpPr>
        <p:spPr/>
        <p:txBody>
          <a:bodyPr/>
          <a:lstStyle/>
          <a:p>
            <a:fld id="{9CF5882A-489D-47FB-AE42-7D761C6CCCEE}" type="slidenum">
              <a:rPr lang="aa-ET" smtClean="0"/>
              <a:t>‹#›</a:t>
            </a:fld>
            <a:endParaRPr lang="aa-ET"/>
          </a:p>
        </p:txBody>
      </p:sp>
    </p:spTree>
    <p:extLst>
      <p:ext uri="{BB962C8B-B14F-4D97-AF65-F5344CB8AC3E}">
        <p14:creationId xmlns:p14="http://schemas.microsoft.com/office/powerpoint/2010/main" val="717274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43CF9-7E95-4E47-D29F-366D9B09F6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a-ET"/>
          </a:p>
        </p:txBody>
      </p:sp>
      <p:sp>
        <p:nvSpPr>
          <p:cNvPr id="3" name="Content Placeholder 2">
            <a:extLst>
              <a:ext uri="{FF2B5EF4-FFF2-40B4-BE49-F238E27FC236}">
                <a16:creationId xmlns:a16="http://schemas.microsoft.com/office/drawing/2014/main" id="{815EEC84-875A-6963-05D8-4234AB22B9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a-ET"/>
          </a:p>
        </p:txBody>
      </p:sp>
      <p:sp>
        <p:nvSpPr>
          <p:cNvPr id="4" name="Text Placeholder 3">
            <a:extLst>
              <a:ext uri="{FF2B5EF4-FFF2-40B4-BE49-F238E27FC236}">
                <a16:creationId xmlns:a16="http://schemas.microsoft.com/office/drawing/2014/main" id="{039392CE-0E68-CBC4-C717-400FABF12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514E68-A531-6E23-36C3-381C7CC8453E}"/>
              </a:ext>
            </a:extLst>
          </p:cNvPr>
          <p:cNvSpPr>
            <a:spLocks noGrp="1"/>
          </p:cNvSpPr>
          <p:nvPr>
            <p:ph type="dt" sz="half" idx="10"/>
          </p:nvPr>
        </p:nvSpPr>
        <p:spPr/>
        <p:txBody>
          <a:bodyPr/>
          <a:lstStyle/>
          <a:p>
            <a:fld id="{9E1EF98D-677A-47AF-9BCE-1A6A03E5F0E2}" type="datetime8">
              <a:rPr lang="aa-ET" smtClean="0"/>
              <a:t>05/14/2026 14:45</a:t>
            </a:fld>
            <a:endParaRPr lang="aa-ET"/>
          </a:p>
        </p:txBody>
      </p:sp>
      <p:sp>
        <p:nvSpPr>
          <p:cNvPr id="6" name="Footer Placeholder 5">
            <a:extLst>
              <a:ext uri="{FF2B5EF4-FFF2-40B4-BE49-F238E27FC236}">
                <a16:creationId xmlns:a16="http://schemas.microsoft.com/office/drawing/2014/main" id="{6BBB27C0-C27E-0075-2637-C17B4DD0A021}"/>
              </a:ext>
            </a:extLst>
          </p:cNvPr>
          <p:cNvSpPr>
            <a:spLocks noGrp="1"/>
          </p:cNvSpPr>
          <p:nvPr>
            <p:ph type="ftr" sz="quarter" idx="11"/>
          </p:nvPr>
        </p:nvSpPr>
        <p:spPr/>
        <p:txBody>
          <a:bodyPr/>
          <a:lstStyle/>
          <a:p>
            <a:endParaRPr lang="aa-ET"/>
          </a:p>
        </p:txBody>
      </p:sp>
      <p:sp>
        <p:nvSpPr>
          <p:cNvPr id="7" name="Slide Number Placeholder 6">
            <a:extLst>
              <a:ext uri="{FF2B5EF4-FFF2-40B4-BE49-F238E27FC236}">
                <a16:creationId xmlns:a16="http://schemas.microsoft.com/office/drawing/2014/main" id="{1EFA7BDD-39D1-BC4B-FB60-084897652A7E}"/>
              </a:ext>
            </a:extLst>
          </p:cNvPr>
          <p:cNvSpPr>
            <a:spLocks noGrp="1"/>
          </p:cNvSpPr>
          <p:nvPr>
            <p:ph type="sldNum" sz="quarter" idx="12"/>
          </p:nvPr>
        </p:nvSpPr>
        <p:spPr/>
        <p:txBody>
          <a:bodyPr/>
          <a:lstStyle/>
          <a:p>
            <a:fld id="{9CF5882A-489D-47FB-AE42-7D761C6CCCEE}" type="slidenum">
              <a:rPr lang="aa-ET" smtClean="0"/>
              <a:t>‹#›</a:t>
            </a:fld>
            <a:endParaRPr lang="aa-ET"/>
          </a:p>
        </p:txBody>
      </p:sp>
    </p:spTree>
    <p:extLst>
      <p:ext uri="{BB962C8B-B14F-4D97-AF65-F5344CB8AC3E}">
        <p14:creationId xmlns:p14="http://schemas.microsoft.com/office/powerpoint/2010/main" val="3984074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92EDA-9BEC-95CC-2391-210BAE59F6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a-ET"/>
          </a:p>
        </p:txBody>
      </p:sp>
      <p:sp>
        <p:nvSpPr>
          <p:cNvPr id="3" name="Picture Placeholder 2">
            <a:extLst>
              <a:ext uri="{FF2B5EF4-FFF2-40B4-BE49-F238E27FC236}">
                <a16:creationId xmlns:a16="http://schemas.microsoft.com/office/drawing/2014/main" id="{3C2EBCB9-91C9-F156-4271-D1382667C9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a-ET"/>
          </a:p>
        </p:txBody>
      </p:sp>
      <p:sp>
        <p:nvSpPr>
          <p:cNvPr id="4" name="Text Placeholder 3">
            <a:extLst>
              <a:ext uri="{FF2B5EF4-FFF2-40B4-BE49-F238E27FC236}">
                <a16:creationId xmlns:a16="http://schemas.microsoft.com/office/drawing/2014/main" id="{6B36A62F-52A6-3BB3-549C-9035B5D995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03B29E-0C47-D54C-6923-B4DF18C58B1F}"/>
              </a:ext>
            </a:extLst>
          </p:cNvPr>
          <p:cNvSpPr>
            <a:spLocks noGrp="1"/>
          </p:cNvSpPr>
          <p:nvPr>
            <p:ph type="dt" sz="half" idx="10"/>
          </p:nvPr>
        </p:nvSpPr>
        <p:spPr/>
        <p:txBody>
          <a:bodyPr/>
          <a:lstStyle/>
          <a:p>
            <a:fld id="{06F284A7-8C2F-4C1F-93F1-4B98CBD0869E}" type="datetime8">
              <a:rPr lang="aa-ET" smtClean="0"/>
              <a:t>05/14/2026 14:45</a:t>
            </a:fld>
            <a:endParaRPr lang="aa-ET"/>
          </a:p>
        </p:txBody>
      </p:sp>
      <p:sp>
        <p:nvSpPr>
          <p:cNvPr id="6" name="Footer Placeholder 5">
            <a:extLst>
              <a:ext uri="{FF2B5EF4-FFF2-40B4-BE49-F238E27FC236}">
                <a16:creationId xmlns:a16="http://schemas.microsoft.com/office/drawing/2014/main" id="{83019D16-34EA-1439-9B79-50B7FF801DFD}"/>
              </a:ext>
            </a:extLst>
          </p:cNvPr>
          <p:cNvSpPr>
            <a:spLocks noGrp="1"/>
          </p:cNvSpPr>
          <p:nvPr>
            <p:ph type="ftr" sz="quarter" idx="11"/>
          </p:nvPr>
        </p:nvSpPr>
        <p:spPr/>
        <p:txBody>
          <a:bodyPr/>
          <a:lstStyle/>
          <a:p>
            <a:endParaRPr lang="aa-ET"/>
          </a:p>
        </p:txBody>
      </p:sp>
      <p:sp>
        <p:nvSpPr>
          <p:cNvPr id="7" name="Slide Number Placeholder 6">
            <a:extLst>
              <a:ext uri="{FF2B5EF4-FFF2-40B4-BE49-F238E27FC236}">
                <a16:creationId xmlns:a16="http://schemas.microsoft.com/office/drawing/2014/main" id="{61750290-BB1C-13C6-6BAA-4D7AACD901CA}"/>
              </a:ext>
            </a:extLst>
          </p:cNvPr>
          <p:cNvSpPr>
            <a:spLocks noGrp="1"/>
          </p:cNvSpPr>
          <p:nvPr>
            <p:ph type="sldNum" sz="quarter" idx="12"/>
          </p:nvPr>
        </p:nvSpPr>
        <p:spPr/>
        <p:txBody>
          <a:bodyPr/>
          <a:lstStyle/>
          <a:p>
            <a:fld id="{9CF5882A-489D-47FB-AE42-7D761C6CCCEE}" type="slidenum">
              <a:rPr lang="aa-ET" smtClean="0"/>
              <a:t>‹#›</a:t>
            </a:fld>
            <a:endParaRPr lang="aa-ET"/>
          </a:p>
        </p:txBody>
      </p:sp>
    </p:spTree>
    <p:extLst>
      <p:ext uri="{BB962C8B-B14F-4D97-AF65-F5344CB8AC3E}">
        <p14:creationId xmlns:p14="http://schemas.microsoft.com/office/powerpoint/2010/main" val="244863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D097E-B82E-FB0D-4080-E2B8E0AFB44E}"/>
              </a:ext>
            </a:extLst>
          </p:cNvPr>
          <p:cNvSpPr>
            <a:spLocks noGrp="1"/>
          </p:cNvSpPr>
          <p:nvPr>
            <p:ph type="title"/>
          </p:nvPr>
        </p:nvSpPr>
        <p:spPr/>
        <p:txBody>
          <a:bodyPr/>
          <a:lstStyle/>
          <a:p>
            <a:r>
              <a:rPr lang="en-US"/>
              <a:t>Click to edit Master title style</a:t>
            </a:r>
            <a:endParaRPr lang="aa-ET"/>
          </a:p>
        </p:txBody>
      </p:sp>
      <p:sp>
        <p:nvSpPr>
          <p:cNvPr id="3" name="Vertical Text Placeholder 2">
            <a:extLst>
              <a:ext uri="{FF2B5EF4-FFF2-40B4-BE49-F238E27FC236}">
                <a16:creationId xmlns:a16="http://schemas.microsoft.com/office/drawing/2014/main" id="{67D02E57-34A7-31DA-3FA0-11DB03F33F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a-ET"/>
          </a:p>
        </p:txBody>
      </p:sp>
      <p:sp>
        <p:nvSpPr>
          <p:cNvPr id="4" name="Date Placeholder 3">
            <a:extLst>
              <a:ext uri="{FF2B5EF4-FFF2-40B4-BE49-F238E27FC236}">
                <a16:creationId xmlns:a16="http://schemas.microsoft.com/office/drawing/2014/main" id="{58B2B65F-7F71-AB0D-E88E-95F510F370BC}"/>
              </a:ext>
            </a:extLst>
          </p:cNvPr>
          <p:cNvSpPr>
            <a:spLocks noGrp="1"/>
          </p:cNvSpPr>
          <p:nvPr>
            <p:ph type="dt" sz="half" idx="10"/>
          </p:nvPr>
        </p:nvSpPr>
        <p:spPr/>
        <p:txBody>
          <a:bodyPr/>
          <a:lstStyle/>
          <a:p>
            <a:fld id="{B65B28D9-6344-4BB3-BD0E-115576D9C912}" type="datetime8">
              <a:rPr lang="aa-ET" smtClean="0"/>
              <a:t>05/14/2026 14:45</a:t>
            </a:fld>
            <a:endParaRPr lang="aa-ET"/>
          </a:p>
        </p:txBody>
      </p:sp>
      <p:sp>
        <p:nvSpPr>
          <p:cNvPr id="5" name="Footer Placeholder 4">
            <a:extLst>
              <a:ext uri="{FF2B5EF4-FFF2-40B4-BE49-F238E27FC236}">
                <a16:creationId xmlns:a16="http://schemas.microsoft.com/office/drawing/2014/main" id="{96E7F244-E297-BF27-6FB6-766E588486DF}"/>
              </a:ext>
            </a:extLst>
          </p:cNvPr>
          <p:cNvSpPr>
            <a:spLocks noGrp="1"/>
          </p:cNvSpPr>
          <p:nvPr>
            <p:ph type="ftr" sz="quarter" idx="11"/>
          </p:nvPr>
        </p:nvSpPr>
        <p:spPr/>
        <p:txBody>
          <a:bodyPr/>
          <a:lstStyle/>
          <a:p>
            <a:endParaRPr lang="aa-ET"/>
          </a:p>
        </p:txBody>
      </p:sp>
      <p:sp>
        <p:nvSpPr>
          <p:cNvPr id="6" name="Slide Number Placeholder 5">
            <a:extLst>
              <a:ext uri="{FF2B5EF4-FFF2-40B4-BE49-F238E27FC236}">
                <a16:creationId xmlns:a16="http://schemas.microsoft.com/office/drawing/2014/main" id="{ADE08EE5-5F2E-29F2-BC90-700F0C102058}"/>
              </a:ext>
            </a:extLst>
          </p:cNvPr>
          <p:cNvSpPr>
            <a:spLocks noGrp="1"/>
          </p:cNvSpPr>
          <p:nvPr>
            <p:ph type="sldNum" sz="quarter" idx="12"/>
          </p:nvPr>
        </p:nvSpPr>
        <p:spPr/>
        <p:txBody>
          <a:bodyPr/>
          <a:lstStyle/>
          <a:p>
            <a:fld id="{9CF5882A-489D-47FB-AE42-7D761C6CCCEE}" type="slidenum">
              <a:rPr lang="aa-ET" smtClean="0"/>
              <a:t>‹#›</a:t>
            </a:fld>
            <a:endParaRPr lang="aa-ET"/>
          </a:p>
        </p:txBody>
      </p:sp>
    </p:spTree>
    <p:extLst>
      <p:ext uri="{BB962C8B-B14F-4D97-AF65-F5344CB8AC3E}">
        <p14:creationId xmlns:p14="http://schemas.microsoft.com/office/powerpoint/2010/main" val="776549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194A22-B3ED-C9CE-EB4C-946F3DB9D9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a-ET"/>
          </a:p>
        </p:txBody>
      </p:sp>
      <p:sp>
        <p:nvSpPr>
          <p:cNvPr id="3" name="Vertical Text Placeholder 2">
            <a:extLst>
              <a:ext uri="{FF2B5EF4-FFF2-40B4-BE49-F238E27FC236}">
                <a16:creationId xmlns:a16="http://schemas.microsoft.com/office/drawing/2014/main" id="{A076BE01-A65C-9575-7961-86492B6329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a-ET"/>
          </a:p>
        </p:txBody>
      </p:sp>
      <p:sp>
        <p:nvSpPr>
          <p:cNvPr id="4" name="Date Placeholder 3">
            <a:extLst>
              <a:ext uri="{FF2B5EF4-FFF2-40B4-BE49-F238E27FC236}">
                <a16:creationId xmlns:a16="http://schemas.microsoft.com/office/drawing/2014/main" id="{A29601B6-3155-2A25-162B-F15CD352D795}"/>
              </a:ext>
            </a:extLst>
          </p:cNvPr>
          <p:cNvSpPr>
            <a:spLocks noGrp="1"/>
          </p:cNvSpPr>
          <p:nvPr>
            <p:ph type="dt" sz="half" idx="10"/>
          </p:nvPr>
        </p:nvSpPr>
        <p:spPr/>
        <p:txBody>
          <a:bodyPr/>
          <a:lstStyle/>
          <a:p>
            <a:fld id="{8F891D6C-409E-42B4-8714-2238A3A2BC00}" type="datetime8">
              <a:rPr lang="aa-ET" smtClean="0"/>
              <a:t>05/14/2026 14:45</a:t>
            </a:fld>
            <a:endParaRPr lang="aa-ET"/>
          </a:p>
        </p:txBody>
      </p:sp>
      <p:sp>
        <p:nvSpPr>
          <p:cNvPr id="5" name="Footer Placeholder 4">
            <a:extLst>
              <a:ext uri="{FF2B5EF4-FFF2-40B4-BE49-F238E27FC236}">
                <a16:creationId xmlns:a16="http://schemas.microsoft.com/office/drawing/2014/main" id="{6496FB75-F3B5-8EE2-13E3-5EBF46C9AE38}"/>
              </a:ext>
            </a:extLst>
          </p:cNvPr>
          <p:cNvSpPr>
            <a:spLocks noGrp="1"/>
          </p:cNvSpPr>
          <p:nvPr>
            <p:ph type="ftr" sz="quarter" idx="11"/>
          </p:nvPr>
        </p:nvSpPr>
        <p:spPr/>
        <p:txBody>
          <a:bodyPr/>
          <a:lstStyle/>
          <a:p>
            <a:endParaRPr lang="aa-ET"/>
          </a:p>
        </p:txBody>
      </p:sp>
      <p:sp>
        <p:nvSpPr>
          <p:cNvPr id="6" name="Slide Number Placeholder 5">
            <a:extLst>
              <a:ext uri="{FF2B5EF4-FFF2-40B4-BE49-F238E27FC236}">
                <a16:creationId xmlns:a16="http://schemas.microsoft.com/office/drawing/2014/main" id="{71679134-15EC-9C87-A4D7-E5A5C9F05276}"/>
              </a:ext>
            </a:extLst>
          </p:cNvPr>
          <p:cNvSpPr>
            <a:spLocks noGrp="1"/>
          </p:cNvSpPr>
          <p:nvPr>
            <p:ph type="sldNum" sz="quarter" idx="12"/>
          </p:nvPr>
        </p:nvSpPr>
        <p:spPr/>
        <p:txBody>
          <a:bodyPr/>
          <a:lstStyle/>
          <a:p>
            <a:fld id="{9CF5882A-489D-47FB-AE42-7D761C6CCCEE}" type="slidenum">
              <a:rPr lang="aa-ET" smtClean="0"/>
              <a:t>‹#›</a:t>
            </a:fld>
            <a:endParaRPr lang="aa-ET"/>
          </a:p>
        </p:txBody>
      </p:sp>
    </p:spTree>
    <p:extLst>
      <p:ext uri="{BB962C8B-B14F-4D97-AF65-F5344CB8AC3E}">
        <p14:creationId xmlns:p14="http://schemas.microsoft.com/office/powerpoint/2010/main" val="4265963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CC4E3A-C07D-7AD3-6A7F-E831596C9D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a-ET"/>
          </a:p>
        </p:txBody>
      </p:sp>
      <p:sp>
        <p:nvSpPr>
          <p:cNvPr id="3" name="Text Placeholder 2">
            <a:extLst>
              <a:ext uri="{FF2B5EF4-FFF2-40B4-BE49-F238E27FC236}">
                <a16:creationId xmlns:a16="http://schemas.microsoft.com/office/drawing/2014/main" id="{CC3890A8-ACC6-D632-8710-C89D25B291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a-ET"/>
          </a:p>
        </p:txBody>
      </p:sp>
      <p:sp>
        <p:nvSpPr>
          <p:cNvPr id="4" name="Date Placeholder 3">
            <a:extLst>
              <a:ext uri="{FF2B5EF4-FFF2-40B4-BE49-F238E27FC236}">
                <a16:creationId xmlns:a16="http://schemas.microsoft.com/office/drawing/2014/main" id="{BF276BF1-8996-9646-BC27-2C396FDB79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37CD32-90E1-4258-9226-BF8F92DC349A}" type="datetime8">
              <a:rPr lang="aa-ET" smtClean="0"/>
              <a:t>05/14/2026 14:45</a:t>
            </a:fld>
            <a:endParaRPr lang="aa-ET"/>
          </a:p>
        </p:txBody>
      </p:sp>
      <p:sp>
        <p:nvSpPr>
          <p:cNvPr id="5" name="Footer Placeholder 4">
            <a:extLst>
              <a:ext uri="{FF2B5EF4-FFF2-40B4-BE49-F238E27FC236}">
                <a16:creationId xmlns:a16="http://schemas.microsoft.com/office/drawing/2014/main" id="{A09ED2A7-B702-CDB0-8495-4C444454FA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a-ET"/>
          </a:p>
        </p:txBody>
      </p:sp>
      <p:sp>
        <p:nvSpPr>
          <p:cNvPr id="6" name="Slide Number Placeholder 5">
            <a:extLst>
              <a:ext uri="{FF2B5EF4-FFF2-40B4-BE49-F238E27FC236}">
                <a16:creationId xmlns:a16="http://schemas.microsoft.com/office/drawing/2014/main" id="{0A0CEB11-C0CA-35A9-5494-D39553498A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F5882A-489D-47FB-AE42-7D761C6CCCEE}" type="slidenum">
              <a:rPr lang="aa-ET" smtClean="0"/>
              <a:t>‹#›</a:t>
            </a:fld>
            <a:endParaRPr lang="aa-ET"/>
          </a:p>
        </p:txBody>
      </p:sp>
    </p:spTree>
    <p:extLst>
      <p:ext uri="{BB962C8B-B14F-4D97-AF65-F5344CB8AC3E}">
        <p14:creationId xmlns:p14="http://schemas.microsoft.com/office/powerpoint/2010/main" val="2691000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a-E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pixabay.com/en/social-media-connection-network-3136897/" TargetMode="Externa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060FB-4C79-281E-F466-07D18DA9F527}"/>
              </a:ext>
            </a:extLst>
          </p:cNvPr>
          <p:cNvSpPr>
            <a:spLocks noGrp="1"/>
          </p:cNvSpPr>
          <p:nvPr>
            <p:ph type="ctrTitle"/>
          </p:nvPr>
        </p:nvSpPr>
        <p:spPr>
          <a:xfrm>
            <a:off x="2387600" y="1856581"/>
            <a:ext cx="7416800" cy="3144837"/>
          </a:xfrm>
        </p:spPr>
        <p:txBody>
          <a:bodyPr>
            <a:normAutofit fontScale="90000"/>
          </a:bodyPr>
          <a:lstStyle/>
          <a:p>
            <a:r>
              <a:rPr lang="en-US" sz="6700" b="1" dirty="0">
                <a:solidFill>
                  <a:schemeClr val="tx1">
                    <a:lumMod val="95000"/>
                    <a:lumOff val="5000"/>
                  </a:schemeClr>
                </a:solidFill>
                <a:effectLst>
                  <a:outerShdw blurRad="38100" dist="38100" dir="2700000" algn="tl">
                    <a:srgbClr val="000000">
                      <a:alpha val="43137"/>
                    </a:srgbClr>
                  </a:outerShdw>
                </a:effectLst>
                <a:latin typeface="+mj-lt"/>
                <a:cs typeface="Times New Roman" panose="02020603050405020304" pitchFamily="18" charset="0"/>
              </a:rPr>
              <a:t>Importance of </a:t>
            </a:r>
            <a:br>
              <a:rPr lang="en-US" sz="6700" b="1" dirty="0">
                <a:solidFill>
                  <a:schemeClr val="tx1">
                    <a:lumMod val="95000"/>
                    <a:lumOff val="5000"/>
                  </a:schemeClr>
                </a:solidFill>
                <a:effectLst>
                  <a:outerShdw blurRad="38100" dist="38100" dir="2700000" algn="tl">
                    <a:srgbClr val="000000">
                      <a:alpha val="43137"/>
                    </a:srgbClr>
                  </a:outerShdw>
                </a:effectLst>
                <a:latin typeface="+mj-lt"/>
                <a:cs typeface="Times New Roman" panose="02020603050405020304" pitchFamily="18" charset="0"/>
              </a:rPr>
            </a:br>
            <a:r>
              <a:rPr lang="en-US" sz="6700" b="1" dirty="0">
                <a:solidFill>
                  <a:schemeClr val="tx1">
                    <a:lumMod val="95000"/>
                    <a:lumOff val="5000"/>
                  </a:schemeClr>
                </a:solidFill>
                <a:effectLst>
                  <a:outerShdw blurRad="38100" dist="38100" dir="2700000" algn="tl">
                    <a:srgbClr val="000000">
                      <a:alpha val="43137"/>
                    </a:srgbClr>
                  </a:outerShdw>
                </a:effectLst>
                <a:latin typeface="+mj-lt"/>
                <a:cs typeface="Times New Roman" panose="02020603050405020304" pitchFamily="18" charset="0"/>
              </a:rPr>
              <a:t>Cybersecurity in </a:t>
            </a:r>
            <a:r>
              <a:rPr lang="en-US" sz="6700" b="1" dirty="0">
                <a:solidFill>
                  <a:srgbClr val="08203E"/>
                </a:solidFill>
                <a:effectLst>
                  <a:outerShdw blurRad="38100" dist="38100" dir="2700000" algn="tl">
                    <a:srgbClr val="000000">
                      <a:alpha val="43137"/>
                    </a:srgbClr>
                  </a:outerShdw>
                </a:effectLst>
                <a:latin typeface="+mj-lt"/>
                <a:cs typeface="Times New Roman" panose="02020603050405020304" pitchFamily="18" charset="0"/>
              </a:rPr>
              <a:t>Telecommunication</a:t>
            </a:r>
            <a:br>
              <a:rPr lang="en-US" sz="7200" dirty="0">
                <a:solidFill>
                  <a:srgbClr val="08203E"/>
                </a:solidFill>
                <a:latin typeface="+mj-lt"/>
                <a:cs typeface="Times New Roman" panose="02020603050405020304" pitchFamily="18" charset="0"/>
              </a:rPr>
            </a:br>
            <a:endParaRPr lang="aa-ET" sz="3100" dirty="0">
              <a:solidFill>
                <a:srgbClr val="08203E"/>
              </a:solidFill>
              <a:effectLst>
                <a:outerShdw blurRad="38100" dist="38100" dir="2700000" algn="tl">
                  <a:srgbClr val="000000">
                    <a:alpha val="43137"/>
                  </a:srgbClr>
                </a:outerShdw>
              </a:effectLst>
              <a:latin typeface="+mj-lt"/>
              <a:cs typeface="Times New Roman" panose="02020603050405020304" pitchFamily="18" charset="0"/>
            </a:endParaRPr>
          </a:p>
        </p:txBody>
      </p:sp>
      <p:sp>
        <p:nvSpPr>
          <p:cNvPr id="3" name="TextBox 2"/>
          <p:cNvSpPr txBox="1"/>
          <p:nvPr/>
        </p:nvSpPr>
        <p:spPr>
          <a:xfrm>
            <a:off x="3957484" y="5470341"/>
            <a:ext cx="4277032" cy="1200329"/>
          </a:xfrm>
          <a:prstGeom prst="rect">
            <a:avLst/>
          </a:prstGeom>
          <a:noFill/>
        </p:spPr>
        <p:txBody>
          <a:bodyPr wrap="square" rtlCol="0">
            <a:spAutoFit/>
          </a:bodyPr>
          <a:lstStyle/>
          <a:p>
            <a:pPr algn="ctr"/>
            <a:r>
              <a:rPr lang="en-US" sz="2400" b="1" dirty="0">
                <a:solidFill>
                  <a:prstClr val="black"/>
                </a:solidFill>
                <a:effectLst>
                  <a:outerShdw blurRad="38100" dist="38100" dir="2700000" algn="tl">
                    <a:srgbClr val="000000">
                      <a:alpha val="43137"/>
                    </a:srgbClr>
                  </a:outerShdw>
                </a:effectLst>
                <a:ea typeface="+mj-ea"/>
                <a:cs typeface="Times New Roman" panose="02020603050405020304" pitchFamily="18" charset="0"/>
              </a:rPr>
              <a:t>Group Members:</a:t>
            </a:r>
            <a:br>
              <a:rPr lang="en-US" sz="2400" dirty="0">
                <a:solidFill>
                  <a:prstClr val="black"/>
                </a:solidFill>
                <a:effectLst>
                  <a:outerShdw blurRad="38100" dist="38100" dir="2700000" algn="tl">
                    <a:srgbClr val="000000">
                      <a:alpha val="43137"/>
                    </a:srgbClr>
                  </a:outerShdw>
                </a:effectLst>
                <a:ea typeface="+mj-ea"/>
                <a:cs typeface="Times New Roman" panose="02020603050405020304" pitchFamily="18" charset="0"/>
              </a:rPr>
            </a:br>
            <a:r>
              <a:rPr lang="en-US" sz="2400" dirty="0">
                <a:solidFill>
                  <a:prstClr val="black"/>
                </a:solidFill>
                <a:effectLst>
                  <a:outerShdw blurRad="38100" dist="38100" dir="2700000" algn="tl">
                    <a:srgbClr val="000000">
                      <a:alpha val="43137"/>
                    </a:srgbClr>
                  </a:outerShdw>
                </a:effectLst>
                <a:ea typeface="+mj-ea"/>
                <a:cs typeface="Times New Roman" panose="02020603050405020304" pitchFamily="18" charset="0"/>
              </a:rPr>
              <a:t>Hussain Ali Qureshi</a:t>
            </a:r>
            <a:br>
              <a:rPr lang="en-US" sz="2400" dirty="0">
                <a:solidFill>
                  <a:prstClr val="black"/>
                </a:solidFill>
                <a:effectLst>
                  <a:outerShdw blurRad="38100" dist="38100" dir="2700000" algn="tl">
                    <a:srgbClr val="000000">
                      <a:alpha val="43137"/>
                    </a:srgbClr>
                  </a:outerShdw>
                </a:effectLst>
                <a:ea typeface="+mj-ea"/>
                <a:cs typeface="Times New Roman" panose="02020603050405020304" pitchFamily="18" charset="0"/>
              </a:rPr>
            </a:br>
            <a:r>
              <a:rPr lang="en-US" sz="2400" dirty="0">
                <a:solidFill>
                  <a:prstClr val="black"/>
                </a:solidFill>
                <a:effectLst>
                  <a:outerShdw blurRad="38100" dist="38100" dir="2700000" algn="tl">
                    <a:srgbClr val="000000">
                      <a:alpha val="43137"/>
                    </a:srgbClr>
                  </a:outerShdw>
                </a:effectLst>
                <a:ea typeface="+mj-ea"/>
                <a:cs typeface="Times New Roman" panose="02020603050405020304" pitchFamily="18" charset="0"/>
              </a:rPr>
              <a:t>Syed Jazib Ali Rizvi</a:t>
            </a:r>
            <a:endParaRPr lang="en-GB" sz="2400" dirty="0">
              <a:effectLst>
                <a:outerShdw blurRad="38100" dist="38100" dir="2700000" algn="tl">
                  <a:srgbClr val="000000">
                    <a:alpha val="43137"/>
                  </a:srgbClr>
                </a:outerShdw>
              </a:effectLst>
            </a:endParaRPr>
          </a:p>
        </p:txBody>
      </p:sp>
      <p:sp>
        <p:nvSpPr>
          <p:cNvPr id="4" name="TextBox 3"/>
          <p:cNvSpPr txBox="1"/>
          <p:nvPr/>
        </p:nvSpPr>
        <p:spPr>
          <a:xfrm>
            <a:off x="0" y="1112532"/>
            <a:ext cx="1052052" cy="523220"/>
          </a:xfrm>
          <a:prstGeom prst="rect">
            <a:avLst/>
          </a:prstGeom>
          <a:noFill/>
        </p:spPr>
        <p:txBody>
          <a:bodyPr wrap="square" rtlCol="0">
            <a:spAutoFit/>
          </a:bodyPr>
          <a:lstStyle/>
          <a:p>
            <a:r>
              <a:rPr lang="en-GB" sz="2800" dirty="0">
                <a:effectLst>
                  <a:outerShdw blurRad="38100" dist="38100" dir="2700000" algn="tl">
                    <a:srgbClr val="000000">
                      <a:alpha val="43137"/>
                    </a:srgbClr>
                  </a:outerShdw>
                </a:effectLst>
              </a:rPr>
              <a:t>Title:</a:t>
            </a:r>
          </a:p>
        </p:txBody>
      </p:sp>
    </p:spTree>
    <p:extLst>
      <p:ext uri="{BB962C8B-B14F-4D97-AF65-F5344CB8AC3E}">
        <p14:creationId xmlns:p14="http://schemas.microsoft.com/office/powerpoint/2010/main" val="2352886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DE258-DD04-64D3-3587-5A6EEACE57FB}"/>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Outlines:</a:t>
            </a:r>
            <a:endParaRPr lang="aa-ET"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CA3C333B-EC0F-3FCB-10CA-9CE13DFF872B}"/>
              </a:ext>
            </a:extLst>
          </p:cNvPr>
          <p:cNvSpPr>
            <a:spLocks noGrp="1"/>
          </p:cNvSpPr>
          <p:nvPr>
            <p:ph idx="1"/>
          </p:nvPr>
        </p:nvSpPr>
        <p:spPr>
          <a:xfrm>
            <a:off x="563479" y="1831891"/>
            <a:ext cx="11065042" cy="4660984"/>
          </a:xfrm>
        </p:spPr>
        <p:txBody>
          <a:bodyPr>
            <a:normAutofit/>
          </a:bodyPr>
          <a:lstStyle/>
          <a:p>
            <a:pPr>
              <a:lnSpc>
                <a:spcPct val="150000"/>
              </a:lnSpc>
              <a:buFont typeface="Wingdings" panose="05000000000000000000" pitchFamily="2" charset="2"/>
              <a:buChar char="§"/>
            </a:pPr>
            <a:r>
              <a:rPr lang="en-US" dirty="0"/>
              <a:t> Introduction</a:t>
            </a:r>
          </a:p>
          <a:p>
            <a:pPr>
              <a:lnSpc>
                <a:spcPct val="150000"/>
              </a:lnSpc>
              <a:buFont typeface="Wingdings" panose="05000000000000000000" pitchFamily="2" charset="2"/>
              <a:buChar char="§"/>
            </a:pPr>
            <a:r>
              <a:rPr lang="en-US" dirty="0"/>
              <a:t> Cyberattacks in the Telecom Sector</a:t>
            </a:r>
          </a:p>
          <a:p>
            <a:pPr>
              <a:lnSpc>
                <a:spcPct val="150000"/>
              </a:lnSpc>
              <a:buFont typeface="Wingdings" panose="05000000000000000000" pitchFamily="2" charset="2"/>
              <a:buChar char="§"/>
            </a:pPr>
            <a:r>
              <a:rPr lang="en-US" dirty="0"/>
              <a:t> Impact of Cyberattacks</a:t>
            </a:r>
          </a:p>
          <a:p>
            <a:pPr>
              <a:lnSpc>
                <a:spcPct val="150000"/>
              </a:lnSpc>
              <a:buFont typeface="Wingdings" panose="05000000000000000000" pitchFamily="2" charset="2"/>
              <a:buChar char="§"/>
            </a:pPr>
            <a:r>
              <a:rPr lang="en-US" dirty="0"/>
              <a:t> Role of Cybersecurity in the Telecom Sector</a:t>
            </a:r>
          </a:p>
          <a:p>
            <a:pPr>
              <a:lnSpc>
                <a:spcPct val="150000"/>
              </a:lnSpc>
              <a:buFont typeface="Wingdings" panose="05000000000000000000" pitchFamily="2" charset="2"/>
              <a:buChar char="§"/>
            </a:pPr>
            <a:r>
              <a:rPr lang="en-US" dirty="0"/>
              <a:t> Pakistan and International Perspectives</a:t>
            </a:r>
          </a:p>
          <a:p>
            <a:pPr>
              <a:lnSpc>
                <a:spcPct val="150000"/>
              </a:lnSpc>
              <a:buFont typeface="Wingdings" panose="05000000000000000000" pitchFamily="2" charset="2"/>
              <a:buChar char="§"/>
            </a:pPr>
            <a:r>
              <a:rPr lang="en-US" dirty="0"/>
              <a:t> Promoting Cybersecurity</a:t>
            </a:r>
          </a:p>
          <a:p>
            <a:pPr>
              <a:lnSpc>
                <a:spcPct val="150000"/>
              </a:lnSpc>
              <a:buFont typeface="Wingdings" panose="05000000000000000000" pitchFamily="2" charset="2"/>
              <a:buChar char="§"/>
            </a:pPr>
            <a:r>
              <a:rPr lang="en-US" dirty="0"/>
              <a:t> Conclusion</a:t>
            </a:r>
          </a:p>
        </p:txBody>
      </p:sp>
      <p:sp>
        <p:nvSpPr>
          <p:cNvPr id="5" name="Slide Number Placeholder 4">
            <a:extLst>
              <a:ext uri="{FF2B5EF4-FFF2-40B4-BE49-F238E27FC236}">
                <a16:creationId xmlns:a16="http://schemas.microsoft.com/office/drawing/2014/main" id="{D28DE09D-13BE-AA86-C0C6-311F501F2D8F}"/>
              </a:ext>
            </a:extLst>
          </p:cNvPr>
          <p:cNvSpPr>
            <a:spLocks noGrp="1"/>
          </p:cNvSpPr>
          <p:nvPr>
            <p:ph type="sldNum" sz="quarter" idx="12"/>
          </p:nvPr>
        </p:nvSpPr>
        <p:spPr/>
        <p:txBody>
          <a:bodyPr/>
          <a:lstStyle/>
          <a:p>
            <a:fld id="{9CF5882A-489D-47FB-AE42-7D761C6CCCEE}" type="slidenum">
              <a:rPr lang="aa-ET" smtClean="0"/>
              <a:t>2</a:t>
            </a:fld>
            <a:endParaRPr lang="aa-ET" dirty="0"/>
          </a:p>
        </p:txBody>
      </p:sp>
    </p:spTree>
    <p:extLst>
      <p:ext uri="{BB962C8B-B14F-4D97-AF65-F5344CB8AC3E}">
        <p14:creationId xmlns:p14="http://schemas.microsoft.com/office/powerpoint/2010/main" val="218588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25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2" dur="25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2" presetClass="entr" presetSubtype="8" fill="hold"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25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7" dur="25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25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2" dur="25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23" fill="hold">
                            <p:stCondLst>
                              <p:cond delay="1250"/>
                            </p:stCondLst>
                            <p:childTnLst>
                              <p:par>
                                <p:cTn id="24" presetID="2" presetClass="entr" presetSubtype="8" fill="hold" nodeType="after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additive="base">
                                        <p:cTn id="26" dur="25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7" dur="25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par>
                          <p:cTn id="28" fill="hold">
                            <p:stCondLst>
                              <p:cond delay="1500"/>
                            </p:stCondLst>
                            <p:childTnLst>
                              <p:par>
                                <p:cTn id="29" presetID="2" presetClass="entr" presetSubtype="8" fill="hold"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25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25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par>
                          <p:cTn id="33" fill="hold">
                            <p:stCondLst>
                              <p:cond delay="1750"/>
                            </p:stCondLst>
                            <p:childTnLst>
                              <p:par>
                                <p:cTn id="34" presetID="2" presetClass="entr" presetSubtype="8" fill="hold" nodeType="after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 calcmode="lin" valueType="num">
                                      <p:cBhvr additive="base">
                                        <p:cTn id="36" dur="25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7" dur="25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par>
                          <p:cTn id="38" fill="hold">
                            <p:stCondLst>
                              <p:cond delay="2000"/>
                            </p:stCondLst>
                            <p:childTnLst>
                              <p:par>
                                <p:cTn id="39" presetID="2" presetClass="entr" presetSubtype="8" fill="hold" nodeType="after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25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42" dur="25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3358-125A-E28A-84B7-2FB2D69B819A}"/>
              </a:ext>
            </a:extLst>
          </p:cNvPr>
          <p:cNvSpPr>
            <a:spLocks noGrp="1"/>
          </p:cNvSpPr>
          <p:nvPr>
            <p:ph type="ctrTitle"/>
          </p:nvPr>
        </p:nvSpPr>
        <p:spPr/>
        <p:txBody>
          <a:bodyPr/>
          <a:lstStyle/>
          <a:p>
            <a:r>
              <a:rPr lang="en-US" dirty="0"/>
              <a:t>Introduction</a:t>
            </a:r>
            <a:endParaRPr lang="aa-ET" dirty="0"/>
          </a:p>
        </p:txBody>
      </p:sp>
      <p:sp>
        <p:nvSpPr>
          <p:cNvPr id="3" name="Slide Number Placeholder 2">
            <a:extLst>
              <a:ext uri="{FF2B5EF4-FFF2-40B4-BE49-F238E27FC236}">
                <a16:creationId xmlns:a16="http://schemas.microsoft.com/office/drawing/2014/main" id="{28565F5A-9984-9DCF-4D87-337BF85666ED}"/>
              </a:ext>
            </a:extLst>
          </p:cNvPr>
          <p:cNvSpPr>
            <a:spLocks noGrp="1"/>
          </p:cNvSpPr>
          <p:nvPr>
            <p:ph type="sldNum" sz="quarter" idx="12"/>
          </p:nvPr>
        </p:nvSpPr>
        <p:spPr/>
        <p:txBody>
          <a:bodyPr/>
          <a:lstStyle/>
          <a:p>
            <a:fld id="{9CF5882A-489D-47FB-AE42-7D761C6CCCEE}" type="slidenum">
              <a:rPr lang="aa-ET" smtClean="0"/>
              <a:t>3</a:t>
            </a:fld>
            <a:endParaRPr lang="aa-ET" dirty="0"/>
          </a:p>
        </p:txBody>
      </p:sp>
    </p:spTree>
    <p:extLst>
      <p:ext uri="{BB962C8B-B14F-4D97-AF65-F5344CB8AC3E}">
        <p14:creationId xmlns:p14="http://schemas.microsoft.com/office/powerpoint/2010/main" val="3004086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DE258-DD04-64D3-3587-5A6EEACE57FB}"/>
              </a:ext>
            </a:extLst>
          </p:cNvPr>
          <p:cNvSpPr>
            <a:spLocks noGrp="1"/>
          </p:cNvSpPr>
          <p:nvPr>
            <p:ph type="title"/>
          </p:nvPr>
        </p:nvSpPr>
        <p:spPr/>
        <p:txBody>
          <a:bodyPr/>
          <a:lstStyle/>
          <a:p>
            <a:r>
              <a:rPr lang="en-US" dirty="0"/>
              <a:t>Telecommunication</a:t>
            </a:r>
            <a:endParaRPr lang="aa-ET" dirty="0"/>
          </a:p>
        </p:txBody>
      </p:sp>
      <p:sp>
        <p:nvSpPr>
          <p:cNvPr id="3" name="Content Placeholder 2">
            <a:extLst>
              <a:ext uri="{FF2B5EF4-FFF2-40B4-BE49-F238E27FC236}">
                <a16:creationId xmlns:a16="http://schemas.microsoft.com/office/drawing/2014/main" id="{CA3C333B-EC0F-3FCB-10CA-9CE13DFF872B}"/>
              </a:ext>
            </a:extLst>
          </p:cNvPr>
          <p:cNvSpPr>
            <a:spLocks noGrp="1"/>
          </p:cNvSpPr>
          <p:nvPr>
            <p:ph idx="1"/>
          </p:nvPr>
        </p:nvSpPr>
        <p:spPr/>
        <p:txBody>
          <a:bodyPr/>
          <a:lstStyle/>
          <a:p>
            <a:pPr marL="0" indent="0">
              <a:lnSpc>
                <a:spcPct val="150000"/>
              </a:lnSpc>
              <a:buNone/>
            </a:pPr>
            <a:r>
              <a:rPr lang="en-US" dirty="0"/>
              <a:t>Telecommunication is the transmission of information over significant distances by electronic means. It refers to all types of voice, data, and video transmission.</a:t>
            </a:r>
          </a:p>
        </p:txBody>
      </p:sp>
      <p:sp>
        <p:nvSpPr>
          <p:cNvPr id="5" name="Slide Number Placeholder 4">
            <a:extLst>
              <a:ext uri="{FF2B5EF4-FFF2-40B4-BE49-F238E27FC236}">
                <a16:creationId xmlns:a16="http://schemas.microsoft.com/office/drawing/2014/main" id="{D28DE09D-13BE-AA86-C0C6-311F501F2D8F}"/>
              </a:ext>
            </a:extLst>
          </p:cNvPr>
          <p:cNvSpPr>
            <a:spLocks noGrp="1"/>
          </p:cNvSpPr>
          <p:nvPr>
            <p:ph type="sldNum" sz="quarter" idx="12"/>
          </p:nvPr>
        </p:nvSpPr>
        <p:spPr/>
        <p:txBody>
          <a:bodyPr/>
          <a:lstStyle/>
          <a:p>
            <a:fld id="{9CF5882A-489D-47FB-AE42-7D761C6CCCEE}" type="slidenum">
              <a:rPr lang="aa-ET" smtClean="0"/>
              <a:t>4</a:t>
            </a:fld>
            <a:endParaRPr lang="aa-ET" dirty="0"/>
          </a:p>
        </p:txBody>
      </p:sp>
      <p:grpSp>
        <p:nvGrpSpPr>
          <p:cNvPr id="7" name="Group 6">
            <a:extLst>
              <a:ext uri="{FF2B5EF4-FFF2-40B4-BE49-F238E27FC236}">
                <a16:creationId xmlns:a16="http://schemas.microsoft.com/office/drawing/2014/main" id="{B5502F7B-E8C6-F595-F4C9-F3885B23D68F}"/>
              </a:ext>
            </a:extLst>
          </p:cNvPr>
          <p:cNvGrpSpPr/>
          <p:nvPr/>
        </p:nvGrpSpPr>
        <p:grpSpPr>
          <a:xfrm>
            <a:off x="3036000" y="3265297"/>
            <a:ext cx="6120000" cy="2880000"/>
            <a:chOff x="2666159" y="3777497"/>
            <a:chExt cx="6120000" cy="2880000"/>
          </a:xfrm>
        </p:grpSpPr>
        <p:sp>
          <p:nvSpPr>
            <p:cNvPr id="4" name="Rectangle 3">
              <a:extLst>
                <a:ext uri="{FF2B5EF4-FFF2-40B4-BE49-F238E27FC236}">
                  <a16:creationId xmlns:a16="http://schemas.microsoft.com/office/drawing/2014/main" id="{7AA310CB-81A5-A33B-4427-3EE5592B07B4}"/>
                </a:ext>
              </a:extLst>
            </p:cNvPr>
            <p:cNvSpPr/>
            <p:nvPr/>
          </p:nvSpPr>
          <p:spPr>
            <a:xfrm>
              <a:off x="2666159" y="3777497"/>
              <a:ext cx="6120000" cy="2880000"/>
            </a:xfrm>
            <a:prstGeom prst="rect">
              <a:avLst/>
            </a:prstGeom>
            <a:blipFill dpi="0" rotWithShape="1">
              <a:blip r:embed="rId3">
                <a:extLst>
                  <a:ext uri="{BEBA8EAE-BF5A-486C-A8C5-ECC9F3942E4B}">
                    <a14:imgProps xmlns:a14="http://schemas.microsoft.com/office/drawing/2010/main">
                      <a14:imgLayer r:embed="rId4">
                        <a14:imgEffect>
                          <a14:sharpenSoften amount="25000"/>
                        </a14:imgEffect>
                      </a14:imgLayer>
                    </a14:imgProps>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6" name="Rectangle 5">
              <a:extLst>
                <a:ext uri="{FF2B5EF4-FFF2-40B4-BE49-F238E27FC236}">
                  <a16:creationId xmlns:a16="http://schemas.microsoft.com/office/drawing/2014/main" id="{FE45120D-3185-F307-5724-E22CD68D32F2}"/>
                </a:ext>
              </a:extLst>
            </p:cNvPr>
            <p:cNvSpPr/>
            <p:nvPr/>
          </p:nvSpPr>
          <p:spPr>
            <a:xfrm>
              <a:off x="2666159" y="3777497"/>
              <a:ext cx="6120000" cy="2880000"/>
            </a:xfrm>
            <a:prstGeom prst="rect">
              <a:avLst/>
            </a:prstGeom>
            <a:solidFill>
              <a:schemeClr val="accent1">
                <a:lumMod val="40000"/>
                <a:lumOff val="6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grpSp>
    </p:spTree>
    <p:extLst>
      <p:ext uri="{BB962C8B-B14F-4D97-AF65-F5344CB8AC3E}">
        <p14:creationId xmlns:p14="http://schemas.microsoft.com/office/powerpoint/2010/main" val="248005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500" fill="hold"/>
                                        <p:tgtEl>
                                          <p:spTgt spid="7"/>
                                        </p:tgtEl>
                                        <p:attrNameLst>
                                          <p:attrName>ppt_x</p:attrName>
                                        </p:attrNameLst>
                                      </p:cBhvr>
                                      <p:tavLst>
                                        <p:tav tm="0">
                                          <p:val>
                                            <p:strVal val="#ppt_x"/>
                                          </p:val>
                                        </p:tav>
                                        <p:tav tm="100000">
                                          <p:val>
                                            <p:strVal val="#ppt_x"/>
                                          </p:val>
                                        </p:tav>
                                      </p:tavLst>
                                    </p:anim>
                                    <p:anim calcmode="lin" valueType="num">
                                      <p:cBhvr additive="base">
                                        <p:cTn id="1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A0749-A8F5-1C56-29FC-1BF40F35C26B}"/>
              </a:ext>
            </a:extLst>
          </p:cNvPr>
          <p:cNvSpPr>
            <a:spLocks noGrp="1"/>
          </p:cNvSpPr>
          <p:nvPr>
            <p:ph type="title"/>
          </p:nvPr>
        </p:nvSpPr>
        <p:spPr/>
        <p:txBody>
          <a:bodyPr/>
          <a:lstStyle/>
          <a:p>
            <a:r>
              <a:rPr lang="en-US" dirty="0"/>
              <a:t>Means of Telecommunication</a:t>
            </a:r>
            <a:endParaRPr lang="aa-ET" dirty="0"/>
          </a:p>
        </p:txBody>
      </p:sp>
      <p:sp>
        <p:nvSpPr>
          <p:cNvPr id="3" name="Content Placeholder 2">
            <a:extLst>
              <a:ext uri="{FF2B5EF4-FFF2-40B4-BE49-F238E27FC236}">
                <a16:creationId xmlns:a16="http://schemas.microsoft.com/office/drawing/2014/main" id="{44A4C08F-D583-8B07-324D-49145B4A0A6A}"/>
              </a:ext>
            </a:extLst>
          </p:cNvPr>
          <p:cNvSpPr>
            <a:spLocks noGrp="1"/>
          </p:cNvSpPr>
          <p:nvPr>
            <p:ph idx="1"/>
          </p:nvPr>
        </p:nvSpPr>
        <p:spPr/>
        <p:txBody>
          <a:bodyPr>
            <a:normAutofit/>
          </a:bodyPr>
          <a:lstStyle/>
          <a:p>
            <a:pPr>
              <a:lnSpc>
                <a:spcPct val="200000"/>
              </a:lnSpc>
              <a:buSzPct val="125000"/>
            </a:pPr>
            <a:r>
              <a:rPr lang="en-US" dirty="0"/>
              <a:t>Telephone</a:t>
            </a:r>
          </a:p>
          <a:p>
            <a:pPr>
              <a:lnSpc>
                <a:spcPct val="200000"/>
              </a:lnSpc>
              <a:buSzPct val="125000"/>
            </a:pPr>
            <a:r>
              <a:rPr lang="en-US" dirty="0"/>
              <a:t>Mobile phone</a:t>
            </a:r>
          </a:p>
          <a:p>
            <a:pPr>
              <a:lnSpc>
                <a:spcPct val="200000"/>
              </a:lnSpc>
              <a:buSzPct val="125000"/>
            </a:pPr>
            <a:r>
              <a:rPr lang="en-US" dirty="0"/>
              <a:t>Internet</a:t>
            </a:r>
          </a:p>
          <a:p>
            <a:pPr>
              <a:lnSpc>
                <a:spcPct val="200000"/>
              </a:lnSpc>
              <a:buSzPct val="125000"/>
            </a:pPr>
            <a:r>
              <a:rPr lang="en-US" dirty="0"/>
              <a:t>Social Media</a:t>
            </a:r>
          </a:p>
          <a:p>
            <a:pPr>
              <a:lnSpc>
                <a:spcPct val="200000"/>
              </a:lnSpc>
              <a:buSzPct val="125000"/>
            </a:pPr>
            <a:r>
              <a:rPr lang="en-US" dirty="0"/>
              <a:t>Instant Messaging</a:t>
            </a:r>
          </a:p>
          <a:p>
            <a:pPr marL="0" indent="0">
              <a:lnSpc>
                <a:spcPct val="200000"/>
              </a:lnSpc>
              <a:buSzPct val="150000"/>
              <a:buNone/>
            </a:pPr>
            <a:endParaRPr lang="en-US" dirty="0"/>
          </a:p>
        </p:txBody>
      </p:sp>
      <p:sp>
        <p:nvSpPr>
          <p:cNvPr id="4" name="Slide Number Placeholder 3">
            <a:extLst>
              <a:ext uri="{FF2B5EF4-FFF2-40B4-BE49-F238E27FC236}">
                <a16:creationId xmlns:a16="http://schemas.microsoft.com/office/drawing/2014/main" id="{C43345C4-65F3-0470-47CF-2E78849EFB8C}"/>
              </a:ext>
            </a:extLst>
          </p:cNvPr>
          <p:cNvSpPr>
            <a:spLocks noGrp="1"/>
          </p:cNvSpPr>
          <p:nvPr>
            <p:ph type="sldNum" sz="quarter" idx="12"/>
          </p:nvPr>
        </p:nvSpPr>
        <p:spPr/>
        <p:txBody>
          <a:bodyPr/>
          <a:lstStyle/>
          <a:p>
            <a:fld id="{9CF5882A-489D-47FB-AE42-7D761C6CCCEE}" type="slidenum">
              <a:rPr lang="aa-ET" smtClean="0"/>
              <a:pPr/>
              <a:t>5</a:t>
            </a:fld>
            <a:endParaRPr lang="aa-ET" dirty="0"/>
          </a:p>
        </p:txBody>
      </p:sp>
      <p:pic>
        <p:nvPicPr>
          <p:cNvPr id="17" name="Picture 16">
            <a:extLst>
              <a:ext uri="{FF2B5EF4-FFF2-40B4-BE49-F238E27FC236}">
                <a16:creationId xmlns:a16="http://schemas.microsoft.com/office/drawing/2014/main" id="{03E4653D-20C7-C128-46AD-0897BB11989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25" b="99219" l="0" r="100000">
                        <a14:foregroundMark x1="55104" y1="45938" x2="55104" y2="45938"/>
                        <a14:foregroundMark x1="58750" y1="8594" x2="58750" y2="8594"/>
                        <a14:foregroundMark x1="76667" y1="13125" x2="76667" y2="13125"/>
                        <a14:foregroundMark x1="91250" y1="60781" x2="91250" y2="60781"/>
                        <a14:foregroundMark x1="87708" y1="87031" x2="87708" y2="87031"/>
                        <a14:foregroundMark x1="56146" y1="87344" x2="56146" y2="87344"/>
                        <a14:foregroundMark x1="48229" y1="68750" x2="48229" y2="68750"/>
                        <a14:foregroundMark x1="9479" y1="42188" x2="9479" y2="42188"/>
                        <a14:foregroundMark x1="43854" y1="25000" x2="43854" y2="25000"/>
                        <a14:foregroundMark x1="18750" y1="63438" x2="18750" y2="63438"/>
                        <a14:foregroundMark x1="27187" y1="34688" x2="27187" y2="34688"/>
                        <a14:foregroundMark x1="19479" y1="11875" x2="19479" y2="11875"/>
                        <a14:foregroundMark x1="69792" y1="90313" x2="69792" y2="90313"/>
                        <a14:foregroundMark x1="80521" y1="37031" x2="80521" y2="37031"/>
                        <a14:foregroundMark x1="33333" y1="41094" x2="33333" y2="41094"/>
                        <a14:foregroundMark x1="35938" y1="37656" x2="35938" y2="37656"/>
                        <a14:foregroundMark x1="28750" y1="48125" x2="28750" y2="48125"/>
                        <a14:foregroundMark x1="14375" y1="51875" x2="14375" y2="51875"/>
                        <a14:foregroundMark x1="32083" y1="17969" x2="32083" y2="17969"/>
                        <a14:foregroundMark x1="50521" y1="15313" x2="50521" y2="15313"/>
                        <a14:foregroundMark x1="49271" y1="17969" x2="49271" y2="17969"/>
                        <a14:foregroundMark x1="65938" y1="48125" x2="65938" y2="48125"/>
                        <a14:foregroundMark x1="60521" y1="55625" x2="60521" y2="55625"/>
                        <a14:foregroundMark x1="56979" y1="58281" x2="56979" y2="58281"/>
                        <a14:foregroundMark x1="63125" y1="51094" x2="63125" y2="51094"/>
                        <a14:foregroundMark x1="68958" y1="45469" x2="68958" y2="45469"/>
                        <a14:foregroundMark x1="71771" y1="42188" x2="71771" y2="42188"/>
                        <a14:foregroundMark x1="81771" y1="50781" x2="81771" y2="50781"/>
                        <a14:foregroundMark x1="54375" y1="60156" x2="54375" y2="60156"/>
                        <a14:foregroundMark x1="96458" y1="77969" x2="96458" y2="77969"/>
                        <a14:foregroundMark x1="98229" y1="75000" x2="98229" y2="75000"/>
                        <a14:foregroundMark x1="94167" y1="79063" x2="94167" y2="79063"/>
                        <a14:foregroundMark x1="49271" y1="34688" x2="49271" y2="34688"/>
                        <a14:foregroundMark x1="47708" y1="31719" x2="47708" y2="31719"/>
                        <a14:backgroundMark x1="61563" y1="28438" x2="61563" y2="28438"/>
                        <a14:backgroundMark x1="39479" y1="50469" x2="39479" y2="50469"/>
                        <a14:backgroundMark x1="73125" y1="64219" x2="73125" y2="64219"/>
                        <a14:backgroundMark x1="37708" y1="6406" x2="37708" y2="6406"/>
                        <a14:backgroundMark x1="5104" y1="15000" x2="5104" y2="15000"/>
                        <a14:backgroundMark x1="28229" y1="88438" x2="28229" y2="88438"/>
                        <a14:backgroundMark x1="89792" y1="16875" x2="89792" y2="16875"/>
                      </a14:backgroundRemoval>
                    </a14:imgEffect>
                    <a14:imgEffect>
                      <a14:colorTemperature colorTemp="47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192214" y="1587385"/>
            <a:ext cx="6634828" cy="4557912"/>
          </a:xfrm>
          <a:prstGeom prst="rect">
            <a:avLst/>
          </a:prstGeom>
        </p:spPr>
      </p:pic>
    </p:spTree>
    <p:extLst>
      <p:ext uri="{BB962C8B-B14F-4D97-AF65-F5344CB8AC3E}">
        <p14:creationId xmlns:p14="http://schemas.microsoft.com/office/powerpoint/2010/main" val="267501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2" presetClass="entr" presetSubtype="2"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fill="hold"/>
                                        <p:tgtEl>
                                          <p:spTgt spid="17"/>
                                        </p:tgtEl>
                                        <p:attrNameLst>
                                          <p:attrName>ppt_x</p:attrName>
                                        </p:attrNameLst>
                                      </p:cBhvr>
                                      <p:tavLst>
                                        <p:tav tm="0">
                                          <p:val>
                                            <p:strVal val="1+#ppt_w/2"/>
                                          </p:val>
                                        </p:tav>
                                        <p:tav tm="100000">
                                          <p:val>
                                            <p:strVal val="#ppt_x"/>
                                          </p:val>
                                        </p:tav>
                                      </p:tavLst>
                                    </p:anim>
                                    <p:anim calcmode="lin" valueType="num">
                                      <p:cBhvr additive="base">
                                        <p:cTn id="23"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5E3CB-9EA0-706C-08C7-2815410661FB}"/>
              </a:ext>
            </a:extLst>
          </p:cNvPr>
          <p:cNvSpPr>
            <a:spLocks noGrp="1"/>
          </p:cNvSpPr>
          <p:nvPr>
            <p:ph type="title"/>
          </p:nvPr>
        </p:nvSpPr>
        <p:spPr/>
        <p:txBody>
          <a:bodyPr/>
          <a:lstStyle/>
          <a:p>
            <a:r>
              <a:rPr lang="en-US" dirty="0"/>
              <a:t>Telecom Stakeholders</a:t>
            </a:r>
            <a:endParaRPr lang="aa-ET" dirty="0"/>
          </a:p>
        </p:txBody>
      </p:sp>
      <p:sp>
        <p:nvSpPr>
          <p:cNvPr id="4" name="Slide Number Placeholder 3">
            <a:extLst>
              <a:ext uri="{FF2B5EF4-FFF2-40B4-BE49-F238E27FC236}">
                <a16:creationId xmlns:a16="http://schemas.microsoft.com/office/drawing/2014/main" id="{98E09E30-EE2C-513E-D72C-D33E496A3DD8}"/>
              </a:ext>
            </a:extLst>
          </p:cNvPr>
          <p:cNvSpPr>
            <a:spLocks noGrp="1"/>
          </p:cNvSpPr>
          <p:nvPr>
            <p:ph type="sldNum" sz="quarter" idx="12"/>
          </p:nvPr>
        </p:nvSpPr>
        <p:spPr/>
        <p:txBody>
          <a:bodyPr/>
          <a:lstStyle/>
          <a:p>
            <a:fld id="{9CF5882A-489D-47FB-AE42-7D761C6CCCEE}" type="slidenum">
              <a:rPr lang="aa-ET" smtClean="0"/>
              <a:pPr/>
              <a:t>6</a:t>
            </a:fld>
            <a:endParaRPr lang="aa-ET" dirty="0"/>
          </a:p>
        </p:txBody>
      </p:sp>
      <p:graphicFrame>
        <p:nvGraphicFramePr>
          <p:cNvPr id="5" name="Diagram 4">
            <a:extLst>
              <a:ext uri="{FF2B5EF4-FFF2-40B4-BE49-F238E27FC236}">
                <a16:creationId xmlns:a16="http://schemas.microsoft.com/office/drawing/2014/main" id="{CB00FF45-42FA-B422-FBAF-F7D884747D99}"/>
              </a:ext>
            </a:extLst>
          </p:cNvPr>
          <p:cNvGraphicFramePr/>
          <p:nvPr>
            <p:extLst>
              <p:ext uri="{D42A27DB-BD31-4B8C-83A1-F6EECF244321}">
                <p14:modId xmlns:p14="http://schemas.microsoft.com/office/powerpoint/2010/main" val="3274204808"/>
              </p:ext>
            </p:extLst>
          </p:nvPr>
        </p:nvGraphicFramePr>
        <p:xfrm>
          <a:off x="364958" y="2063894"/>
          <a:ext cx="11462084" cy="4292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2882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665BF5-3409-AF72-C0C7-6E8CDE80BC9E}"/>
              </a:ext>
            </a:extLst>
          </p:cNvPr>
          <p:cNvSpPr>
            <a:spLocks noGrp="1"/>
          </p:cNvSpPr>
          <p:nvPr>
            <p:ph idx="1"/>
          </p:nvPr>
        </p:nvSpPr>
        <p:spPr/>
        <p:txBody>
          <a:bodyPr/>
          <a:lstStyle/>
          <a:p>
            <a:pPr>
              <a:lnSpc>
                <a:spcPct val="150000"/>
              </a:lnSpc>
            </a:pPr>
            <a:r>
              <a:rPr lang="en-US" dirty="0"/>
              <a:t>Telecom companies hold a vast amount of sensitive customer data.</a:t>
            </a:r>
          </a:p>
          <a:p>
            <a:pPr>
              <a:lnSpc>
                <a:spcPct val="150000"/>
              </a:lnSpc>
            </a:pPr>
            <a:r>
              <a:rPr lang="en-US" dirty="0"/>
              <a:t>Telecom networks are critical infrastructure.</a:t>
            </a:r>
          </a:p>
          <a:p>
            <a:pPr>
              <a:lnSpc>
                <a:spcPct val="150000"/>
              </a:lnSpc>
            </a:pPr>
            <a:r>
              <a:rPr lang="en-US" dirty="0"/>
              <a:t>Telecom companies are increasingly interconnected.</a:t>
            </a:r>
          </a:p>
          <a:p>
            <a:pPr>
              <a:lnSpc>
                <a:spcPct val="150000"/>
              </a:lnSpc>
            </a:pPr>
            <a:r>
              <a:rPr lang="en-US" dirty="0"/>
              <a:t>Telecom companies are often seen as having large amounts of money.</a:t>
            </a:r>
          </a:p>
          <a:p>
            <a:endParaRPr lang="en-US" dirty="0"/>
          </a:p>
          <a:p>
            <a:endParaRPr lang="aa-ET" dirty="0"/>
          </a:p>
        </p:txBody>
      </p:sp>
      <p:sp>
        <p:nvSpPr>
          <p:cNvPr id="2" name="Title 1">
            <a:extLst>
              <a:ext uri="{FF2B5EF4-FFF2-40B4-BE49-F238E27FC236}">
                <a16:creationId xmlns:a16="http://schemas.microsoft.com/office/drawing/2014/main" id="{3270B92C-3BCF-CFDC-EDEB-079307CA20A2}"/>
              </a:ext>
            </a:extLst>
          </p:cNvPr>
          <p:cNvSpPr>
            <a:spLocks noGrp="1"/>
          </p:cNvSpPr>
          <p:nvPr>
            <p:ph type="title"/>
          </p:nvPr>
        </p:nvSpPr>
        <p:spPr/>
        <p:txBody>
          <a:bodyPr/>
          <a:lstStyle/>
          <a:p>
            <a:r>
              <a:rPr lang="en-US" dirty="0"/>
              <a:t>Cybersecurity in Telecom Sector</a:t>
            </a:r>
            <a:endParaRPr lang="aa-ET" dirty="0"/>
          </a:p>
        </p:txBody>
      </p:sp>
      <p:sp>
        <p:nvSpPr>
          <p:cNvPr id="5" name="Rectangle 4">
            <a:extLst>
              <a:ext uri="{FF2B5EF4-FFF2-40B4-BE49-F238E27FC236}">
                <a16:creationId xmlns:a16="http://schemas.microsoft.com/office/drawing/2014/main" id="{F2F751CA-BF32-D5AF-5061-9F68CEFEB209}"/>
              </a:ext>
            </a:extLst>
          </p:cNvPr>
          <p:cNvSpPr/>
          <p:nvPr/>
        </p:nvSpPr>
        <p:spPr>
          <a:xfrm>
            <a:off x="1545452" y="3429000"/>
            <a:ext cx="9101096" cy="1653548"/>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6000" b="1" dirty="0">
                <a:solidFill>
                  <a:schemeClr val="tx1"/>
                </a:solidFill>
                <a:latin typeface="Calibri" panose="020F0502020204030204" pitchFamily="34" charset="0"/>
                <a:cs typeface="Calibri" panose="020F0502020204030204" pitchFamily="34" charset="0"/>
              </a:rPr>
              <a:t>Why is it </a:t>
            </a:r>
            <a:r>
              <a:rPr lang="en-US" sz="6000" b="1" dirty="0">
                <a:solidFill>
                  <a:srgbClr val="08203E"/>
                </a:solidFill>
                <a:latin typeface="Calibri" panose="020F0502020204030204" pitchFamily="34" charset="0"/>
                <a:cs typeface="Calibri" panose="020F0502020204030204" pitchFamily="34" charset="0"/>
              </a:rPr>
              <a:t>IMPORTANT</a:t>
            </a:r>
            <a:r>
              <a:rPr lang="en-US" sz="6000" b="1" dirty="0">
                <a:solidFill>
                  <a:schemeClr val="tx1"/>
                </a:solidFill>
                <a:latin typeface="Calibri" panose="020F0502020204030204" pitchFamily="34" charset="0"/>
                <a:cs typeface="Calibri" panose="020F0502020204030204" pitchFamily="34" charset="0"/>
              </a:rPr>
              <a:t>?</a:t>
            </a:r>
            <a:endParaRPr lang="aa-ET" sz="6000" b="1" dirty="0">
              <a:solidFill>
                <a:schemeClr val="tx1"/>
              </a:solidFill>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AA4AACB-4C6F-AA1A-D9F5-9F6533CA12C7}"/>
              </a:ext>
            </a:extLst>
          </p:cNvPr>
          <p:cNvSpPr>
            <a:spLocks noGrp="1"/>
          </p:cNvSpPr>
          <p:nvPr>
            <p:ph type="sldNum" sz="quarter" idx="12"/>
          </p:nvPr>
        </p:nvSpPr>
        <p:spPr/>
        <p:txBody>
          <a:bodyPr/>
          <a:lstStyle/>
          <a:p>
            <a:fld id="{9CF5882A-489D-47FB-AE42-7D761C6CCCEE}" type="slidenum">
              <a:rPr lang="aa-ET" smtClean="0"/>
              <a:pPr/>
              <a:t>7</a:t>
            </a:fld>
            <a:endParaRPr lang="aa-ET" dirty="0"/>
          </a:p>
        </p:txBody>
      </p:sp>
    </p:spTree>
    <p:extLst>
      <p:ext uri="{BB962C8B-B14F-4D97-AF65-F5344CB8AC3E}">
        <p14:creationId xmlns:p14="http://schemas.microsoft.com/office/powerpoint/2010/main" val="357831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5"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6F302-F67A-A46C-5E81-D04A437C697D}"/>
              </a:ext>
            </a:extLst>
          </p:cNvPr>
          <p:cNvSpPr>
            <a:spLocks noGrp="1"/>
          </p:cNvSpPr>
          <p:nvPr>
            <p:ph type="ctrTitle"/>
          </p:nvPr>
        </p:nvSpPr>
        <p:spPr/>
        <p:txBody>
          <a:bodyPr/>
          <a:lstStyle/>
          <a:p>
            <a:r>
              <a:rPr lang="en-US" dirty="0"/>
              <a:t>Cyberattacks in the Telecom Sector</a:t>
            </a:r>
            <a:endParaRPr lang="aa-ET" dirty="0">
              <a:solidFill>
                <a:schemeClr val="accent1">
                  <a:lumMod val="50000"/>
                </a:schemeClr>
              </a:solidFill>
            </a:endParaRPr>
          </a:p>
        </p:txBody>
      </p:sp>
      <p:sp>
        <p:nvSpPr>
          <p:cNvPr id="3" name="Slide Number Placeholder 2">
            <a:extLst>
              <a:ext uri="{FF2B5EF4-FFF2-40B4-BE49-F238E27FC236}">
                <a16:creationId xmlns:a16="http://schemas.microsoft.com/office/drawing/2014/main" id="{E0112F52-3375-2E2F-018B-9B599B8A8B5B}"/>
              </a:ext>
            </a:extLst>
          </p:cNvPr>
          <p:cNvSpPr>
            <a:spLocks noGrp="1"/>
          </p:cNvSpPr>
          <p:nvPr>
            <p:ph type="sldNum" sz="quarter" idx="12"/>
          </p:nvPr>
        </p:nvSpPr>
        <p:spPr/>
        <p:txBody>
          <a:bodyPr/>
          <a:lstStyle/>
          <a:p>
            <a:fld id="{9CF5882A-489D-47FB-AE42-7D761C6CCCEE}" type="slidenum">
              <a:rPr lang="aa-ET" smtClean="0"/>
              <a:t>8</a:t>
            </a:fld>
            <a:endParaRPr lang="aa-ET" dirty="0"/>
          </a:p>
        </p:txBody>
      </p:sp>
    </p:spTree>
    <p:extLst>
      <p:ext uri="{BB962C8B-B14F-4D97-AF65-F5344CB8AC3E}">
        <p14:creationId xmlns:p14="http://schemas.microsoft.com/office/powerpoint/2010/main" val="4223091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D1140-97BC-6B02-038F-94014B8F54AD}"/>
              </a:ext>
            </a:extLst>
          </p:cNvPr>
          <p:cNvSpPr>
            <a:spLocks noGrp="1"/>
          </p:cNvSpPr>
          <p:nvPr>
            <p:ph type="title"/>
          </p:nvPr>
        </p:nvSpPr>
        <p:spPr/>
        <p:txBody>
          <a:bodyPr/>
          <a:lstStyle/>
          <a:p>
            <a:r>
              <a:rPr lang="en-US" dirty="0"/>
              <a:t>Types of Cyberattacks</a:t>
            </a:r>
          </a:p>
        </p:txBody>
      </p:sp>
      <p:sp>
        <p:nvSpPr>
          <p:cNvPr id="3" name="Content Placeholder 2">
            <a:extLst>
              <a:ext uri="{FF2B5EF4-FFF2-40B4-BE49-F238E27FC236}">
                <a16:creationId xmlns:a16="http://schemas.microsoft.com/office/drawing/2014/main" id="{AAAA70B0-5A0E-5AE7-14CD-07C29863AEE8}"/>
              </a:ext>
            </a:extLst>
          </p:cNvPr>
          <p:cNvSpPr>
            <a:spLocks noGrp="1"/>
          </p:cNvSpPr>
          <p:nvPr>
            <p:ph idx="1"/>
          </p:nvPr>
        </p:nvSpPr>
        <p:spPr>
          <a:xfrm>
            <a:off x="563479" y="2064061"/>
            <a:ext cx="11065042" cy="3144044"/>
          </a:xfrm>
        </p:spPr>
        <p:txBody>
          <a:bodyPr numCol="2">
            <a:noAutofit/>
          </a:bodyPr>
          <a:lstStyle/>
          <a:p>
            <a:pPr>
              <a:lnSpc>
                <a:spcPct val="200000"/>
              </a:lnSpc>
            </a:pPr>
            <a:r>
              <a:rPr lang="en-US" dirty="0"/>
              <a:t>Data Theft and Breaches</a:t>
            </a:r>
          </a:p>
          <a:p>
            <a:pPr>
              <a:lnSpc>
                <a:spcPct val="200000"/>
              </a:lnSpc>
            </a:pPr>
            <a:r>
              <a:rPr lang="en-US" dirty="0"/>
              <a:t>Distributed Denial of Service (DDoS)  Attacks </a:t>
            </a:r>
          </a:p>
          <a:p>
            <a:pPr>
              <a:lnSpc>
                <a:spcPct val="200000"/>
              </a:lnSpc>
            </a:pPr>
            <a:r>
              <a:rPr lang="en-US" dirty="0"/>
              <a:t>Phishing Attacks</a:t>
            </a:r>
          </a:p>
          <a:p>
            <a:pPr marL="0" indent="0">
              <a:lnSpc>
                <a:spcPct val="200000"/>
              </a:lnSpc>
              <a:buNone/>
            </a:pPr>
            <a:endParaRPr lang="en-US" dirty="0"/>
          </a:p>
          <a:p>
            <a:pPr marL="0" indent="0">
              <a:lnSpc>
                <a:spcPct val="200000"/>
              </a:lnSpc>
              <a:buNone/>
            </a:pPr>
            <a:endParaRPr lang="en-US" dirty="0"/>
          </a:p>
          <a:p>
            <a:pPr marL="0" indent="0">
              <a:lnSpc>
                <a:spcPct val="200000"/>
              </a:lnSpc>
              <a:buNone/>
            </a:pPr>
            <a:endParaRPr lang="en-US" dirty="0"/>
          </a:p>
          <a:p>
            <a:pPr marL="0" indent="0">
              <a:lnSpc>
                <a:spcPct val="200000"/>
              </a:lnSpc>
              <a:buNone/>
            </a:pPr>
            <a:endParaRPr lang="en-US" dirty="0"/>
          </a:p>
          <a:p>
            <a:pPr>
              <a:lnSpc>
                <a:spcPct val="200000"/>
              </a:lnSpc>
            </a:pPr>
            <a:r>
              <a:rPr lang="en-US" dirty="0"/>
              <a:t>Man-in-the-middle (MitM) attacks</a:t>
            </a:r>
          </a:p>
          <a:p>
            <a:pPr>
              <a:lnSpc>
                <a:spcPct val="200000"/>
              </a:lnSpc>
            </a:pPr>
            <a:r>
              <a:rPr lang="en-US" dirty="0"/>
              <a:t>Malware attacks</a:t>
            </a:r>
          </a:p>
          <a:p>
            <a:pPr>
              <a:lnSpc>
                <a:spcPct val="200000"/>
              </a:lnSpc>
            </a:pPr>
            <a:r>
              <a:rPr lang="en-US" dirty="0"/>
              <a:t>SIM Card Cloning</a:t>
            </a:r>
          </a:p>
          <a:p>
            <a:pPr>
              <a:lnSpc>
                <a:spcPct val="200000"/>
              </a:lnSpc>
            </a:pPr>
            <a:r>
              <a:rPr lang="en-US" dirty="0"/>
              <a:t>Insider Threats</a:t>
            </a:r>
          </a:p>
          <a:p>
            <a:pPr>
              <a:lnSpc>
                <a:spcPct val="200000"/>
              </a:lnSpc>
            </a:pPr>
            <a:endParaRPr lang="en-US" dirty="0"/>
          </a:p>
          <a:p>
            <a:pPr marL="0" indent="0">
              <a:lnSpc>
                <a:spcPct val="200000"/>
              </a:lnSpc>
              <a:buNone/>
            </a:pPr>
            <a:endParaRPr lang="en-US" dirty="0">
              <a:cs typeface="Calibri" panose="020F0502020204030204" pitchFamily="34" charset="0"/>
            </a:endParaRPr>
          </a:p>
          <a:p>
            <a:pPr>
              <a:lnSpc>
                <a:spcPct val="200000"/>
              </a:lnSpc>
            </a:pPr>
            <a:endParaRPr lang="en-US" b="1" dirty="0">
              <a:cs typeface="Calibri" panose="020F0502020204030204" pitchFamily="34" charset="0"/>
            </a:endParaRPr>
          </a:p>
          <a:p>
            <a:pPr marL="0" indent="0">
              <a:lnSpc>
                <a:spcPct val="200000"/>
              </a:lnSpc>
              <a:buNone/>
            </a:pPr>
            <a:endParaRPr lang="aa-ET" dirty="0"/>
          </a:p>
        </p:txBody>
      </p:sp>
      <p:sp>
        <p:nvSpPr>
          <p:cNvPr id="4" name="Slide Number Placeholder 3">
            <a:extLst>
              <a:ext uri="{FF2B5EF4-FFF2-40B4-BE49-F238E27FC236}">
                <a16:creationId xmlns:a16="http://schemas.microsoft.com/office/drawing/2014/main" id="{69AD9946-C194-4E3D-16D9-3C500287305D}"/>
              </a:ext>
            </a:extLst>
          </p:cNvPr>
          <p:cNvSpPr>
            <a:spLocks noGrp="1"/>
          </p:cNvSpPr>
          <p:nvPr>
            <p:ph type="sldNum" sz="quarter" idx="12"/>
          </p:nvPr>
        </p:nvSpPr>
        <p:spPr/>
        <p:txBody>
          <a:bodyPr/>
          <a:lstStyle/>
          <a:p>
            <a:fld id="{9CF5882A-489D-47FB-AE42-7D761C6CCCEE}" type="slidenum">
              <a:rPr lang="aa-ET" smtClean="0"/>
              <a:pPr/>
              <a:t>9</a:t>
            </a:fld>
            <a:endParaRPr lang="aa-ET" dirty="0"/>
          </a:p>
        </p:txBody>
      </p:sp>
    </p:spTree>
    <p:extLst>
      <p:ext uri="{BB962C8B-B14F-4D97-AF65-F5344CB8AC3E}">
        <p14:creationId xmlns:p14="http://schemas.microsoft.com/office/powerpoint/2010/main" val="275331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Effect transition="in" filter="fade">
                                      <p:cBhvr>
                                        <p:cTn id="3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BC97C-9BDB-4BF7-AC35-F10E5C55505F}"/>
              </a:ext>
            </a:extLst>
          </p:cNvPr>
          <p:cNvSpPr>
            <a:spLocks noGrp="1"/>
          </p:cNvSpPr>
          <p:nvPr>
            <p:ph type="title"/>
          </p:nvPr>
        </p:nvSpPr>
        <p:spPr/>
        <p:txBody>
          <a:bodyPr/>
          <a:lstStyle/>
          <a:p>
            <a:r>
              <a:rPr lang="en-US" dirty="0"/>
              <a:t>Successful Attacks</a:t>
            </a:r>
            <a:endParaRPr lang="aa-ET" dirty="0"/>
          </a:p>
        </p:txBody>
      </p:sp>
      <p:sp>
        <p:nvSpPr>
          <p:cNvPr id="3" name="Content Placeholder 2">
            <a:extLst>
              <a:ext uri="{FF2B5EF4-FFF2-40B4-BE49-F238E27FC236}">
                <a16:creationId xmlns:a16="http://schemas.microsoft.com/office/drawing/2014/main" id="{12703559-51C4-6A6D-3D69-63B71200DC89}"/>
              </a:ext>
            </a:extLst>
          </p:cNvPr>
          <p:cNvSpPr>
            <a:spLocks noGrp="1"/>
          </p:cNvSpPr>
          <p:nvPr>
            <p:ph idx="1"/>
          </p:nvPr>
        </p:nvSpPr>
        <p:spPr/>
        <p:txBody>
          <a:bodyPr>
            <a:normAutofit/>
          </a:bodyPr>
          <a:lstStyle/>
          <a:p>
            <a:r>
              <a:rPr lang="en-US" b="1" dirty="0"/>
              <a:t>Telenor Email Spoofing (2017)</a:t>
            </a:r>
          </a:p>
          <a:p>
            <a:pPr lvl="1"/>
            <a:r>
              <a:rPr lang="en-US" sz="2400" dirty="0"/>
              <a:t>Several employees were exploited</a:t>
            </a:r>
          </a:p>
          <a:p>
            <a:pPr lvl="1"/>
            <a:r>
              <a:rPr lang="en-US" sz="2400" dirty="0"/>
              <a:t>Damage not publicly clarified</a:t>
            </a:r>
          </a:p>
          <a:p>
            <a:pPr marL="457200" lvl="1" indent="0">
              <a:buNone/>
            </a:pPr>
            <a:endParaRPr lang="en-US" sz="2400" dirty="0"/>
          </a:p>
          <a:p>
            <a:r>
              <a:rPr lang="en-US" b="1" dirty="0"/>
              <a:t>Vodafone ransomware attack (2020)</a:t>
            </a:r>
          </a:p>
          <a:p>
            <a:pPr lvl="1"/>
            <a:r>
              <a:rPr lang="en-US" sz="2400" dirty="0"/>
              <a:t>Service disruption in several countries</a:t>
            </a:r>
          </a:p>
          <a:p>
            <a:pPr lvl="1"/>
            <a:r>
              <a:rPr lang="en-US" sz="2400" dirty="0"/>
              <a:t>Estimated losses: millions of dollars</a:t>
            </a:r>
          </a:p>
          <a:p>
            <a:pPr marL="457200" lvl="1" indent="0">
              <a:buNone/>
            </a:pPr>
            <a:endParaRPr lang="en-US" sz="2400" dirty="0"/>
          </a:p>
          <a:p>
            <a:r>
              <a:rPr lang="en-US" b="1" dirty="0"/>
              <a:t>T-Mobile data breach (2021)</a:t>
            </a:r>
          </a:p>
          <a:p>
            <a:pPr lvl="1"/>
            <a:r>
              <a:rPr lang="en-US" sz="2400" dirty="0"/>
              <a:t>37 million customers</a:t>
            </a:r>
          </a:p>
          <a:p>
            <a:pPr lvl="1"/>
            <a:r>
              <a:rPr lang="en-US" sz="2400" dirty="0"/>
              <a:t>Estimated losses: millions of dollars</a:t>
            </a:r>
          </a:p>
          <a:p>
            <a:pPr marL="457200" lvl="1" indent="0">
              <a:buNone/>
            </a:pPr>
            <a:endParaRPr lang="en-US" sz="2400" dirty="0"/>
          </a:p>
          <a:p>
            <a:pPr marL="457200" lvl="1" indent="0">
              <a:buNone/>
            </a:pPr>
            <a:endParaRPr lang="en-US" sz="2400" dirty="0"/>
          </a:p>
          <a:p>
            <a:pPr marL="457200" lvl="1" indent="0">
              <a:buNone/>
            </a:pPr>
            <a:endParaRPr lang="en-US" sz="2400" b="1" dirty="0"/>
          </a:p>
        </p:txBody>
      </p:sp>
      <p:sp>
        <p:nvSpPr>
          <p:cNvPr id="4" name="Slide Number Placeholder 3">
            <a:extLst>
              <a:ext uri="{FF2B5EF4-FFF2-40B4-BE49-F238E27FC236}">
                <a16:creationId xmlns:a16="http://schemas.microsoft.com/office/drawing/2014/main" id="{0F621FC8-4DD3-93DE-F7D5-A92BD740A02A}"/>
              </a:ext>
            </a:extLst>
          </p:cNvPr>
          <p:cNvSpPr>
            <a:spLocks noGrp="1"/>
          </p:cNvSpPr>
          <p:nvPr>
            <p:ph type="sldNum" sz="quarter" idx="12"/>
          </p:nvPr>
        </p:nvSpPr>
        <p:spPr/>
        <p:txBody>
          <a:bodyPr/>
          <a:lstStyle/>
          <a:p>
            <a:fld id="{9CF5882A-489D-47FB-AE42-7D761C6CCCEE}" type="slidenum">
              <a:rPr lang="aa-ET" smtClean="0"/>
              <a:pPr/>
              <a:t>10</a:t>
            </a:fld>
            <a:endParaRPr lang="aa-ET" dirty="0"/>
          </a:p>
        </p:txBody>
      </p:sp>
    </p:spTree>
    <p:extLst>
      <p:ext uri="{BB962C8B-B14F-4D97-AF65-F5344CB8AC3E}">
        <p14:creationId xmlns:p14="http://schemas.microsoft.com/office/powerpoint/2010/main" val="409022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777AF-7D69-B7AA-DB26-CC3724349938}"/>
              </a:ext>
            </a:extLst>
          </p:cNvPr>
          <p:cNvSpPr>
            <a:spLocks noGrp="1"/>
          </p:cNvSpPr>
          <p:nvPr>
            <p:ph type="ctrTitle"/>
          </p:nvPr>
        </p:nvSpPr>
        <p:spPr/>
        <p:txBody>
          <a:bodyPr/>
          <a:lstStyle/>
          <a:p>
            <a:r>
              <a:rPr lang="en-US" dirty="0"/>
              <a:t>Impact of Cyberattacks</a:t>
            </a:r>
            <a:endParaRPr lang="aa-ET" dirty="0"/>
          </a:p>
        </p:txBody>
      </p:sp>
      <p:sp>
        <p:nvSpPr>
          <p:cNvPr id="3" name="Slide Number Placeholder 2">
            <a:extLst>
              <a:ext uri="{FF2B5EF4-FFF2-40B4-BE49-F238E27FC236}">
                <a16:creationId xmlns:a16="http://schemas.microsoft.com/office/drawing/2014/main" id="{EEDFB4BA-D417-B08E-1729-F09D3451D1FE}"/>
              </a:ext>
            </a:extLst>
          </p:cNvPr>
          <p:cNvSpPr>
            <a:spLocks noGrp="1"/>
          </p:cNvSpPr>
          <p:nvPr>
            <p:ph type="sldNum" sz="quarter" idx="12"/>
          </p:nvPr>
        </p:nvSpPr>
        <p:spPr/>
        <p:txBody>
          <a:bodyPr/>
          <a:lstStyle/>
          <a:p>
            <a:fld id="{9CF5882A-489D-47FB-AE42-7D761C6CCCEE}" type="slidenum">
              <a:rPr lang="aa-ET" smtClean="0"/>
              <a:t>11</a:t>
            </a:fld>
            <a:endParaRPr lang="aa-ET" dirty="0"/>
          </a:p>
        </p:txBody>
      </p:sp>
    </p:spTree>
    <p:extLst>
      <p:ext uri="{BB962C8B-B14F-4D97-AF65-F5344CB8AC3E}">
        <p14:creationId xmlns:p14="http://schemas.microsoft.com/office/powerpoint/2010/main" val="2650559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D1140-97BC-6B02-038F-94014B8F54AD}"/>
              </a:ext>
            </a:extLst>
          </p:cNvPr>
          <p:cNvSpPr>
            <a:spLocks noGrp="1"/>
          </p:cNvSpPr>
          <p:nvPr>
            <p:ph type="title"/>
          </p:nvPr>
        </p:nvSpPr>
        <p:spPr/>
        <p:txBody>
          <a:bodyPr/>
          <a:lstStyle/>
          <a:p>
            <a:r>
              <a:rPr lang="en-US" dirty="0"/>
              <a:t> Impact of Cyberattacks</a:t>
            </a:r>
          </a:p>
        </p:txBody>
      </p:sp>
      <p:sp>
        <p:nvSpPr>
          <p:cNvPr id="3" name="Content Placeholder 2">
            <a:extLst>
              <a:ext uri="{FF2B5EF4-FFF2-40B4-BE49-F238E27FC236}">
                <a16:creationId xmlns:a16="http://schemas.microsoft.com/office/drawing/2014/main" id="{AAAA70B0-5A0E-5AE7-14CD-07C29863AEE8}"/>
              </a:ext>
            </a:extLst>
          </p:cNvPr>
          <p:cNvSpPr>
            <a:spLocks noGrp="1"/>
          </p:cNvSpPr>
          <p:nvPr>
            <p:ph idx="1"/>
          </p:nvPr>
        </p:nvSpPr>
        <p:spPr>
          <a:xfrm>
            <a:off x="563479" y="1726129"/>
            <a:ext cx="11065042" cy="4329423"/>
          </a:xfrm>
        </p:spPr>
        <p:txBody>
          <a:bodyPr numCol="2">
            <a:normAutofit/>
          </a:bodyPr>
          <a:lstStyle/>
          <a:p>
            <a:pPr>
              <a:lnSpc>
                <a:spcPct val="200000"/>
              </a:lnSpc>
            </a:pPr>
            <a:r>
              <a:rPr lang="en-US" dirty="0">
                <a:cs typeface="Calibri" panose="020F0502020204030204" pitchFamily="34" charset="0"/>
              </a:rPr>
              <a:t>Disruption of Communication Services</a:t>
            </a:r>
          </a:p>
          <a:p>
            <a:pPr>
              <a:lnSpc>
                <a:spcPct val="200000"/>
              </a:lnSpc>
            </a:pPr>
            <a:r>
              <a:rPr lang="en-US" dirty="0">
                <a:cs typeface="Calibri" panose="020F0502020204030204" pitchFamily="34" charset="0"/>
              </a:rPr>
              <a:t>Data Breaches and Privacy Concerns</a:t>
            </a:r>
          </a:p>
          <a:p>
            <a:pPr>
              <a:lnSpc>
                <a:spcPct val="200000"/>
              </a:lnSpc>
            </a:pPr>
            <a:r>
              <a:rPr lang="en-US" dirty="0">
                <a:cs typeface="Calibri" panose="020F0502020204030204" pitchFamily="34" charset="0"/>
              </a:rPr>
              <a:t>Financial Losses and Reputation Damage</a:t>
            </a:r>
          </a:p>
          <a:p>
            <a:pPr>
              <a:lnSpc>
                <a:spcPct val="200000"/>
              </a:lnSpc>
            </a:pPr>
            <a:endParaRPr lang="en-US" dirty="0">
              <a:cs typeface="Calibri" panose="020F0502020204030204" pitchFamily="34" charset="0"/>
            </a:endParaRPr>
          </a:p>
          <a:p>
            <a:pPr marL="0" indent="0">
              <a:lnSpc>
                <a:spcPct val="200000"/>
              </a:lnSpc>
              <a:buNone/>
            </a:pPr>
            <a:endParaRPr lang="aa-ET" dirty="0"/>
          </a:p>
        </p:txBody>
      </p:sp>
      <p:sp>
        <p:nvSpPr>
          <p:cNvPr id="4" name="Slide Number Placeholder 3">
            <a:extLst>
              <a:ext uri="{FF2B5EF4-FFF2-40B4-BE49-F238E27FC236}">
                <a16:creationId xmlns:a16="http://schemas.microsoft.com/office/drawing/2014/main" id="{69AD9946-C194-4E3D-16D9-3C500287305D}"/>
              </a:ext>
            </a:extLst>
          </p:cNvPr>
          <p:cNvSpPr>
            <a:spLocks noGrp="1"/>
          </p:cNvSpPr>
          <p:nvPr>
            <p:ph type="sldNum" sz="quarter" idx="12"/>
          </p:nvPr>
        </p:nvSpPr>
        <p:spPr/>
        <p:txBody>
          <a:bodyPr/>
          <a:lstStyle/>
          <a:p>
            <a:fld id="{9CF5882A-489D-47FB-AE42-7D761C6CCCEE}" type="slidenum">
              <a:rPr lang="aa-ET" smtClean="0"/>
              <a:pPr/>
              <a:t>12</a:t>
            </a:fld>
            <a:endParaRPr lang="aa-ET" dirty="0"/>
          </a:p>
        </p:txBody>
      </p:sp>
    </p:spTree>
    <p:extLst>
      <p:ext uri="{BB962C8B-B14F-4D97-AF65-F5344CB8AC3E}">
        <p14:creationId xmlns:p14="http://schemas.microsoft.com/office/powerpoint/2010/main" val="160934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54DD1-2316-1717-31DC-4CB5AC133AE4}"/>
              </a:ext>
            </a:extLst>
          </p:cNvPr>
          <p:cNvSpPr>
            <a:spLocks noGrp="1"/>
          </p:cNvSpPr>
          <p:nvPr>
            <p:ph type="title"/>
          </p:nvPr>
        </p:nvSpPr>
        <p:spPr/>
        <p:txBody>
          <a:bodyPr/>
          <a:lstStyle/>
          <a:p>
            <a:r>
              <a:rPr lang="en-US" dirty="0"/>
              <a:t>Cost of Cybercrime</a:t>
            </a:r>
            <a:endParaRPr lang="aa-ET" b="0" dirty="0">
              <a:effectLst/>
            </a:endParaRPr>
          </a:p>
        </p:txBody>
      </p:sp>
      <p:sp>
        <p:nvSpPr>
          <p:cNvPr id="3" name="Content Placeholder 2">
            <a:extLst>
              <a:ext uri="{FF2B5EF4-FFF2-40B4-BE49-F238E27FC236}">
                <a16:creationId xmlns:a16="http://schemas.microsoft.com/office/drawing/2014/main" id="{BD087875-F696-7CCB-1B29-AF5FEA0FB8FC}"/>
              </a:ext>
            </a:extLst>
          </p:cNvPr>
          <p:cNvSpPr>
            <a:spLocks noGrp="1"/>
          </p:cNvSpPr>
          <p:nvPr>
            <p:ph idx="1"/>
          </p:nvPr>
        </p:nvSpPr>
        <p:spPr/>
        <p:txBody>
          <a:bodyPr>
            <a:noAutofit/>
          </a:bodyPr>
          <a:lstStyle/>
          <a:p>
            <a:pPr marL="0" indent="0" algn="l">
              <a:lnSpc>
                <a:spcPct val="100000"/>
              </a:lnSpc>
              <a:buNone/>
            </a:pPr>
            <a:r>
              <a:rPr lang="en-US" dirty="0"/>
              <a:t>The cost of cybercrime is high and growing. According to Cybersecurity Ventures, the global cost of cybercrime is expected to reach $10.5 trillion annually by 2025. This represents a significant increase from the $3 trillion estimated in 2015.</a:t>
            </a:r>
          </a:p>
          <a:p>
            <a:pPr marL="0" indent="0" algn="l">
              <a:lnSpc>
                <a:spcPct val="100000"/>
              </a:lnSpc>
              <a:buNone/>
            </a:pPr>
            <a:endParaRPr lang="en-US" dirty="0"/>
          </a:p>
        </p:txBody>
      </p:sp>
      <p:sp>
        <p:nvSpPr>
          <p:cNvPr id="4" name="Slide Number Placeholder 3">
            <a:extLst>
              <a:ext uri="{FF2B5EF4-FFF2-40B4-BE49-F238E27FC236}">
                <a16:creationId xmlns:a16="http://schemas.microsoft.com/office/drawing/2014/main" id="{D866A76D-E8FB-B19B-675E-B632A9F0F176}"/>
              </a:ext>
            </a:extLst>
          </p:cNvPr>
          <p:cNvSpPr>
            <a:spLocks noGrp="1"/>
          </p:cNvSpPr>
          <p:nvPr>
            <p:ph type="sldNum" sz="quarter" idx="12"/>
          </p:nvPr>
        </p:nvSpPr>
        <p:spPr/>
        <p:txBody>
          <a:bodyPr/>
          <a:lstStyle/>
          <a:p>
            <a:fld id="{9CF5882A-489D-47FB-AE42-7D761C6CCCEE}" type="slidenum">
              <a:rPr lang="aa-ET" smtClean="0"/>
              <a:pPr/>
              <a:t>13</a:t>
            </a:fld>
            <a:endParaRPr lang="aa-ET" dirty="0"/>
          </a:p>
        </p:txBody>
      </p:sp>
      <p:graphicFrame>
        <p:nvGraphicFramePr>
          <p:cNvPr id="8" name="Diagram 7">
            <a:extLst>
              <a:ext uri="{FF2B5EF4-FFF2-40B4-BE49-F238E27FC236}">
                <a16:creationId xmlns:a16="http://schemas.microsoft.com/office/drawing/2014/main" id="{CCF0653C-308B-FE01-8902-C51148E5E1B0}"/>
              </a:ext>
            </a:extLst>
          </p:cNvPr>
          <p:cNvGraphicFramePr/>
          <p:nvPr>
            <p:extLst>
              <p:ext uri="{D42A27DB-BD31-4B8C-83A1-F6EECF244321}">
                <p14:modId xmlns:p14="http://schemas.microsoft.com/office/powerpoint/2010/main" val="3179928814"/>
              </p:ext>
            </p:extLst>
          </p:nvPr>
        </p:nvGraphicFramePr>
        <p:xfrm>
          <a:off x="364958" y="3654954"/>
          <a:ext cx="11462084" cy="27255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523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anim calcmode="lin" valueType="num">
                                      <p:cBhvr>
                                        <p:cTn id="11" dur="500" fill="hold"/>
                                        <p:tgtEl>
                                          <p:spTgt spid="8"/>
                                        </p:tgtEl>
                                        <p:attrNameLst>
                                          <p:attrName>ppt_x</p:attrName>
                                        </p:attrNameLst>
                                      </p:cBhvr>
                                      <p:tavLst>
                                        <p:tav tm="0">
                                          <p:val>
                                            <p:strVal val="#ppt_x"/>
                                          </p:val>
                                        </p:tav>
                                        <p:tav tm="100000">
                                          <p:val>
                                            <p:strVal val="#ppt_x"/>
                                          </p:val>
                                        </p:tav>
                                      </p:tavLst>
                                    </p:anim>
                                    <p:anim calcmode="lin" valueType="num">
                                      <p:cBhvr>
                                        <p:cTn id="12"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8"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12F70-904A-5D65-B27B-F45F2915413B}"/>
              </a:ext>
            </a:extLst>
          </p:cNvPr>
          <p:cNvSpPr>
            <a:spLocks noGrp="1"/>
          </p:cNvSpPr>
          <p:nvPr>
            <p:ph type="ctrTitle"/>
          </p:nvPr>
        </p:nvSpPr>
        <p:spPr/>
        <p:txBody>
          <a:bodyPr/>
          <a:lstStyle/>
          <a:p>
            <a:r>
              <a:rPr lang="en-US" dirty="0"/>
              <a:t>Role of Cybersecurity in </a:t>
            </a:r>
            <a:br>
              <a:rPr lang="en-US" dirty="0"/>
            </a:br>
            <a:r>
              <a:rPr lang="en-US" dirty="0"/>
              <a:t>Telecom Sector</a:t>
            </a:r>
            <a:endParaRPr lang="aa-ET" dirty="0"/>
          </a:p>
        </p:txBody>
      </p:sp>
      <p:sp>
        <p:nvSpPr>
          <p:cNvPr id="3" name="Slide Number Placeholder 2">
            <a:extLst>
              <a:ext uri="{FF2B5EF4-FFF2-40B4-BE49-F238E27FC236}">
                <a16:creationId xmlns:a16="http://schemas.microsoft.com/office/drawing/2014/main" id="{31571E76-C2EE-0A94-8E68-17D005D39A9E}"/>
              </a:ext>
            </a:extLst>
          </p:cNvPr>
          <p:cNvSpPr>
            <a:spLocks noGrp="1"/>
          </p:cNvSpPr>
          <p:nvPr>
            <p:ph type="sldNum" sz="quarter" idx="12"/>
          </p:nvPr>
        </p:nvSpPr>
        <p:spPr/>
        <p:txBody>
          <a:bodyPr/>
          <a:lstStyle/>
          <a:p>
            <a:fld id="{9CF5882A-489D-47FB-AE42-7D761C6CCCEE}" type="slidenum">
              <a:rPr lang="aa-ET" smtClean="0"/>
              <a:t>14</a:t>
            </a:fld>
            <a:endParaRPr lang="aa-ET" dirty="0"/>
          </a:p>
        </p:txBody>
      </p:sp>
    </p:spTree>
    <p:extLst>
      <p:ext uri="{BB962C8B-B14F-4D97-AF65-F5344CB8AC3E}">
        <p14:creationId xmlns:p14="http://schemas.microsoft.com/office/powerpoint/2010/main" val="1665954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D282-4896-AAB9-0218-FA6DA0FBABB3}"/>
              </a:ext>
            </a:extLst>
          </p:cNvPr>
          <p:cNvSpPr>
            <a:spLocks noGrp="1"/>
          </p:cNvSpPr>
          <p:nvPr>
            <p:ph type="title"/>
          </p:nvPr>
        </p:nvSpPr>
        <p:spPr/>
        <p:txBody>
          <a:bodyPr/>
          <a:lstStyle/>
          <a:p>
            <a:r>
              <a:rPr lang="en-US" dirty="0"/>
              <a:t>Importance of Robust Cybersecurity Measures</a:t>
            </a:r>
            <a:endParaRPr lang="aa-ET" dirty="0"/>
          </a:p>
        </p:txBody>
      </p:sp>
      <p:sp>
        <p:nvSpPr>
          <p:cNvPr id="3" name="Content Placeholder 2">
            <a:extLst>
              <a:ext uri="{FF2B5EF4-FFF2-40B4-BE49-F238E27FC236}">
                <a16:creationId xmlns:a16="http://schemas.microsoft.com/office/drawing/2014/main" id="{2E7A3A2B-2930-A7AA-89FA-C4D2860636B8}"/>
              </a:ext>
            </a:extLst>
          </p:cNvPr>
          <p:cNvSpPr>
            <a:spLocks noGrp="1"/>
          </p:cNvSpPr>
          <p:nvPr>
            <p:ph idx="1"/>
          </p:nvPr>
        </p:nvSpPr>
        <p:spPr/>
        <p:txBody>
          <a:bodyPr/>
          <a:lstStyle/>
          <a:p>
            <a:pPr>
              <a:lnSpc>
                <a:spcPct val="200000"/>
              </a:lnSpc>
            </a:pPr>
            <a:r>
              <a:rPr lang="en-US" dirty="0">
                <a:solidFill>
                  <a:srgbClr val="1F1F1F"/>
                </a:solidFill>
              </a:rPr>
              <a:t>Safeguarding Critical Infrastructure</a:t>
            </a:r>
          </a:p>
          <a:p>
            <a:pPr>
              <a:lnSpc>
                <a:spcPct val="200000"/>
              </a:lnSpc>
            </a:pPr>
            <a:r>
              <a:rPr lang="en-US" dirty="0">
                <a:solidFill>
                  <a:srgbClr val="1F1F1F"/>
                </a:solidFill>
              </a:rPr>
              <a:t>Protection of Customer Data</a:t>
            </a:r>
          </a:p>
          <a:p>
            <a:pPr>
              <a:lnSpc>
                <a:spcPct val="200000"/>
              </a:lnSpc>
            </a:pPr>
            <a:r>
              <a:rPr lang="en-US" dirty="0">
                <a:solidFill>
                  <a:srgbClr val="1F1F1F"/>
                </a:solidFill>
              </a:rPr>
              <a:t>Preserving Reputation and Trust</a:t>
            </a:r>
          </a:p>
          <a:p>
            <a:pPr>
              <a:lnSpc>
                <a:spcPct val="200000"/>
              </a:lnSpc>
            </a:pPr>
            <a:r>
              <a:rPr lang="en-US" b="0" i="0" dirty="0">
                <a:solidFill>
                  <a:srgbClr val="1F1F1F"/>
                </a:solidFill>
                <a:effectLst/>
              </a:rPr>
              <a:t>Cybersecurity during the modernization of Telecom</a:t>
            </a:r>
          </a:p>
          <a:p>
            <a:pPr>
              <a:lnSpc>
                <a:spcPct val="200000"/>
              </a:lnSpc>
            </a:pPr>
            <a:r>
              <a:rPr lang="en-US" dirty="0">
                <a:solidFill>
                  <a:srgbClr val="1F1F1F"/>
                </a:solidFill>
              </a:rPr>
              <a:t>Prevention of nation-state Threats</a:t>
            </a:r>
          </a:p>
          <a:p>
            <a:endParaRPr lang="en-US" b="0" i="0" dirty="0">
              <a:solidFill>
                <a:srgbClr val="1F1F1F"/>
              </a:solidFill>
              <a:effectLst/>
            </a:endParaRPr>
          </a:p>
        </p:txBody>
      </p:sp>
      <p:sp>
        <p:nvSpPr>
          <p:cNvPr id="4" name="Slide Number Placeholder 3">
            <a:extLst>
              <a:ext uri="{FF2B5EF4-FFF2-40B4-BE49-F238E27FC236}">
                <a16:creationId xmlns:a16="http://schemas.microsoft.com/office/drawing/2014/main" id="{F1B22B02-4072-710A-17F2-7BBF64FCD0C1}"/>
              </a:ext>
            </a:extLst>
          </p:cNvPr>
          <p:cNvSpPr>
            <a:spLocks noGrp="1"/>
          </p:cNvSpPr>
          <p:nvPr>
            <p:ph type="sldNum" sz="quarter" idx="12"/>
          </p:nvPr>
        </p:nvSpPr>
        <p:spPr/>
        <p:txBody>
          <a:bodyPr/>
          <a:lstStyle/>
          <a:p>
            <a:fld id="{9CF5882A-489D-47FB-AE42-7D761C6CCCEE}" type="slidenum">
              <a:rPr lang="aa-ET" smtClean="0"/>
              <a:pPr/>
              <a:t>15</a:t>
            </a:fld>
            <a:endParaRPr lang="aa-ET" dirty="0"/>
          </a:p>
        </p:txBody>
      </p:sp>
    </p:spTree>
    <p:extLst>
      <p:ext uri="{BB962C8B-B14F-4D97-AF65-F5344CB8AC3E}">
        <p14:creationId xmlns:p14="http://schemas.microsoft.com/office/powerpoint/2010/main" val="80063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D282-4896-AAB9-0218-FA6DA0FBABB3}"/>
              </a:ext>
            </a:extLst>
          </p:cNvPr>
          <p:cNvSpPr>
            <a:spLocks noGrp="1"/>
          </p:cNvSpPr>
          <p:nvPr>
            <p:ph type="title"/>
          </p:nvPr>
        </p:nvSpPr>
        <p:spPr/>
        <p:txBody>
          <a:bodyPr/>
          <a:lstStyle/>
          <a:p>
            <a:r>
              <a:rPr lang="en-US" dirty="0"/>
              <a:t>Strategies for Defending Against Cyber Threats</a:t>
            </a:r>
            <a:endParaRPr lang="aa-ET" dirty="0"/>
          </a:p>
        </p:txBody>
      </p:sp>
      <p:sp>
        <p:nvSpPr>
          <p:cNvPr id="3" name="Content Placeholder 2">
            <a:extLst>
              <a:ext uri="{FF2B5EF4-FFF2-40B4-BE49-F238E27FC236}">
                <a16:creationId xmlns:a16="http://schemas.microsoft.com/office/drawing/2014/main" id="{2E7A3A2B-2930-A7AA-89FA-C4D2860636B8}"/>
              </a:ext>
            </a:extLst>
          </p:cNvPr>
          <p:cNvSpPr>
            <a:spLocks noGrp="1"/>
          </p:cNvSpPr>
          <p:nvPr>
            <p:ph idx="1"/>
          </p:nvPr>
        </p:nvSpPr>
        <p:spPr>
          <a:xfrm>
            <a:off x="464218" y="1831891"/>
            <a:ext cx="11263563" cy="4660984"/>
          </a:xfrm>
        </p:spPr>
        <p:txBody>
          <a:bodyPr numCol="2">
            <a:normAutofit/>
          </a:bodyPr>
          <a:lstStyle/>
          <a:p>
            <a:pPr>
              <a:lnSpc>
                <a:spcPct val="200000"/>
              </a:lnSpc>
            </a:pPr>
            <a:r>
              <a:rPr lang="en-US" dirty="0">
                <a:solidFill>
                  <a:srgbClr val="1F1F1F"/>
                </a:solidFill>
              </a:rPr>
              <a:t>Network Monitoring and Threat Detection</a:t>
            </a:r>
          </a:p>
          <a:p>
            <a:pPr>
              <a:lnSpc>
                <a:spcPct val="200000"/>
              </a:lnSpc>
            </a:pPr>
            <a:r>
              <a:rPr lang="en-US" dirty="0">
                <a:solidFill>
                  <a:srgbClr val="1F1F1F"/>
                </a:solidFill>
              </a:rPr>
              <a:t>Multi-Layered Security</a:t>
            </a:r>
          </a:p>
          <a:p>
            <a:pPr>
              <a:lnSpc>
                <a:spcPct val="200000"/>
              </a:lnSpc>
            </a:pPr>
            <a:r>
              <a:rPr lang="en-US" dirty="0">
                <a:solidFill>
                  <a:srgbClr val="1F1F1F"/>
                </a:solidFill>
              </a:rPr>
              <a:t>Employee Training</a:t>
            </a:r>
          </a:p>
          <a:p>
            <a:pPr>
              <a:lnSpc>
                <a:spcPct val="200000"/>
              </a:lnSpc>
            </a:pPr>
            <a:r>
              <a:rPr lang="en-US" dirty="0">
                <a:solidFill>
                  <a:srgbClr val="1F1F1F"/>
                </a:solidFill>
              </a:rPr>
              <a:t>Incident Response Plans</a:t>
            </a:r>
          </a:p>
          <a:p>
            <a:pPr>
              <a:lnSpc>
                <a:spcPct val="200000"/>
              </a:lnSpc>
            </a:pPr>
            <a:r>
              <a:rPr lang="en-US" dirty="0">
                <a:solidFill>
                  <a:srgbClr val="1F1F1F"/>
                </a:solidFill>
              </a:rPr>
              <a:t> Patch Management</a:t>
            </a:r>
          </a:p>
          <a:p>
            <a:pPr>
              <a:lnSpc>
                <a:spcPct val="200000"/>
              </a:lnSpc>
            </a:pPr>
            <a:r>
              <a:rPr lang="en-US" dirty="0">
                <a:solidFill>
                  <a:srgbClr val="1F1F1F"/>
                </a:solidFill>
              </a:rPr>
              <a:t>User Authentication and Access Control</a:t>
            </a:r>
          </a:p>
          <a:p>
            <a:pPr>
              <a:lnSpc>
                <a:spcPct val="200000"/>
              </a:lnSpc>
            </a:pPr>
            <a:r>
              <a:rPr lang="en-US" dirty="0">
                <a:solidFill>
                  <a:srgbClr val="1F1F1F"/>
                </a:solidFill>
              </a:rPr>
              <a:t>Data Encryption</a:t>
            </a:r>
          </a:p>
          <a:p>
            <a:pPr>
              <a:lnSpc>
                <a:spcPct val="200000"/>
              </a:lnSpc>
            </a:pPr>
            <a:r>
              <a:rPr lang="en-US" dirty="0">
                <a:solidFill>
                  <a:srgbClr val="1F1F1F"/>
                </a:solidFill>
              </a:rPr>
              <a:t>Collaboration with Cybersecurity Experts</a:t>
            </a:r>
            <a:endParaRPr lang="en-US" b="0" i="0" dirty="0">
              <a:solidFill>
                <a:srgbClr val="1F1F1F"/>
              </a:solidFill>
              <a:effectLst/>
            </a:endParaRPr>
          </a:p>
        </p:txBody>
      </p:sp>
      <p:sp>
        <p:nvSpPr>
          <p:cNvPr id="4" name="Slide Number Placeholder 3">
            <a:extLst>
              <a:ext uri="{FF2B5EF4-FFF2-40B4-BE49-F238E27FC236}">
                <a16:creationId xmlns:a16="http://schemas.microsoft.com/office/drawing/2014/main" id="{F1B22B02-4072-710A-17F2-7BBF64FCD0C1}"/>
              </a:ext>
            </a:extLst>
          </p:cNvPr>
          <p:cNvSpPr>
            <a:spLocks noGrp="1"/>
          </p:cNvSpPr>
          <p:nvPr>
            <p:ph type="sldNum" sz="quarter" idx="12"/>
          </p:nvPr>
        </p:nvSpPr>
        <p:spPr/>
        <p:txBody>
          <a:bodyPr/>
          <a:lstStyle/>
          <a:p>
            <a:fld id="{9CF5882A-489D-47FB-AE42-7D761C6CCCEE}" type="slidenum">
              <a:rPr lang="aa-ET" smtClean="0"/>
              <a:pPr/>
              <a:t>16</a:t>
            </a:fld>
            <a:endParaRPr lang="aa-ET" dirty="0"/>
          </a:p>
        </p:txBody>
      </p:sp>
    </p:spTree>
    <p:extLst>
      <p:ext uri="{BB962C8B-B14F-4D97-AF65-F5344CB8AC3E}">
        <p14:creationId xmlns:p14="http://schemas.microsoft.com/office/powerpoint/2010/main" val="419570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1"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1"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1"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1"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1"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1"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1" nodeType="after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1" nodeType="after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additive="base">
                                        <p:cTn id="4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17F41-7261-489A-7572-6116995FCAD6}"/>
              </a:ext>
            </a:extLst>
          </p:cNvPr>
          <p:cNvSpPr>
            <a:spLocks noGrp="1"/>
          </p:cNvSpPr>
          <p:nvPr>
            <p:ph type="title"/>
          </p:nvPr>
        </p:nvSpPr>
        <p:spPr/>
        <p:txBody>
          <a:bodyPr/>
          <a:lstStyle/>
          <a:p>
            <a:r>
              <a:rPr lang="en-US" dirty="0"/>
              <a:t>Successful Defenses</a:t>
            </a:r>
            <a:endParaRPr lang="aa-ET" dirty="0"/>
          </a:p>
        </p:txBody>
      </p:sp>
      <p:sp>
        <p:nvSpPr>
          <p:cNvPr id="3" name="Content Placeholder 2">
            <a:extLst>
              <a:ext uri="{FF2B5EF4-FFF2-40B4-BE49-F238E27FC236}">
                <a16:creationId xmlns:a16="http://schemas.microsoft.com/office/drawing/2014/main" id="{75BFADC7-7420-0E00-90ED-47F1FBD44667}"/>
              </a:ext>
            </a:extLst>
          </p:cNvPr>
          <p:cNvSpPr>
            <a:spLocks noGrp="1"/>
          </p:cNvSpPr>
          <p:nvPr>
            <p:ph idx="1"/>
          </p:nvPr>
        </p:nvSpPr>
        <p:spPr/>
        <p:txBody>
          <a:bodyPr>
            <a:normAutofit/>
          </a:bodyPr>
          <a:lstStyle/>
          <a:p>
            <a:pPr>
              <a:lnSpc>
                <a:spcPct val="100000"/>
              </a:lnSpc>
            </a:pPr>
            <a:r>
              <a:rPr lang="en-US" b="1" dirty="0"/>
              <a:t>AT&amp;T MitM Attack (2019)</a:t>
            </a:r>
          </a:p>
          <a:p>
            <a:pPr marL="457200" lvl="1" indent="0">
              <a:lnSpc>
                <a:spcPct val="100000"/>
              </a:lnSpc>
              <a:buNone/>
            </a:pPr>
            <a:r>
              <a:rPr lang="en-US" sz="2400" dirty="0"/>
              <a:t>AT&amp;T was able to detect the attack and prevent the attackers from stealing any money.</a:t>
            </a:r>
          </a:p>
          <a:p>
            <a:pPr marL="457200" lvl="1" indent="0">
              <a:lnSpc>
                <a:spcPct val="100000"/>
              </a:lnSpc>
              <a:buNone/>
            </a:pPr>
            <a:endParaRPr lang="en-US" sz="2400" dirty="0"/>
          </a:p>
          <a:p>
            <a:pPr>
              <a:lnSpc>
                <a:spcPct val="100000"/>
              </a:lnSpc>
            </a:pPr>
            <a:r>
              <a:rPr lang="en-US" b="1" dirty="0"/>
              <a:t>Deutsche Telekom (2020)</a:t>
            </a:r>
          </a:p>
          <a:p>
            <a:pPr marL="457200" lvl="1" indent="0">
              <a:lnSpc>
                <a:spcPct val="100000"/>
              </a:lnSpc>
              <a:buNone/>
            </a:pPr>
            <a:r>
              <a:rPr lang="en-US" sz="2400" dirty="0"/>
              <a:t>The attackers were able to encrypt some of Deutsche Telekom's data, but the company was able to restore the data from backups.</a:t>
            </a:r>
          </a:p>
          <a:p>
            <a:pPr marL="457200" lvl="1" indent="0">
              <a:lnSpc>
                <a:spcPct val="100000"/>
              </a:lnSpc>
              <a:buNone/>
            </a:pPr>
            <a:endParaRPr lang="en-US" sz="2400" dirty="0"/>
          </a:p>
          <a:p>
            <a:pPr>
              <a:lnSpc>
                <a:spcPct val="100000"/>
              </a:lnSpc>
            </a:pPr>
            <a:r>
              <a:rPr lang="en-US" b="1" dirty="0"/>
              <a:t>Verizon DDoS Attack (2021)</a:t>
            </a:r>
          </a:p>
          <a:p>
            <a:pPr marL="457200" lvl="1" indent="0">
              <a:lnSpc>
                <a:spcPct val="100000"/>
              </a:lnSpc>
              <a:buNone/>
            </a:pPr>
            <a:r>
              <a:rPr lang="en-US" sz="2400" dirty="0"/>
              <a:t>Verizon was able to mitigate the attack and keep its services running.</a:t>
            </a:r>
          </a:p>
        </p:txBody>
      </p:sp>
      <p:sp>
        <p:nvSpPr>
          <p:cNvPr id="4" name="Slide Number Placeholder 3">
            <a:extLst>
              <a:ext uri="{FF2B5EF4-FFF2-40B4-BE49-F238E27FC236}">
                <a16:creationId xmlns:a16="http://schemas.microsoft.com/office/drawing/2014/main" id="{61E8185B-251D-1842-BE71-52F19E892687}"/>
              </a:ext>
            </a:extLst>
          </p:cNvPr>
          <p:cNvSpPr>
            <a:spLocks noGrp="1"/>
          </p:cNvSpPr>
          <p:nvPr>
            <p:ph type="sldNum" sz="quarter" idx="12"/>
          </p:nvPr>
        </p:nvSpPr>
        <p:spPr/>
        <p:txBody>
          <a:bodyPr/>
          <a:lstStyle/>
          <a:p>
            <a:fld id="{9CF5882A-489D-47FB-AE42-7D761C6CCCEE}" type="slidenum">
              <a:rPr lang="aa-ET" smtClean="0"/>
              <a:pPr/>
              <a:t>17</a:t>
            </a:fld>
            <a:endParaRPr lang="aa-ET" dirty="0"/>
          </a:p>
        </p:txBody>
      </p:sp>
    </p:spTree>
    <p:extLst>
      <p:ext uri="{BB962C8B-B14F-4D97-AF65-F5344CB8AC3E}">
        <p14:creationId xmlns:p14="http://schemas.microsoft.com/office/powerpoint/2010/main" val="13322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12C34-9179-3C45-47C7-60BB19765827}"/>
              </a:ext>
            </a:extLst>
          </p:cNvPr>
          <p:cNvSpPr>
            <a:spLocks noGrp="1"/>
          </p:cNvSpPr>
          <p:nvPr>
            <p:ph type="ctrTitle"/>
          </p:nvPr>
        </p:nvSpPr>
        <p:spPr/>
        <p:txBody>
          <a:bodyPr/>
          <a:lstStyle/>
          <a:p>
            <a:r>
              <a:rPr lang="en-US" dirty="0"/>
              <a:t>Pakistan and International Perspective</a:t>
            </a:r>
            <a:endParaRPr lang="aa-ET" dirty="0"/>
          </a:p>
        </p:txBody>
      </p:sp>
      <p:sp>
        <p:nvSpPr>
          <p:cNvPr id="3" name="Slide Number Placeholder 2">
            <a:extLst>
              <a:ext uri="{FF2B5EF4-FFF2-40B4-BE49-F238E27FC236}">
                <a16:creationId xmlns:a16="http://schemas.microsoft.com/office/drawing/2014/main" id="{6F503235-8A07-3ED2-F96D-3A6D537A7963}"/>
              </a:ext>
            </a:extLst>
          </p:cNvPr>
          <p:cNvSpPr>
            <a:spLocks noGrp="1"/>
          </p:cNvSpPr>
          <p:nvPr>
            <p:ph type="sldNum" sz="quarter" idx="12"/>
          </p:nvPr>
        </p:nvSpPr>
        <p:spPr/>
        <p:txBody>
          <a:bodyPr/>
          <a:lstStyle/>
          <a:p>
            <a:fld id="{9CF5882A-489D-47FB-AE42-7D761C6CCCEE}" type="slidenum">
              <a:rPr lang="aa-ET" smtClean="0"/>
              <a:t>18</a:t>
            </a:fld>
            <a:endParaRPr lang="aa-ET" dirty="0"/>
          </a:p>
        </p:txBody>
      </p:sp>
    </p:spTree>
    <p:extLst>
      <p:ext uri="{BB962C8B-B14F-4D97-AF65-F5344CB8AC3E}">
        <p14:creationId xmlns:p14="http://schemas.microsoft.com/office/powerpoint/2010/main" val="3375776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1112-2B31-75FF-1BDD-7D8F83D72B5A}"/>
              </a:ext>
            </a:extLst>
          </p:cNvPr>
          <p:cNvSpPr>
            <a:spLocks noGrp="1"/>
          </p:cNvSpPr>
          <p:nvPr>
            <p:ph type="title"/>
          </p:nvPr>
        </p:nvSpPr>
        <p:spPr/>
        <p:txBody>
          <a:bodyPr/>
          <a:lstStyle/>
          <a:p>
            <a:pPr marL="342900" lvl="0" indent="-342900">
              <a:lnSpc>
                <a:spcPct val="107000"/>
              </a:lnSpc>
              <a:spcAft>
                <a:spcPts val="800"/>
              </a:spcAft>
              <a:tabLst>
                <a:tab pos="228600" algn="l"/>
                <a:tab pos="457200" algn="l"/>
              </a:tabLst>
            </a:pPr>
            <a:r>
              <a:rPr lang="en-US" sz="3200" kern="100" dirty="0">
                <a:latin typeface="Arial" panose="020B0604020202020204" pitchFamily="34" charset="0"/>
                <a:ea typeface="Calibri" panose="020F0502020204030204" pitchFamily="34" charset="0"/>
                <a:cs typeface="Times New Roman" panose="02020603050405020304" pitchFamily="18" charset="0"/>
              </a:rPr>
              <a:t>Telecom Cybersecurity in the </a:t>
            </a:r>
            <a:r>
              <a:rPr lang="en-US" kern="100" dirty="0">
                <a:latin typeface="Arial" panose="020B0604020202020204" pitchFamily="34" charset="0"/>
                <a:ea typeface="Calibri" panose="020F0502020204030204" pitchFamily="34" charset="0"/>
                <a:cs typeface="Times New Roman" panose="02020603050405020304" pitchFamily="18" charset="0"/>
              </a:rPr>
              <a:t>World</a:t>
            </a:r>
            <a:endParaRPr lang="aa-ET" dirty="0"/>
          </a:p>
        </p:txBody>
      </p:sp>
      <p:sp>
        <p:nvSpPr>
          <p:cNvPr id="4" name="Slide Number Placeholder 3">
            <a:extLst>
              <a:ext uri="{FF2B5EF4-FFF2-40B4-BE49-F238E27FC236}">
                <a16:creationId xmlns:a16="http://schemas.microsoft.com/office/drawing/2014/main" id="{D3ACDABB-AEA0-7D22-73B3-D250C727EA1D}"/>
              </a:ext>
            </a:extLst>
          </p:cNvPr>
          <p:cNvSpPr>
            <a:spLocks noGrp="1"/>
          </p:cNvSpPr>
          <p:nvPr>
            <p:ph type="sldNum" sz="quarter" idx="12"/>
          </p:nvPr>
        </p:nvSpPr>
        <p:spPr/>
        <p:txBody>
          <a:bodyPr/>
          <a:lstStyle/>
          <a:p>
            <a:fld id="{9CF5882A-489D-47FB-AE42-7D761C6CCCEE}" type="slidenum">
              <a:rPr lang="aa-ET" smtClean="0"/>
              <a:pPr/>
              <a:t>19</a:t>
            </a:fld>
            <a:endParaRPr lang="aa-ET" dirty="0"/>
          </a:p>
        </p:txBody>
      </p:sp>
      <p:sp>
        <p:nvSpPr>
          <p:cNvPr id="13" name="TextBox 12">
            <a:extLst>
              <a:ext uri="{FF2B5EF4-FFF2-40B4-BE49-F238E27FC236}">
                <a16:creationId xmlns:a16="http://schemas.microsoft.com/office/drawing/2014/main" id="{0F39A992-2427-432C-98D8-457D30471CFE}"/>
              </a:ext>
            </a:extLst>
          </p:cNvPr>
          <p:cNvSpPr txBox="1"/>
          <p:nvPr/>
        </p:nvSpPr>
        <p:spPr>
          <a:xfrm>
            <a:off x="3059112" y="2781635"/>
            <a:ext cx="8039100" cy="369332"/>
          </a:xfrm>
          <a:prstGeom prst="rect">
            <a:avLst/>
          </a:prstGeom>
          <a:noFill/>
        </p:spPr>
        <p:txBody>
          <a:bodyPr wrap="square" rtlCol="0" anchor="b">
            <a:spAutoFit/>
          </a:bodyPr>
          <a:lstStyle/>
          <a:p>
            <a:endParaRPr lang="aa-ET" dirty="0"/>
          </a:p>
        </p:txBody>
      </p:sp>
      <p:graphicFrame>
        <p:nvGraphicFramePr>
          <p:cNvPr id="15" name="Diagram 14">
            <a:extLst>
              <a:ext uri="{FF2B5EF4-FFF2-40B4-BE49-F238E27FC236}">
                <a16:creationId xmlns:a16="http://schemas.microsoft.com/office/drawing/2014/main" id="{96D2990F-1224-647E-8A66-2A1D3C469FF0}"/>
              </a:ext>
            </a:extLst>
          </p:cNvPr>
          <p:cNvGraphicFramePr/>
          <p:nvPr>
            <p:extLst>
              <p:ext uri="{D42A27DB-BD31-4B8C-83A1-F6EECF244321}">
                <p14:modId xmlns:p14="http://schemas.microsoft.com/office/powerpoint/2010/main" val="1441917479"/>
              </p:ext>
            </p:extLst>
          </p:nvPr>
        </p:nvGraphicFramePr>
        <p:xfrm>
          <a:off x="192088" y="1560511"/>
          <a:ext cx="10963442" cy="46325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983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graphicEl>
                                              <a:dgm id="{5E4502CD-F79F-49FB-8030-E875BF6E82A2}"/>
                                            </p:graphicEl>
                                          </p:spTgt>
                                        </p:tgtEl>
                                        <p:attrNameLst>
                                          <p:attrName>style.visibility</p:attrName>
                                        </p:attrNameLst>
                                      </p:cBhvr>
                                      <p:to>
                                        <p:strVal val="visible"/>
                                      </p:to>
                                    </p:set>
                                    <p:animEffect transition="in" filter="fade">
                                      <p:cBhvr>
                                        <p:cTn id="7" dur="500"/>
                                        <p:tgtEl>
                                          <p:spTgt spid="15">
                                            <p:graphicEl>
                                              <a:dgm id="{5E4502CD-F79F-49FB-8030-E875BF6E82A2}"/>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graphicEl>
                                              <a:dgm id="{38DD3546-60F8-41C0-836F-F5AEB086402C}"/>
                                            </p:graphicEl>
                                          </p:spTgt>
                                        </p:tgtEl>
                                        <p:attrNameLst>
                                          <p:attrName>style.visibility</p:attrName>
                                        </p:attrNameLst>
                                      </p:cBhvr>
                                      <p:to>
                                        <p:strVal val="visible"/>
                                      </p:to>
                                    </p:set>
                                    <p:animEffect transition="in" filter="fade">
                                      <p:cBhvr>
                                        <p:cTn id="10" dur="500"/>
                                        <p:tgtEl>
                                          <p:spTgt spid="15">
                                            <p:graphicEl>
                                              <a:dgm id="{38DD3546-60F8-41C0-836F-F5AEB086402C}"/>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graphicEl>
                                              <a:dgm id="{35C2A696-33C6-4A38-881F-E836E8579E43}"/>
                                            </p:graphicEl>
                                          </p:spTgt>
                                        </p:tgtEl>
                                        <p:attrNameLst>
                                          <p:attrName>style.visibility</p:attrName>
                                        </p:attrNameLst>
                                      </p:cBhvr>
                                      <p:to>
                                        <p:strVal val="visible"/>
                                      </p:to>
                                    </p:set>
                                    <p:animEffect transition="in" filter="fade">
                                      <p:cBhvr>
                                        <p:cTn id="13" dur="500"/>
                                        <p:tgtEl>
                                          <p:spTgt spid="15">
                                            <p:graphicEl>
                                              <a:dgm id="{35C2A696-33C6-4A38-881F-E836E8579E43}"/>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graphicEl>
                                              <a:dgm id="{55834DE0-1352-4A32-BF75-EF4D5497E23B}"/>
                                            </p:graphicEl>
                                          </p:spTgt>
                                        </p:tgtEl>
                                        <p:attrNameLst>
                                          <p:attrName>style.visibility</p:attrName>
                                        </p:attrNameLst>
                                      </p:cBhvr>
                                      <p:to>
                                        <p:strVal val="visible"/>
                                      </p:to>
                                    </p:set>
                                    <p:animEffect transition="in" filter="fade">
                                      <p:cBhvr>
                                        <p:cTn id="18" dur="500"/>
                                        <p:tgtEl>
                                          <p:spTgt spid="15">
                                            <p:graphicEl>
                                              <a:dgm id="{55834DE0-1352-4A32-BF75-EF4D5497E23B}"/>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graphicEl>
                                              <a:dgm id="{1D4D1A44-4416-4BF0-87AC-17FB24B18648}"/>
                                            </p:graphicEl>
                                          </p:spTgt>
                                        </p:tgtEl>
                                        <p:attrNameLst>
                                          <p:attrName>style.visibility</p:attrName>
                                        </p:attrNameLst>
                                      </p:cBhvr>
                                      <p:to>
                                        <p:strVal val="visible"/>
                                      </p:to>
                                    </p:set>
                                    <p:animEffect transition="in" filter="fade">
                                      <p:cBhvr>
                                        <p:cTn id="21" dur="500"/>
                                        <p:tgtEl>
                                          <p:spTgt spid="15">
                                            <p:graphicEl>
                                              <a:dgm id="{1D4D1A44-4416-4BF0-87AC-17FB24B18648}"/>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graphicEl>
                                              <a:dgm id="{55946F7D-C2DD-4B0F-8598-B62BA9305D2E}"/>
                                            </p:graphicEl>
                                          </p:spTgt>
                                        </p:tgtEl>
                                        <p:attrNameLst>
                                          <p:attrName>style.visibility</p:attrName>
                                        </p:attrNameLst>
                                      </p:cBhvr>
                                      <p:to>
                                        <p:strVal val="visible"/>
                                      </p:to>
                                    </p:set>
                                    <p:animEffect transition="in" filter="fade">
                                      <p:cBhvr>
                                        <p:cTn id="24" dur="500"/>
                                        <p:tgtEl>
                                          <p:spTgt spid="15">
                                            <p:graphicEl>
                                              <a:dgm id="{55946F7D-C2DD-4B0F-8598-B62BA9305D2E}"/>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graphicEl>
                                              <a:dgm id="{05F89E64-4E2B-4311-A474-3C6C2BEC4A73}"/>
                                            </p:graphicEl>
                                          </p:spTgt>
                                        </p:tgtEl>
                                        <p:attrNameLst>
                                          <p:attrName>style.visibility</p:attrName>
                                        </p:attrNameLst>
                                      </p:cBhvr>
                                      <p:to>
                                        <p:strVal val="visible"/>
                                      </p:to>
                                    </p:set>
                                    <p:animEffect transition="in" filter="fade">
                                      <p:cBhvr>
                                        <p:cTn id="29" dur="500"/>
                                        <p:tgtEl>
                                          <p:spTgt spid="15">
                                            <p:graphicEl>
                                              <a:dgm id="{05F89E64-4E2B-4311-A474-3C6C2BEC4A73}"/>
                                            </p:graphic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graphicEl>
                                              <a:dgm id="{602BAA04-1AE5-42B9-A030-7508C96D077B}"/>
                                            </p:graphicEl>
                                          </p:spTgt>
                                        </p:tgtEl>
                                        <p:attrNameLst>
                                          <p:attrName>style.visibility</p:attrName>
                                        </p:attrNameLst>
                                      </p:cBhvr>
                                      <p:to>
                                        <p:strVal val="visible"/>
                                      </p:to>
                                    </p:set>
                                    <p:animEffect transition="in" filter="fade">
                                      <p:cBhvr>
                                        <p:cTn id="32" dur="500"/>
                                        <p:tgtEl>
                                          <p:spTgt spid="15">
                                            <p:graphicEl>
                                              <a:dgm id="{602BAA04-1AE5-42B9-A030-7508C96D077B}"/>
                                            </p:graphic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graphicEl>
                                              <a:dgm id="{1700D744-256F-4658-AB83-D86DAFD67BED}"/>
                                            </p:graphicEl>
                                          </p:spTgt>
                                        </p:tgtEl>
                                        <p:attrNameLst>
                                          <p:attrName>style.visibility</p:attrName>
                                        </p:attrNameLst>
                                      </p:cBhvr>
                                      <p:to>
                                        <p:strVal val="visible"/>
                                      </p:to>
                                    </p:set>
                                    <p:animEffect transition="in" filter="fade">
                                      <p:cBhvr>
                                        <p:cTn id="35" dur="500"/>
                                        <p:tgtEl>
                                          <p:spTgt spid="15">
                                            <p:graphicEl>
                                              <a:dgm id="{1700D744-256F-4658-AB83-D86DAFD67BE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uiExpand="1">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1112-2B31-75FF-1BDD-7D8F83D72B5A}"/>
              </a:ext>
            </a:extLst>
          </p:cNvPr>
          <p:cNvSpPr>
            <a:spLocks noGrp="1"/>
          </p:cNvSpPr>
          <p:nvPr>
            <p:ph type="title"/>
          </p:nvPr>
        </p:nvSpPr>
        <p:spPr/>
        <p:txBody>
          <a:bodyPr/>
          <a:lstStyle/>
          <a:p>
            <a:pPr marL="342900" lvl="0" indent="-342900">
              <a:lnSpc>
                <a:spcPct val="107000"/>
              </a:lnSpc>
              <a:spcAft>
                <a:spcPts val="800"/>
              </a:spcAft>
              <a:tabLst>
                <a:tab pos="228600" algn="l"/>
                <a:tab pos="457200" algn="l"/>
              </a:tabLst>
            </a:pPr>
            <a:r>
              <a:rPr lang="en-US" sz="3200" kern="100" dirty="0">
                <a:latin typeface="Arial" panose="020B0604020202020204" pitchFamily="34" charset="0"/>
                <a:ea typeface="Calibri" panose="020F0502020204030204" pitchFamily="34" charset="0"/>
                <a:cs typeface="Times New Roman" panose="02020603050405020304" pitchFamily="18" charset="0"/>
              </a:rPr>
              <a:t>Telecom Cybersecurity in </a:t>
            </a:r>
            <a:r>
              <a:rPr lang="en-US" kern="100" dirty="0">
                <a:latin typeface="Arial" panose="020B0604020202020204" pitchFamily="34" charset="0"/>
                <a:ea typeface="Calibri" panose="020F0502020204030204" pitchFamily="34" charset="0"/>
                <a:cs typeface="Times New Roman" panose="02020603050405020304" pitchFamily="18" charset="0"/>
              </a:rPr>
              <a:t>Pakistan</a:t>
            </a:r>
            <a:endParaRPr lang="aa-ET" dirty="0"/>
          </a:p>
        </p:txBody>
      </p:sp>
      <p:sp>
        <p:nvSpPr>
          <p:cNvPr id="4" name="Slide Number Placeholder 3">
            <a:extLst>
              <a:ext uri="{FF2B5EF4-FFF2-40B4-BE49-F238E27FC236}">
                <a16:creationId xmlns:a16="http://schemas.microsoft.com/office/drawing/2014/main" id="{D3ACDABB-AEA0-7D22-73B3-D250C727EA1D}"/>
              </a:ext>
            </a:extLst>
          </p:cNvPr>
          <p:cNvSpPr>
            <a:spLocks noGrp="1"/>
          </p:cNvSpPr>
          <p:nvPr>
            <p:ph type="sldNum" sz="quarter" idx="12"/>
          </p:nvPr>
        </p:nvSpPr>
        <p:spPr/>
        <p:txBody>
          <a:bodyPr/>
          <a:lstStyle/>
          <a:p>
            <a:fld id="{9CF5882A-489D-47FB-AE42-7D761C6CCCEE}" type="slidenum">
              <a:rPr lang="aa-ET" smtClean="0"/>
              <a:pPr/>
              <a:t>20</a:t>
            </a:fld>
            <a:endParaRPr lang="aa-ET" dirty="0"/>
          </a:p>
        </p:txBody>
      </p:sp>
      <p:sp>
        <p:nvSpPr>
          <p:cNvPr id="13" name="TextBox 12">
            <a:extLst>
              <a:ext uri="{FF2B5EF4-FFF2-40B4-BE49-F238E27FC236}">
                <a16:creationId xmlns:a16="http://schemas.microsoft.com/office/drawing/2014/main" id="{0F39A992-2427-432C-98D8-457D30471CFE}"/>
              </a:ext>
            </a:extLst>
          </p:cNvPr>
          <p:cNvSpPr txBox="1"/>
          <p:nvPr/>
        </p:nvSpPr>
        <p:spPr>
          <a:xfrm>
            <a:off x="3059112" y="2781635"/>
            <a:ext cx="8039100" cy="369332"/>
          </a:xfrm>
          <a:prstGeom prst="rect">
            <a:avLst/>
          </a:prstGeom>
          <a:noFill/>
        </p:spPr>
        <p:txBody>
          <a:bodyPr wrap="square" rtlCol="0" anchor="b">
            <a:spAutoFit/>
          </a:bodyPr>
          <a:lstStyle/>
          <a:p>
            <a:endParaRPr lang="aa-ET" dirty="0"/>
          </a:p>
        </p:txBody>
      </p:sp>
      <p:graphicFrame>
        <p:nvGraphicFramePr>
          <p:cNvPr id="15" name="Diagram 14">
            <a:extLst>
              <a:ext uri="{FF2B5EF4-FFF2-40B4-BE49-F238E27FC236}">
                <a16:creationId xmlns:a16="http://schemas.microsoft.com/office/drawing/2014/main" id="{96D2990F-1224-647E-8A66-2A1D3C469FF0}"/>
              </a:ext>
            </a:extLst>
          </p:cNvPr>
          <p:cNvGraphicFramePr/>
          <p:nvPr>
            <p:extLst>
              <p:ext uri="{D42A27DB-BD31-4B8C-83A1-F6EECF244321}">
                <p14:modId xmlns:p14="http://schemas.microsoft.com/office/powerpoint/2010/main" val="1321727857"/>
              </p:ext>
            </p:extLst>
          </p:nvPr>
        </p:nvGraphicFramePr>
        <p:xfrm>
          <a:off x="192088" y="1560511"/>
          <a:ext cx="10963442" cy="46325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93584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graphicEl>
                                              <a:dgm id="{5E4502CD-F79F-49FB-8030-E875BF6E82A2}"/>
                                            </p:graphicEl>
                                          </p:spTgt>
                                        </p:tgtEl>
                                        <p:attrNameLst>
                                          <p:attrName>style.visibility</p:attrName>
                                        </p:attrNameLst>
                                      </p:cBhvr>
                                      <p:to>
                                        <p:strVal val="visible"/>
                                      </p:to>
                                    </p:set>
                                    <p:animEffect transition="in" filter="fade">
                                      <p:cBhvr>
                                        <p:cTn id="7" dur="500"/>
                                        <p:tgtEl>
                                          <p:spTgt spid="15">
                                            <p:graphicEl>
                                              <a:dgm id="{5E4502CD-F79F-49FB-8030-E875BF6E82A2}"/>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graphicEl>
                                              <a:dgm id="{38DD3546-60F8-41C0-836F-F5AEB086402C}"/>
                                            </p:graphicEl>
                                          </p:spTgt>
                                        </p:tgtEl>
                                        <p:attrNameLst>
                                          <p:attrName>style.visibility</p:attrName>
                                        </p:attrNameLst>
                                      </p:cBhvr>
                                      <p:to>
                                        <p:strVal val="visible"/>
                                      </p:to>
                                    </p:set>
                                    <p:animEffect transition="in" filter="fade">
                                      <p:cBhvr>
                                        <p:cTn id="10" dur="500"/>
                                        <p:tgtEl>
                                          <p:spTgt spid="15">
                                            <p:graphicEl>
                                              <a:dgm id="{38DD3546-60F8-41C0-836F-F5AEB086402C}"/>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graphicEl>
                                              <a:dgm id="{35C2A696-33C6-4A38-881F-E836E8579E43}"/>
                                            </p:graphicEl>
                                          </p:spTgt>
                                        </p:tgtEl>
                                        <p:attrNameLst>
                                          <p:attrName>style.visibility</p:attrName>
                                        </p:attrNameLst>
                                      </p:cBhvr>
                                      <p:to>
                                        <p:strVal val="visible"/>
                                      </p:to>
                                    </p:set>
                                    <p:animEffect transition="in" filter="fade">
                                      <p:cBhvr>
                                        <p:cTn id="13" dur="500"/>
                                        <p:tgtEl>
                                          <p:spTgt spid="15">
                                            <p:graphicEl>
                                              <a:dgm id="{35C2A696-33C6-4A38-881F-E836E8579E43}"/>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graphicEl>
                                              <a:dgm id="{55834DE0-1352-4A32-BF75-EF4D5497E23B}"/>
                                            </p:graphicEl>
                                          </p:spTgt>
                                        </p:tgtEl>
                                        <p:attrNameLst>
                                          <p:attrName>style.visibility</p:attrName>
                                        </p:attrNameLst>
                                      </p:cBhvr>
                                      <p:to>
                                        <p:strVal val="visible"/>
                                      </p:to>
                                    </p:set>
                                    <p:animEffect transition="in" filter="fade">
                                      <p:cBhvr>
                                        <p:cTn id="18" dur="500"/>
                                        <p:tgtEl>
                                          <p:spTgt spid="15">
                                            <p:graphicEl>
                                              <a:dgm id="{55834DE0-1352-4A32-BF75-EF4D5497E23B}"/>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graphicEl>
                                              <a:dgm id="{1D4D1A44-4416-4BF0-87AC-17FB24B18648}"/>
                                            </p:graphicEl>
                                          </p:spTgt>
                                        </p:tgtEl>
                                        <p:attrNameLst>
                                          <p:attrName>style.visibility</p:attrName>
                                        </p:attrNameLst>
                                      </p:cBhvr>
                                      <p:to>
                                        <p:strVal val="visible"/>
                                      </p:to>
                                    </p:set>
                                    <p:animEffect transition="in" filter="fade">
                                      <p:cBhvr>
                                        <p:cTn id="21" dur="500"/>
                                        <p:tgtEl>
                                          <p:spTgt spid="15">
                                            <p:graphicEl>
                                              <a:dgm id="{1D4D1A44-4416-4BF0-87AC-17FB24B18648}"/>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graphicEl>
                                              <a:dgm id="{55946F7D-C2DD-4B0F-8598-B62BA9305D2E}"/>
                                            </p:graphicEl>
                                          </p:spTgt>
                                        </p:tgtEl>
                                        <p:attrNameLst>
                                          <p:attrName>style.visibility</p:attrName>
                                        </p:attrNameLst>
                                      </p:cBhvr>
                                      <p:to>
                                        <p:strVal val="visible"/>
                                      </p:to>
                                    </p:set>
                                    <p:animEffect transition="in" filter="fade">
                                      <p:cBhvr>
                                        <p:cTn id="24" dur="500"/>
                                        <p:tgtEl>
                                          <p:spTgt spid="15">
                                            <p:graphicEl>
                                              <a:dgm id="{55946F7D-C2DD-4B0F-8598-B62BA9305D2E}"/>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graphicEl>
                                              <a:dgm id="{05F89E64-4E2B-4311-A474-3C6C2BEC4A73}"/>
                                            </p:graphicEl>
                                          </p:spTgt>
                                        </p:tgtEl>
                                        <p:attrNameLst>
                                          <p:attrName>style.visibility</p:attrName>
                                        </p:attrNameLst>
                                      </p:cBhvr>
                                      <p:to>
                                        <p:strVal val="visible"/>
                                      </p:to>
                                    </p:set>
                                    <p:animEffect transition="in" filter="fade">
                                      <p:cBhvr>
                                        <p:cTn id="29" dur="500"/>
                                        <p:tgtEl>
                                          <p:spTgt spid="15">
                                            <p:graphicEl>
                                              <a:dgm id="{05F89E64-4E2B-4311-A474-3C6C2BEC4A73}"/>
                                            </p:graphic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graphicEl>
                                              <a:dgm id="{602BAA04-1AE5-42B9-A030-7508C96D077B}"/>
                                            </p:graphicEl>
                                          </p:spTgt>
                                        </p:tgtEl>
                                        <p:attrNameLst>
                                          <p:attrName>style.visibility</p:attrName>
                                        </p:attrNameLst>
                                      </p:cBhvr>
                                      <p:to>
                                        <p:strVal val="visible"/>
                                      </p:to>
                                    </p:set>
                                    <p:animEffect transition="in" filter="fade">
                                      <p:cBhvr>
                                        <p:cTn id="32" dur="500"/>
                                        <p:tgtEl>
                                          <p:spTgt spid="15">
                                            <p:graphicEl>
                                              <a:dgm id="{602BAA04-1AE5-42B9-A030-7508C96D077B}"/>
                                            </p:graphic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graphicEl>
                                              <a:dgm id="{1700D744-256F-4658-AB83-D86DAFD67BED}"/>
                                            </p:graphicEl>
                                          </p:spTgt>
                                        </p:tgtEl>
                                        <p:attrNameLst>
                                          <p:attrName>style.visibility</p:attrName>
                                        </p:attrNameLst>
                                      </p:cBhvr>
                                      <p:to>
                                        <p:strVal val="visible"/>
                                      </p:to>
                                    </p:set>
                                    <p:animEffect transition="in" filter="fade">
                                      <p:cBhvr>
                                        <p:cTn id="35" dur="500"/>
                                        <p:tgtEl>
                                          <p:spTgt spid="15">
                                            <p:graphicEl>
                                              <a:dgm id="{1700D744-256F-4658-AB83-D86DAFD67BE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uiExpand="1">
        <p:bldSub>
          <a:bldDgm bld="one"/>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2734E-C98B-1D7E-5D7D-8139F1325656}"/>
              </a:ext>
            </a:extLst>
          </p:cNvPr>
          <p:cNvSpPr>
            <a:spLocks noGrp="1"/>
          </p:cNvSpPr>
          <p:nvPr>
            <p:ph type="ctrTitle"/>
          </p:nvPr>
        </p:nvSpPr>
        <p:spPr/>
        <p:txBody>
          <a:bodyPr/>
          <a:lstStyle/>
          <a:p>
            <a:r>
              <a:rPr lang="en-US" dirty="0"/>
              <a:t>Promoting Cybersecurity</a:t>
            </a:r>
            <a:endParaRPr lang="aa-ET" dirty="0"/>
          </a:p>
        </p:txBody>
      </p:sp>
      <p:sp>
        <p:nvSpPr>
          <p:cNvPr id="3" name="Slide Number Placeholder 2">
            <a:extLst>
              <a:ext uri="{FF2B5EF4-FFF2-40B4-BE49-F238E27FC236}">
                <a16:creationId xmlns:a16="http://schemas.microsoft.com/office/drawing/2014/main" id="{D8D31D55-EB7C-6126-CBF2-DA2E4464CE20}"/>
              </a:ext>
            </a:extLst>
          </p:cNvPr>
          <p:cNvSpPr>
            <a:spLocks noGrp="1"/>
          </p:cNvSpPr>
          <p:nvPr>
            <p:ph type="sldNum" sz="quarter" idx="12"/>
          </p:nvPr>
        </p:nvSpPr>
        <p:spPr/>
        <p:txBody>
          <a:bodyPr/>
          <a:lstStyle/>
          <a:p>
            <a:fld id="{9CF5882A-489D-47FB-AE42-7D761C6CCCEE}" type="slidenum">
              <a:rPr lang="aa-ET" smtClean="0"/>
              <a:t>21</a:t>
            </a:fld>
            <a:endParaRPr lang="aa-ET" dirty="0"/>
          </a:p>
        </p:txBody>
      </p:sp>
    </p:spTree>
    <p:extLst>
      <p:ext uri="{BB962C8B-B14F-4D97-AF65-F5344CB8AC3E}">
        <p14:creationId xmlns:p14="http://schemas.microsoft.com/office/powerpoint/2010/main" val="251889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21E6-F20C-25E4-8410-620A50E9ECC4}"/>
              </a:ext>
            </a:extLst>
          </p:cNvPr>
          <p:cNvSpPr>
            <a:spLocks noGrp="1"/>
          </p:cNvSpPr>
          <p:nvPr>
            <p:ph type="title"/>
          </p:nvPr>
        </p:nvSpPr>
        <p:spPr/>
        <p:txBody>
          <a:bodyPr/>
          <a:lstStyle/>
          <a:p>
            <a:r>
              <a:rPr lang="en-US" dirty="0"/>
              <a:t>A Collaborative Approach</a:t>
            </a:r>
            <a:endParaRPr lang="aa-ET" dirty="0"/>
          </a:p>
        </p:txBody>
      </p:sp>
      <p:sp>
        <p:nvSpPr>
          <p:cNvPr id="3" name="Content Placeholder 2">
            <a:extLst>
              <a:ext uri="{FF2B5EF4-FFF2-40B4-BE49-F238E27FC236}">
                <a16:creationId xmlns:a16="http://schemas.microsoft.com/office/drawing/2014/main" id="{EE4A0F5C-32C1-5BD0-B4B7-FC4221ECD5D4}"/>
              </a:ext>
            </a:extLst>
          </p:cNvPr>
          <p:cNvSpPr>
            <a:spLocks noGrp="1"/>
          </p:cNvSpPr>
          <p:nvPr>
            <p:ph idx="1"/>
          </p:nvPr>
        </p:nvSpPr>
        <p:spPr/>
        <p:txBody>
          <a:bodyPr>
            <a:normAutofit lnSpcReduction="10000"/>
          </a:bodyPr>
          <a:lstStyle/>
          <a:p>
            <a:pPr>
              <a:lnSpc>
                <a:spcPct val="150000"/>
              </a:lnSpc>
            </a:pPr>
            <a:r>
              <a:rPr lang="en-US" dirty="0"/>
              <a:t>Telecom companies can share information about cyber threats and best practices</a:t>
            </a:r>
          </a:p>
          <a:p>
            <a:pPr>
              <a:lnSpc>
                <a:spcPct val="150000"/>
              </a:lnSpc>
            </a:pPr>
            <a:r>
              <a:rPr lang="en-US" dirty="0"/>
              <a:t>Telecom companies can work together to develop coordinated responses to cyberattacks</a:t>
            </a:r>
          </a:p>
          <a:p>
            <a:pPr>
              <a:lnSpc>
                <a:spcPct val="150000"/>
              </a:lnSpc>
            </a:pPr>
            <a:r>
              <a:rPr lang="en-US" dirty="0"/>
              <a:t>Telecom companies and governments can invest in research and development to develop new cybersecurity technologies and solutions</a:t>
            </a:r>
          </a:p>
          <a:p>
            <a:pPr>
              <a:lnSpc>
                <a:spcPct val="150000"/>
              </a:lnSpc>
            </a:pPr>
            <a:r>
              <a:rPr lang="en-US" dirty="0"/>
              <a:t>Governments develop and implement cybersecurity policies and regulations</a:t>
            </a:r>
          </a:p>
          <a:p>
            <a:pPr>
              <a:lnSpc>
                <a:spcPct val="150000"/>
              </a:lnSpc>
            </a:pPr>
            <a:r>
              <a:rPr lang="en-US" dirty="0"/>
              <a:t>Raise awareness of cybersecurity risks</a:t>
            </a:r>
          </a:p>
        </p:txBody>
      </p:sp>
      <p:sp>
        <p:nvSpPr>
          <p:cNvPr id="4" name="Slide Number Placeholder 3">
            <a:extLst>
              <a:ext uri="{FF2B5EF4-FFF2-40B4-BE49-F238E27FC236}">
                <a16:creationId xmlns:a16="http://schemas.microsoft.com/office/drawing/2014/main" id="{4E040D20-1CED-6820-B3BB-A9AA6532A610}"/>
              </a:ext>
            </a:extLst>
          </p:cNvPr>
          <p:cNvSpPr>
            <a:spLocks noGrp="1"/>
          </p:cNvSpPr>
          <p:nvPr>
            <p:ph type="sldNum" sz="quarter" idx="12"/>
          </p:nvPr>
        </p:nvSpPr>
        <p:spPr/>
        <p:txBody>
          <a:bodyPr/>
          <a:lstStyle/>
          <a:p>
            <a:fld id="{9CF5882A-489D-47FB-AE42-7D761C6CCCEE}" type="slidenum">
              <a:rPr lang="aa-ET" smtClean="0"/>
              <a:pPr/>
              <a:t>22</a:t>
            </a:fld>
            <a:endParaRPr lang="aa-ET" dirty="0"/>
          </a:p>
        </p:txBody>
      </p:sp>
    </p:spTree>
    <p:extLst>
      <p:ext uri="{BB962C8B-B14F-4D97-AF65-F5344CB8AC3E}">
        <p14:creationId xmlns:p14="http://schemas.microsoft.com/office/powerpoint/2010/main" val="344584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688C0-1FDC-4FFE-722C-74C7EDF44219}"/>
              </a:ext>
            </a:extLst>
          </p:cNvPr>
          <p:cNvSpPr>
            <a:spLocks noGrp="1"/>
          </p:cNvSpPr>
          <p:nvPr>
            <p:ph type="ctrTitle"/>
          </p:nvPr>
        </p:nvSpPr>
        <p:spPr/>
        <p:txBody>
          <a:bodyPr/>
          <a:lstStyle/>
          <a:p>
            <a:r>
              <a:rPr lang="en-US" dirty="0"/>
              <a:t>Conclusion</a:t>
            </a:r>
            <a:endParaRPr lang="aa-ET" dirty="0"/>
          </a:p>
        </p:txBody>
      </p:sp>
      <p:sp>
        <p:nvSpPr>
          <p:cNvPr id="3" name="Slide Number Placeholder 2">
            <a:extLst>
              <a:ext uri="{FF2B5EF4-FFF2-40B4-BE49-F238E27FC236}">
                <a16:creationId xmlns:a16="http://schemas.microsoft.com/office/drawing/2014/main" id="{1F1E2C82-54A0-183D-3974-3B627EF91162}"/>
              </a:ext>
            </a:extLst>
          </p:cNvPr>
          <p:cNvSpPr>
            <a:spLocks noGrp="1"/>
          </p:cNvSpPr>
          <p:nvPr>
            <p:ph type="sldNum" sz="quarter" idx="12"/>
          </p:nvPr>
        </p:nvSpPr>
        <p:spPr/>
        <p:txBody>
          <a:bodyPr/>
          <a:lstStyle/>
          <a:p>
            <a:fld id="{9CF5882A-489D-47FB-AE42-7D761C6CCCEE}" type="slidenum">
              <a:rPr lang="aa-ET" smtClean="0"/>
              <a:t>23</a:t>
            </a:fld>
            <a:endParaRPr lang="aa-ET" dirty="0"/>
          </a:p>
        </p:txBody>
      </p:sp>
    </p:spTree>
    <p:extLst>
      <p:ext uri="{BB962C8B-B14F-4D97-AF65-F5344CB8AC3E}">
        <p14:creationId xmlns:p14="http://schemas.microsoft.com/office/powerpoint/2010/main" val="1090920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EB9D3-553C-9518-9203-99CA5F3FAA5D}"/>
              </a:ext>
            </a:extLst>
          </p:cNvPr>
          <p:cNvSpPr>
            <a:spLocks noGrp="1"/>
          </p:cNvSpPr>
          <p:nvPr>
            <p:ph type="title"/>
          </p:nvPr>
        </p:nvSpPr>
        <p:spPr/>
        <p:txBody>
          <a:bodyPr/>
          <a:lstStyle/>
          <a:p>
            <a:r>
              <a:rPr sz="3000" b="1"/>
              <a:t>Cybersecurity Is Essential for Telecom</a:t>
            </a:r>
            <a:endParaRPr lang="aa-ET" dirty="0"/>
          </a:p>
        </p:txBody>
      </p:sp>
      <p:sp>
        <p:nvSpPr>
          <p:cNvPr id="3" name="Content Placeholder 2">
            <a:extLst>
              <a:ext uri="{FF2B5EF4-FFF2-40B4-BE49-F238E27FC236}">
                <a16:creationId xmlns:a16="http://schemas.microsoft.com/office/drawing/2014/main" id="{6F4475C9-1451-0A17-BC43-375AFCED18F4}"/>
              </a:ext>
            </a:extLst>
          </p:cNvPr>
          <p:cNvSpPr>
            <a:spLocks noGrp="1"/>
          </p:cNvSpPr>
          <p:nvPr>
            <p:ph idx="1"/>
          </p:nvPr>
        </p:nvSpPr>
        <p:spPr>
          <a:xfrm>
            <a:off x="563479" y="1484313"/>
            <a:ext cx="11065042" cy="4660984"/>
          </a:xfrm>
        </p:spPr>
        <p:txBody>
          <a:bodyPr/>
          <a:lstStyle/>
          <a:p>
            <a:pPr>
              <a:lnSpc>
                <a:spcPct val="150000"/>
              </a:lnSpc>
            </a:pPr>
            <a:r>
              <a:rPr dirty="0"/>
              <a:t>Cybersecurity is essential for protecting customer privacy.</a:t>
            </a:r>
          </a:p>
          <a:p>
            <a:pPr>
              <a:lnSpc>
                <a:spcPct val="150000"/>
              </a:lnSpc>
            </a:pPr>
            <a:r>
              <a:rPr dirty="0"/>
              <a:t>Cybersecurity is essential for protecting telecom networks.</a:t>
            </a:r>
          </a:p>
          <a:p>
            <a:pPr>
              <a:lnSpc>
                <a:spcPct val="150000"/>
              </a:lnSpc>
            </a:pPr>
            <a:r>
              <a:rPr dirty="0"/>
              <a:t>Cybersecurity is essential for maintaining trust and reputation.</a:t>
            </a:r>
          </a:p>
          <a:p>
            <a:endParaRPr sz="2200" dirty="0"/>
          </a:p>
          <a:p>
            <a:pPr marL="0" indent="0" algn="ctr">
              <a:lnSpc>
                <a:spcPct val="150000"/>
              </a:lnSpc>
              <a:buNone/>
            </a:pPr>
            <a:r>
              <a:rPr sz="3600" b="1" dirty="0">
                <a:solidFill>
                  <a:schemeClr val="accent1">
                    <a:lumMod val="50000"/>
                  </a:schemeClr>
                </a:solidFill>
              </a:rPr>
              <a:t>Telecom stakeholders should make cybersecurity a top priority.</a:t>
            </a:r>
          </a:p>
        </p:txBody>
      </p:sp>
      <p:sp>
        <p:nvSpPr>
          <p:cNvPr id="4" name="Slide Number Placeholder 3">
            <a:extLst>
              <a:ext uri="{FF2B5EF4-FFF2-40B4-BE49-F238E27FC236}">
                <a16:creationId xmlns:a16="http://schemas.microsoft.com/office/drawing/2014/main" id="{66369629-CD4A-12A9-FB55-701F0B5CB3E6}"/>
              </a:ext>
            </a:extLst>
          </p:cNvPr>
          <p:cNvSpPr>
            <a:spLocks noGrp="1"/>
          </p:cNvSpPr>
          <p:nvPr>
            <p:ph type="sldNum" sz="quarter" idx="12"/>
          </p:nvPr>
        </p:nvSpPr>
        <p:spPr/>
        <p:txBody>
          <a:bodyPr/>
          <a:lstStyle/>
          <a:p>
            <a:fld id="{9CF5882A-489D-47FB-AE42-7D761C6CCCEE}" type="slidenum">
              <a:rPr lang="aa-ET" smtClean="0"/>
              <a:pPr/>
              <a:t>24</a:t>
            </a:fld>
            <a:endParaRPr lang="aa-ET" dirty="0"/>
          </a:p>
        </p:txBody>
      </p:sp>
    </p:spTree>
    <p:extLst>
      <p:ext uri="{BB962C8B-B14F-4D97-AF65-F5344CB8AC3E}">
        <p14:creationId xmlns:p14="http://schemas.microsoft.com/office/powerpoint/2010/main" val="4130330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E61CD-50C5-3CCE-B13E-57E95E79002F}"/>
              </a:ext>
            </a:extLst>
          </p:cNvPr>
          <p:cNvSpPr>
            <a:spLocks noGrp="1"/>
          </p:cNvSpPr>
          <p:nvPr>
            <p:ph type="title"/>
          </p:nvPr>
        </p:nvSpPr>
        <p:spPr/>
        <p:txBody>
          <a:bodyPr/>
          <a:lstStyle/>
          <a:p>
            <a:r>
              <a:rPr lang="en-US" dirty="0"/>
              <a:t>Questions?</a:t>
            </a:r>
            <a:endParaRPr lang="aa-ET" dirty="0"/>
          </a:p>
        </p:txBody>
      </p:sp>
      <p:sp>
        <p:nvSpPr>
          <p:cNvPr id="4" name="Slide Number Placeholder 3">
            <a:extLst>
              <a:ext uri="{FF2B5EF4-FFF2-40B4-BE49-F238E27FC236}">
                <a16:creationId xmlns:a16="http://schemas.microsoft.com/office/drawing/2014/main" id="{5F4CDC50-BE1C-D98D-E4E0-CE3FF0884BE3}"/>
              </a:ext>
            </a:extLst>
          </p:cNvPr>
          <p:cNvSpPr>
            <a:spLocks noGrp="1"/>
          </p:cNvSpPr>
          <p:nvPr>
            <p:ph type="sldNum" sz="quarter" idx="12"/>
          </p:nvPr>
        </p:nvSpPr>
        <p:spPr/>
        <p:txBody>
          <a:bodyPr/>
          <a:lstStyle/>
          <a:p>
            <a:fld id="{9CF5882A-489D-47FB-AE42-7D761C6CCCEE}" type="slidenum">
              <a:rPr lang="aa-ET" smtClean="0"/>
              <a:pPr/>
              <a:t>25</a:t>
            </a:fld>
            <a:endParaRPr lang="aa-ET" dirty="0"/>
          </a:p>
        </p:txBody>
      </p:sp>
      <p:pic>
        <p:nvPicPr>
          <p:cNvPr id="19" name="Content Placeholder 18">
            <a:extLst>
              <a:ext uri="{FF2B5EF4-FFF2-40B4-BE49-F238E27FC236}">
                <a16:creationId xmlns:a16="http://schemas.microsoft.com/office/drawing/2014/main" id="{F2C26A35-B6FD-516E-070B-1F921FECAD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725467" y="1447800"/>
            <a:ext cx="6741066"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189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E61CD-50C5-3CCE-B13E-57E95E79002F}"/>
              </a:ext>
            </a:extLst>
          </p:cNvPr>
          <p:cNvSpPr>
            <a:spLocks noGrp="1"/>
          </p:cNvSpPr>
          <p:nvPr>
            <p:ph type="title"/>
          </p:nvPr>
        </p:nvSpPr>
        <p:spPr/>
        <p:txBody>
          <a:bodyPr/>
          <a:lstStyle/>
          <a:p>
            <a:r>
              <a:rPr lang="en-US" dirty="0"/>
              <a:t>Contribution</a:t>
            </a:r>
            <a:endParaRPr lang="aa-ET" dirty="0"/>
          </a:p>
        </p:txBody>
      </p:sp>
      <p:sp>
        <p:nvSpPr>
          <p:cNvPr id="4" name="Slide Number Placeholder 3">
            <a:extLst>
              <a:ext uri="{FF2B5EF4-FFF2-40B4-BE49-F238E27FC236}">
                <a16:creationId xmlns:a16="http://schemas.microsoft.com/office/drawing/2014/main" id="{5F4CDC50-BE1C-D98D-E4E0-CE3FF0884BE3}"/>
              </a:ext>
            </a:extLst>
          </p:cNvPr>
          <p:cNvSpPr>
            <a:spLocks noGrp="1"/>
          </p:cNvSpPr>
          <p:nvPr>
            <p:ph type="sldNum" sz="quarter" idx="12"/>
          </p:nvPr>
        </p:nvSpPr>
        <p:spPr/>
        <p:txBody>
          <a:bodyPr/>
          <a:lstStyle/>
          <a:p>
            <a:fld id="{9CF5882A-489D-47FB-AE42-7D761C6CCCEE}" type="slidenum">
              <a:rPr lang="aa-ET" smtClean="0"/>
              <a:pPr/>
              <a:t>26</a:t>
            </a:fld>
            <a:endParaRPr lang="aa-ET" dirty="0"/>
          </a:p>
        </p:txBody>
      </p:sp>
      <p:sp>
        <p:nvSpPr>
          <p:cNvPr id="3" name="Content Placeholder 2"/>
          <p:cNvSpPr>
            <a:spLocks noGrp="1"/>
          </p:cNvSpPr>
          <p:nvPr>
            <p:ph idx="1"/>
          </p:nvPr>
        </p:nvSpPr>
        <p:spPr/>
        <p:txBody>
          <a:bodyPr>
            <a:normAutofit/>
          </a:bodyPr>
          <a:lstStyle/>
          <a:p>
            <a:pPr marL="0" indent="0">
              <a:buNone/>
            </a:pPr>
            <a:r>
              <a:rPr dirty="0"/>
              <a:t>Both members contributed to the presentation on </a:t>
            </a:r>
            <a:r>
              <a:rPr i="1" dirty="0"/>
              <a:t>“Importance of Cybersecurity in Telecommunication.”</a:t>
            </a:r>
            <a:endParaRPr lang="en-GB" i="1"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r>
              <a:rPr b="1" dirty="0"/>
              <a:t>Hussain Ali </a:t>
            </a:r>
            <a:r>
              <a:rPr dirty="0"/>
              <a:t>highlighted the importance of cybersecurity for protecting customer data, national infrastructure, and telecom companies.</a:t>
            </a:r>
          </a:p>
          <a:p>
            <a:endParaRPr dirty="0"/>
          </a:p>
          <a:p>
            <a:r>
              <a:rPr b="1" dirty="0"/>
              <a:t>Syed Jazib Ali Rizvi </a:t>
            </a:r>
            <a:r>
              <a:rPr dirty="0"/>
              <a:t>highlighted the role of cybersecurity in protecting critical infrastructure, defending against nation-state threats, and securing customer data.</a:t>
            </a:r>
          </a:p>
        </p:txBody>
      </p:sp>
    </p:spTree>
    <p:extLst>
      <p:ext uri="{BB962C8B-B14F-4D97-AF65-F5344CB8AC3E}">
        <p14:creationId xmlns:p14="http://schemas.microsoft.com/office/powerpoint/2010/main" val="706237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1017</TotalTime>
  <Words>4241</Words>
  <Application>Microsoft Office PowerPoint</Application>
  <PresentationFormat>Widescreen</PresentationFormat>
  <Paragraphs>288</Paragraphs>
  <Slides>26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Google Sans</vt:lpstr>
      <vt:lpstr>Helvetica Neue</vt:lpstr>
      <vt:lpstr>Söhne</vt:lpstr>
      <vt:lpstr>Arial</vt:lpstr>
      <vt:lpstr>Calibri</vt:lpstr>
      <vt:lpstr>Wingdings</vt:lpstr>
      <vt:lpstr>Office Theme</vt:lpstr>
      <vt:lpstr>Importance of  Cybersecurity in Telecommunication </vt:lpstr>
      <vt:lpstr>Outlines:</vt:lpstr>
      <vt:lpstr>Introduction</vt:lpstr>
      <vt:lpstr>Telecommunication</vt:lpstr>
      <vt:lpstr>Means of Telecommunication</vt:lpstr>
      <vt:lpstr>Telecom Stakeholders</vt:lpstr>
      <vt:lpstr>Cybersecurity in Telecom Sector</vt:lpstr>
      <vt:lpstr>Cyberattacks in the Telecom Sector</vt:lpstr>
      <vt:lpstr>Types of Cyberattacks</vt:lpstr>
      <vt:lpstr>Successful Attacks</vt:lpstr>
      <vt:lpstr>Impact of Cyberattacks</vt:lpstr>
      <vt:lpstr> Impact of Cyberattacks</vt:lpstr>
      <vt:lpstr>Cost of Cybercrime</vt:lpstr>
      <vt:lpstr>Role of Cybersecurity in  Telecom Sector</vt:lpstr>
      <vt:lpstr>Importance of Robust Cybersecurity Measures</vt:lpstr>
      <vt:lpstr>Strategies for Defending Against Cyber Threats</vt:lpstr>
      <vt:lpstr>Successful Defenses</vt:lpstr>
      <vt:lpstr>Pakistan and International Perspective</vt:lpstr>
      <vt:lpstr>Telecom Cybersecurity in the World</vt:lpstr>
      <vt:lpstr>Telecom Cybersecurity in Pakistan</vt:lpstr>
      <vt:lpstr>Promoting Cybersecurity</vt:lpstr>
      <vt:lpstr>A Collaborative Approach</vt:lpstr>
      <vt:lpstr>Conclusion</vt:lpstr>
      <vt:lpstr>Cybersecurity Is Essential for Telecom</vt:lpstr>
      <vt:lpstr>Questions?</vt:lpstr>
      <vt:lpstr>Contribution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Importance of Cyber Security in Telecommunication</dc:title>
  <dc:creator>VComm</dc:creator>
  <cp:lastModifiedBy>Hussain Ali</cp:lastModifiedBy>
  <cp:revision>12</cp:revision>
  <dcterms:created xsi:type="dcterms:W3CDTF">2023-10-18T02:45:27Z</dcterms:created>
  <dcterms:modified xsi:type="dcterms:W3CDTF">2026-05-14T09:51:07Z</dcterms:modified>
</cp:coreProperties>
</file>