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9" r:id="rId2"/>
    <p:sldId id="260" r:id="rId3"/>
    <p:sldId id="261" r:id="rId4"/>
    <p:sldId id="263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2" r:id="rId15"/>
    <p:sldId id="277" r:id="rId16"/>
    <p:sldId id="276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0"/>
    <a:srgbClr val="D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5E4874-B942-4412-8C19-FF1635B9D9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59AAE-15C2-46FC-B698-3DC6A194DC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5CB8D-B10C-4F32-BE0F-5D1160BEAC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B9EAB-42C7-4B91-B763-83993DA810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3488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5A3B4-88E9-4F85-B042-8F8D9F8E1D06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F4EB3-2107-4598-842B-27BAC4543D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105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6FA0-49BD-49FA-A0D8-D9CB4D135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EC0000"/>
                </a:solidFill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659AD-5183-43B1-8BC6-9A695F7A9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39532-BE14-4F30-96AA-6918E9DC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EDAA4D-B1DF-4E85-879F-9B49EC4BBCBA}" type="datetime3">
              <a:rPr lang="en-US" smtClean="0"/>
              <a:pPr/>
              <a:t>14 May 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209A4-DE7C-4EAB-B142-B33441C1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A7263-8685-458F-A305-7E572BB5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E42B60-2F73-4D03-A81F-4A4E093B196F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293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FA46-7EBF-4A43-9929-FC9A3D2D6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ln>
            <a:solidFill>
              <a:srgbClr val="EC0000"/>
            </a:solidFill>
          </a:ln>
        </p:spPr>
        <p:txBody>
          <a:bodyPr/>
          <a:lstStyle>
            <a:lvl1pPr>
              <a:defRPr b="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9552-650A-4EF9-BD0B-1FD4B78A87A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2400">
                <a:solidFill>
                  <a:schemeClr val="bg1"/>
                </a:solidFill>
                <a:latin typeface="Montserrat" pitchFamily="2" charset="0"/>
              </a:defRPr>
            </a:lvl2pPr>
            <a:lvl3pPr>
              <a:defRPr sz="2400">
                <a:solidFill>
                  <a:schemeClr val="bg1"/>
                </a:solidFill>
                <a:latin typeface="Montserrat" pitchFamily="2" charset="0"/>
              </a:defRPr>
            </a:lvl3pPr>
            <a:lvl4pPr>
              <a:defRPr sz="2400">
                <a:solidFill>
                  <a:schemeClr val="bg1"/>
                </a:solidFill>
                <a:latin typeface="Montserrat" pitchFamily="2" charset="0"/>
              </a:defRPr>
            </a:lvl4pPr>
            <a:lvl5pPr>
              <a:defRPr sz="2400">
                <a:solidFill>
                  <a:schemeClr val="bg1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41F45-3493-4526-B49A-AC156CD0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rgbClr val="EC0000"/>
            </a:solidFill>
          </a:ln>
        </p:spPr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F590-EDF6-452E-B998-B95C3145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rgbClr val="EC0000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C915-A55C-4735-9DCB-B30ECD76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rgbClr val="EC0000"/>
            </a:solidFill>
          </a:ln>
        </p:spPr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356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BF50-9FC2-4B19-AEC6-ADD0CD68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B7BCB-0A58-494F-A8A3-9C89AE929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73A65-AE29-43B5-A51B-C42E7EA1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9DA4-72D9-4289-B920-B0086D2A405E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D79E6-8736-4299-9DD9-BB63FA3A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EC3C0-7777-4B9A-887C-64AD3791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1097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AA8B-C367-493F-A43E-8472F657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BFB1B-195A-4C64-9017-D80BC255C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A2BAA-D67D-41EC-9273-E8952048E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9A574-1931-494B-985C-9180C3E6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234E8-2566-4621-B295-145DA8619ECD}" type="datetime3">
              <a:rPr lang="en-US" smtClean="0"/>
              <a:t>14 May 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0D917-4F53-4D08-9F07-ADF9F063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496C5-F880-4DE6-9EBA-23C80DCF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9836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14F05-50F7-49BF-B1F3-6664C3E4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81DE-26CF-4387-9B31-B01A5271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CF171-ADDB-4613-B42A-EDA263764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A689D-7949-4CD6-93AC-755F1873A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12368-AFE9-4AFF-B370-93CD495C3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8BC35-5F4F-46A0-9ADF-357AC71C8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05CF-C211-4058-8F7F-80FE7D934577}" type="datetime3">
              <a:rPr lang="en-US" smtClean="0"/>
              <a:t>14 May 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6086E-16B8-443D-92C2-7226DCE4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7E295-173C-406B-B771-334B832F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80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DC14-BCE2-4C2E-ACB3-0F89137300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EC0000"/>
            </a:solidFill>
          </a:ln>
        </p:spPr>
        <p:txBody>
          <a:bodyPr/>
          <a:lstStyle>
            <a:lvl1pPr>
              <a:defRPr>
                <a:latin typeface="Montserrat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855F-F4A7-4ED8-9900-4D74353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rgbClr val="EC0000"/>
            </a:solidFill>
          </a:ln>
        </p:spPr>
        <p:txBody>
          <a:bodyPr/>
          <a:lstStyle/>
          <a:p>
            <a:fld id="{5B77D8A3-84EC-49BA-BF36-4A2BFC5FBF85}" type="datetime3">
              <a:rPr lang="en-US" smtClean="0"/>
              <a:t>14 May 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A336A-4178-4771-9D72-BF18870C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rgbClr val="EC0000"/>
            </a:solidFill>
          </a:ln>
        </p:spPr>
        <p:txBody>
          <a:bodyPr/>
          <a:lstStyle/>
          <a:p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4DA57-3A93-4E0C-BF97-A717F12A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rgbClr val="EC0000"/>
            </a:solidFill>
          </a:ln>
        </p:spPr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7219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15892-D73A-482A-A0AA-E9D08AA4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5585-8182-4F95-8343-25EEEFC9E677}" type="datetime3">
              <a:rPr lang="en-US" smtClean="0"/>
              <a:t>14 May 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9621F-B741-450E-9E11-D324BA76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3835E-07C9-4C80-B5B8-D49D14A6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772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670B-5615-40DA-BE0F-DC6877FE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AE27A-BAE9-4BF7-909D-57EBA7D4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itchFamily="2" charset="0"/>
              </a:defRPr>
            </a:lvl1pPr>
            <a:lvl2pPr>
              <a:defRPr sz="2800">
                <a:latin typeface="Montserrat" pitchFamily="2" charset="0"/>
              </a:defRPr>
            </a:lvl2pPr>
            <a:lvl3pPr>
              <a:defRPr sz="2400">
                <a:latin typeface="Montserrat" pitchFamily="2" charset="0"/>
              </a:defRPr>
            </a:lvl3pPr>
            <a:lvl4pPr>
              <a:defRPr sz="2000">
                <a:latin typeface="Montserrat" pitchFamily="2" charset="0"/>
              </a:defRPr>
            </a:lvl4pPr>
            <a:lvl5pPr>
              <a:defRPr sz="2000">
                <a:latin typeface="Montserrat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F9C27-EF7E-478A-990E-334B6B598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7DFF3-691B-4314-9E97-F0B3EE90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C58D-43BA-419E-83ED-FBF28188B685}" type="datetime3">
              <a:rPr lang="en-US" smtClean="0"/>
              <a:t>14 May 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B3677-C377-431D-9ACF-0CDAFD5E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4024E-0E57-48CD-A920-82C37E56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441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3FF2E-C837-4948-A452-30FAFA65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C3267-4F20-4DFA-A133-466C5B754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09ADD-2865-4494-9AF3-8B69DF4C2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46E26-B61A-451E-9526-1CAFD2C3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8961-8FB8-4486-BCC0-363F50E9064D}" type="datetime3">
              <a:rPr lang="en-US" smtClean="0"/>
              <a:t>14 May 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5E74B-E33B-4168-B435-DCC9D9FA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4A60F-EC84-4C35-9523-7C115382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896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4A9E-54A2-49FA-986A-46208BC7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12D49-5F11-4060-9BA2-58D8CF524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0BE74-18A4-405C-A1D9-DB456FB3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C605-2FCC-42F2-A335-7DA6AB48900A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C8730-A8B8-4AB4-B9E2-2954D9D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DA812-9513-4E00-A005-4570F879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410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36B9C-2FD0-4613-AE98-E59CBD5E5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41D8C-AC2B-49F7-9F54-1209BAB2A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75E90-CB10-4C43-9900-21201D1B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4BBC-A7FE-43F5-A6DF-1012F6D0B995}" type="datetime3">
              <a:rPr lang="en-US" smtClean="0"/>
              <a:t>14 May 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149A0-3E2E-4704-9A3C-F65AFB045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7DB29-A89C-497C-8A9F-7E65F3F9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73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7EE1C-A783-46A5-9116-8394A1EA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>
              <a:srgbClr val="EC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CD9E-51B8-4BFB-98D8-AA40CB496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BF489-98D5-4080-A7E1-EF7B1D523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6908" y="6356350"/>
            <a:ext cx="1648097" cy="365125"/>
          </a:xfrm>
          <a:prstGeom prst="rect">
            <a:avLst/>
          </a:prstGeom>
          <a:ln>
            <a:solidFill>
              <a:srgbClr val="EC0000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defRPr>
            </a:lvl1pPr>
          </a:lstStyle>
          <a:p>
            <a:fld id="{0C55D98D-4E74-451B-8F53-4A28FCE7EF52}" type="datetime3">
              <a:rPr lang="en-US" smtClean="0"/>
              <a:pPr/>
              <a:t>14 May 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5D41-E566-48B5-BCDA-AF25E0F18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2080" y="6356350"/>
            <a:ext cx="4443514" cy="365125"/>
          </a:xfrm>
          <a:prstGeom prst="rect">
            <a:avLst/>
          </a:prstGeom>
          <a:ln>
            <a:solidFill>
              <a:srgbClr val="EC0000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0"/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ED637-AD65-4DB7-B075-F4C6F6370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6330" y="6356350"/>
            <a:ext cx="1648097" cy="365125"/>
          </a:xfrm>
          <a:prstGeom prst="rect">
            <a:avLst/>
          </a:prstGeom>
          <a:ln>
            <a:solidFill>
              <a:srgbClr val="EC0000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defRPr>
            </a:lvl1pPr>
          </a:lstStyle>
          <a:p>
            <a:fld id="{3EE42B60-2F73-4D03-A81F-4A4E093B196F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249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Helvetica Light" panose="020B0500000000000000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Helvetica Light" panose="020B0500000000000000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Helvetica Light" panose="020B0500000000000000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Helvetica Light" panose="020B0500000000000000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Helvetica Light" panose="020B0500000000000000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owdstrike.com/blog/how-crowdstrike-protects-against-recent-cozy-bear-phishing-campaign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owdstrike.com/blog/how-the-falcon-platform-modernizes-your-security-stack/" TargetMode="External"/><Relationship Id="rId2" Type="http://schemas.openxmlformats.org/officeDocument/2006/relationships/hyperlink" Target="https://www.crowdstrike.com/about-us/bran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2320957.wixsite.com/crowdstrike/blank-1" TargetMode="External"/><Relationship Id="rId5" Type="http://schemas.openxmlformats.org/officeDocument/2006/relationships/hyperlink" Target="https://www.crowdstrike.com/why-crowdstrike/crowdstrike-industry-validation/" TargetMode="External"/><Relationship Id="rId4" Type="http://schemas.openxmlformats.org/officeDocument/2006/relationships/hyperlink" Target="https://www.crowdstrike.com/blog/how-crowdstrike-protects-against-recent-cozy-bear-phishing-campaign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433F-7433-43F8-8E48-BFDFD9F8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COMPANY</a:t>
            </a:r>
            <a:endParaRPr lang="en-PK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3D4BD-6B96-488A-A8BD-ED88F1C0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7D8A3-84EC-49BA-BF36-4A2BFC5FBF85}" type="datetime3">
              <a:rPr lang="en-US" smtClean="0"/>
              <a:t>14 May 2026</a:t>
            </a:fld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CE6D7-96C5-4710-B18C-1484F874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1</a:t>
            </a:fld>
            <a:endParaRPr lang="en-P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FFBDA-5BC5-4C19-8E46-43324F92FB17}"/>
              </a:ext>
            </a:extLst>
          </p:cNvPr>
          <p:cNvSpPr txBox="1"/>
          <p:nvPr/>
        </p:nvSpPr>
        <p:spPr>
          <a:xfrm>
            <a:off x="2915478" y="2767280"/>
            <a:ext cx="636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EC0000"/>
                </a:solidFill>
                <a:latin typeface="Helvetica Rounded" pitchFamily="50" charset="0"/>
              </a:rPr>
              <a:t>Crowd Strike</a:t>
            </a:r>
            <a:endParaRPr lang="en-PK" sz="8000" dirty="0">
              <a:solidFill>
                <a:srgbClr val="EC0000"/>
              </a:solidFill>
              <a:latin typeface="Helvetica Rounded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E6FD3-E476-484A-A5CD-D5523D793D94}"/>
              </a:ext>
            </a:extLst>
          </p:cNvPr>
          <p:cNvSpPr txBox="1"/>
          <p:nvPr/>
        </p:nvSpPr>
        <p:spPr>
          <a:xfrm>
            <a:off x="4258235" y="4267200"/>
            <a:ext cx="3675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600" dirty="0">
                <a:solidFill>
                  <a:schemeClr val="bg1"/>
                </a:solidFill>
                <a:latin typeface="Helvetica Light" panose="020B0500000000000000" pitchFamily="34" charset="0"/>
              </a:rPr>
              <a:t>Stop Breaches</a:t>
            </a:r>
            <a:endParaRPr lang="en-PK" b="1" spc="600" dirty="0">
              <a:solidFill>
                <a:schemeClr val="bg1"/>
              </a:solidFill>
              <a:latin typeface="Helvetic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12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228A-F35B-4BA9-8887-25E87E16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LOGO</a:t>
            </a:r>
            <a:endParaRPr lang="en-PK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D9C38-51DB-4E88-9109-1E8C033F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7D8A3-84EC-49BA-BF36-4A2BFC5FBF85}" type="datetime3">
              <a:rPr lang="en-US" smtClean="0"/>
              <a:t>14 May 2026</a:t>
            </a:fld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DE28A-AEAD-4752-9457-3B88C8FD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2</a:t>
            </a:fld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9F6E1-C4B9-4B1F-B2E5-B7ED5EC7D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3833" y="928637"/>
            <a:ext cx="9584333" cy="500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73EF-D098-4003-A308-E54A7043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dirty="0"/>
              <a:t>TABLE OF CONTENTS</a:t>
            </a:r>
            <a:endParaRPr lang="en-PK" sz="4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6F2D-E962-439F-8F10-36C5F2495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 Introduction</a:t>
            </a:r>
          </a:p>
          <a:p>
            <a:pPr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 Products</a:t>
            </a:r>
          </a:p>
          <a:p>
            <a:pPr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 Marketing Mix</a:t>
            </a:r>
          </a:p>
          <a:p>
            <a:pPr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 Reflection</a:t>
            </a:r>
          </a:p>
          <a:p>
            <a:pPr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 Conclusion</a:t>
            </a:r>
          </a:p>
          <a:p>
            <a:pPr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dirty="0"/>
              <a:t> Reference</a:t>
            </a:r>
          </a:p>
          <a:p>
            <a:pPr>
              <a:buClr>
                <a:schemeClr val="bg1"/>
              </a:buClr>
              <a:buSzPct val="80000"/>
              <a:buFont typeface="Wingdings" panose="05000000000000000000" pitchFamily="2" charset="2"/>
              <a:buChar char="§"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5DAA-9481-4FCC-84F6-34EA6383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B20EA-394A-46CE-B0AA-5B461D84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21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1590-3C5C-418A-90E1-41D20B36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C705-6203-42BB-99A9-08E49176B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934" b="-17934"/>
            </a:stretch>
          </a:blip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Montserrat" pitchFamily="2" charset="0"/>
              </a:rPr>
              <a:t>The world's leading AI-native cybersecurity platform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Montserrat" pitchFamily="2" charset="0"/>
              </a:rPr>
              <a:t>Crowd Strike secures everything, from endpoints to cloud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Montserrat" pitchFamily="2" charset="0"/>
              </a:rPr>
              <a:t> Single Agent, Total Protection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Montserrat" pitchFamily="2" charset="0"/>
              </a:rPr>
              <a:t> Real-time Threat Radar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Montserrat" pitchFamily="2" charset="0"/>
              </a:rPr>
              <a:t> AI-powered Defense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Montserrat" pitchFamily="2" charset="0"/>
              </a:rPr>
              <a:t> Proven Track Record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Montserrat" pitchFamily="2" charset="0"/>
              </a:rPr>
              <a:t> Trusted by Leaders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D9EF4-5E30-44AD-A7F9-9FC7ACA87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1CC59-C634-4275-B75C-8542E7DA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4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9569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5BB4-4DD3-440E-8E08-2C6BD562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PRODUCTS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FD904-7128-479E-9DF8-E211EEA8D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</a:rPr>
              <a:t>Crowd Strike Falcon – </a:t>
            </a:r>
            <a:r>
              <a:rPr lang="en-US" dirty="0"/>
              <a:t>a </a:t>
            </a:r>
            <a:r>
              <a:rPr lang="en-US" sz="2400" b="0" i="0" dirty="0">
                <a:solidFill>
                  <a:schemeClr val="bg1"/>
                </a:solidFill>
                <a:effectLst/>
              </a:rPr>
              <a:t>unified platform</a:t>
            </a:r>
          </a:p>
          <a:p>
            <a:endParaRPr lang="en-US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Endpoint security services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Cloud security services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Identity protection services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Network monitoring services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87666-8E6A-4139-9A89-41E9313C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EAA13-7EEE-4EA7-A9F0-4A25CDD1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5</a:t>
            </a:fld>
            <a:endParaRPr lang="en-PK"/>
          </a:p>
        </p:txBody>
      </p:sp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502E9EF0-0215-4F36-9AF8-3697A1A1C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27" y="1524794"/>
            <a:ext cx="4953000" cy="4953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1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C2C3D0-F02F-49B6-8926-FB5A82DAB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9"/>
          <a:stretch/>
        </p:blipFill>
        <p:spPr>
          <a:xfrm>
            <a:off x="1120140" y="1690688"/>
            <a:ext cx="9951720" cy="516352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45804F-6563-4EDD-B231-43714572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 Medium" pitchFamily="2" charset="0"/>
              </a:rPr>
              <a:t>THE FALCON PLATFORM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248696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0173B-4F65-41BA-B760-A71E48BA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MARKETING MIX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E61F6-2E87-4547-B55F-B59AAF3F8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636027" cy="4351338"/>
          </a:xfrm>
        </p:spPr>
        <p:txBody>
          <a:bodyPr numCol="2" spcCol="360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Product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Crowd Strike Falcon - Cloud endpoint protection with      threat intelligence.</a:t>
            </a:r>
          </a:p>
          <a:p>
            <a:pPr marL="0" indent="0">
              <a:buNone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 Place</a:t>
            </a:r>
            <a:endParaRPr lang="en-US" sz="2000" b="0" i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Cloud-based, accessible anywhere, deployable on various endpoints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0" i="0" dirty="0">
              <a:solidFill>
                <a:schemeClr val="bg1"/>
              </a:solidFill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Price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Subscription-based with tiered options for flexibility.</a:t>
            </a:r>
          </a:p>
          <a:p>
            <a:pPr marL="0" indent="0">
              <a:buNone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chemeClr val="bg1"/>
                </a:solidFill>
                <a:effectLst/>
              </a:rPr>
              <a:t>Promotion</a:t>
            </a:r>
            <a:endParaRPr lang="en-US" sz="2000" b="0" i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</a:rPr>
              <a:t>Marketed through digital channels, events, and success stories. Emphasis on advanced features and threat detection capabilities</a:t>
            </a:r>
          </a:p>
          <a:p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27357-1945-4564-B697-AE427AC5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7B47D-ED6F-4088-B70A-530B8156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7</a:t>
            </a:fld>
            <a:endParaRPr lang="en-PK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82828F-3E03-4C6F-8DD3-A768A12A6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5428" r="13739" b="2067"/>
          <a:stretch/>
        </p:blipFill>
        <p:spPr>
          <a:xfrm>
            <a:off x="7560269" y="1825625"/>
            <a:ext cx="4552122" cy="360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0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B3FF-F626-4CBB-9683-F934A5FBD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REFLECTIONS</a:t>
            </a:r>
            <a:endParaRPr lang="en-PK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5DC53-8004-4F8A-83C8-56EF821F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1859C-DEC5-4C3D-BABF-1B7410C3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8</a:t>
            </a:fld>
            <a:endParaRPr lang="en-P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49761C-2289-42A8-9588-06BE78FCD5F7}"/>
              </a:ext>
            </a:extLst>
          </p:cNvPr>
          <p:cNvGrpSpPr/>
          <p:nvPr/>
        </p:nvGrpSpPr>
        <p:grpSpPr>
          <a:xfrm>
            <a:off x="838200" y="2700832"/>
            <a:ext cx="10515600" cy="2645374"/>
            <a:chOff x="313975" y="2165684"/>
            <a:chExt cx="11409596" cy="28702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FA890E-1E82-466E-B7EF-29376BD73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975" y="2165684"/>
              <a:ext cx="2871988" cy="281337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A0D62E-33C8-4E87-B40A-E0FF78607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3873" y="2165684"/>
              <a:ext cx="2722446" cy="28133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F5F388-3870-48EA-A051-BE30E5088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4229" y="2165684"/>
              <a:ext cx="2639139" cy="287027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D571045-17DA-412D-9FC0-41A2312B7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53362" y="2165685"/>
              <a:ext cx="2670209" cy="2870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388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1BAF01-EECB-412B-A75E-A6629D8E9268}"/>
              </a:ext>
            </a:extLst>
          </p:cNvPr>
          <p:cNvSpPr txBox="1"/>
          <p:nvPr/>
        </p:nvSpPr>
        <p:spPr>
          <a:xfrm>
            <a:off x="838200" y="1825625"/>
            <a:ext cx="76436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Position: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President, CEO, and Co-founder of Crowd Strike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Experience: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Over 30 years in Cyber security, with roles at McAfee and founding Found stone</a:t>
            </a:r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Innovation: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Recognized for driving innovation in nascent technologies</a:t>
            </a:r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Media Presence: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Featured in major publications and TV programs, authored best-selling security book</a:t>
            </a:r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Education: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B.S. in Accounting from Seton Hall University, C.P.A. (inactive status)</a:t>
            </a:r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Skills: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Expertise in security, incident response, and scaling organizations globally</a:t>
            </a:r>
            <a:endParaRPr lang="en-US" sz="1600" b="0" i="0" dirty="0"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FF8B2-B77C-4F35-8BAE-0417E94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1</a:t>
            </a:r>
            <a:endParaRPr lang="en-PK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A0A1-5BE0-4129-B59B-BD735E6E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BA7C3-A19C-4DEA-933C-9CC22B26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9</a:t>
            </a:fld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64B592-6B9D-40BD-8E1C-5B8238FA6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800" y="2021680"/>
            <a:ext cx="2700000" cy="281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9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1BAF01-EECB-412B-A75E-A6629D8E9268}"/>
              </a:ext>
            </a:extLst>
          </p:cNvPr>
          <p:cNvSpPr txBox="1"/>
          <p:nvPr/>
        </p:nvSpPr>
        <p:spPr>
          <a:xfrm>
            <a:off x="838199" y="1825625"/>
            <a:ext cx="78178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Roles: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Oversees all security aspects, including info security and physical security.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Founding Roles: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Founded security and incident response practices at CrowdStrike.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FBI Career: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Executive Assistant Director, led global criminal and cyber investigations.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Leadership Philosophy: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Advocates "One team. One Fight." for unity at CrowdStrike.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Engagements: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Lectures, serves on boards, keynote speaker at cybersecurity conferences.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Awards: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NACD Directorship 100, Federal 100 Award, SC Award for Security Executive of the Year.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Education: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</a:rPr>
              <a:t> B.B.A. (Hofstra), M.S. in Criminal Justice Administration (Virginia)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FF8B2-B77C-4F35-8BAE-0417E94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2</a:t>
            </a:r>
            <a:endParaRPr lang="en-PK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A0A1-5BE0-4129-B59B-BD735E6E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BA7C3-A19C-4DEA-933C-9CC22B26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10</a:t>
            </a:fld>
            <a:endParaRPr lang="en-P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9217E-6971-42B0-97E9-87112FC8C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063" y="2021400"/>
            <a:ext cx="2697737" cy="28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0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1BAF01-EECB-412B-A75E-A6629D8E9268}"/>
              </a:ext>
            </a:extLst>
          </p:cNvPr>
          <p:cNvSpPr txBox="1"/>
          <p:nvPr/>
        </p:nvSpPr>
        <p:spPr>
          <a:xfrm>
            <a:off x="838200" y="1825625"/>
            <a:ext cx="71399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Position: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Chief Marketing Officer at CrowdStrike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Experience: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Multiple-time CMO in enterprise software, cybersecurity specialist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Previous Roles: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Illumio (CMO, Board Member), Tenable (Led public offering), Amplitude (Led public offering), Tanium (Former CMO), Coverity (Former CMO)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Additional Roles: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Partner at Andreessen Horowitz, Board Member at Immersive Labs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Marketing Expertise: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20-year track record, known for bold storytelling and category dominance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Education: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MBA from Santa Clara University, B.S. in Business Administration from the University of San Francisco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FF8B2-B77C-4F35-8BAE-0417E94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3</a:t>
            </a:r>
            <a:endParaRPr lang="en-PK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A0A1-5BE0-4129-B59B-BD735E6E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BA7C3-A19C-4DEA-933C-9CC22B26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11</a:t>
            </a:fld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B7E207-2660-4B45-BDC5-56FB237D0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189" y="2021400"/>
            <a:ext cx="2711611" cy="28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3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1BAF01-EECB-412B-A75E-A6629D8E9268}"/>
              </a:ext>
            </a:extLst>
          </p:cNvPr>
          <p:cNvSpPr txBox="1"/>
          <p:nvPr/>
        </p:nvSpPr>
        <p:spPr>
          <a:xfrm>
            <a:off x="838200" y="1825625"/>
            <a:ext cx="71399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Position: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Chief Legal Officer at CrowdStrike.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Experience: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Over a decade in legal roles.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Achievements: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Led legal efforts for CrowdStrike's IPO.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Responsibilities: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Leads legal team covering commercial, compliance, corporate, employment, IP, and litigation.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Passion: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Supports employees in the mission to prevent breaches.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Previous Roles: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VP, Legal at CrowdStrike; Associate General Counsel at MobileIron, Inc.; IP Litigator at Farella Braun + Martel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Legal Practice: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Admitted in California.</a:t>
            </a:r>
          </a:p>
          <a:p>
            <a:r>
              <a:rPr lang="en-US" sz="1600" b="1" dirty="0">
                <a:solidFill>
                  <a:schemeClr val="bg1"/>
                </a:solidFill>
                <a:latin typeface="Montserrat" pitchFamily="2" charset="0"/>
              </a:rPr>
              <a:t>Education:</a:t>
            </a:r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Montserrat" pitchFamily="2" charset="0"/>
              </a:rPr>
              <a:t> J.D. from University of Pennsylvania Law School </a:t>
            </a:r>
            <a:endParaRPr lang="en-US" sz="1600" b="0" i="0" dirty="0"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FF8B2-B77C-4F35-8BAE-0417E94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4</a:t>
            </a:r>
            <a:endParaRPr lang="en-PK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A0A1-5BE0-4129-B59B-BD735E6E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BA7C3-A19C-4DEA-933C-9CC22B26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12</a:t>
            </a:fld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D8E594-5C5B-425C-A332-411D7BA1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785" y="2021400"/>
            <a:ext cx="2711015" cy="28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9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41F1-812B-4479-AFBC-99EDAEB9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CONCLUSION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48178-5491-4C48-B8E5-139D23EE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4550" cy="435133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bg1"/>
                </a:solidFill>
                <a:effectLst/>
              </a:rPr>
              <a:t>Crowd Strike was founded in 2011 with a mission to </a:t>
            </a:r>
            <a:r>
              <a:rPr lang="en-US" sz="2400" b="1" i="0" dirty="0">
                <a:effectLst/>
              </a:rPr>
              <a:t>“stop breaches</a:t>
            </a:r>
            <a:r>
              <a:rPr lang="en-US" b="1" dirty="0"/>
              <a:t>”</a:t>
            </a:r>
            <a:endParaRPr lang="en-US" sz="2400" b="1" i="0" dirty="0">
              <a:effectLst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chemeClr val="bg1"/>
              </a:solidFill>
              <a:effectLst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bg1"/>
                </a:solidFill>
                <a:effectLst/>
              </a:rPr>
              <a:t>Industry transformation through innovative products and services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chemeClr val="bg1"/>
              </a:solidFill>
              <a:effectLst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bg1"/>
                </a:solidFill>
                <a:effectLst/>
              </a:rPr>
              <a:t>Simplifying cyber security for enhanced protection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C1005-57A6-4DE8-930A-699D349C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7927A-CB8F-449D-A871-E35A0619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13</a:t>
            </a:fld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353378-A228-4A8D-8C16-9C16A9000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7013211" y="1999881"/>
            <a:ext cx="4340589" cy="285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5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1B5C-1386-48E9-AE49-CCE6CCC3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REFERENCES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FDC9-0F8F-437F-A3EA-2CCA9054E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hlinkClick r:id="rId2"/>
              </a:rPr>
              <a:t>https://www.crowdstrike.com/en-us/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hlinkClick r:id="rId2"/>
              </a:rPr>
              <a:t>https://www.crowdstrike.com/about-us/brand/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hlinkClick r:id="rId3"/>
              </a:rPr>
              <a:t>https://www.crowdstrike.com/blog/how-the-falcon-platform-modernizes-your-security-stack/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hlinkClick r:id="rId4"/>
              </a:rPr>
              <a:t>https://www.crowdstrike.com/blog/how-crowdstrike-protects-against-recent-cozy-bear-phishing-campaign/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hlinkClick r:id="rId5"/>
              </a:rPr>
              <a:t>https://www.crowdstrike.com/why-crowdstrike/crowdstrike-industry-validation/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hlinkClick r:id="rId6"/>
              </a:rPr>
              <a:t>https://2320957.wixsite.com/crowdstrike/blank-1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E95BB-678D-499A-8E32-8D25CC5C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46A-4521-4348-B6D5-80FF0F644ED1}" type="datetime3">
              <a:rPr lang="en-US" smtClean="0"/>
              <a:t>14 May 2026</a:t>
            </a:fld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C0D4B-3507-4EE8-B025-BC30FD9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B60-2F73-4D03-A81F-4A4E093B196F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148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0BFA7F-3622-4E3B-8C68-C5304BCA6C5B}"/>
              </a:ext>
            </a:extLst>
          </p:cNvPr>
          <p:cNvSpPr txBox="1"/>
          <p:nvPr/>
        </p:nvSpPr>
        <p:spPr>
          <a:xfrm>
            <a:off x="1195387" y="2705725"/>
            <a:ext cx="98012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ln/>
                <a:solidFill>
                  <a:srgbClr val="EC000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ANY QUESTION ?</a:t>
            </a:r>
            <a:endParaRPr lang="en-PK" sz="8800" dirty="0">
              <a:solidFill>
                <a:srgbClr val="E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62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A224AC-954D-4395-84F5-AE092E11B9DA}"/>
              </a:ext>
            </a:extLst>
          </p:cNvPr>
          <p:cNvSpPr/>
          <p:nvPr/>
        </p:nvSpPr>
        <p:spPr>
          <a:xfrm>
            <a:off x="1707995" y="1905506"/>
            <a:ext cx="877601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i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THANK YOU</a:t>
            </a:r>
          </a:p>
          <a:p>
            <a:pPr algn="ctr"/>
            <a:r>
              <a:rPr lang="en-US" sz="9600" b="1" i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sym typeface="Wingdings" panose="05000000000000000000" pitchFamily="2" charset="2"/>
              </a:rPr>
              <a:t> </a:t>
            </a:r>
            <a:endParaRPr lang="en-US" sz="9600" b="1" i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7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694</Words>
  <Application>Microsoft Office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Helvetica Light</vt:lpstr>
      <vt:lpstr>Helvetica Rounded</vt:lpstr>
      <vt:lpstr>Arial</vt:lpstr>
      <vt:lpstr>Arial Rounded MT Bold</vt:lpstr>
      <vt:lpstr>Calibri</vt:lpstr>
      <vt:lpstr>Helvetica</vt:lpstr>
      <vt:lpstr>Montserrat</vt:lpstr>
      <vt:lpstr>Montserrat Medium</vt:lpstr>
      <vt:lpstr>Montserrat SemiBold</vt:lpstr>
      <vt:lpstr>Wingdings</vt:lpstr>
      <vt:lpstr>Office Theme</vt:lpstr>
      <vt:lpstr>COMPANY</vt:lpstr>
      <vt:lpstr>LOGO</vt:lpstr>
      <vt:lpstr>TABLE OF CONTENTS</vt:lpstr>
      <vt:lpstr>INTRODUCTION</vt:lpstr>
      <vt:lpstr>PRODUCTS</vt:lpstr>
      <vt:lpstr>THE FALCON PLATFORM</vt:lpstr>
      <vt:lpstr>MARKETING MIX</vt:lpstr>
      <vt:lpstr>REFLECTIONS</vt:lpstr>
      <vt:lpstr>REFLECTION 1</vt:lpstr>
      <vt:lpstr>REFLECTION 2</vt:lpstr>
      <vt:lpstr>REFLECTION 3</vt:lpstr>
      <vt:lpstr>REFLECTION 4</vt:lpstr>
      <vt:lpstr>CONCLUSION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CROWDSTRIKE</dc:title>
  <dc:creator>Hussain Ali</dc:creator>
  <cp:lastModifiedBy>Hussain Ali</cp:lastModifiedBy>
  <cp:revision>29</cp:revision>
  <dcterms:created xsi:type="dcterms:W3CDTF">2023-12-24T18:25:38Z</dcterms:created>
  <dcterms:modified xsi:type="dcterms:W3CDTF">2026-05-14T05:21:53Z</dcterms:modified>
</cp:coreProperties>
</file>